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9" r:id="rId2"/>
    <p:sldId id="264" r:id="rId3"/>
    <p:sldId id="265" r:id="rId4"/>
    <p:sldId id="270" r:id="rId5"/>
    <p:sldId id="260" r:id="rId6"/>
    <p:sldId id="263" r:id="rId7"/>
    <p:sldId id="262" r:id="rId8"/>
    <p:sldId id="261" r:id="rId9"/>
    <p:sldId id="257" r:id="rId10"/>
    <p:sldId id="266" r:id="rId11"/>
    <p:sldId id="269" r:id="rId12"/>
    <p:sldId id="267" r:id="rId13"/>
    <p:sldId id="268" r:id="rId14"/>
    <p:sldId id="258" r:id="rId15"/>
    <p:sldId id="25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2B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632A1E-0B5B-46CC-AB82-84034729FB68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BE1B0-1D64-445E-B285-DD5A3A279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341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E29CE-D755-4CF4-9BD7-18F080CF0B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9E0D02-9CE7-4E9E-B625-62BB8DC14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CE0C7-07C0-43D8-99DD-81787FF07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5529-3F2B-41B2-B338-043662939C18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AC078-F51F-4379-B06A-2E11C62B9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AAD9F-1503-4799-AA4E-8489BDCA9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B54E7-D27E-4E7B-BD29-AAEAC3F8A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78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C98CB-6CF7-4E72-97A1-16494C722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DBB1D-626A-41C0-B0ED-2EAB4F9C2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C71FF-7A1D-4806-A1A3-4DC40E030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5529-3F2B-41B2-B338-043662939C18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BA3EA-ACFB-4A4B-BA43-B6D0A2CFB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817A1-641A-46C5-9A73-13AB22A40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B54E7-D27E-4E7B-BD29-AAEAC3F8A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396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105F4-B268-4F72-AA9A-7FED3E65E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E417F4-B0BB-475B-9446-1E89DAE6E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41D29-FFA5-479E-B9FD-B8824756C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5529-3F2B-41B2-B338-043662939C18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409A7-2D01-4AFF-983F-4F3BB5A5D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80DF4-E8A3-40BA-999B-704CDD225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B54E7-D27E-4E7B-BD29-AAEAC3F8A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25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37B7A-9D53-443E-A5ED-CD8438516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C9160-B40C-4E15-A0F0-19FAC93BF8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9A031-A8DD-41AB-85D2-D47A83804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912BF3-25BA-4BE9-A99B-904DB4CCC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5529-3F2B-41B2-B338-043662939C18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1C44DC-F44B-4851-B937-453691AB3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F05AF-781D-4EB9-8A19-5CFD035A4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B54E7-D27E-4E7B-BD29-AAEAC3F8A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364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4971F-4A98-449D-9328-96D5FB660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5BCB7-FD74-4029-8A4C-E9425F13D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F6D72D-620D-477F-8B73-200C59EDD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CEADFC-A9AC-42D8-A60F-8BFFCA16E6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390F45-FEA2-43D1-8DB4-081BBFE59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E7F1D3-6CF2-444D-BC79-7DF6FBC03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5529-3F2B-41B2-B338-043662939C18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9DD396-CAF0-457C-BB20-9B1AFB01C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FA4C11-750F-4995-AB58-4AF09DBBF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B54E7-D27E-4E7B-BD29-AAEAC3F8A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994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BB9C2-AC3B-4ADB-A3E0-4BE08FB59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17290E-E8B7-4EC6-8BF9-50E0AFE3F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5529-3F2B-41B2-B338-043662939C18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7BC7C1-987C-45BD-B37D-698E15A46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609252-A9B8-4279-AF80-0E56792C5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B54E7-D27E-4E7B-BD29-AAEAC3F8A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33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6B30C-1F7A-44BD-ABB4-6CCADE717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5529-3F2B-41B2-B338-043662939C18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57C56B-E409-4C50-86DF-27252781A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C3DC3-21E8-4D81-AD26-6C778B47F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B54E7-D27E-4E7B-BD29-AAEAC3F8A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473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ABDA-90FE-4158-A456-9345736CC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AE6A3-80C0-4DF8-BFE6-D25FADF35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6C3E9F-1571-4CD3-9CFD-C70CDA925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246C9-AF74-4E0C-9365-D8105770C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5529-3F2B-41B2-B338-043662939C18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8A0779-0775-4B02-868C-97214D304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B64C5A-3F7E-421B-BDEC-85FE050DB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B54E7-D27E-4E7B-BD29-AAEAC3F8A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12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C9ED6-815E-4FAA-83A4-8F28584B8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1357A4-E105-4C2B-9EDD-17298F3822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FE30E6-CFAC-4D89-B773-AEDA83C4B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ACBFE-7126-497C-8C6C-050D5CD39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5529-3F2B-41B2-B338-043662939C18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2E6AF-546E-4CFC-8702-3D7C56537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64BAC-73E7-4543-A28A-AD60447B0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B54E7-D27E-4E7B-BD29-AAEAC3F8A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10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9CB71-66A1-4862-A86D-B8B03E6FC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1ABBC5-8BA5-4BE3-9182-2385A0EE0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5B47C-EB3B-4C0A-92AD-0A8073E1D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5529-3F2B-41B2-B338-043662939C18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2DAC8-F0B3-43D8-97A7-2BABC93E3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4FE93-0297-4786-BCDC-FE84C2D42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B54E7-D27E-4E7B-BD29-AAEAC3F8A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06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9E74AA-89BD-49B5-A977-4A0D6C75D5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12172A-054E-4388-8DF2-E9E01F8A3B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0CA38-2727-4CD2-B8D7-4AA465C1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5529-3F2B-41B2-B338-043662939C18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E50D0-7450-45A9-9466-730AF4F8D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3EDBC-CA3D-4507-BF4C-904751B24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B54E7-D27E-4E7B-BD29-AAEAC3F8A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05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9AB374-FF06-4B9C-86F4-DA3041255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82237-50D1-486C-A408-07AE18E74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3C04E-7E35-4D39-88A8-741A412B21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D55529-3F2B-41B2-B338-043662939C18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6ED26-3207-48AD-917E-BE2CD670C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DFC7A-6A46-446A-AF26-0098DA4DD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8B54E7-D27E-4E7B-BD29-AAEAC3F8A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535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8AD6FE-F459-4856-8307-5DF740653725}"/>
              </a:ext>
            </a:extLst>
          </p:cNvPr>
          <p:cNvSpPr txBox="1"/>
          <p:nvPr/>
        </p:nvSpPr>
        <p:spPr>
          <a:xfrm>
            <a:off x="0" y="0"/>
            <a:ext cx="12192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 the basic level a cell phone is just a two-way radio.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requires one channel or frequency to transmit and one channel or frequency to receive.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Cell phones can both send and receive at the same time, unlike a walkie-talkie that uses a single channel to send and receive where you have to wait your turn and push the button to send.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reason that there is a requirement for radio frequency reuse planning is both simple and practical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Federal Communications Commission, (FCC) allots a limited number of radio frequencies to each wireless company.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number of frequencies available is far too small to accommodate millions of phone calls at the same time.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order to compensate for this lack of radio frequencies, wireless companies use technology that allows them to split the frequencies into small sections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allows more phones to use the frequencies than would be possible if a phone took up the entire radio channel.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primary methods for “sharing” radio channels are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Time Division Multiple Access (TDMA) which is used in the Global System for Mobile Communications (GSM) network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AT&amp;T</a:t>
            </a:r>
            <a:r>
              <a:rPr lang="en-US" dirty="0">
                <a:solidFill>
                  <a:srgbClr val="222222"/>
                </a:solidFill>
                <a:latin typeface="Roboto" panose="02000000000000000000" pitchFamily="2" charset="0"/>
              </a:rPr>
              <a:t>,</a:t>
            </a:r>
            <a:r>
              <a:rPr lang="en-US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 </a:t>
            </a:r>
            <a:r>
              <a:rPr lang="en-US" b="1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T-Mobile</a:t>
            </a:r>
            <a:r>
              <a:rPr lang="en-US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 &amp; rest of the world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Code Division Multiple Access (CDMA) used in the CDMA network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Sprint</a:t>
            </a:r>
            <a:r>
              <a:rPr lang="en-US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, </a:t>
            </a:r>
            <a:r>
              <a:rPr lang="en-US" b="1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Verizon</a:t>
            </a:r>
            <a:r>
              <a:rPr lang="en-US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, and </a:t>
            </a:r>
            <a:r>
              <a:rPr lang="en-US" b="1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US Cellular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7A769B-EE1E-414E-AB76-834E2FE61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633" y="4524315"/>
            <a:ext cx="5667375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86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494319-38E1-42CF-BB5F-83533069BB4B}"/>
              </a:ext>
            </a:extLst>
          </p:cNvPr>
          <p:cNvSpPr txBox="1"/>
          <p:nvPr/>
        </p:nvSpPr>
        <p:spPr>
          <a:xfrm>
            <a:off x="-1241" y="814"/>
            <a:ext cx="6964920" cy="6740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2G GSM 900 &amp; 1800 MHz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GSM 900 MHz frequency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Uplink 890 – 915 MHz(25 MHz)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Downlink 935 – 960 MHz (25 MHz)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25 MHz / 200 </a:t>
            </a:r>
            <a:r>
              <a:rPr lang="en-US" dirty="0" err="1"/>
              <a:t>KHz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125 frequencies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200 </a:t>
            </a:r>
            <a:r>
              <a:rPr lang="en-US" dirty="0" err="1"/>
              <a:t>KHz</a:t>
            </a:r>
            <a:r>
              <a:rPr lang="en-US" dirty="0"/>
              <a:t> (2 * 100 </a:t>
            </a:r>
            <a:r>
              <a:rPr lang="en-US" dirty="0" err="1"/>
              <a:t>KHz</a:t>
            </a:r>
            <a:r>
              <a:rPr lang="en-US" dirty="0"/>
              <a:t>) as Guard band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124 usable frequencies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frequency is located at 890.2 MHz (+/- 100 </a:t>
            </a:r>
            <a:r>
              <a:rPr lang="en-US" dirty="0" err="1"/>
              <a:t>KHz</a:t>
            </a:r>
            <a:r>
              <a:rPr lang="en-US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Eight time slots per frequency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2"/>
                </a:solidFill>
              </a:rPr>
              <a:t>Allows 8 full-rate speech channels per radio frequency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2"/>
                </a:solidFill>
              </a:rPr>
              <a:t>These eight slots (burst periods) are grouped into a TDMA frame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</a:rPr>
              <a:t>Half-rate channels use alternate frames in the same timeslot.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</a:rPr>
              <a:t>The channel data rate for all 8 channels is 270.833 kbit/s,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2"/>
                </a:solidFill>
              </a:rPr>
              <a:t>T</a:t>
            </a:r>
            <a:r>
              <a:rPr lang="en-US" b="0" i="0" dirty="0">
                <a:solidFill>
                  <a:srgbClr val="202122"/>
                </a:solidFill>
                <a:effectLst/>
              </a:rPr>
              <a:t>he frame duration is 4.615 </a:t>
            </a:r>
            <a:r>
              <a:rPr lang="en-US" b="0" i="0" dirty="0" err="1">
                <a:solidFill>
                  <a:srgbClr val="202122"/>
                </a:solidFill>
                <a:effectLst/>
              </a:rPr>
              <a:t>ms</a:t>
            </a:r>
            <a:endParaRPr lang="en-US" b="0" i="0" dirty="0">
              <a:solidFill>
                <a:srgbClr val="202122"/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2"/>
                </a:solidFill>
              </a:rPr>
              <a:t>4.615*8 = 36.92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</a:rPr>
              <a:t>1000/36.92 = 27.09 Hz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Absolute Radio Frequency Channel Number (ARFCN)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Upload/download link frequency pairs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Duplex spacing/duplex distance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Difference between paired uplink/downlink frequencies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Typically 45MHz on </a:t>
            </a:r>
            <a:endParaRPr lang="en-US" dirty="0">
              <a:solidFill>
                <a:srgbClr val="202122"/>
              </a:solidFill>
            </a:endParaRP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63926971-AD98-4D31-AFDD-99FA9DB46C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905" y="254342"/>
            <a:ext cx="4794341" cy="27005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1918E3-DC99-48A7-BA5D-8DB1F93B6E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9732" y="3355848"/>
            <a:ext cx="4544241" cy="315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285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1B9D31-0035-45EC-9CBF-98E0B40208D0}"/>
              </a:ext>
            </a:extLst>
          </p:cNvPr>
          <p:cNvSpPr txBox="1"/>
          <p:nvPr/>
        </p:nvSpPr>
        <p:spPr>
          <a:xfrm>
            <a:off x="0" y="0"/>
            <a:ext cx="12192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CDMA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Each user in a CDMA system uses a different code to modulate their signal.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Choosing the codes used to modulate the signal is very important in the performance of CDMA systems.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The best performance occurs when there is good separation between the signal of a desired user and the signals of other users. The separation of the signals is made by </a:t>
            </a:r>
            <a:r>
              <a:rPr lang="en-US" b="0" i="0" u="none" strike="noStrike" dirty="0">
                <a:effectLst/>
              </a:rPr>
              <a:t>correlating</a:t>
            </a:r>
            <a:r>
              <a:rPr lang="en-US" b="0" i="0" dirty="0">
                <a:effectLst/>
              </a:rPr>
              <a:t> the received signal with the locally generated code of the desired user.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If the signal matches the desired user's code, then the correlation function will be high and the system can extract that signal.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If the desired user's code has nothing in common with the signal, the correlation should be as close to zero as possible (thus eliminating the signal); this is referred to as </a:t>
            </a:r>
            <a:r>
              <a:rPr lang="en-US" b="0" i="0" u="none" strike="noStrike" dirty="0">
                <a:effectLst/>
              </a:rPr>
              <a:t>cross-correlation</a:t>
            </a:r>
            <a:r>
              <a:rPr lang="en-US" b="0" i="0" dirty="0">
                <a:effectLst/>
              </a:rPr>
              <a:t>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If the code is correlated with the signal at any time offset other than zero, the correlation should be as close to zero as possible.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This is referred to as auto-correlation and is used to reject multi-path interference.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An analogy to the problem of multiple access is a room (channel) in which people wish to talk to each other simultaneously.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To avoid confusion, people could take turns speaking (time division), speak at different pitches (frequency division), or speak in different languages (code division).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CDMA is analogous to the last example where people speaking the same language can understand each other, but other languages are perceived as </a:t>
            </a:r>
            <a:r>
              <a:rPr lang="en-US" b="0" i="0" u="none" strike="noStrike" dirty="0">
                <a:effectLst/>
              </a:rPr>
              <a:t>noise</a:t>
            </a:r>
            <a:r>
              <a:rPr lang="en-US" b="0" i="0" dirty="0">
                <a:effectLst/>
              </a:rPr>
              <a:t> and rejected.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Similarly, in radio CDMA, each group of users is given a shared code. Many codes occupy the same channel, but only users associated with a particular code can communicate.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87324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6F4D4F-3447-46A8-8135-0F9DE732FE3A}"/>
              </a:ext>
            </a:extLst>
          </p:cNvPr>
          <p:cNvSpPr txBox="1"/>
          <p:nvPr/>
        </p:nvSpPr>
        <p:spPr>
          <a:xfrm>
            <a:off x="0" y="9144"/>
            <a:ext cx="12192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VoLTE</a:t>
            </a:r>
          </a:p>
          <a:p>
            <a:pPr algn="l" rtl="0"/>
            <a:r>
              <a:rPr lang="en-US" b="0" i="0" dirty="0">
                <a:solidFill>
                  <a:srgbClr val="282829"/>
                </a:solidFill>
                <a:effectLst/>
                <a:latin typeface="-apple-system"/>
              </a:rPr>
              <a:t>Voice Telephony is of two types -</a:t>
            </a:r>
          </a:p>
          <a:p>
            <a:pPr algn="l" rtl="0">
              <a:buFont typeface="+mj-lt"/>
              <a:buAutoNum type="arabicPeriod"/>
            </a:pPr>
            <a:r>
              <a:rPr lang="en-US" b="0" i="0" dirty="0">
                <a:solidFill>
                  <a:srgbClr val="282829"/>
                </a:solidFill>
                <a:effectLst/>
                <a:latin typeface="-apple-system"/>
              </a:rPr>
              <a:t>Circuit Switched, and</a:t>
            </a:r>
          </a:p>
          <a:p>
            <a:pPr algn="l" rtl="0">
              <a:buFont typeface="+mj-lt"/>
              <a:buAutoNum type="arabicPeriod"/>
            </a:pPr>
            <a:r>
              <a:rPr lang="en-US" b="0" i="0" dirty="0">
                <a:solidFill>
                  <a:srgbClr val="282829"/>
                </a:solidFill>
                <a:effectLst/>
                <a:latin typeface="-apple-system"/>
              </a:rPr>
              <a:t>Packet Switched.</a:t>
            </a:r>
          </a:p>
          <a:p>
            <a:pPr algn="l" rtl="0"/>
            <a:r>
              <a:rPr lang="en-US" b="0" i="0" dirty="0">
                <a:solidFill>
                  <a:srgbClr val="282829"/>
                </a:solidFill>
                <a:effectLst/>
                <a:latin typeface="-apple-system"/>
              </a:rPr>
              <a:t>Existing 2G, 3G and non-Jio 4G networks use circuit switched technology for voice.</a:t>
            </a:r>
          </a:p>
          <a:p>
            <a:pPr algn="l" rtl="0"/>
            <a:endParaRPr lang="en-US" dirty="0">
              <a:solidFill>
                <a:srgbClr val="282829"/>
              </a:solidFill>
              <a:latin typeface="-apple-system"/>
            </a:endParaRPr>
          </a:p>
          <a:p>
            <a:pPr algn="l" rtl="0"/>
            <a:r>
              <a:rPr lang="en-US" b="0" i="0" dirty="0">
                <a:solidFill>
                  <a:srgbClr val="282829"/>
                </a:solidFill>
                <a:effectLst/>
                <a:latin typeface="-apple-system"/>
              </a:rPr>
              <a:t>Research POTS vs 2, 3, 4, 5G</a:t>
            </a:r>
          </a:p>
        </p:txBody>
      </p:sp>
    </p:spTree>
    <p:extLst>
      <p:ext uri="{BB962C8B-B14F-4D97-AF65-F5344CB8AC3E}">
        <p14:creationId xmlns:p14="http://schemas.microsoft.com/office/powerpoint/2010/main" val="2584784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imeline&#10;&#10;Description automatically generated">
            <a:extLst>
              <a:ext uri="{FF2B5EF4-FFF2-40B4-BE49-F238E27FC236}">
                <a16:creationId xmlns:a16="http://schemas.microsoft.com/office/drawing/2014/main" id="{C2FCD663-DBD4-45A4-9D87-8F51E9306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128" y="3352885"/>
            <a:ext cx="6487156" cy="3357103"/>
          </a:xfrm>
          <a:prstGeom prst="rect">
            <a:avLst/>
          </a:prstGeom>
        </p:spPr>
      </p:pic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457A234B-FE6F-4EB8-9CC6-4036EDCE1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56" y="148011"/>
            <a:ext cx="5112508" cy="381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293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0FDF6F-DEEB-49A7-85C3-45FE83905859}"/>
              </a:ext>
            </a:extLst>
          </p:cNvPr>
          <p:cNvSpPr txBox="1"/>
          <p:nvPr/>
        </p:nvSpPr>
        <p:spPr>
          <a:xfrm>
            <a:off x="1524" y="0"/>
            <a:ext cx="609447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Home Location Registry (HLR)</a:t>
            </a:r>
          </a:p>
          <a:p>
            <a:r>
              <a:rPr lang="en-US" dirty="0"/>
              <a:t>Subscriber-specific information such 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International mobile Subscriber Identifier (IMSI)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International Mobile Equipment Identifier (IMEI)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Current/last known location of cell phone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Roaming restrictions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Subscriber supplemental features</a:t>
            </a:r>
          </a:p>
          <a:p>
            <a:endParaRPr lang="en-US" b="1" u="sng" dirty="0"/>
          </a:p>
          <a:p>
            <a:r>
              <a:rPr lang="en-US" b="1" u="sng" dirty="0"/>
              <a:t>Visitor Location Registry (VLR)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Roaming-subscriber information</a:t>
            </a:r>
          </a:p>
          <a:p>
            <a:endParaRPr lang="en-US" dirty="0"/>
          </a:p>
          <a:p>
            <a:r>
              <a:rPr lang="en-US" b="1" u="sng" dirty="0"/>
              <a:t>Autonomous registration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a roaming phone goes into an area not covered by its carrier it registers with HLR and is added to VLR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Happens from time-to-time automatically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u="sng" dirty="0"/>
              <a:t>Disconnect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a phone leaves an area no specific disconnect signal is sent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phone shuts down a “kiss-off” signal</a:t>
            </a:r>
            <a:r>
              <a:rPr lang="en-US" b="1" dirty="0"/>
              <a:t> </a:t>
            </a:r>
            <a:r>
              <a:rPr lang="en-US" b="1" u="sng" dirty="0"/>
              <a:t>is</a:t>
            </a:r>
            <a:r>
              <a:rPr lang="en-US" b="1" dirty="0"/>
              <a:t> </a:t>
            </a:r>
            <a:r>
              <a:rPr lang="en-US" dirty="0"/>
              <a:t>sent</a:t>
            </a:r>
          </a:p>
        </p:txBody>
      </p:sp>
    </p:spTree>
    <p:extLst>
      <p:ext uri="{BB962C8B-B14F-4D97-AF65-F5344CB8AC3E}">
        <p14:creationId xmlns:p14="http://schemas.microsoft.com/office/powerpoint/2010/main" val="2533688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B4918A-0154-4B80-9BBB-F82341252970}"/>
              </a:ext>
            </a:extLst>
          </p:cNvPr>
          <p:cNvSpPr txBox="1"/>
          <p:nvPr/>
        </p:nvSpPr>
        <p:spPr>
          <a:xfrm>
            <a:off x="-1" y="0"/>
            <a:ext cx="12192001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Calls/Connections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a cell phone is turned on, it registers with the cellular system by contacting the network via a signaling/control and paging channel.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channel used by phone to announce its presence to network.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phone is allowed to access network for its carrier.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Features for that subscriber plan will be activated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registration system allows cellular system to know how to find the cell phone when system needs to route a call to phone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storage of these registration pings is only present for a few hours and are not recoverable after the fact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Making a call. Bob calls Sue.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Bob’s cell phone scans for best signal from a tower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MSC verifies Bob is valid subscriber, checks for available channel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MSC asks HLR for Sue’s account and location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call is sent to the last tower that Sue’s phone pinged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tower sends call to Sue</a:t>
            </a:r>
          </a:p>
          <a:p>
            <a:r>
              <a:rPr lang="en-US" b="1" u="sng" dirty="0"/>
              <a:t>GSM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Periodically pings tower with strongest signal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Camps on tower </a:t>
            </a:r>
            <a:r>
              <a:rPr lang="en-US" dirty="0" err="1"/>
              <a:t>til</a:t>
            </a:r>
            <a:r>
              <a:rPr lang="en-US" dirty="0"/>
              <a:t> stronger signal found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Tower selection made in ‘idle’ mode (not during a call)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Once phone in a call the network will handle the tower selection vis “handoffs”</a:t>
            </a:r>
          </a:p>
          <a:p>
            <a:r>
              <a:rPr lang="en-US" b="1" u="sng" dirty="0"/>
              <a:t>CDMA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Phone itself sends PREP (Pilot Reports) reports on tower signal strength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Phone does this when idle and in call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Phone performs this function telling network what cell sire to send its traffic over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8F63AF-D75F-4B5A-90C4-69ABD164956B}"/>
              </a:ext>
            </a:extLst>
          </p:cNvPr>
          <p:cNvSpPr txBox="1"/>
          <p:nvPr/>
        </p:nvSpPr>
        <p:spPr>
          <a:xfrm>
            <a:off x="7232511" y="3150500"/>
            <a:ext cx="450899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u="sng" dirty="0"/>
              <a:t>Types of call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Completed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Call attempt, no answer, caller gives up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Routed call, no answer – the phone cannot be reached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Forwarded call</a:t>
            </a:r>
          </a:p>
        </p:txBody>
      </p:sp>
    </p:spTree>
    <p:extLst>
      <p:ext uri="{BB962C8B-B14F-4D97-AF65-F5344CB8AC3E}">
        <p14:creationId xmlns:p14="http://schemas.microsoft.com/office/powerpoint/2010/main" val="2407036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36B4119E-C515-469D-814A-9766C686D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23" y="0"/>
            <a:ext cx="112541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209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488346-7075-483C-8B09-2075AF69D6A0}"/>
              </a:ext>
            </a:extLst>
          </p:cNvPr>
          <p:cNvSpPr txBox="1"/>
          <p:nvPr/>
        </p:nvSpPr>
        <p:spPr>
          <a:xfrm>
            <a:off x="0" y="9144"/>
            <a:ext cx="2223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Cell Towers, Cell Sites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E36D3155-F9A3-4CEA-A335-3C38F71423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394" y="3341479"/>
            <a:ext cx="6929103" cy="32515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CF993F-13CB-4ECF-B5A3-7A98D13E9CB1}"/>
              </a:ext>
            </a:extLst>
          </p:cNvPr>
          <p:cNvSpPr txBox="1"/>
          <p:nvPr/>
        </p:nvSpPr>
        <p:spPr>
          <a:xfrm>
            <a:off x="0" y="582094"/>
            <a:ext cx="7282635" cy="381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Cell Site: remote buildings with cellular radio equipment and antennas on towers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Beam width 120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Can be narrower (longer). Horizontal Beam width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Azimuth is direction radio antennas pointed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Cell Towers do NOT have an “average” coverage area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Co-located antennas from multiple companies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Antennas send and receive signals to and from phones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Base Transceiver Station (3G) and </a:t>
            </a:r>
            <a:r>
              <a:rPr lang="en-US" sz="1400" dirty="0" err="1"/>
              <a:t>eNode</a:t>
            </a:r>
            <a:r>
              <a:rPr lang="en-US" sz="1400" dirty="0"/>
              <a:t> B (4g LTE) manage the tower and calls on the tower.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Talks to phone network via cables.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Plain Old Telephone System (POTS)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Newer non-POTS technology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	Integrated Digital Services Network (ISDN)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	Digital Subscriber Line (DSL)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	Fiber Distributed Data Interface (FDDI)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78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C30FF0-3F18-4FF7-B22C-9AF0D2E82B9E}"/>
              </a:ext>
            </a:extLst>
          </p:cNvPr>
          <p:cNvSpPr txBox="1"/>
          <p:nvPr/>
        </p:nvSpPr>
        <p:spPr>
          <a:xfrm>
            <a:off x="0" y="9144"/>
            <a:ext cx="12192000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Phone Locations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Call details records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 dirty="0"/>
              <a:t>Cell tower and sector used by cell phone on a map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Real-time Call details records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 dirty="0"/>
              <a:t>Warrant required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 dirty="0"/>
              <a:t>Bear in mind this does not record pings, user needs to make/receive calls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“Precision location” data (Comes in three forms normally). These are engineering tools to check health of networks, not accurate for phone locations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 dirty="0"/>
              <a:t>Per Call Measurement Data (PCMD) </a:t>
            </a:r>
            <a:r>
              <a:rPr lang="en-US" sz="1200" b="1" u="sng" dirty="0"/>
              <a:t>Sprint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200" dirty="0"/>
              <a:t>Based on Round Trip Delay (RTD)… Signal from tower-phone-tower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200" dirty="0"/>
              <a:t>Periodic timing measurements from three sites to triangulate position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200" dirty="0"/>
              <a:t>Not reliable because timings are affected by</a:t>
            </a:r>
          </a:p>
          <a:p>
            <a:pPr marL="1714500" lvl="3" indent="-342900">
              <a:buFont typeface="+mj-lt"/>
              <a:buAutoNum type="arabicPeriod"/>
            </a:pPr>
            <a:r>
              <a:rPr lang="en-US" sz="1200" dirty="0"/>
              <a:t>Multipathing extends distance</a:t>
            </a:r>
          </a:p>
          <a:p>
            <a:pPr marL="1714500" lvl="3" indent="-342900">
              <a:buFont typeface="+mj-lt"/>
              <a:buAutoNum type="arabicPeriod"/>
            </a:pPr>
            <a:r>
              <a:rPr lang="en-US" sz="1200" dirty="0"/>
              <a:t>Capacity issues</a:t>
            </a:r>
          </a:p>
          <a:p>
            <a:pPr marL="1714500" lvl="3" indent="-342900">
              <a:buFont typeface="+mj-lt"/>
              <a:buAutoNum type="arabicPeriod"/>
            </a:pPr>
            <a:r>
              <a:rPr lang="en-US" sz="1200" dirty="0"/>
              <a:t>Multiple hand-off connections</a:t>
            </a:r>
          </a:p>
          <a:p>
            <a:pPr marL="1714500" lvl="3" indent="-342900">
              <a:buFont typeface="+mj-lt"/>
              <a:buAutoNum type="arabicPeriod"/>
            </a:pPr>
            <a:r>
              <a:rPr lang="en-US" sz="1200" dirty="0"/>
              <a:t>Repeaters</a:t>
            </a:r>
          </a:p>
          <a:p>
            <a:pPr marL="1714500" lvl="3" indent="-342900">
              <a:buFont typeface="+mj-lt"/>
              <a:buAutoNum type="arabicPeriod"/>
            </a:pPr>
            <a:r>
              <a:rPr lang="en-US" sz="1200" dirty="0"/>
              <a:t>Also, Minimum 3 towers signaling phone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 dirty="0"/>
              <a:t>Real Time Tool (RTT) </a:t>
            </a:r>
            <a:r>
              <a:rPr lang="en-US" sz="1200" b="1" u="sng" dirty="0"/>
              <a:t>Verizon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200" dirty="0"/>
              <a:t>Also based on Round Trip Delay (RTD)… Signal from tower-phone-tower</a:t>
            </a:r>
            <a:endParaRPr lang="en-US" sz="1200" b="1" u="sng" dirty="0"/>
          </a:p>
          <a:p>
            <a:pPr marL="800100" lvl="1" indent="-342900">
              <a:buFont typeface="+mj-lt"/>
              <a:buAutoNum type="arabicPeriod"/>
            </a:pPr>
            <a:r>
              <a:rPr lang="en-US" sz="1200" dirty="0"/>
              <a:t>Network Event Location System (NELOS) </a:t>
            </a:r>
            <a:r>
              <a:rPr lang="en-US" sz="1200" b="1" u="sng" dirty="0"/>
              <a:t>AT&amp;T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200" b="1" u="sng" dirty="0"/>
              <a:t>GPS technology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 dirty="0"/>
              <a:t>These are engineering tools to check health of networks, not accurate for phone locations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Cellular data pings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 dirty="0"/>
              <a:t>real-time geolocation tracking of cellular phone by activating E911 system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 dirty="0"/>
              <a:t>Subsequently uses a network-based or handset-based method for triangulating cell phone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 dirty="0"/>
              <a:t>Gives estimated location of phone itself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Drive testing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 dirty="0"/>
              <a:t>Drive around with specialized equipment testing tower connections during calls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 dirty="0"/>
              <a:t>Be aware this data may be used in court even if we don’t do it ourself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Emergency 911 System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 dirty="0"/>
              <a:t>To provide geo-location to emergency services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 dirty="0"/>
              <a:t>FCC’s basic 911 rules require wireless service providers to transmit all 991 calls to a Public Safety Access/Answering Point (PSAP)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</a:rPr>
              <a:t>A primary PSAP is defined as a PSAP to which 9-1-1 calls are routed directly from the 9-1-1 Control Office, such as, a selective router or 9-1-1 tandem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 dirty="0"/>
              <a:t>Phase I 911 rules: Must provide cell number and Cell Site of 911 call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 dirty="0"/>
              <a:t>Phase II 911 rules: Must </a:t>
            </a:r>
            <a:r>
              <a:rPr lang="en-US" sz="1200" b="1" u="sng" dirty="0"/>
              <a:t>ALSO</a:t>
            </a:r>
            <a:r>
              <a:rPr lang="en-US" sz="1200" dirty="0"/>
              <a:t> provide latitude and longitude of caller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 dirty="0"/>
              <a:t>Requires a 45s phone call for geolocation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 dirty="0"/>
              <a:t>Enhanced 911, Law enforcement request ping of phone to track it</a:t>
            </a:r>
          </a:p>
        </p:txBody>
      </p:sp>
    </p:spTree>
    <p:extLst>
      <p:ext uri="{BB962C8B-B14F-4D97-AF65-F5344CB8AC3E}">
        <p14:creationId xmlns:p14="http://schemas.microsoft.com/office/powerpoint/2010/main" val="2669881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4842AF-A7A6-4FE7-A5AC-3116E7909EC1}"/>
              </a:ext>
            </a:extLst>
          </p:cNvPr>
          <p:cNvSpPr txBox="1"/>
          <p:nvPr/>
        </p:nvSpPr>
        <p:spPr>
          <a:xfrm>
            <a:off x="1524" y="0"/>
            <a:ext cx="12190476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Call detail records can show which cell tower, and sector were used for a phone call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AT&amp;T can show which tower was used for text and data </a:t>
            </a:r>
            <a:r>
              <a:rPr lang="en-US" b="1" u="sng" dirty="0"/>
              <a:t>BUT </a:t>
            </a:r>
            <a:r>
              <a:rPr lang="en-US" dirty="0"/>
              <a:t>data transmission time stamps are one hour apart and, therefore, not discrete in the time-domain as the actual time of the data transmission within that hour is not known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a result data transmissions and phone calls may be shown the records to be taking place at </a:t>
            </a:r>
            <a:r>
              <a:rPr lang="en-US" b="1" u="sng" dirty="0"/>
              <a:t>DIFFERENT</a:t>
            </a:r>
            <a:r>
              <a:rPr lang="en-US" b="1" dirty="0"/>
              <a:t> </a:t>
            </a:r>
            <a:r>
              <a:rPr lang="en-US" dirty="0"/>
              <a:t>towers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transmission continues even if the user is </a:t>
            </a:r>
            <a:r>
              <a:rPr lang="en-US" b="1" u="sng" dirty="0"/>
              <a:t>NOT</a:t>
            </a:r>
            <a:r>
              <a:rPr lang="en-US" dirty="0"/>
              <a:t> interacting with the phone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AT&amp;T likely to be only company that has usable text/</a:t>
            </a:r>
            <a:r>
              <a:rPr lang="en-US" dirty="0" err="1"/>
              <a:t>sms</a:t>
            </a:r>
            <a:r>
              <a:rPr lang="en-US" dirty="0"/>
              <a:t> &amp; tower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Text content often kept by wireless company for a few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u="sng" dirty="0"/>
              <a:t>Which Tower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Cell phones attempt to connect to tower emitting the highest quality signal at a given moment, not only the closest.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actual determination of which tower was connected to is complex, hinges on a multitude of factors, none of which are memorialized in the cell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Rayleigh and Rician fading, multipath, diffraction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Factors may 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Available capacity of tower at time (sport/live event nearby)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Tower health/functionality at time (get outage data)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Line of sight from phone to cell tower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Radio signal interference from other towers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Signal reflection/diffraction from buildings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Signal scattering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Blocking signal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Dominant vs non-dominant regions of overlapping cell tower strength</a:t>
            </a:r>
          </a:p>
        </p:txBody>
      </p:sp>
    </p:spTree>
    <p:extLst>
      <p:ext uri="{BB962C8B-B14F-4D97-AF65-F5344CB8AC3E}">
        <p14:creationId xmlns:p14="http://schemas.microsoft.com/office/powerpoint/2010/main" val="3842154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9A8FBF-816A-4424-BB61-57E2871FC900}"/>
              </a:ext>
            </a:extLst>
          </p:cNvPr>
          <p:cNvSpPr txBox="1"/>
          <p:nvPr/>
        </p:nvSpPr>
        <p:spPr>
          <a:xfrm>
            <a:off x="0" y="9144"/>
            <a:ext cx="11622477" cy="6740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Call Detail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common type of evidence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Common to every carrier and can be obtained after the fact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Network traffic for cell phone transactions is collected by Mobile Switching Centers (MSCs)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Call records generated as a result of a query of this database and put into a report</a:t>
            </a:r>
          </a:p>
          <a:p>
            <a:r>
              <a:rPr lang="en-US" b="1" u="sng" dirty="0"/>
              <a:t>Business reasons for collecting this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Proof of service/Customer service/disputes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Transaction record for financial accounting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Technical picture of each transaction</a:t>
            </a:r>
          </a:p>
          <a:p>
            <a:r>
              <a:rPr lang="en-US" b="1" u="sng" dirty="0"/>
              <a:t>Data contained in Cell Phone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Note: Dialed number may contain speed dials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Records may look different for CDMA vs GSM</a:t>
            </a:r>
          </a:p>
          <a:p>
            <a:r>
              <a:rPr lang="en-US" b="1" u="sng" dirty="0"/>
              <a:t>CDMA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First cell tower phone call went through and possibly last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Will </a:t>
            </a:r>
            <a:r>
              <a:rPr lang="en-US" b="1" u="sng" dirty="0"/>
              <a:t>NOT</a:t>
            </a:r>
            <a:r>
              <a:rPr lang="en-US" dirty="0"/>
              <a:t> contain tower info for text messages or data transmissions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Sector numbers for records in CDMA networks for Lucent switches are numbered differently than for Nortel or Ericsson</a:t>
            </a:r>
          </a:p>
          <a:p>
            <a:r>
              <a:rPr lang="en-US" b="1" u="sng" dirty="0"/>
              <a:t>GSM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AT&amp;T 1</a:t>
            </a:r>
            <a:r>
              <a:rPr lang="en-US" baseline="30000" dirty="0"/>
              <a:t>st</a:t>
            </a:r>
            <a:r>
              <a:rPr lang="en-US" dirty="0"/>
              <a:t> tower and possibly additional towers in a call (chosen in idle mode)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the first tower subsequent towers are chosen by the network and are unreliable location indicators</a:t>
            </a:r>
            <a:endParaRPr lang="en-US" b="1" u="sng" dirty="0"/>
          </a:p>
          <a:p>
            <a:r>
              <a:rPr lang="en-US" b="1" u="sng" dirty="0"/>
              <a:t>To obtain from wireless company you need to request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Call detail records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Cell tower location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request maintenance and outage records from wireless company’s subpoena compliance dept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See page 43 in “Cell Phone Location Evidence for Legal Professionals” book for example subpoena</a:t>
            </a:r>
          </a:p>
        </p:txBody>
      </p:sp>
    </p:spTree>
    <p:extLst>
      <p:ext uri="{BB962C8B-B14F-4D97-AF65-F5344CB8AC3E}">
        <p14:creationId xmlns:p14="http://schemas.microsoft.com/office/powerpoint/2010/main" val="3025757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70C28-02F2-472A-8A85-79654D6A3A79}"/>
              </a:ext>
            </a:extLst>
          </p:cNvPr>
          <p:cNvSpPr txBox="1"/>
          <p:nvPr/>
        </p:nvSpPr>
        <p:spPr>
          <a:xfrm>
            <a:off x="1524" y="0"/>
            <a:ext cx="1219047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How cell phone location evidence is presented in court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Maps are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an analyst tries to show coverage area of a cell tower… unless they are using radio propagation maps created by wireless telephone company they are taking a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is </a:t>
            </a:r>
            <a:r>
              <a:rPr lang="en-US" b="1" u="sng" dirty="0"/>
              <a:t>NO</a:t>
            </a:r>
            <a:r>
              <a:rPr lang="en-US" dirty="0"/>
              <a:t> way to determine the coverage of a cell tower sector through the use of call detail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Coverage area of a cell tower should never be part of an analyst’s mapping or court presentations unless that information comes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directly from the wireless telephone company in the form of a radio propagation map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or drive testing contemporaneous to the date in question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Coverage area: the area around the cell tower where the radio waves reach the 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single cell site can contain the hardware for several cells, which are then also known as sectors.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sectors will operate independently of each other having unique IDs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NO</a:t>
            </a:r>
            <a:r>
              <a:rPr lang="en-US" dirty="0"/>
              <a:t> knowledgeable expert should be using pie slices</a:t>
            </a:r>
          </a:p>
        </p:txBody>
      </p:sp>
      <p:pic>
        <p:nvPicPr>
          <p:cNvPr id="7" name="Picture 6" descr="Map&#10;&#10;Description automatically generated">
            <a:extLst>
              <a:ext uri="{FF2B5EF4-FFF2-40B4-BE49-F238E27FC236}">
                <a16:creationId xmlns:a16="http://schemas.microsoft.com/office/drawing/2014/main" id="{1A5AFED5-7EED-477E-948C-97FDA1FCF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824" y="3693319"/>
            <a:ext cx="4498086" cy="3102640"/>
          </a:xfrm>
          <a:prstGeom prst="rect">
            <a:avLst/>
          </a:prstGeom>
        </p:spPr>
      </p:pic>
      <p:pic>
        <p:nvPicPr>
          <p:cNvPr id="9" name="Picture 8" descr="Map&#10;&#10;Description automatically generated">
            <a:extLst>
              <a:ext uri="{FF2B5EF4-FFF2-40B4-BE49-F238E27FC236}">
                <a16:creationId xmlns:a16="http://schemas.microsoft.com/office/drawing/2014/main" id="{A4A6B9D3-0B16-4817-A5C3-C782D0AD71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273" y="3775921"/>
            <a:ext cx="4320986" cy="29766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0E62AB-FA17-41A3-933B-6E490CA2EFD8}"/>
              </a:ext>
            </a:extLst>
          </p:cNvPr>
          <p:cNvSpPr txBox="1"/>
          <p:nvPr/>
        </p:nvSpPr>
        <p:spPr>
          <a:xfrm>
            <a:off x="8062332" y="3429000"/>
            <a:ext cx="3018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Be no more detailed than this</a:t>
            </a:r>
          </a:p>
        </p:txBody>
      </p:sp>
    </p:spTree>
    <p:extLst>
      <p:ext uri="{BB962C8B-B14F-4D97-AF65-F5344CB8AC3E}">
        <p14:creationId xmlns:p14="http://schemas.microsoft.com/office/powerpoint/2010/main" val="1049445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48CD27D-C29C-402B-9E9F-7C59425A53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000381"/>
              </p:ext>
            </p:extLst>
          </p:nvPr>
        </p:nvGraphicFramePr>
        <p:xfrm>
          <a:off x="-4" y="1467230"/>
          <a:ext cx="12192004" cy="6405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9740">
                  <a:extLst>
                    <a:ext uri="{9D8B030D-6E8A-4147-A177-3AD203B41FA5}">
                      <a16:colId xmlns:a16="http://schemas.microsoft.com/office/drawing/2014/main" val="3370116425"/>
                    </a:ext>
                  </a:extLst>
                </a:gridCol>
                <a:gridCol w="1467741">
                  <a:extLst>
                    <a:ext uri="{9D8B030D-6E8A-4147-A177-3AD203B41FA5}">
                      <a16:colId xmlns:a16="http://schemas.microsoft.com/office/drawing/2014/main" val="27123468"/>
                    </a:ext>
                  </a:extLst>
                </a:gridCol>
                <a:gridCol w="550404">
                  <a:extLst>
                    <a:ext uri="{9D8B030D-6E8A-4147-A177-3AD203B41FA5}">
                      <a16:colId xmlns:a16="http://schemas.microsoft.com/office/drawing/2014/main" val="1516833277"/>
                    </a:ext>
                  </a:extLst>
                </a:gridCol>
                <a:gridCol w="550404">
                  <a:extLst>
                    <a:ext uri="{9D8B030D-6E8A-4147-A177-3AD203B41FA5}">
                      <a16:colId xmlns:a16="http://schemas.microsoft.com/office/drawing/2014/main" val="1963086109"/>
                    </a:ext>
                  </a:extLst>
                </a:gridCol>
                <a:gridCol w="550404">
                  <a:extLst>
                    <a:ext uri="{9D8B030D-6E8A-4147-A177-3AD203B41FA5}">
                      <a16:colId xmlns:a16="http://schemas.microsoft.com/office/drawing/2014/main" val="3880951373"/>
                    </a:ext>
                  </a:extLst>
                </a:gridCol>
                <a:gridCol w="550404">
                  <a:extLst>
                    <a:ext uri="{9D8B030D-6E8A-4147-A177-3AD203B41FA5}">
                      <a16:colId xmlns:a16="http://schemas.microsoft.com/office/drawing/2014/main" val="22799521"/>
                    </a:ext>
                  </a:extLst>
                </a:gridCol>
                <a:gridCol w="550404">
                  <a:extLst>
                    <a:ext uri="{9D8B030D-6E8A-4147-A177-3AD203B41FA5}">
                      <a16:colId xmlns:a16="http://schemas.microsoft.com/office/drawing/2014/main" val="965855721"/>
                    </a:ext>
                  </a:extLst>
                </a:gridCol>
                <a:gridCol w="550404">
                  <a:extLst>
                    <a:ext uri="{9D8B030D-6E8A-4147-A177-3AD203B41FA5}">
                      <a16:colId xmlns:a16="http://schemas.microsoft.com/office/drawing/2014/main" val="2036971685"/>
                    </a:ext>
                  </a:extLst>
                </a:gridCol>
                <a:gridCol w="550404">
                  <a:extLst>
                    <a:ext uri="{9D8B030D-6E8A-4147-A177-3AD203B41FA5}">
                      <a16:colId xmlns:a16="http://schemas.microsoft.com/office/drawing/2014/main" val="3900262851"/>
                    </a:ext>
                  </a:extLst>
                </a:gridCol>
                <a:gridCol w="665069">
                  <a:extLst>
                    <a:ext uri="{9D8B030D-6E8A-4147-A177-3AD203B41FA5}">
                      <a16:colId xmlns:a16="http://schemas.microsoft.com/office/drawing/2014/main" val="1398819447"/>
                    </a:ext>
                  </a:extLst>
                </a:gridCol>
                <a:gridCol w="722403">
                  <a:extLst>
                    <a:ext uri="{9D8B030D-6E8A-4147-A177-3AD203B41FA5}">
                      <a16:colId xmlns:a16="http://schemas.microsoft.com/office/drawing/2014/main" val="4179278384"/>
                    </a:ext>
                  </a:extLst>
                </a:gridCol>
                <a:gridCol w="722403">
                  <a:extLst>
                    <a:ext uri="{9D8B030D-6E8A-4147-A177-3AD203B41FA5}">
                      <a16:colId xmlns:a16="http://schemas.microsoft.com/office/drawing/2014/main" val="1616291737"/>
                    </a:ext>
                  </a:extLst>
                </a:gridCol>
                <a:gridCol w="550404">
                  <a:extLst>
                    <a:ext uri="{9D8B030D-6E8A-4147-A177-3AD203B41FA5}">
                      <a16:colId xmlns:a16="http://schemas.microsoft.com/office/drawing/2014/main" val="2546124798"/>
                    </a:ext>
                  </a:extLst>
                </a:gridCol>
                <a:gridCol w="550404">
                  <a:extLst>
                    <a:ext uri="{9D8B030D-6E8A-4147-A177-3AD203B41FA5}">
                      <a16:colId xmlns:a16="http://schemas.microsoft.com/office/drawing/2014/main" val="717846009"/>
                    </a:ext>
                  </a:extLst>
                </a:gridCol>
                <a:gridCol w="550404">
                  <a:extLst>
                    <a:ext uri="{9D8B030D-6E8A-4147-A177-3AD203B41FA5}">
                      <a16:colId xmlns:a16="http://schemas.microsoft.com/office/drawing/2014/main" val="2919794936"/>
                    </a:ext>
                  </a:extLst>
                </a:gridCol>
                <a:gridCol w="550404">
                  <a:extLst>
                    <a:ext uri="{9D8B030D-6E8A-4147-A177-3AD203B41FA5}">
                      <a16:colId xmlns:a16="http://schemas.microsoft.com/office/drawing/2014/main" val="595084526"/>
                    </a:ext>
                  </a:extLst>
                </a:gridCol>
                <a:gridCol w="920204">
                  <a:extLst>
                    <a:ext uri="{9D8B030D-6E8A-4147-A177-3AD203B41FA5}">
                      <a16:colId xmlns:a16="http://schemas.microsoft.com/office/drawing/2014/main" val="3013106640"/>
                    </a:ext>
                  </a:extLst>
                </a:gridCol>
              </a:tblGrid>
              <a:tr h="32028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Record Open Date/Time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Record Open Dt/Tm(GMT)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SID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NID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Cell ID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Cell Face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Market ID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eNB ID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Dir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MSISDN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Called #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CPN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SOU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RAT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ENDPOINT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VZWNE/V4B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User Equip Type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extLst>
                  <a:ext uri="{0D108BD9-81ED-4DB2-BD59-A6C34878D82A}">
                    <a16:rowId xmlns:a16="http://schemas.microsoft.com/office/drawing/2014/main" val="1284450943"/>
                  </a:ext>
                </a:extLst>
              </a:tr>
              <a:tr h="32028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2020/03/29 18:49:42(GMT  -5)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effectLst/>
                        </a:rPr>
                        <a:t>3/29/2020 23:49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N/A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N/A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N/A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effectLst/>
                        </a:rPr>
                        <a:t>34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121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121002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MT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effectLst/>
                        </a:rPr>
                        <a:t>???????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effectLst/>
                        </a:rPr>
                        <a:t>???????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effectLst/>
                        </a:rPr>
                        <a:t>???????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effectLst/>
                        </a:rPr>
                        <a:t>13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LTE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N/A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N/A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effectLst/>
                        </a:rPr>
                        <a:t>3.55E+15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b"/>
                </a:tc>
                <a:extLst>
                  <a:ext uri="{0D108BD9-81ED-4DB2-BD59-A6C34878D82A}">
                    <a16:rowId xmlns:a16="http://schemas.microsoft.com/office/drawing/2014/main" val="192301795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CF6F322-B037-4B3A-8A58-43F39DF9FE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440777"/>
              </p:ext>
            </p:extLst>
          </p:nvPr>
        </p:nvGraphicFramePr>
        <p:xfrm>
          <a:off x="-4" y="3072383"/>
          <a:ext cx="12192002" cy="554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6292">
                  <a:extLst>
                    <a:ext uri="{9D8B030D-6E8A-4147-A177-3AD203B41FA5}">
                      <a16:colId xmlns:a16="http://schemas.microsoft.com/office/drawing/2014/main" val="1303883584"/>
                    </a:ext>
                  </a:extLst>
                </a:gridCol>
                <a:gridCol w="1099615">
                  <a:extLst>
                    <a:ext uri="{9D8B030D-6E8A-4147-A177-3AD203B41FA5}">
                      <a16:colId xmlns:a16="http://schemas.microsoft.com/office/drawing/2014/main" val="480643418"/>
                    </a:ext>
                  </a:extLst>
                </a:gridCol>
                <a:gridCol w="1193031">
                  <a:extLst>
                    <a:ext uri="{9D8B030D-6E8A-4147-A177-3AD203B41FA5}">
                      <a16:colId xmlns:a16="http://schemas.microsoft.com/office/drawing/2014/main" val="1948870064"/>
                    </a:ext>
                  </a:extLst>
                </a:gridCol>
                <a:gridCol w="1265549">
                  <a:extLst>
                    <a:ext uri="{9D8B030D-6E8A-4147-A177-3AD203B41FA5}">
                      <a16:colId xmlns:a16="http://schemas.microsoft.com/office/drawing/2014/main" val="1046627820"/>
                    </a:ext>
                  </a:extLst>
                </a:gridCol>
                <a:gridCol w="865251">
                  <a:extLst>
                    <a:ext uri="{9D8B030D-6E8A-4147-A177-3AD203B41FA5}">
                      <a16:colId xmlns:a16="http://schemas.microsoft.com/office/drawing/2014/main" val="3057017406"/>
                    </a:ext>
                  </a:extLst>
                </a:gridCol>
                <a:gridCol w="499827">
                  <a:extLst>
                    <a:ext uri="{9D8B030D-6E8A-4147-A177-3AD203B41FA5}">
                      <a16:colId xmlns:a16="http://schemas.microsoft.com/office/drawing/2014/main" val="2960185819"/>
                    </a:ext>
                  </a:extLst>
                </a:gridCol>
                <a:gridCol w="533145">
                  <a:extLst>
                    <a:ext uri="{9D8B030D-6E8A-4147-A177-3AD203B41FA5}">
                      <a16:colId xmlns:a16="http://schemas.microsoft.com/office/drawing/2014/main" val="460406986"/>
                    </a:ext>
                  </a:extLst>
                </a:gridCol>
                <a:gridCol w="799718">
                  <a:extLst>
                    <a:ext uri="{9D8B030D-6E8A-4147-A177-3AD203B41FA5}">
                      <a16:colId xmlns:a16="http://schemas.microsoft.com/office/drawing/2014/main" val="1340735193"/>
                    </a:ext>
                  </a:extLst>
                </a:gridCol>
                <a:gridCol w="989469">
                  <a:extLst>
                    <a:ext uri="{9D8B030D-6E8A-4147-A177-3AD203B41FA5}">
                      <a16:colId xmlns:a16="http://schemas.microsoft.com/office/drawing/2014/main" val="3903724710"/>
                    </a:ext>
                  </a:extLst>
                </a:gridCol>
                <a:gridCol w="1371601">
                  <a:extLst>
                    <a:ext uri="{9D8B030D-6E8A-4147-A177-3AD203B41FA5}">
                      <a16:colId xmlns:a16="http://schemas.microsoft.com/office/drawing/2014/main" val="4109756472"/>
                    </a:ext>
                  </a:extLst>
                </a:gridCol>
                <a:gridCol w="1287648">
                  <a:extLst>
                    <a:ext uri="{9D8B030D-6E8A-4147-A177-3AD203B41FA5}">
                      <a16:colId xmlns:a16="http://schemas.microsoft.com/office/drawing/2014/main" val="1591872766"/>
                    </a:ext>
                  </a:extLst>
                </a:gridCol>
                <a:gridCol w="694745">
                  <a:extLst>
                    <a:ext uri="{9D8B030D-6E8A-4147-A177-3AD203B41FA5}">
                      <a16:colId xmlns:a16="http://schemas.microsoft.com/office/drawing/2014/main" val="2504213719"/>
                    </a:ext>
                  </a:extLst>
                </a:gridCol>
                <a:gridCol w="526111">
                  <a:extLst>
                    <a:ext uri="{9D8B030D-6E8A-4147-A177-3AD203B41FA5}">
                      <a16:colId xmlns:a16="http://schemas.microsoft.com/office/drawing/2014/main" val="4154390363"/>
                    </a:ext>
                  </a:extLst>
                </a:gridCol>
              </a:tblGrid>
              <a:tr h="37707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Site Number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E-911 Latitude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E-911 Longitude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Street Address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City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State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Zip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Sector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Azimuth (deg)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Antenna H-BW (deg)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Channel Type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eNodeB 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Vendor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79523475"/>
                  </a:ext>
                </a:extLst>
              </a:tr>
              <a:tr h="109336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30.343027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-95.0788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120 Peach Ave # 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Cleveland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77327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270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61.25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121002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Nokia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8230098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49801AF-F1E4-4522-BFDB-453F3FF45279}"/>
              </a:ext>
            </a:extLst>
          </p:cNvPr>
          <p:cNvSpPr txBox="1"/>
          <p:nvPr/>
        </p:nvSpPr>
        <p:spPr>
          <a:xfrm>
            <a:off x="0" y="0"/>
            <a:ext cx="23296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Verizon Call data</a:t>
            </a:r>
          </a:p>
          <a:p>
            <a:r>
              <a:rPr lang="en-US" b="1" dirty="0"/>
              <a:t>Excel sheet 1: call data</a:t>
            </a:r>
          </a:p>
          <a:p>
            <a:r>
              <a:rPr lang="en-US" b="1" dirty="0"/>
              <a:t>Excel sheet 2: site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1DC5C1-D192-45B5-93BA-7D8B16182E03}"/>
              </a:ext>
            </a:extLst>
          </p:cNvPr>
          <p:cNvSpPr txBox="1"/>
          <p:nvPr/>
        </p:nvSpPr>
        <p:spPr>
          <a:xfrm>
            <a:off x="5196712" y="1097898"/>
            <a:ext cx="899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call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1BE8C1-A7F2-49C0-8BA1-F0CE11402508}"/>
              </a:ext>
            </a:extLst>
          </p:cNvPr>
          <p:cNvSpPr txBox="1"/>
          <p:nvPr/>
        </p:nvSpPr>
        <p:spPr>
          <a:xfrm>
            <a:off x="5120512" y="2703051"/>
            <a:ext cx="919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site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7A158D1-D0DC-4059-B452-C7B08D77D647}"/>
              </a:ext>
            </a:extLst>
          </p:cNvPr>
          <p:cNvSpPr/>
          <p:nvPr/>
        </p:nvSpPr>
        <p:spPr>
          <a:xfrm>
            <a:off x="5888736" y="1901952"/>
            <a:ext cx="621792" cy="24685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94D231A-01BD-4080-ACDF-CACBF0EEB3D1}"/>
              </a:ext>
            </a:extLst>
          </p:cNvPr>
          <p:cNvSpPr/>
          <p:nvPr/>
        </p:nvSpPr>
        <p:spPr>
          <a:xfrm>
            <a:off x="11097768" y="3407635"/>
            <a:ext cx="621792" cy="24685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9E0D42F-FC5F-4850-8B06-EDB94A51945B}"/>
              </a:ext>
            </a:extLst>
          </p:cNvPr>
          <p:cNvCxnSpPr>
            <a:cxnSpLocks/>
          </p:cNvCxnSpPr>
          <p:nvPr/>
        </p:nvCxnSpPr>
        <p:spPr>
          <a:xfrm>
            <a:off x="6510528" y="2148811"/>
            <a:ext cx="4443984" cy="1280189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67A9DF44-25FE-41EE-AA25-E0BD29B1D8B8}"/>
              </a:ext>
            </a:extLst>
          </p:cNvPr>
          <p:cNvSpPr/>
          <p:nvPr/>
        </p:nvSpPr>
        <p:spPr>
          <a:xfrm>
            <a:off x="5029008" y="1915780"/>
            <a:ext cx="365888" cy="24685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05EAF61-40CB-48BB-83E2-33FC894892E4}"/>
              </a:ext>
            </a:extLst>
          </p:cNvPr>
          <p:cNvSpPr/>
          <p:nvPr/>
        </p:nvSpPr>
        <p:spPr>
          <a:xfrm>
            <a:off x="7074216" y="3407635"/>
            <a:ext cx="365888" cy="24685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88DC648-A747-4360-99F5-33FC22598147}"/>
              </a:ext>
            </a:extLst>
          </p:cNvPr>
          <p:cNvCxnSpPr>
            <a:cxnSpLocks/>
          </p:cNvCxnSpPr>
          <p:nvPr/>
        </p:nvCxnSpPr>
        <p:spPr>
          <a:xfrm>
            <a:off x="5289803" y="2177354"/>
            <a:ext cx="1784413" cy="1230281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E66D912-809C-4FEB-A700-81BAEAEF7EC0}"/>
              </a:ext>
            </a:extLst>
          </p:cNvPr>
          <p:cNvCxnSpPr/>
          <p:nvPr/>
        </p:nvCxnSpPr>
        <p:spPr>
          <a:xfrm>
            <a:off x="7440104" y="3531064"/>
            <a:ext cx="5426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8295BD4-1C4C-4439-B4A6-15C970D7A2B0}"/>
              </a:ext>
            </a:extLst>
          </p:cNvPr>
          <p:cNvCxnSpPr/>
          <p:nvPr/>
        </p:nvCxnSpPr>
        <p:spPr>
          <a:xfrm>
            <a:off x="8461216" y="3531064"/>
            <a:ext cx="5426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CD72DCA-0445-4D89-BD54-D5F73C6547E8}"/>
              </a:ext>
            </a:extLst>
          </p:cNvPr>
          <p:cNvCxnSpPr/>
          <p:nvPr/>
        </p:nvCxnSpPr>
        <p:spPr>
          <a:xfrm>
            <a:off x="9134856" y="3730752"/>
            <a:ext cx="0" cy="11155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E74D327-279A-4EB9-BE7C-94AEB0DA18D1}"/>
              </a:ext>
            </a:extLst>
          </p:cNvPr>
          <p:cNvSpPr txBox="1"/>
          <p:nvPr/>
        </p:nvSpPr>
        <p:spPr>
          <a:xfrm>
            <a:off x="7982712" y="4950449"/>
            <a:ext cx="2753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Change my code to use this</a:t>
            </a:r>
          </a:p>
        </p:txBody>
      </p:sp>
    </p:spTree>
    <p:extLst>
      <p:ext uri="{BB962C8B-B14F-4D97-AF65-F5344CB8AC3E}">
        <p14:creationId xmlns:p14="http://schemas.microsoft.com/office/powerpoint/2010/main" val="2942291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20A0C69-4EC4-4A2F-B0CA-2C36188E52F6}"/>
              </a:ext>
            </a:extLst>
          </p:cNvPr>
          <p:cNvCxnSpPr/>
          <p:nvPr/>
        </p:nvCxnSpPr>
        <p:spPr>
          <a:xfrm>
            <a:off x="3959972" y="2024519"/>
            <a:ext cx="0" cy="1088136"/>
          </a:xfrm>
          <a:prstGeom prst="line">
            <a:avLst/>
          </a:prstGeom>
          <a:ln w="38100">
            <a:solidFill>
              <a:srgbClr val="DD2B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92D871-10BB-4CC4-93B2-7070CC27C5D7}"/>
              </a:ext>
            </a:extLst>
          </p:cNvPr>
          <p:cNvCxnSpPr>
            <a:cxnSpLocks/>
          </p:cNvCxnSpPr>
          <p:nvPr/>
        </p:nvCxnSpPr>
        <p:spPr>
          <a:xfrm rot="7200000">
            <a:off x="4431149" y="2840621"/>
            <a:ext cx="0" cy="1088136"/>
          </a:xfrm>
          <a:prstGeom prst="line">
            <a:avLst/>
          </a:prstGeom>
          <a:ln w="38100">
            <a:solidFill>
              <a:srgbClr val="DD2B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179399B-0233-4653-A04E-E6E8D1D4D227}"/>
              </a:ext>
            </a:extLst>
          </p:cNvPr>
          <p:cNvCxnSpPr>
            <a:cxnSpLocks/>
          </p:cNvCxnSpPr>
          <p:nvPr/>
        </p:nvCxnSpPr>
        <p:spPr>
          <a:xfrm rot="3600000">
            <a:off x="4058957" y="2941204"/>
            <a:ext cx="0" cy="22860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0D78E26A-CECE-4E42-9E3A-68DC5D4A43BB}"/>
              </a:ext>
            </a:extLst>
          </p:cNvPr>
          <p:cNvSpPr/>
          <p:nvPr/>
        </p:nvSpPr>
        <p:spPr>
          <a:xfrm>
            <a:off x="3841291" y="2993976"/>
            <a:ext cx="237356" cy="237356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E62BBC-E30C-4875-8B61-8F65EACADAE7}"/>
              </a:ext>
            </a:extLst>
          </p:cNvPr>
          <p:cNvSpPr txBox="1"/>
          <p:nvPr/>
        </p:nvSpPr>
        <p:spPr>
          <a:xfrm>
            <a:off x="538158" y="23633"/>
            <a:ext cx="1884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Sectors (usually 3)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93E087-F780-4C45-8C86-B36113234D41}"/>
              </a:ext>
            </a:extLst>
          </p:cNvPr>
          <p:cNvSpPr txBox="1"/>
          <p:nvPr/>
        </p:nvSpPr>
        <p:spPr>
          <a:xfrm>
            <a:off x="467832" y="3980927"/>
            <a:ext cx="2149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Orientation/Rotation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7BAA2A1-0597-4107-BDE3-9340F38C688A}"/>
              </a:ext>
            </a:extLst>
          </p:cNvPr>
          <p:cNvGrpSpPr/>
          <p:nvPr/>
        </p:nvGrpSpPr>
        <p:grpSpPr>
          <a:xfrm>
            <a:off x="275914" y="472126"/>
            <a:ext cx="2188060" cy="2188060"/>
            <a:chOff x="330999" y="383991"/>
            <a:chExt cx="2188060" cy="218806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D471EC5-C9C6-484B-A8CA-899A0E9A6C59}"/>
                </a:ext>
              </a:extLst>
            </p:cNvPr>
            <p:cNvGrpSpPr/>
            <p:nvPr/>
          </p:nvGrpSpPr>
          <p:grpSpPr>
            <a:xfrm>
              <a:off x="330999" y="383991"/>
              <a:ext cx="2188060" cy="2188060"/>
              <a:chOff x="330999" y="383991"/>
              <a:chExt cx="2188060" cy="218806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29EDB7C6-E8C3-48D3-ADDF-D8D4BC834485}"/>
                  </a:ext>
                </a:extLst>
              </p:cNvPr>
              <p:cNvSpPr/>
              <p:nvPr/>
            </p:nvSpPr>
            <p:spPr>
              <a:xfrm>
                <a:off x="330999" y="383991"/>
                <a:ext cx="2188060" cy="2188060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94E45FEB-B1A8-44A5-BE08-550190488F7B}"/>
                  </a:ext>
                </a:extLst>
              </p:cNvPr>
              <p:cNvCxnSpPr/>
              <p:nvPr/>
            </p:nvCxnSpPr>
            <p:spPr>
              <a:xfrm>
                <a:off x="1425031" y="389886"/>
                <a:ext cx="0" cy="1088136"/>
              </a:xfrm>
              <a:prstGeom prst="line">
                <a:avLst/>
              </a:prstGeom>
              <a:ln w="38100">
                <a:solidFill>
                  <a:srgbClr val="DD2BA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74F22A60-85B0-4A5A-A45E-42C688F18370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1896208" y="1205988"/>
                <a:ext cx="0" cy="1088136"/>
              </a:xfrm>
              <a:prstGeom prst="line">
                <a:avLst/>
              </a:prstGeom>
              <a:ln w="38100">
                <a:solidFill>
                  <a:srgbClr val="DD2BA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FAB33D0A-9061-42C5-A6CB-CFC4BFB8EE59}"/>
                  </a:ext>
                </a:extLst>
              </p:cNvPr>
              <p:cNvCxnSpPr>
                <a:cxnSpLocks/>
              </p:cNvCxnSpPr>
              <p:nvPr/>
            </p:nvCxnSpPr>
            <p:spPr>
              <a:xfrm rot="14400000">
                <a:off x="946508" y="1205987"/>
                <a:ext cx="0" cy="1088136"/>
              </a:xfrm>
              <a:prstGeom prst="line">
                <a:avLst/>
              </a:prstGeom>
              <a:ln w="38100">
                <a:solidFill>
                  <a:srgbClr val="DD2BA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6A902A6-0FD2-4F43-B137-989B7631A563}"/>
                </a:ext>
              </a:extLst>
            </p:cNvPr>
            <p:cNvSpPr/>
            <p:nvPr/>
          </p:nvSpPr>
          <p:spPr>
            <a:xfrm>
              <a:off x="1297908" y="1359343"/>
              <a:ext cx="237356" cy="237356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AB0ACA6B-E928-4F36-B21A-1E20E1C764B6}"/>
              </a:ext>
            </a:extLst>
          </p:cNvPr>
          <p:cNvSpPr txBox="1"/>
          <p:nvPr/>
        </p:nvSpPr>
        <p:spPr>
          <a:xfrm>
            <a:off x="4122491" y="2835655"/>
            <a:ext cx="705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Azimuth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0D8EDFD-5C7F-4226-8FBF-803182003F5F}"/>
              </a:ext>
            </a:extLst>
          </p:cNvPr>
          <p:cNvGrpSpPr/>
          <p:nvPr/>
        </p:nvGrpSpPr>
        <p:grpSpPr>
          <a:xfrm rot="2315908">
            <a:off x="302716" y="4402640"/>
            <a:ext cx="2188060" cy="2188060"/>
            <a:chOff x="330999" y="383991"/>
            <a:chExt cx="2188060" cy="21880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A659C3F-B129-41BF-8A02-2BBD29F1EBF9}"/>
                </a:ext>
              </a:extLst>
            </p:cNvPr>
            <p:cNvGrpSpPr/>
            <p:nvPr/>
          </p:nvGrpSpPr>
          <p:grpSpPr>
            <a:xfrm>
              <a:off x="330999" y="383991"/>
              <a:ext cx="2188060" cy="2188060"/>
              <a:chOff x="330999" y="383991"/>
              <a:chExt cx="2188060" cy="2188060"/>
            </a:xfrm>
          </p:grpSpPr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FD5CC8A3-E0DD-41F3-957D-E5CD8672DBEC}"/>
                  </a:ext>
                </a:extLst>
              </p:cNvPr>
              <p:cNvSpPr/>
              <p:nvPr/>
            </p:nvSpPr>
            <p:spPr>
              <a:xfrm>
                <a:off x="330999" y="383991"/>
                <a:ext cx="2188060" cy="2188060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262BD0C1-2B8A-4F3F-B14E-E15DBE85071F}"/>
                  </a:ext>
                </a:extLst>
              </p:cNvPr>
              <p:cNvCxnSpPr/>
              <p:nvPr/>
            </p:nvCxnSpPr>
            <p:spPr>
              <a:xfrm>
                <a:off x="1425031" y="389886"/>
                <a:ext cx="0" cy="1088136"/>
              </a:xfrm>
              <a:prstGeom prst="line">
                <a:avLst/>
              </a:prstGeom>
              <a:ln w="38100">
                <a:solidFill>
                  <a:srgbClr val="DD2BA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6E5EE589-634D-4B1A-9636-ACA6469B8674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1896208" y="1205988"/>
                <a:ext cx="0" cy="1088136"/>
              </a:xfrm>
              <a:prstGeom prst="line">
                <a:avLst/>
              </a:prstGeom>
              <a:ln w="38100">
                <a:solidFill>
                  <a:srgbClr val="DD2BA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BFF77FA7-5380-4775-8DDD-9081AF57CB6E}"/>
                  </a:ext>
                </a:extLst>
              </p:cNvPr>
              <p:cNvCxnSpPr>
                <a:cxnSpLocks/>
              </p:cNvCxnSpPr>
              <p:nvPr/>
            </p:nvCxnSpPr>
            <p:spPr>
              <a:xfrm rot="14400000">
                <a:off x="946508" y="1205987"/>
                <a:ext cx="0" cy="1088136"/>
              </a:xfrm>
              <a:prstGeom prst="line">
                <a:avLst/>
              </a:prstGeom>
              <a:ln w="38100">
                <a:solidFill>
                  <a:srgbClr val="DD2BA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2CAB104-27C0-4D05-8D1D-A5FAE89DCE57}"/>
                </a:ext>
              </a:extLst>
            </p:cNvPr>
            <p:cNvSpPr/>
            <p:nvPr/>
          </p:nvSpPr>
          <p:spPr>
            <a:xfrm>
              <a:off x="1297908" y="1359343"/>
              <a:ext cx="237356" cy="237356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DCAC2951-961F-4D0C-9475-493356B2C01F}"/>
              </a:ext>
            </a:extLst>
          </p:cNvPr>
          <p:cNvSpPr txBox="1"/>
          <p:nvPr/>
        </p:nvSpPr>
        <p:spPr>
          <a:xfrm>
            <a:off x="463517" y="1091318"/>
            <a:ext cx="8558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 (gamma)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7B81647-8F01-4B9A-B48E-4B1DE4885C0B}"/>
              </a:ext>
            </a:extLst>
          </p:cNvPr>
          <p:cNvSpPr txBox="1"/>
          <p:nvPr/>
        </p:nvSpPr>
        <p:spPr>
          <a:xfrm>
            <a:off x="1025052" y="2024519"/>
            <a:ext cx="670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 (beta)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6F48134-8C7B-4619-9560-8EBD0D4A5243}"/>
              </a:ext>
            </a:extLst>
          </p:cNvPr>
          <p:cNvSpPr txBox="1"/>
          <p:nvPr/>
        </p:nvSpPr>
        <p:spPr>
          <a:xfrm>
            <a:off x="1543336" y="1078481"/>
            <a:ext cx="734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 (alpha)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9990DF-377A-4790-9DE6-9D90364DF430}"/>
              </a:ext>
            </a:extLst>
          </p:cNvPr>
          <p:cNvSpPr txBox="1"/>
          <p:nvPr/>
        </p:nvSpPr>
        <p:spPr>
          <a:xfrm>
            <a:off x="1413217" y="1409592"/>
            <a:ext cx="72648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cell tower</a:t>
            </a:r>
          </a:p>
        </p:txBody>
      </p:sp>
      <p:pic>
        <p:nvPicPr>
          <p:cNvPr id="3" name="Picture 2" descr="A close up of a map&#10;&#10;Description automatically generated">
            <a:extLst>
              <a:ext uri="{FF2B5EF4-FFF2-40B4-BE49-F238E27FC236}">
                <a16:creationId xmlns:a16="http://schemas.microsoft.com/office/drawing/2014/main" id="{02075B91-7BE2-445C-8045-D427F574D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901" y="1600994"/>
            <a:ext cx="6325947" cy="507492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128094C6-EF30-4F7F-BD5C-FC8287565F67}"/>
              </a:ext>
            </a:extLst>
          </p:cNvPr>
          <p:cNvSpPr txBox="1"/>
          <p:nvPr/>
        </p:nvSpPr>
        <p:spPr>
          <a:xfrm>
            <a:off x="5792900" y="56627"/>
            <a:ext cx="63259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We can add multiple addresses: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incident address</a:t>
            </a:r>
            <a:r>
              <a:rPr lang="en-US" sz="1200" b="1" dirty="0">
                <a:solidFill>
                  <a:srgbClr val="FF0000"/>
                </a:solidFill>
              </a:rPr>
              <a:t> (</a:t>
            </a:r>
            <a:r>
              <a:rPr lang="en-US" sz="1200" b="1" dirty="0" err="1">
                <a:solidFill>
                  <a:srgbClr val="FF0000"/>
                </a:solidFill>
              </a:rPr>
              <a:t>i</a:t>
            </a:r>
            <a:r>
              <a:rPr lang="en-US" sz="1200" b="1" dirty="0">
                <a:solidFill>
                  <a:srgbClr val="FF0000"/>
                </a:solidFill>
              </a:rPr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alibi address</a:t>
            </a:r>
          </a:p>
          <a:p>
            <a:r>
              <a:rPr lang="en-US" sz="1200" dirty="0"/>
              <a:t>If a call was made at time of an ‘incident’ we can determine the sector call was made from</a:t>
            </a:r>
          </a:p>
        </p:txBody>
      </p:sp>
    </p:spTree>
    <p:extLst>
      <p:ext uri="{BB962C8B-B14F-4D97-AF65-F5344CB8AC3E}">
        <p14:creationId xmlns:p14="http://schemas.microsoft.com/office/powerpoint/2010/main" val="3703218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</TotalTime>
  <Words>2368</Words>
  <Application>Microsoft Office PowerPoint</Application>
  <PresentationFormat>Widescreen</PresentationFormat>
  <Paragraphs>288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-apple-system</vt:lpstr>
      <vt:lpstr>Arial</vt:lpstr>
      <vt:lpstr>Calibri</vt:lpstr>
      <vt:lpstr>Calibri Light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Haggerty</dc:creator>
  <cp:lastModifiedBy>Daniel Haggerty</cp:lastModifiedBy>
  <cp:revision>59</cp:revision>
  <dcterms:created xsi:type="dcterms:W3CDTF">2020-09-28T21:16:20Z</dcterms:created>
  <dcterms:modified xsi:type="dcterms:W3CDTF">2020-10-07T18:58:28Z</dcterms:modified>
</cp:coreProperties>
</file>