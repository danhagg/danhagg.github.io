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4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5D72-0F46-411D-8F4C-7AFF907C6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3FEFE-B7F5-42DD-AF26-C742BC715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CC227-8CCB-4564-8BBE-17AD6495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6EFEC-AEBD-4276-A3D3-071FC0EC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E0A79-687B-419F-9BDA-714B6301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6386-A1FE-4618-BA0F-F75D584C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BEC41-8965-4D35-81E3-F6D4A0847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F58BB-504B-4932-8298-649E919A0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03542-1363-4C8A-B565-6DB6A872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2B39-0E1B-4347-AB18-92BFB6FF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2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3987-F4A7-4F31-A892-6CC9DD03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7EFBE-3D28-46D0-93FE-E3CB0D799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DA152-A975-427A-963C-489D42698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2FA5A-065E-4BD3-8D17-02184845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36DEB-EF39-457E-9D58-1092C4D0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6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EFAB3-A81E-4F46-84A5-70752F271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C6D06-D8CD-46DB-8D75-4021BC2F4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C7308-5F7F-4105-84CE-947A8325C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03F3A-3906-49BB-9461-F4F23644E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A8933-18F8-4DF4-B764-405D98F9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3A56F-7071-45A7-85A7-81AFAAC2E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4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64698-F84A-4CA5-98C9-D29B4980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FBC25-0AB7-4157-8872-5C8A2B385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EA231-A5A3-4ED0-9140-BC8C9CD5A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6C294-7C45-406E-85A3-910144ACF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4E47CD-29A2-4B66-8A53-6B3DEFB20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9D97F-CB08-4CB9-B9EE-70E633E4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2525E3-9232-4DBC-A1DC-B4FA8C725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0C9EAA-D82A-4F6D-A2CD-F0E730C9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4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5AFD-930D-465F-9F97-8EC56561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9FE68-DB80-444C-9EDF-0A4AD36C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C89E8-369E-4456-AF48-83295C86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6C994-3E23-47AF-A72D-9F6042DB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7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0637F-F98C-4B31-9503-346823F5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154A14-CA9E-468C-8BBB-D484DC09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6F57C-49FD-4CAB-88AE-9AFFA536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4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84743-6DF0-4D37-BA2B-33741C95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5BAA-DA05-45B7-BBD4-55D424295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0F51A-C857-4475-BA25-37313AA61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CD1EF-3610-4B60-A8D8-59B7C684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20122-C494-4525-9CF8-228241B8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6CA41-D0C9-4579-AA1F-436F4046D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7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A105-5E64-4904-8C49-1F9D969B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8B8A04-5EBE-448A-AC3E-589D4027C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3915D-999E-47C9-830C-FB0D3FCE9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81117-73EF-442D-807A-31CB1EE0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E5E88-E00D-465B-8478-06F1CD03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22BA2-F8C9-46FB-A0D5-DAEAFAD5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8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CB63-F220-4041-A777-A931ECAE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CD2EB-69FD-4290-BC01-F872253F9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87C7A-BA12-4AA0-A8C3-80BCE0D53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FDF1-1E44-42EC-A6B8-A611D560C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A1EE0-9337-4495-9712-4DAF819A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7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381D-A695-415E-BEEF-6F1E081E4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6DBB0-D381-4097-A2B1-C4F904811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0AD40-0DDE-413C-B6EF-3FA1EA74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2FB00-CE70-4F74-AA39-CE23A266C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37142-8A51-4487-910F-53673C9F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0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55820-2D46-4C72-88BA-6642F431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907A5-A902-4543-A507-6AE66F79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D5D31-83EC-48BF-8FB6-FEDCA6C1B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EB5D3-2FBF-4210-BCF9-A26281BCD138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601B1-5599-4ABE-A199-ABCB5DA52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F874F-2EFB-46C9-A105-F30298AC8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2B504-55C8-4757-94D0-D7A40ECD5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5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" TargetMode="External"/><Relationship Id="rId2" Type="http://schemas.openxmlformats.org/officeDocument/2006/relationships/hyperlink" Target="https://download.docker.com/linux/centos/docker-ce.repo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xample.com/big.tar.xz%20/" TargetMode="External"/><Relationship Id="rId2" Type="http://schemas.openxmlformats.org/officeDocument/2006/relationships/hyperlink" Target="http://localhost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9ED2B-2243-455E-87E4-2308F273B233}"/>
              </a:ext>
            </a:extLst>
          </p:cNvPr>
          <p:cNvSpPr txBox="1"/>
          <p:nvPr/>
        </p:nvSpPr>
        <p:spPr>
          <a:xfrm>
            <a:off x="0" y="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Linux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C7FAB-1731-45A9-84DD-9C3A100128EB}"/>
              </a:ext>
            </a:extLst>
          </p:cNvPr>
          <p:cNvSpPr txBox="1"/>
          <p:nvPr/>
        </p:nvSpPr>
        <p:spPr>
          <a:xfrm>
            <a:off x="73152" y="369332"/>
            <a:ext cx="3969110" cy="6247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Install</a:t>
            </a:r>
          </a:p>
          <a:p>
            <a:r>
              <a:rPr lang="en-US" sz="1000" dirty="0"/>
              <a:t>Linux installations are dependent on OS</a:t>
            </a:r>
          </a:p>
          <a:p>
            <a:r>
              <a:rPr lang="en-US" sz="1000" dirty="0"/>
              <a:t>For Redhat, Amazon Linux, CentOS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yum-config-manager –add-repo </a:t>
            </a:r>
            <a:r>
              <a:rPr lang="en-US" sz="1000" dirty="0">
                <a:latin typeface="Consolas" panose="020B0609020204030204" pitchFamily="49" charset="0"/>
                <a:hlinkClick r:id="rId2"/>
              </a:rPr>
              <a:t>https://download.docker.com/linux/centos/docker-ce.repo</a:t>
            </a:r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yum –y install docker-</a:t>
            </a:r>
            <a:r>
              <a:rPr lang="en-US" sz="1000" dirty="0" err="1">
                <a:latin typeface="Consolas" panose="020B0609020204030204" pitchFamily="49" charset="0"/>
              </a:rPr>
              <a:t>ce</a:t>
            </a:r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systemctl start docker </a:t>
            </a:r>
          </a:p>
          <a:p>
            <a:endParaRPr lang="en-US" sz="1000" b="1" u="sng" dirty="0"/>
          </a:p>
          <a:p>
            <a:r>
              <a:rPr lang="en-US" sz="1000" b="1" u="sng" dirty="0"/>
              <a:t>Basic Linux commands</a:t>
            </a:r>
          </a:p>
          <a:p>
            <a:r>
              <a:rPr lang="en-US" sz="1000" dirty="0"/>
              <a:t>df = disk free</a:t>
            </a:r>
          </a:p>
          <a:p>
            <a:r>
              <a:rPr lang="en-US" sz="1000" dirty="0"/>
              <a:t>df –h (human readable)</a:t>
            </a:r>
          </a:p>
          <a:p>
            <a:r>
              <a:rPr lang="en-US" sz="1000" dirty="0"/>
              <a:t>ps = process status</a:t>
            </a:r>
          </a:p>
          <a:p>
            <a:endParaRPr lang="en-US" sz="1000" dirty="0"/>
          </a:p>
          <a:p>
            <a:r>
              <a:rPr lang="en-US" sz="1000" dirty="0"/>
              <a:t>/etc/init.d directory</a:t>
            </a:r>
          </a:p>
          <a:p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service "service name" start/stop/status/restart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endParaRPr lang="en-US" sz="1000" b="0" i="0" dirty="0">
              <a:effectLst/>
              <a:cs typeface="Times New Roman" panose="02020603050405020304" pitchFamily="18" charset="0"/>
            </a:endParaRPr>
          </a:p>
          <a:p>
            <a:r>
              <a:rPr lang="en-US" sz="1000" b="0" i="0" dirty="0">
                <a:effectLst/>
                <a:cs typeface="Times New Roman" panose="02020603050405020304" pitchFamily="18" charset="0"/>
              </a:rPr>
              <a:t>All these service works on several scripts and these scripts are stored in </a:t>
            </a:r>
            <a:r>
              <a:rPr lang="en-US" sz="1000" b="1" i="0" dirty="0">
                <a:effectLst/>
                <a:cs typeface="Times New Roman" panose="02020603050405020304" pitchFamily="18" charset="0"/>
              </a:rPr>
              <a:t>/etc/init.d </a:t>
            </a:r>
            <a:r>
              <a:rPr lang="en-US" sz="1000" b="0" i="0" dirty="0">
                <a:effectLst/>
                <a:cs typeface="Times New Roman" panose="02020603050405020304" pitchFamily="18" charset="0"/>
              </a:rPr>
              <a:t>location, this init.d is deamon which is the first process of the Linux system. Then other processes, services, daemons, and threats are started by init. So </a:t>
            </a:r>
            <a:r>
              <a:rPr lang="en-US" sz="1000" b="0" i="1" dirty="0">
                <a:effectLst/>
                <a:cs typeface="Times New Roman" panose="02020603050405020304" pitchFamily="18" charset="0"/>
              </a:rPr>
              <a:t>init.d</a:t>
            </a:r>
            <a:r>
              <a:rPr lang="en-US" sz="1000" b="0" i="0" dirty="0">
                <a:effectLst/>
                <a:cs typeface="Times New Roman" panose="02020603050405020304" pitchFamily="18" charset="0"/>
              </a:rPr>
              <a:t> is a configuration database for the init process.</a:t>
            </a:r>
          </a:p>
          <a:p>
            <a:endParaRPr lang="en-US" sz="1000" dirty="0">
              <a:cs typeface="Times New Roman" panose="02020603050405020304" pitchFamily="18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which netstat </a:t>
            </a:r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 /bin/netstat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touch compress.txt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tar –czvf compress.tar.gz compress.txt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ping –c1 google.com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echo $?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0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ping –c1 172.17.0.10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echo $?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curl –f </a:t>
            </a:r>
            <a:r>
              <a:rPr lang="en-US" sz="1000" dirty="0">
                <a:latin typeface="Consolas" panose="020B0609020204030204" pitchFamily="49" charset="0"/>
                <a:hlinkClick r:id="rId3"/>
              </a:rPr>
              <a:t>http://localhost/</a:t>
            </a:r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 (-f fails silently)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curl –f </a:t>
            </a:r>
            <a:r>
              <a:rPr lang="en-US" sz="1000" dirty="0">
                <a:latin typeface="Consolas" panose="020B0609020204030204" pitchFamily="49" charset="0"/>
                <a:hlinkClick r:id="rId3"/>
              </a:rPr>
              <a:t>http://localhost/</a:t>
            </a:r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 || exit 1 (exits container on fail)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A2356-9556-4B1D-805F-373BD91FBA20}"/>
              </a:ext>
            </a:extLst>
          </p:cNvPr>
          <p:cNvSpPr txBox="1"/>
          <p:nvPr/>
        </p:nvSpPr>
        <p:spPr>
          <a:xfrm>
            <a:off x="4111445" y="83423"/>
            <a:ext cx="3969110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dd if=/dev/zero of=/root/file1.txt bs=1M count=100</a:t>
            </a:r>
          </a:p>
          <a:p>
            <a:r>
              <a:rPr lang="en-US" sz="100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sudo</a:t>
            </a:r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 –i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du -sh /root/file1.txt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B9DDE-2738-4D52-83F2-2668624F11B2}"/>
              </a:ext>
            </a:extLst>
          </p:cNvPr>
          <p:cNvSpPr txBox="1"/>
          <p:nvPr/>
        </p:nvSpPr>
        <p:spPr>
          <a:xfrm>
            <a:off x="8149738" y="75496"/>
            <a:ext cx="396911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Install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90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B37D3-2844-4053-A739-CD6D6A6C8153}"/>
              </a:ext>
            </a:extLst>
          </p:cNvPr>
          <p:cNvSpPr txBox="1"/>
          <p:nvPr/>
        </p:nvSpPr>
        <p:spPr>
          <a:xfrm>
            <a:off x="0" y="0"/>
            <a:ext cx="1483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Docker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84749E-DB35-4535-B98E-EB5BF71C062C}"/>
              </a:ext>
            </a:extLst>
          </p:cNvPr>
          <p:cNvSpPr txBox="1"/>
          <p:nvPr/>
        </p:nvSpPr>
        <p:spPr>
          <a:xfrm>
            <a:off x="73153" y="369332"/>
            <a:ext cx="3969110" cy="64017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Pull an image and run it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pull nginx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run –p 8080:80 –dt nginx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/>
              <a:t>Test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curl –I “ip-address”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netstat -ntlp</a:t>
            </a:r>
          </a:p>
          <a:p>
            <a:endParaRPr lang="en-US" sz="1000" dirty="0"/>
          </a:p>
          <a:p>
            <a:r>
              <a:rPr lang="en-US" sz="1000" dirty="0"/>
              <a:t>A container is an instance of a running image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ps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ps –a</a:t>
            </a:r>
          </a:p>
          <a:p>
            <a:endParaRPr lang="en-US" sz="1000" dirty="0"/>
          </a:p>
          <a:p>
            <a:r>
              <a:rPr lang="en-US" sz="1000" dirty="0"/>
              <a:t>Docker containers contain a container name (can be chosen with –name)</a:t>
            </a:r>
          </a:p>
          <a:p>
            <a:r>
              <a:rPr lang="en-US" sz="1000" dirty="0"/>
              <a:t>A Universally Unique Identifier (and a short – 1</a:t>
            </a:r>
            <a:r>
              <a:rPr lang="en-US" sz="1000" baseline="30000" dirty="0"/>
              <a:t>st</a:t>
            </a:r>
            <a:r>
              <a:rPr lang="en-US" sz="1000" dirty="0"/>
              <a:t> 12 numbers) identifier</a:t>
            </a:r>
          </a:p>
          <a:p>
            <a:endParaRPr lang="en-US" sz="1000" dirty="0"/>
          </a:p>
          <a:p>
            <a:r>
              <a:rPr lang="en-US" sz="1000" dirty="0"/>
              <a:t>By default docker containers can make connections to outside world but do not accept incoming connections</a:t>
            </a:r>
          </a:p>
          <a:p>
            <a:endParaRPr lang="en-US" sz="1000" dirty="0"/>
          </a:p>
          <a:p>
            <a:r>
              <a:rPr lang="en-US" sz="1000" dirty="0"/>
              <a:t>To accept incoming connections we need to bind docker to a host port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run –p </a:t>
            </a:r>
            <a:r>
              <a:rPr lang="en-US" sz="1000" dirty="0">
                <a:solidFill>
                  <a:srgbClr val="FF0000"/>
                </a:solidFill>
                <a:latin typeface="Consolas" panose="020B0609020204030204" pitchFamily="49" charset="0"/>
              </a:rPr>
              <a:t>8080</a:t>
            </a:r>
            <a:r>
              <a:rPr lang="en-US" sz="1000" dirty="0">
                <a:latin typeface="Consolas" panose="020B0609020204030204" pitchFamily="49" charset="0"/>
              </a:rPr>
              <a:t>:</a:t>
            </a:r>
            <a:r>
              <a:rPr lang="en-US" sz="1000" dirty="0">
                <a:solidFill>
                  <a:srgbClr val="00B0F0"/>
                </a:solidFill>
                <a:latin typeface="Consolas" panose="020B0609020204030204" pitchFamily="49" charset="0"/>
              </a:rPr>
              <a:t>80</a:t>
            </a:r>
            <a:r>
              <a:rPr lang="en-US" sz="1000" dirty="0">
                <a:latin typeface="Consolas" panose="020B0609020204030204" pitchFamily="49" charset="0"/>
              </a:rPr>
              <a:t> –dt nginx</a:t>
            </a:r>
          </a:p>
          <a:p>
            <a:r>
              <a:rPr lang="en-US" sz="1000" dirty="0">
                <a:solidFill>
                  <a:srgbClr val="FF0000"/>
                </a:solidFill>
              </a:rPr>
              <a:t>8080</a:t>
            </a:r>
            <a:r>
              <a:rPr lang="en-US" sz="1000" dirty="0"/>
              <a:t>: host</a:t>
            </a:r>
          </a:p>
          <a:p>
            <a:r>
              <a:rPr lang="en-US" sz="1000" dirty="0">
                <a:solidFill>
                  <a:srgbClr val="00B0F0"/>
                </a:solidFill>
              </a:rPr>
              <a:t>80</a:t>
            </a:r>
            <a:r>
              <a:rPr lang="en-US" sz="1000" dirty="0"/>
              <a:t>: docker container</a:t>
            </a:r>
          </a:p>
          <a:p>
            <a:endParaRPr lang="en-US" sz="1000" dirty="0"/>
          </a:p>
          <a:p>
            <a:r>
              <a:rPr lang="en-US" sz="1000" dirty="0"/>
              <a:t>Run detached to free the terminal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run –d --name detached –p 8080:80 nginx</a:t>
            </a:r>
          </a:p>
          <a:p>
            <a:endParaRPr lang="en-US" sz="1000" dirty="0"/>
          </a:p>
          <a:p>
            <a:r>
              <a:rPr lang="en-US" sz="1000" dirty="0">
                <a:latin typeface="Consolas" panose="020B0609020204030204" pitchFamily="49" charset="0"/>
              </a:rPr>
              <a:t>docker container stop container_name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stop $(docker container ls –aq)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rm container_name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rm $(docker container ls –aq)</a:t>
            </a:r>
          </a:p>
          <a:p>
            <a:endParaRPr lang="en-US" sz="1000" dirty="0"/>
          </a:p>
          <a:p>
            <a:r>
              <a:rPr lang="en-US" sz="1000" dirty="0"/>
              <a:t>Executed command only runs whilst the container’s primary process PID1 is running, not restarted if container restarted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container exec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run –d –name docker-exec nginx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exec –it docker-exec bash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/# 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/etc/init.d/nginx status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[ ok ] nginx is running.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5E2FC-AFB7-4195-83D6-4A7405C6AD69}"/>
              </a:ext>
            </a:extLst>
          </p:cNvPr>
          <p:cNvSpPr txBox="1"/>
          <p:nvPr/>
        </p:nvSpPr>
        <p:spPr>
          <a:xfrm>
            <a:off x="4122640" y="74547"/>
            <a:ext cx="3969110" cy="6247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List all binaries in container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cd /bin; ls –l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apt-get update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apt-get install net-tools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netstat –ntlp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which netstat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exit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/>
              <a:t>Execute netstat from outside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exec –it docker-exec netstat –ntlp</a:t>
            </a:r>
          </a:p>
          <a:p>
            <a:r>
              <a:rPr lang="en-US" sz="1000" dirty="0"/>
              <a:t>Now, netstat is PID1</a:t>
            </a:r>
          </a:p>
          <a:p>
            <a:endParaRPr lang="en-US" sz="1000" dirty="0"/>
          </a:p>
          <a:p>
            <a:r>
              <a:rPr lang="en-US" sz="1000" dirty="0"/>
              <a:t>The exec –it flag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-i --interactive = keeps stdin open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-t –tty = allocates a pseudo tty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/>
              <a:t>Default commands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–name docker-exec run –d nginx sleep 20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exec –it docker-exec bash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apt-get update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apt-get install htop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htop </a:t>
            </a:r>
            <a:r>
              <a:rPr lang="en-US" sz="1000" dirty="0">
                <a:latin typeface="Consolas" panose="020B0609020204030204" pitchFamily="49" charset="0"/>
                <a:sym typeface="Wingdings" panose="05000000000000000000" pitchFamily="2" charset="2"/>
              </a:rPr>
              <a:t> PID1 “sleep 20”</a:t>
            </a:r>
          </a:p>
          <a:p>
            <a:endParaRPr lang="en-US" sz="1000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n-US" sz="1000" dirty="0">
                <a:sym typeface="Wingdings" panose="05000000000000000000" pitchFamily="2" charset="2"/>
              </a:rPr>
              <a:t>Restart</a:t>
            </a:r>
          </a:p>
          <a:p>
            <a:r>
              <a:rPr lang="en-US" sz="1000" dirty="0">
                <a:latin typeface="Consolas" panose="020B0609020204030204" pitchFamily="49" charset="0"/>
                <a:sym typeface="Wingdings" panose="05000000000000000000" pitchFamily="2" charset="2"/>
              </a:rPr>
              <a:t>--restart (no, on-failure, unless-stopped, always)</a:t>
            </a:r>
          </a:p>
          <a:p>
            <a:r>
              <a:rPr lang="en-US" sz="1000" dirty="0">
                <a:latin typeface="Consolas" panose="020B0609020204030204" pitchFamily="49" charset="0"/>
                <a:sym typeface="Wingdings" panose="05000000000000000000" pitchFamily="2" charset="2"/>
              </a:rPr>
              <a:t>unless-stopped is suitable for production</a:t>
            </a:r>
          </a:p>
          <a:p>
            <a:endParaRPr lang="en-US" sz="1000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n-US" sz="1000" dirty="0">
                <a:cs typeface="Times New Roman" panose="02020603050405020304" pitchFamily="18" charset="0"/>
                <a:sym typeface="Wingdings" panose="05000000000000000000" pitchFamily="2" charset="2"/>
              </a:rPr>
              <a:t>Disk usage</a:t>
            </a:r>
          </a:p>
          <a:p>
            <a:r>
              <a:rPr lang="en-US" sz="1000" dirty="0">
                <a:latin typeface="Consolas" panose="020B0609020204030204" pitchFamily="49" charset="0"/>
                <a:sym typeface="Wingdings" panose="05000000000000000000" pitchFamily="2" charset="2"/>
              </a:rPr>
              <a:t>docker system df</a:t>
            </a:r>
          </a:p>
          <a:p>
            <a:endParaRPr lang="en-US" sz="1000" dirty="0"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r>
              <a:rPr lang="en-US" sz="1000" dirty="0">
                <a:sym typeface="Wingdings" panose="05000000000000000000" pitchFamily="2" charset="2"/>
              </a:rPr>
              <a:t>Delete container on exit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run –dt –-name test busybox ping –c10 google.com 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logs test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ps </a:t>
            </a:r>
            <a:r>
              <a:rPr lang="en-US" sz="1000" dirty="0">
                <a:sym typeface="Wingdings" panose="05000000000000000000" pitchFamily="2" charset="2"/>
              </a:rPr>
              <a:t> if after 10s container will be stopped</a:t>
            </a:r>
          </a:p>
          <a:p>
            <a:r>
              <a:rPr lang="en-US" sz="1000" dirty="0">
                <a:latin typeface="Consolas" panose="020B0609020204030204" pitchFamily="49" charset="0"/>
                <a:sym typeface="Wingdings" panose="05000000000000000000" pitchFamily="2" charset="2"/>
              </a:rPr>
              <a:t>docker container run –dt –rm –name test2 busybox ping –c10 google.com</a:t>
            </a:r>
          </a:p>
          <a:p>
            <a:r>
              <a:rPr lang="en-US" sz="1000" dirty="0">
                <a:latin typeface="Consolas" panose="020B0609020204030204" pitchFamily="49" charset="0"/>
                <a:sym typeface="Wingdings" panose="05000000000000000000" pitchFamily="2" charset="2"/>
              </a:rPr>
              <a:t>docker ps –a  </a:t>
            </a:r>
            <a:r>
              <a:rPr lang="en-US" sz="1000" dirty="0">
                <a:sym typeface="Wingdings" panose="05000000000000000000" pitchFamily="2" charset="2"/>
              </a:rPr>
              <a:t>should show container deleted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000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50F0E3-43FB-490D-8025-16EED8BC8E7B}"/>
              </a:ext>
            </a:extLst>
          </p:cNvPr>
          <p:cNvSpPr txBox="1"/>
          <p:nvPr/>
        </p:nvSpPr>
        <p:spPr>
          <a:xfrm>
            <a:off x="0" y="0"/>
            <a:ext cx="3933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Image creation, management, registry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29C76-6D0F-43C4-98D6-2FCD68998A03}"/>
              </a:ext>
            </a:extLst>
          </p:cNvPr>
          <p:cNvSpPr txBox="1"/>
          <p:nvPr/>
        </p:nvSpPr>
        <p:spPr>
          <a:xfrm>
            <a:off x="4111444" y="65794"/>
            <a:ext cx="8007403" cy="66787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The standard nginx Dockerfile has “EXPOSE 80” command in the file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run -d --name mynginx nginx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run -d --name mynginx2 -p 80:80 nginx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ps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CONTAINER ID        IMAGE               COMMAND                  CREATED             STATUS              PORTS                NAMES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cd6e853d2102        nginx               "/docker-</a:t>
            </a:r>
            <a:r>
              <a:rPr lang="en-US" sz="800" dirty="0" err="1">
                <a:latin typeface="Consolas" panose="020B0609020204030204" pitchFamily="49" charset="0"/>
              </a:rPr>
              <a:t>entrypoint</a:t>
            </a:r>
            <a:r>
              <a:rPr lang="en-US" sz="800" dirty="0">
                <a:latin typeface="Consolas" panose="020B0609020204030204" pitchFamily="49" charset="0"/>
              </a:rPr>
              <a:t>.…"   7 seconds ago       Up 6 seconds       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0.0.0.0:80-&gt;80/tcp   </a:t>
            </a:r>
            <a:r>
              <a:rPr lang="en-US" sz="800" dirty="0">
                <a:latin typeface="Consolas" panose="020B0609020204030204" pitchFamily="49" charset="0"/>
              </a:rPr>
              <a:t>mynginx2</a:t>
            </a:r>
          </a:p>
          <a:p>
            <a:r>
              <a:rPr lang="en-US" sz="800" dirty="0">
                <a:latin typeface="Consolas" panose="020B0609020204030204" pitchFamily="49" charset="0"/>
              </a:rPr>
              <a:t>c0d1d1b9eb6e        nginx               "/docker-</a:t>
            </a:r>
            <a:r>
              <a:rPr lang="en-US" sz="800" dirty="0" err="1">
                <a:latin typeface="Consolas" panose="020B0609020204030204" pitchFamily="49" charset="0"/>
              </a:rPr>
              <a:t>entrypoint</a:t>
            </a:r>
            <a:r>
              <a:rPr lang="en-US" sz="800" dirty="0">
                <a:latin typeface="Consolas" panose="020B0609020204030204" pitchFamily="49" charset="0"/>
              </a:rPr>
              <a:t>.…"   3 minutes ago       Up 3 minutes       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80/tcp               </a:t>
            </a:r>
            <a:r>
              <a:rPr lang="en-US" sz="800" dirty="0">
                <a:latin typeface="Consolas" panose="020B0609020204030204" pitchFamily="49" charset="0"/>
              </a:rPr>
              <a:t>mynginx</a:t>
            </a:r>
          </a:p>
          <a:p>
            <a:endParaRPr lang="en-US" sz="8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HEALTHCHECK </a:t>
            </a:r>
            <a:r>
              <a:rPr lang="en-US" sz="1000" dirty="0"/>
              <a:t>instruction is to verify whether application is working as expected. HEALTHCHECK makes use of the exit code</a:t>
            </a:r>
          </a:p>
          <a:p>
            <a:r>
              <a:rPr lang="en-US" sz="1000" dirty="0"/>
              <a:t>0 Success, 1 Failure, 2 Reserved</a:t>
            </a:r>
          </a:p>
          <a:p>
            <a:endParaRPr lang="en-US" sz="1000" dirty="0"/>
          </a:p>
          <a:p>
            <a:r>
              <a:rPr lang="en-US" sz="1000" dirty="0">
                <a:latin typeface="Consolas" panose="020B0609020204030204" pitchFamily="49" charset="0"/>
              </a:rPr>
              <a:t>FROM busybox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HEALTHCHECK –interval=5s ping –c 1 172.17.0.2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build –t monitoring .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run –dt –name mymonitor monitoring sh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ps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CONTAINER ID        IMAGE               COMMAND             CREATED             STATUS                   PORTS               NAMES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2202aded02ac        08899c501f26        "sh"                8 seconds ago      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Up 7 seconds (healthy)                       </a:t>
            </a:r>
            <a:r>
              <a:rPr lang="en-US" sz="800" dirty="0">
                <a:latin typeface="Consolas" panose="020B0609020204030204" pitchFamily="49" charset="0"/>
              </a:rPr>
              <a:t>mymonitor</a:t>
            </a:r>
          </a:p>
          <a:p>
            <a:endParaRPr lang="en-US" sz="1000" dirty="0"/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ping –c1 google.com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echo $?</a:t>
            </a:r>
          </a:p>
          <a:p>
            <a:r>
              <a:rPr lang="en-US" sz="10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0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ping –c1 172.17.0.10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echo $?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</a:p>
          <a:p>
            <a:endParaRPr lang="en-US" sz="1000" dirty="0"/>
          </a:p>
          <a:p>
            <a:r>
              <a:rPr lang="en-US" sz="1000" dirty="0"/>
              <a:t>HEALTHCHECK</a:t>
            </a:r>
            <a:r>
              <a:rPr lang="en-US" sz="1000" dirty="0">
                <a:latin typeface="Consolas" panose="020B0609020204030204" pitchFamily="49" charset="0"/>
              </a:rPr>
              <a:t>	--interval=DURATION (default: 30s)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	--timeout=DURATION (default: 30s)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	--start-period=DURATION (default: 0s)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	--retries=N (default: 3)</a:t>
            </a:r>
          </a:p>
          <a:p>
            <a:r>
              <a:rPr lang="en-US" sz="1000" dirty="0"/>
              <a:t>	Default will retry 3 times, once every 30s</a:t>
            </a:r>
          </a:p>
          <a:p>
            <a:endParaRPr lang="en-US" sz="1000" dirty="0"/>
          </a:p>
          <a:p>
            <a:r>
              <a:rPr lang="en-US" sz="1000" dirty="0"/>
              <a:t>Check every 5 minutes that server able to serve main sites page &lt; 3s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HEALTHCHECK –interval=5m –timeout=3s \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  CMD curl –f </a:t>
            </a:r>
            <a:r>
              <a:rPr lang="en-US" sz="1000" dirty="0">
                <a:latin typeface="Consolas" panose="020B0609020204030204" pitchFamily="49" charset="0"/>
                <a:hlinkClick r:id="rId2"/>
              </a:rPr>
              <a:t>http://localhost/</a:t>
            </a:r>
            <a:r>
              <a:rPr lang="en-US" sz="1000" dirty="0">
                <a:latin typeface="Consolas" panose="020B0609020204030204" pitchFamily="49" charset="0"/>
              </a:rPr>
              <a:t> || exit 1 </a:t>
            </a:r>
            <a:r>
              <a:rPr lang="en-US" sz="1000" dirty="0">
                <a:solidFill>
                  <a:srgbClr val="FF0000"/>
                </a:solidFill>
              </a:rPr>
              <a:t># note curl –f option (fails silently)</a:t>
            </a:r>
          </a:p>
          <a:p>
            <a:endParaRPr lang="en-US" sz="1000" dirty="0"/>
          </a:p>
          <a:p>
            <a:r>
              <a:rPr lang="en-US" sz="1000" dirty="0"/>
              <a:t>HEALTHCHECK Can also be specified in Docker run command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run -dt --name tmp --health-</a:t>
            </a:r>
            <a:r>
              <a:rPr lang="en-US" sz="1000" dirty="0" err="1">
                <a:latin typeface="Consolas" panose="020B0609020204030204" pitchFamily="49" charset="0"/>
              </a:rPr>
              <a:t>cmd</a:t>
            </a:r>
            <a:r>
              <a:rPr lang="en-US" sz="1000" dirty="0">
                <a:latin typeface="Consolas" panose="020B0609020204030204" pitchFamily="49" charset="0"/>
              </a:rPr>
              <a:t> "curl -f http://localhost" busybox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curl –f </a:t>
            </a:r>
            <a:r>
              <a:rPr lang="en-US" sz="1000" dirty="0">
                <a:latin typeface="Consolas" panose="020B0609020204030204" pitchFamily="49" charset="0"/>
                <a:hlinkClick r:id="rId2"/>
              </a:rPr>
              <a:t>http://localhost/</a:t>
            </a:r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 || exit 1 (exits container on fail)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B29F1-2C00-4395-865F-07AC3E2265C6}"/>
              </a:ext>
            </a:extLst>
          </p:cNvPr>
          <p:cNvSpPr txBox="1"/>
          <p:nvPr/>
        </p:nvSpPr>
        <p:spPr>
          <a:xfrm>
            <a:off x="73152" y="369332"/>
            <a:ext cx="3969110" cy="6370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Dockerfile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FROM ubuntu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RUN apt-get update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RUN apt-get -y install nginx</a:t>
            </a:r>
          </a:p>
          <a:p>
            <a:r>
              <a:rPr lang="en-US" sz="1000" b="0" i="0" dirty="0">
                <a:solidFill>
                  <a:srgbClr val="29303B"/>
                </a:solidFill>
                <a:effectLst/>
                <a:latin typeface="Consolas" panose="020B0609020204030204" pitchFamily="49" charset="0"/>
              </a:rPr>
              <a:t>COPY index.nginx-debian.html /</a:t>
            </a:r>
            <a:r>
              <a:rPr lang="en-US" sz="1000" b="0" i="0" dirty="0">
                <a:solidFill>
                  <a:srgbClr val="B35A1B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00" b="0" i="0" dirty="0">
                <a:solidFill>
                  <a:srgbClr val="29303B"/>
                </a:solidFill>
                <a:effectLst/>
                <a:latin typeface="Consolas" panose="020B0609020204030204" pitchFamily="49" charset="0"/>
              </a:rPr>
              <a:t>/www/html</a:t>
            </a:r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CMD ["nginx", "-g", "daemon off;"]</a:t>
            </a:r>
          </a:p>
          <a:p>
            <a:endParaRPr lang="en-US" sz="1000" b="1" u="sng" dirty="0"/>
          </a:p>
          <a:p>
            <a:r>
              <a:rPr lang="en-US" sz="1000" dirty="0">
                <a:latin typeface="Consolas" panose="020B0609020204030204" pitchFamily="49" charset="0"/>
              </a:rPr>
              <a:t>Docker build .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images</a:t>
            </a:r>
            <a:endParaRPr lang="en-US" sz="1000" dirty="0"/>
          </a:p>
          <a:p>
            <a:r>
              <a:rPr lang="en-US" sz="900" dirty="0"/>
              <a:t>REPOSITORY          TAG                 IMAGE ID            CREATED             SIZE</a:t>
            </a:r>
          </a:p>
          <a:p>
            <a:r>
              <a:rPr lang="en-US" sz="900" dirty="0"/>
              <a:t>&lt;none&gt;              &lt;none&gt;              641fdbe08c35        13 seconds ago      158MB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container run –d –p 80:80 </a:t>
            </a:r>
            <a:r>
              <a:rPr lang="en-US" sz="1000" dirty="0"/>
              <a:t>641fdbe08c35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curl 127.0.0.1</a:t>
            </a:r>
          </a:p>
          <a:p>
            <a:endParaRPr lang="en-US" sz="1000" dirty="0"/>
          </a:p>
          <a:p>
            <a:r>
              <a:rPr lang="en-US" sz="1000" dirty="0">
                <a:latin typeface="Consolas" panose="020B0609020204030204" pitchFamily="49" charset="0"/>
              </a:rPr>
              <a:t>COPY</a:t>
            </a:r>
          </a:p>
          <a:p>
            <a:r>
              <a:rPr lang="en-US" sz="1000" dirty="0"/>
              <a:t>src and destination of local file to host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ADD</a:t>
            </a:r>
          </a:p>
          <a:p>
            <a:r>
              <a:rPr lang="en-US" sz="1000" dirty="0"/>
              <a:t>Can use IRL instead of local file</a:t>
            </a:r>
          </a:p>
          <a:p>
            <a:r>
              <a:rPr lang="en-US" sz="1000" dirty="0"/>
              <a:t>Can extract a tar file to destination. Will extract contents </a:t>
            </a:r>
            <a:r>
              <a:rPr lang="en-US" sz="1000" b="1" u="sng" dirty="0"/>
              <a:t>during </a:t>
            </a:r>
            <a:r>
              <a:rPr lang="en-US" sz="1000" dirty="0"/>
              <a:t>build</a:t>
            </a:r>
          </a:p>
          <a:p>
            <a:endParaRPr lang="en-US" sz="1000" dirty="0"/>
          </a:p>
          <a:p>
            <a:r>
              <a:rPr lang="en-US" sz="1000" dirty="0"/>
              <a:t>ADD discouraged for fetching packages from remote URLs</a:t>
            </a:r>
          </a:p>
          <a:p>
            <a:r>
              <a:rPr lang="en-US" sz="1000" dirty="0"/>
              <a:t>Use curl or wget with &amp;&amp; to reduce layers and image size</a:t>
            </a:r>
          </a:p>
          <a:p>
            <a:endParaRPr lang="en-US" sz="1000" dirty="0"/>
          </a:p>
          <a:p>
            <a:r>
              <a:rPr lang="en-US" sz="1000" dirty="0"/>
              <a:t>RUN mkdir –p /usr/src/things \</a:t>
            </a:r>
          </a:p>
          <a:p>
            <a:r>
              <a:rPr lang="en-US" sz="1000" dirty="0"/>
              <a:t>     &amp;&amp; curl –SL </a:t>
            </a:r>
            <a:r>
              <a:rPr lang="en-US" sz="1000" dirty="0">
                <a:hlinkClick r:id="rId3"/>
              </a:rPr>
              <a:t>http://example.com/big.tar.xz \</a:t>
            </a:r>
            <a:endParaRPr lang="en-US" sz="1000" dirty="0"/>
          </a:p>
          <a:p>
            <a:r>
              <a:rPr lang="en-US" sz="1000" dirty="0"/>
              <a:t>    | tar –xJC /usr/src/things \</a:t>
            </a:r>
          </a:p>
          <a:p>
            <a:r>
              <a:rPr lang="en-US" sz="1000" dirty="0"/>
              <a:t>    &amp;&amp; make –C /usr/src/things all</a:t>
            </a:r>
          </a:p>
          <a:p>
            <a:endParaRPr lang="en-US" sz="1000" dirty="0"/>
          </a:p>
          <a:p>
            <a:r>
              <a:rPr lang="en-US" sz="1000" dirty="0"/>
              <a:t>EXPOSE informs Docker container listens on specified network ports at runtime</a:t>
            </a:r>
          </a:p>
          <a:p>
            <a:r>
              <a:rPr lang="en-US" sz="1000" dirty="0"/>
              <a:t>EXPOSE does not publish the port but functions as a type of documentation about which port(s) intend to be published</a:t>
            </a:r>
          </a:p>
          <a:p>
            <a:r>
              <a:rPr lang="en-US" sz="1000" dirty="0"/>
              <a:t>Use –e to publish a port</a:t>
            </a:r>
          </a:p>
          <a:p>
            <a:endParaRPr lang="en-US" sz="1000" dirty="0"/>
          </a:p>
          <a:p>
            <a:r>
              <a:rPr lang="en-US" sz="1000" b="1" u="sng" dirty="0"/>
              <a:t>TAGGING</a:t>
            </a:r>
          </a:p>
          <a:p>
            <a:r>
              <a:rPr lang="en-US" sz="1000" dirty="0"/>
              <a:t>docker build –t </a:t>
            </a:r>
            <a:r>
              <a:rPr lang="en-US" sz="1000" dirty="0" err="1"/>
              <a:t>image_name</a:t>
            </a:r>
            <a:r>
              <a:rPr lang="en-US" sz="1000" dirty="0"/>
              <a:t>  .</a:t>
            </a:r>
          </a:p>
          <a:p>
            <a:r>
              <a:rPr lang="en-US" sz="1000" dirty="0"/>
              <a:t>docker build –t image_name :v1 .</a:t>
            </a:r>
          </a:p>
          <a:p>
            <a:r>
              <a:rPr lang="en-US" sz="1000" b="1" u="sng" dirty="0"/>
              <a:t>Tag existing image</a:t>
            </a:r>
          </a:p>
          <a:p>
            <a:r>
              <a:rPr lang="en-US" sz="1000" dirty="0"/>
              <a:t>docker tag 30fb3a7c5f75 image_name:v2</a:t>
            </a:r>
          </a:p>
        </p:txBody>
      </p:sp>
    </p:spTree>
    <p:extLst>
      <p:ext uri="{BB962C8B-B14F-4D97-AF65-F5344CB8AC3E}">
        <p14:creationId xmlns:p14="http://schemas.microsoft.com/office/powerpoint/2010/main" val="141755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C097D8-0C44-4DBD-8F0C-7ACE86A91B21}"/>
              </a:ext>
            </a:extLst>
          </p:cNvPr>
          <p:cNvSpPr txBox="1"/>
          <p:nvPr/>
        </p:nvSpPr>
        <p:spPr>
          <a:xfrm>
            <a:off x="73152" y="20074"/>
            <a:ext cx="5927054" cy="67095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CMD vs ENTRYPOINT</a:t>
            </a:r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000" b="1" u="sng" dirty="0">
                <a:cs typeface="Times New Roman" panose="02020603050405020304" pitchFamily="18" charset="0"/>
              </a:rPr>
              <a:t>Dockerfile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FROM busybox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CMD [“sh”] </a:t>
            </a:r>
            <a:r>
              <a:rPr lang="en-US" sz="10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 can be overridden</a:t>
            </a:r>
          </a:p>
          <a:p>
            <a:endParaRPr lang="en-US" sz="1000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docker build –t base01 .</a:t>
            </a: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docker container run –dt –name base01 </a:t>
            </a:r>
            <a:r>
              <a:rPr lang="en-US" sz="1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base01</a:t>
            </a: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 ping –c10 google.com</a:t>
            </a:r>
          </a:p>
          <a:p>
            <a:endParaRPr lang="en-US" sz="1000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docker ps </a:t>
            </a: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shows command overridden</a:t>
            </a:r>
          </a:p>
          <a:p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000" b="1" u="sng" dirty="0">
                <a:cs typeface="Times New Roman" panose="02020603050405020304" pitchFamily="18" charset="0"/>
              </a:rPr>
              <a:t>Dockerfile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FROM busybox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ENTRYPOINT [“/bin/ping”] </a:t>
            </a:r>
            <a:r>
              <a:rPr lang="en-US" sz="10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NOT overridden but appended</a:t>
            </a:r>
          </a:p>
          <a:p>
            <a:endParaRPr lang="en-US" sz="1000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docker container run -dt --name base05 base02 -c 100 bbc.com</a:t>
            </a:r>
            <a:endParaRPr lang="en-US" sz="1000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docker ps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CONTAINER ID       IMAGE        COMMAND                  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df37c15cee4f       base02       "/bin/ping -c 100 bb…” </a:t>
            </a:r>
            <a:r>
              <a:rPr lang="en-US" sz="10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  <a:sym typeface="Wingdings" panose="05000000000000000000" pitchFamily="2" charset="2"/>
              </a:rPr>
              <a:t> ENTRYPOINT </a:t>
            </a:r>
            <a:r>
              <a:rPr lang="en-US" sz="10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appended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000" b="1" u="sng" dirty="0">
                <a:cs typeface="Times New Roman" panose="02020603050405020304" pitchFamily="18" charset="0"/>
              </a:rPr>
              <a:t>WORKDIR</a:t>
            </a:r>
            <a:endParaRPr lang="en-US" sz="1000" b="1" u="sng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000" dirty="0">
                <a:cs typeface="Times New Roman" panose="02020603050405020304" pitchFamily="18" charset="0"/>
              </a:rPr>
              <a:t>sets working directory for any RUN, CMD, ENTRYPOINT, COPY and ADD instructions that follow it in Dockerfile</a:t>
            </a:r>
          </a:p>
          <a:p>
            <a:endParaRPr lang="en-US" sz="100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Dockerfile</a:t>
            </a:r>
            <a:endParaRPr lang="en-US" altLang="en-US" sz="1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FROM busybox</a:t>
            </a:r>
            <a:endParaRPr lang="en-US" altLang="en-US" sz="1000" dirty="0"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RUN mkdir -p /root/demo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WORKDIR /root/demo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RUN touch file01.txt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CMD ["/bin/sh"]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Consolas" panose="020B0609020204030204" pitchFamily="49" charset="0"/>
              </a:rPr>
              <a:t>docker build -t baserino0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Consolas" panose="020B0609020204030204" pitchFamily="49" charset="0"/>
              </a:rPr>
              <a:t>docker exec -it baserino0 sh </a:t>
            </a:r>
            <a:r>
              <a:rPr lang="en-US" altLang="en-US" sz="1000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this command is executed we get sh into WORKDIR</a:t>
            </a:r>
            <a:endParaRPr lang="en-US" altLang="en-US" sz="1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Consolas" panose="020B0609020204030204" pitchFamily="49" charset="0"/>
              </a:rPr>
              <a:t>~/demo # 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Consolas" panose="020B0609020204030204" pitchFamily="49" charset="0"/>
              </a:rPr>
              <a:t>file01.txt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Dockerfile</a:t>
            </a:r>
            <a:endParaRPr lang="en-US" altLang="en-US" sz="1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FROM busybox</a:t>
            </a:r>
            <a:endParaRPr lang="en-US" altLang="en-US" sz="1000" dirty="0">
              <a:latin typeface="Monac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RUN mkdir -p /root/demo/context1/context2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WORKDIR /root/demo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WORKDIR context1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WORKDIR context2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RUN touch file01.txt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Monaco"/>
              </a:rPr>
              <a:t>CMD ["/bin/sh"]</a:t>
            </a:r>
          </a:p>
          <a:p>
            <a:endParaRPr lang="en-US" sz="1000" dirty="0"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41268-78CF-416A-9A3E-F712BF9B0D73}"/>
              </a:ext>
            </a:extLst>
          </p:cNvPr>
          <p:cNvSpPr txBox="1"/>
          <p:nvPr/>
        </p:nvSpPr>
        <p:spPr>
          <a:xfrm>
            <a:off x="6191794" y="20074"/>
            <a:ext cx="5927054" cy="68018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ENV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effectLst/>
              </a:rPr>
              <a:t>Set the environment variable as a Key: Value pair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ENV Instruction used in Dockerfile: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FROM busybox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ENV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NGINX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1.2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RUN touch web-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$NGINX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CMD ["/bin/sh"]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Consolas" panose="020B0609020204030204" pitchFamily="49" charset="0"/>
              </a:rPr>
              <a:t>docker build -t env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Consolas" panose="020B0609020204030204" pitchFamily="49" charset="0"/>
              </a:rPr>
              <a:t>docker run -dt --name env </a:t>
            </a:r>
            <a:r>
              <a:rPr lang="en-US" altLang="en-US" sz="1000" dirty="0" err="1">
                <a:latin typeface="Consolas" panose="020B0609020204030204" pitchFamily="49" charset="0"/>
              </a:rPr>
              <a:t>env</a:t>
            </a:r>
            <a:r>
              <a:rPr lang="en-US" altLang="en-US" sz="1000" dirty="0">
                <a:latin typeface="Consolas" panose="020B0609020204030204" pitchFamily="49" charset="0"/>
              </a:rPr>
              <a:t> 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docker exec -it env 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/ # 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bin          dev          </a:t>
            </a:r>
            <a:r>
              <a:rPr kumimoji="0" lang="en-US" altLang="en-US" sz="1000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etc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      home         proc         root         sys          tmp          usr          var          </a:t>
            </a:r>
            <a:r>
              <a:rPr kumimoji="0" lang="en-US" altLang="en-US" sz="1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web-1.2.txt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You can use –e, --env, and –env-file on CLI to overwrite environment variables declared in Dockerfile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effectLst/>
              </a:rPr>
              <a:t>Using ENV in CLI: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docker run -dt --name env02 --env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=ADMINUSER busybox 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docker exec -it env02 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echo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$USER </a:t>
            </a:r>
          </a:p>
          <a:p>
            <a:endParaRPr lang="en-US" sz="1000" b="1" u="sng" dirty="0"/>
          </a:p>
          <a:p>
            <a:r>
              <a:rPr lang="en-US" sz="1000" b="1" u="sng" dirty="0">
                <a:cs typeface="Times New Roman" panose="02020603050405020304" pitchFamily="18" charset="0"/>
              </a:rPr>
              <a:t>DOCKER COMMIT</a:t>
            </a:r>
          </a:p>
          <a:p>
            <a:r>
              <a:rPr lang="en-US" sz="1000" dirty="0">
                <a:cs typeface="Times New Roman" panose="02020603050405020304" pitchFamily="18" charset="0"/>
              </a:rPr>
              <a:t>When you make changes inside a container, can commit a container’s file changes/settings into a new image</a:t>
            </a:r>
          </a:p>
          <a:p>
            <a:endParaRPr lang="en-US" sz="1000" dirty="0">
              <a:cs typeface="Times New Roman" panose="02020603050405020304" pitchFamily="18" charset="0"/>
            </a:endParaRP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docker container commit CONTAINER-ID myimage01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docker run –dt –name busybox busybox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docker ps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docker container exec –it busybox sh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ls –l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cd root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touch change.txt</a:t>
            </a:r>
          </a:p>
          <a:p>
            <a:endParaRPr lang="en-US" sz="1000" dirty="0">
              <a:cs typeface="Times New Roman" panose="02020603050405020304" pitchFamily="18" charset="0"/>
            </a:endParaRPr>
          </a:p>
          <a:p>
            <a:r>
              <a:rPr lang="en-US" sz="1000" dirty="0">
                <a:cs typeface="Times New Roman" panose="02020603050405020304" pitchFamily="18" charset="0"/>
              </a:rPr>
              <a:t>Now save modified container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docker container commit busybox busybox-modified-01</a:t>
            </a:r>
          </a:p>
          <a:p>
            <a:endParaRPr lang="en-US" sz="10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docker container commit –change=‘CMD [“ash”]’ busybox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docker images</a:t>
            </a:r>
          </a:p>
          <a:p>
            <a:r>
              <a:rPr lang="en-US" sz="800" dirty="0">
                <a:latin typeface="Consolas" panose="020B0609020204030204" pitchFamily="49" charset="0"/>
                <a:cs typeface="Times New Roman" panose="02020603050405020304" pitchFamily="18" charset="0"/>
              </a:rPr>
              <a:t>REPOSITORY          TAG                 IMAGE ID            CREATED             SIZE</a:t>
            </a:r>
          </a:p>
          <a:p>
            <a:r>
              <a:rPr lang="en-US" sz="800" dirty="0">
                <a:latin typeface="Consolas" panose="020B0609020204030204" pitchFamily="49" charset="0"/>
                <a:cs typeface="Times New Roman" panose="02020603050405020304" pitchFamily="18" charset="0"/>
              </a:rPr>
              <a:t>&lt;none&gt;              &lt;none&gt;              7af203ea9660        11 seconds ago      1.23MB</a:t>
            </a:r>
          </a:p>
          <a:p>
            <a:endParaRPr lang="en-US" sz="1000" dirty="0">
              <a:cs typeface="Times New Roman" panose="02020603050405020304" pitchFamily="18" charset="0"/>
            </a:endParaRPr>
          </a:p>
          <a:p>
            <a:r>
              <a:rPr lang="en-US" sz="1000" dirty="0">
                <a:cs typeface="Times New Roman" panose="02020603050405020304" pitchFamily="18" charset="0"/>
              </a:rPr>
              <a:t>--change options CMD, ENTRYPOINT, ENV, EXPOSE, LABEL, ONBUILD, USER, VOLUME, WORKDIR</a:t>
            </a:r>
          </a:p>
        </p:txBody>
      </p:sp>
    </p:spTree>
    <p:extLst>
      <p:ext uri="{BB962C8B-B14F-4D97-AF65-F5344CB8AC3E}">
        <p14:creationId xmlns:p14="http://schemas.microsoft.com/office/powerpoint/2010/main" val="28493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54A588-F9AE-41D8-B04C-91B19D03D8FE}"/>
              </a:ext>
            </a:extLst>
          </p:cNvPr>
          <p:cNvSpPr txBox="1"/>
          <p:nvPr/>
        </p:nvSpPr>
        <p:spPr>
          <a:xfrm>
            <a:off x="73152" y="20074"/>
            <a:ext cx="5927054" cy="8617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DOCKER IMAGES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000" i="0" strike="noStrike" cap="none" normalizeH="0" baseline="0" dirty="0">
                <a:ln>
                  <a:noFill/>
                </a:ln>
                <a:effectLst/>
                <a:latin typeface="Monaco"/>
              </a:rPr>
              <a:t>Docker image is built from a series of layers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latin typeface="Monaco"/>
              </a:rPr>
              <a:t>Each layer represents an instruction in the images Dockerfile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000" i="0" strike="noStrike" cap="none" normalizeH="0" baseline="0" dirty="0">
                <a:ln>
                  <a:noFill/>
                </a:ln>
                <a:effectLst/>
                <a:latin typeface="Monaco"/>
              </a:rPr>
              <a:t>The major difference between an image and container is the top writable layer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latin typeface="Monaco"/>
              </a:rPr>
              <a:t>All writes to container that add/modify existing data are written to this layer</a:t>
            </a:r>
            <a:endParaRPr kumimoji="0" lang="en-US" altLang="en-US" sz="1000" i="0" strike="noStrike" cap="none" normalizeH="0" baseline="0" dirty="0">
              <a:ln>
                <a:noFill/>
              </a:ln>
              <a:effectLst/>
              <a:latin typeface="Monac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E54D5-4CF0-4561-BBFC-39A68D78825D}"/>
              </a:ext>
            </a:extLst>
          </p:cNvPr>
          <p:cNvSpPr txBox="1"/>
          <p:nvPr/>
        </p:nvSpPr>
        <p:spPr>
          <a:xfrm>
            <a:off x="6191794" y="20074"/>
            <a:ext cx="5927054" cy="60939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docker image child-commands</a:t>
            </a:r>
          </a:p>
          <a:p>
            <a:endParaRPr lang="en-US" sz="1000" dirty="0"/>
          </a:p>
          <a:p>
            <a:r>
              <a:rPr lang="en-US" sz="800" dirty="0">
                <a:latin typeface="Consolas" panose="020B0609020204030204" pitchFamily="49" charset="0"/>
              </a:rPr>
              <a:t>docker image --help</a:t>
            </a:r>
            <a:endParaRPr lang="en-US" sz="800" b="1" u="sng" dirty="0">
              <a:latin typeface="Consolas" panose="020B0609020204030204" pitchFamily="49" charset="0"/>
            </a:endParaRPr>
          </a:p>
          <a:p>
            <a:r>
              <a:rPr lang="en-US" sz="800" dirty="0">
                <a:latin typeface="Consolas" panose="020B0609020204030204" pitchFamily="49" charset="0"/>
              </a:rPr>
              <a:t>  build       </a:t>
            </a:r>
            <a:r>
              <a:rPr lang="en-US" sz="800" dirty="0" err="1">
                <a:latin typeface="Consolas" panose="020B0609020204030204" pitchFamily="49" charset="0"/>
              </a:rPr>
              <a:t>Build</a:t>
            </a:r>
            <a:r>
              <a:rPr lang="en-US" sz="800" dirty="0">
                <a:latin typeface="Consolas" panose="020B0609020204030204" pitchFamily="49" charset="0"/>
              </a:rPr>
              <a:t> an image from a Dockerfile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history     Show the history of an image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import      </a:t>
            </a:r>
            <a:r>
              <a:rPr lang="en-US" sz="800" dirty="0" err="1">
                <a:latin typeface="Consolas" panose="020B0609020204030204" pitchFamily="49" charset="0"/>
              </a:rPr>
              <a:t>Import</a:t>
            </a:r>
            <a:r>
              <a:rPr lang="en-US" sz="800" dirty="0">
                <a:latin typeface="Consolas" panose="020B0609020204030204" pitchFamily="49" charset="0"/>
              </a:rPr>
              <a:t> the contents from a </a:t>
            </a:r>
            <a:r>
              <a:rPr lang="en-US" sz="800" dirty="0" err="1">
                <a:latin typeface="Consolas" panose="020B0609020204030204" pitchFamily="49" charset="0"/>
              </a:rPr>
              <a:t>tarball</a:t>
            </a:r>
            <a:r>
              <a:rPr lang="en-US" sz="800" dirty="0">
                <a:latin typeface="Consolas" panose="020B0609020204030204" pitchFamily="49" charset="0"/>
              </a:rPr>
              <a:t> to create a filesystem image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inspect     Display detailed information on one or more images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load        </a:t>
            </a:r>
            <a:r>
              <a:rPr lang="en-US" sz="800" dirty="0" err="1">
                <a:latin typeface="Consolas" panose="020B0609020204030204" pitchFamily="49" charset="0"/>
              </a:rPr>
              <a:t>Load</a:t>
            </a:r>
            <a:r>
              <a:rPr lang="en-US" sz="800" dirty="0">
                <a:latin typeface="Consolas" panose="020B0609020204030204" pitchFamily="49" charset="0"/>
              </a:rPr>
              <a:t> an image from a tar archive or STDIN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ls          List images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prune       Remove unused images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pull        </a:t>
            </a:r>
            <a:r>
              <a:rPr lang="en-US" sz="800" dirty="0" err="1">
                <a:latin typeface="Consolas" panose="020B0609020204030204" pitchFamily="49" charset="0"/>
              </a:rPr>
              <a:t>Pull</a:t>
            </a:r>
            <a:r>
              <a:rPr lang="en-US" sz="800" dirty="0">
                <a:latin typeface="Consolas" panose="020B0609020204030204" pitchFamily="49" charset="0"/>
              </a:rPr>
              <a:t> an image or a repository from a registry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push        </a:t>
            </a:r>
            <a:r>
              <a:rPr lang="en-US" sz="800" dirty="0" err="1">
                <a:latin typeface="Consolas" panose="020B0609020204030204" pitchFamily="49" charset="0"/>
              </a:rPr>
              <a:t>Push</a:t>
            </a:r>
            <a:r>
              <a:rPr lang="en-US" sz="800" dirty="0">
                <a:latin typeface="Consolas" panose="020B0609020204030204" pitchFamily="49" charset="0"/>
              </a:rPr>
              <a:t> an image or a repository to a registry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rm          Remove one or more images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save        </a:t>
            </a:r>
            <a:r>
              <a:rPr lang="en-US" sz="800" dirty="0" err="1">
                <a:latin typeface="Consolas" panose="020B0609020204030204" pitchFamily="49" charset="0"/>
              </a:rPr>
              <a:t>Save</a:t>
            </a:r>
            <a:r>
              <a:rPr lang="en-US" sz="800" dirty="0">
                <a:latin typeface="Consolas" panose="020B0609020204030204" pitchFamily="49" charset="0"/>
              </a:rPr>
              <a:t> one or more images to a tar archive (streamed to STDOUT by default)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tag         Create a tag TARGET_IMAGE that refers to SOURCE_IMAGE</a:t>
            </a:r>
          </a:p>
          <a:p>
            <a:endParaRPr lang="en-US" sz="800" dirty="0">
              <a:latin typeface="Consolas" panose="020B0609020204030204" pitchFamily="49" charset="0"/>
            </a:endParaRPr>
          </a:p>
          <a:p>
            <a:r>
              <a:rPr lang="en-US" sz="1000" b="1" u="sng" dirty="0"/>
              <a:t>docker image inspect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image inspect nginx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Id: sha256 value… </a:t>
            </a:r>
            <a:r>
              <a:rPr lang="en-US" sz="1000" dirty="0" err="1">
                <a:latin typeface="Consolas" panose="020B0609020204030204" pitchFamily="49" charset="0"/>
              </a:rPr>
              <a:t>etc</a:t>
            </a:r>
            <a:endParaRPr lang="en-US" sz="1000" dirty="0">
              <a:latin typeface="Consolas" panose="020B0609020204030204" pitchFamily="49" charset="0"/>
            </a:endParaRP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/>
              <a:t>To tease out specific we can grep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image inspect nginx | grep Hostname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/>
              <a:t>Recommended way is with format command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image inspect --help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Usage:  docker image inspect [OPTIONS] IMAGE [IMAGE...]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Display detailed information on one or more images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Options: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  -f, --format string   Format the output using the given Go template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image inspect nginx -f='{{.Id}}’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image inspect nginx -f='{{.ContainerConfig.Hostname}}’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b="1" u="sng" dirty="0"/>
              <a:t>docker image prune</a:t>
            </a:r>
          </a:p>
          <a:p>
            <a:r>
              <a:rPr lang="en-US" sz="1000" dirty="0"/>
              <a:t>Cleans up dangling images</a:t>
            </a:r>
          </a:p>
          <a:p>
            <a:r>
              <a:rPr lang="en-US" sz="1000" dirty="0"/>
              <a:t>Dangling images = Images without tags &amp;&amp; not referenced by any container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image prune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image prune –a (unreferenced by container)</a:t>
            </a:r>
          </a:p>
        </p:txBody>
      </p:sp>
      <p:pic>
        <p:nvPicPr>
          <p:cNvPr id="7" name="Picture 6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5ED5685C-DC98-4DE7-9ADF-BDC280B6A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6" y="1188693"/>
            <a:ext cx="2897583" cy="2013284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589454F8-BFEE-47A9-A5E1-17A04D7E7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902" y="1162937"/>
            <a:ext cx="3301098" cy="2039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033EBD-3C6A-4F06-A1E9-031EF1A21D1F}"/>
              </a:ext>
            </a:extLst>
          </p:cNvPr>
          <p:cNvSpPr txBox="1"/>
          <p:nvPr/>
        </p:nvSpPr>
        <p:spPr>
          <a:xfrm>
            <a:off x="29609" y="3328594"/>
            <a:ext cx="5927054" cy="2400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LAYERS</a:t>
            </a:r>
          </a:p>
          <a:p>
            <a:r>
              <a:rPr kumimoji="0" lang="en-US" altLang="en-US" sz="1000" i="0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docker images</a:t>
            </a:r>
          </a:p>
          <a:p>
            <a:r>
              <a:rPr kumimoji="0" lang="en-US" altLang="en-US" sz="1000" i="0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docker history image_name</a:t>
            </a:r>
            <a:endParaRPr lang="en-US" sz="1000" dirty="0">
              <a:cs typeface="Times New Roman" panose="02020603050405020304" pitchFamily="18" charset="0"/>
            </a:endParaRPr>
          </a:p>
          <a:p>
            <a:r>
              <a:rPr lang="en-US" sz="1000" dirty="0">
                <a:cs typeface="Times New Roman" panose="02020603050405020304" pitchFamily="18" charset="0"/>
              </a:rPr>
              <a:t>Layers for any image you built will be in here in addition to the layers contained in your </a:t>
            </a:r>
            <a:r>
              <a:rPr lang="en-US" sz="1000" dirty="0">
                <a:solidFill>
                  <a:srgbClr val="FF0000"/>
                </a:solidFill>
                <a:cs typeface="Times New Roman" panose="02020603050405020304" pitchFamily="18" charset="0"/>
              </a:rPr>
              <a:t>FROM </a:t>
            </a:r>
            <a:r>
              <a:rPr lang="en-US" sz="10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base_image</a:t>
            </a:r>
            <a:endParaRPr lang="en-US" sz="10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endParaRPr lang="en-US" sz="1000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RUN rm –f /root/file1.txt </a:t>
            </a:r>
          </a:p>
          <a:p>
            <a:r>
              <a:rPr lang="en-US" sz="1000" dirty="0">
                <a:cs typeface="Times New Roman" panose="02020603050405020304" pitchFamily="18" charset="0"/>
              </a:rPr>
              <a:t>will remove this file later in image build…. BUT… image size wont change as the earlier layers (pre rm) still require the file1.txt</a:t>
            </a:r>
          </a:p>
          <a:p>
            <a:endParaRPr lang="en-US" sz="1000" dirty="0">
              <a:cs typeface="Times New Roman" panose="02020603050405020304" pitchFamily="18" charset="0"/>
            </a:endParaRPr>
          </a:p>
          <a:p>
            <a:r>
              <a:rPr lang="en-US" sz="1000" dirty="0">
                <a:cs typeface="Times New Roman" panose="02020603050405020304" pitchFamily="18" charset="0"/>
              </a:rPr>
              <a:t>Reduce layers using &amp;&amp;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RUN apt-get install nano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RUN apt-get install vim</a:t>
            </a:r>
          </a:p>
          <a:p>
            <a:endParaRPr lang="en-US" sz="1000" dirty="0">
              <a:cs typeface="Times New Roman" panose="02020603050405020304" pitchFamily="18" charset="0"/>
            </a:endParaRPr>
          </a:p>
          <a:p>
            <a:r>
              <a:rPr lang="en-US" sz="1000" dirty="0">
                <a:cs typeface="Times New Roman" panose="02020603050405020304" pitchFamily="18" charset="0"/>
              </a:rPr>
              <a:t>Can be changed to:</a:t>
            </a:r>
          </a:p>
          <a:p>
            <a:r>
              <a:rPr lang="en-US" sz="1000" dirty="0">
                <a:latin typeface="Consolas" panose="020B0609020204030204" pitchFamily="49" charset="0"/>
                <a:cs typeface="Times New Roman" panose="02020603050405020304" pitchFamily="18" charset="0"/>
              </a:rPr>
              <a:t>RUN apt-get install nano &amp;&amp; RUN apt-get install vim</a:t>
            </a:r>
          </a:p>
        </p:txBody>
      </p:sp>
    </p:spTree>
    <p:extLst>
      <p:ext uri="{BB962C8B-B14F-4D97-AF65-F5344CB8AC3E}">
        <p14:creationId xmlns:p14="http://schemas.microsoft.com/office/powerpoint/2010/main" val="703689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342770-38F2-4739-B556-3CC2EA452D9F}"/>
              </a:ext>
            </a:extLst>
          </p:cNvPr>
          <p:cNvSpPr txBox="1"/>
          <p:nvPr/>
        </p:nvSpPr>
        <p:spPr>
          <a:xfrm>
            <a:off x="6191794" y="20074"/>
            <a:ext cx="5927054" cy="4955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Push images to central registry</a:t>
            </a:r>
          </a:p>
          <a:p>
            <a:r>
              <a:rPr lang="en-US" sz="1000" dirty="0"/>
              <a:t>Lets push a busybox image to docker hub</a:t>
            </a:r>
          </a:p>
          <a:p>
            <a:endParaRPr lang="en-US" sz="1000" dirty="0"/>
          </a:p>
          <a:p>
            <a:r>
              <a:rPr lang="en-US" sz="1000" dirty="0"/>
              <a:t>Authentication required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pull busybox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login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tag busybox </a:t>
            </a:r>
            <a:r>
              <a:rPr lang="en-US" sz="1000" dirty="0" err="1">
                <a:latin typeface="Consolas" panose="020B0609020204030204" pitchFamily="49" charset="0"/>
              </a:rPr>
              <a:t>danhagg</a:t>
            </a:r>
            <a:r>
              <a:rPr lang="en-US" sz="1000" dirty="0">
                <a:latin typeface="Consolas" panose="020B0609020204030204" pitchFamily="49" charset="0"/>
              </a:rPr>
              <a:t>/mydemo:v1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images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REPOSITORY                TAG                 IMAGE ID            CREATED             SIZE</a:t>
            </a:r>
          </a:p>
          <a:p>
            <a:r>
              <a:rPr lang="en-US" sz="800" dirty="0" err="1">
                <a:latin typeface="Consolas" panose="020B0609020204030204" pitchFamily="49" charset="0"/>
              </a:rPr>
              <a:t>danhagg</a:t>
            </a:r>
            <a:r>
              <a:rPr lang="en-US" sz="800" dirty="0">
                <a:latin typeface="Consolas" panose="020B0609020204030204" pitchFamily="49" charset="0"/>
              </a:rPr>
              <a:t>/</a:t>
            </a:r>
            <a:r>
              <a:rPr lang="en-US" sz="800" dirty="0" err="1">
                <a:latin typeface="Consolas" panose="020B0609020204030204" pitchFamily="49" charset="0"/>
              </a:rPr>
              <a:t>mydemo</a:t>
            </a:r>
            <a:r>
              <a:rPr lang="en-US" sz="800" dirty="0">
                <a:latin typeface="Consolas" panose="020B0609020204030204" pitchFamily="49" charset="0"/>
              </a:rPr>
              <a:t>            v1                  6858809bf669        4 weeks ago         1.23MB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push </a:t>
            </a:r>
            <a:r>
              <a:rPr lang="en-US" sz="1000" dirty="0" err="1">
                <a:latin typeface="Consolas" panose="020B0609020204030204" pitchFamily="49" charset="0"/>
              </a:rPr>
              <a:t>danhagg</a:t>
            </a:r>
            <a:r>
              <a:rPr lang="en-US" sz="1000" dirty="0">
                <a:latin typeface="Consolas" panose="020B0609020204030204" pitchFamily="49" charset="0"/>
              </a:rPr>
              <a:t>/</a:t>
            </a:r>
            <a:r>
              <a:rPr lang="en-US" sz="1000" dirty="0" err="1">
                <a:latin typeface="Consolas" panose="020B0609020204030204" pitchFamily="49" charset="0"/>
              </a:rPr>
              <a:t>mydemo</a:t>
            </a:r>
            <a:endParaRPr lang="en-US" sz="1000" dirty="0">
              <a:latin typeface="Consolas" panose="020B0609020204030204" pitchFamily="49" charset="0"/>
            </a:endParaRPr>
          </a:p>
          <a:p>
            <a:endParaRPr lang="en-US" sz="1000" dirty="0"/>
          </a:p>
          <a:p>
            <a:r>
              <a:rPr lang="en-US" sz="1000" dirty="0"/>
              <a:t>To pull we will need to specify the version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pull </a:t>
            </a:r>
            <a:r>
              <a:rPr lang="en-US" sz="1000" dirty="0" err="1">
                <a:latin typeface="Consolas" panose="020B0609020204030204" pitchFamily="49" charset="0"/>
              </a:rPr>
              <a:t>danhagg</a:t>
            </a:r>
            <a:r>
              <a:rPr lang="en-US" sz="1000" dirty="0">
                <a:latin typeface="Consolas" panose="020B0609020204030204" pitchFamily="49" charset="0"/>
              </a:rPr>
              <a:t>/mydemo:v1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b="1" u="sng" dirty="0"/>
              <a:t>Docker Search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search nginx 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search nginx --filter "is-official=true“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b="1" u="sng" dirty="0"/>
              <a:t>Moving images across hosts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save busybox &gt; busybox.tar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load &lt;busybox.tar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b="1" dirty="0"/>
              <a:t>Docker build cache</a:t>
            </a:r>
          </a:p>
          <a:p>
            <a:r>
              <a:rPr lang="en-US" sz="1000" dirty="0"/>
              <a:t>Docker uses layer cache to optimize the process of building Docker images making it faster</a:t>
            </a:r>
          </a:p>
          <a:p>
            <a:r>
              <a:rPr lang="en-US" sz="1000" dirty="0"/>
              <a:t>Once a layer is changed all subsequent layers will be built </a:t>
            </a:r>
            <a:r>
              <a:rPr lang="en-US" sz="1000" b="1" u="sng" dirty="0"/>
              <a:t>NOT</a:t>
            </a:r>
            <a:r>
              <a:rPr lang="en-US" sz="1000" dirty="0"/>
              <a:t> using cache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D6393-D2E9-4E4A-994A-347C9536FE3A}"/>
              </a:ext>
            </a:extLst>
          </p:cNvPr>
          <p:cNvSpPr txBox="1"/>
          <p:nvPr/>
        </p:nvSpPr>
        <p:spPr>
          <a:xfrm>
            <a:off x="73153" y="85388"/>
            <a:ext cx="5927054" cy="67480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Flattening docker images</a:t>
            </a:r>
            <a:r>
              <a:rPr lang="en-US" sz="1000" dirty="0"/>
              <a:t> into a single layer to save space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container run -dt --name myubuntu ubuntu</a:t>
            </a:r>
          </a:p>
          <a:p>
            <a:r>
              <a:rPr lang="en-US" sz="1000" dirty="0"/>
              <a:t>docker ps</a:t>
            </a:r>
          </a:p>
          <a:p>
            <a:r>
              <a:rPr lang="en-US" sz="800" dirty="0"/>
              <a:t>CONTAINER ID        IMAGE               COMMAND             CREATED             STATUS              PORTS               NAMES</a:t>
            </a:r>
          </a:p>
          <a:p>
            <a:r>
              <a:rPr lang="en-US" sz="800" dirty="0"/>
              <a:t>29c79a5ddd8b        ubuntu              "/bin/bash"         28 seconds ago      Up 27 seconds                           myubuntu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export myubuntu &gt; myubuntudemo.tar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ls -l myubuntudemo.tar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-rwxrwxrwx 1 dhaggerty dhaggerty 75259904 Oct  8 14:45 myubuntudemo.tar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cat myubuntudemo.tar | docker import - myubuntu:latest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sha256:1919b54867d4af87e7070d9e53a1add09a79935a35da6109d64564a785e3f9f9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images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REPOSITORY          TAG                 IMAGE ID            CREATED             SIZE</a:t>
            </a:r>
          </a:p>
          <a:p>
            <a:r>
              <a:rPr lang="en-US" sz="800" dirty="0">
                <a:latin typeface="Consolas" panose="020B0609020204030204" pitchFamily="49" charset="0"/>
              </a:rPr>
              <a:t>myubuntu            latest              1919b54867d4        8 seconds ago      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</a:rPr>
              <a:t>72.9MB </a:t>
            </a:r>
            <a:r>
              <a:rPr lang="en-US" sz="800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? same size ?</a:t>
            </a:r>
            <a:endParaRPr lang="en-US" sz="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latin typeface="Consolas" panose="020B0609020204030204" pitchFamily="49" charset="0"/>
              </a:rPr>
              <a:t>ubuntu              latest              9140108b62dc        12 days ago         72.9MB</a:t>
            </a:r>
          </a:p>
          <a:p>
            <a:endParaRPr lang="en-US" sz="8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image history myubuntu</a:t>
            </a:r>
          </a:p>
          <a:p>
            <a:r>
              <a:rPr lang="en-US" sz="800" dirty="0">
                <a:latin typeface="Consolas" panose="020B0609020204030204" pitchFamily="49" charset="0"/>
              </a:rPr>
              <a:t>IMAGE               CREATED             </a:t>
            </a:r>
            <a:r>
              <a:rPr lang="en-US" sz="800" dirty="0" err="1">
                <a:latin typeface="Consolas" panose="020B0609020204030204" pitchFamily="49" charset="0"/>
              </a:rPr>
              <a:t>CREATED</a:t>
            </a:r>
            <a:r>
              <a:rPr lang="en-US" sz="800" dirty="0">
                <a:latin typeface="Consolas" panose="020B0609020204030204" pitchFamily="49" charset="0"/>
              </a:rPr>
              <a:t> BY          SIZE                COMMENT</a:t>
            </a:r>
          </a:p>
          <a:p>
            <a:r>
              <a:rPr lang="en-US" sz="800" dirty="0">
                <a:latin typeface="Consolas" panose="020B0609020204030204" pitchFamily="49" charset="0"/>
              </a:rPr>
              <a:t>1919b54867d4        2 minutes ago                           72.9MB              Imported from –</a:t>
            </a:r>
          </a:p>
          <a:p>
            <a:endParaRPr lang="en-US" sz="800" dirty="0">
              <a:latin typeface="Consolas" panose="020B0609020204030204" pitchFamily="49" charset="0"/>
            </a:endParaRPr>
          </a:p>
          <a:p>
            <a:r>
              <a:rPr lang="en-US" sz="1000" b="1" u="sng" dirty="0"/>
              <a:t>Docker registry</a:t>
            </a:r>
          </a:p>
          <a:p>
            <a:r>
              <a:rPr lang="en-US" sz="1000" dirty="0"/>
              <a:t>A registry is a stateless, highly scalable server-side application that stores and lets you distribute docker images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Docker Registry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Docker Trusted Registry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Private Repository (AWS ECR) Elastic Container Registry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Docker Hub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r>
              <a:rPr lang="en-US" sz="1000" dirty="0"/>
              <a:t>Run a local registry</a:t>
            </a:r>
          </a:p>
          <a:p>
            <a:r>
              <a:rPr kumimoji="0" lang="en-US" altLang="en-US" sz="1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docker run -d -p 5000:5000 --restart always --name registry registry:2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endParaRPr lang="en-US" sz="1000" dirty="0"/>
          </a:p>
          <a:p>
            <a:r>
              <a:rPr lang="en-US" sz="1000" dirty="0"/>
              <a:t>Then try and push custom image inside registry application</a:t>
            </a:r>
          </a:p>
          <a:p>
            <a:r>
              <a:rPr lang="en-US" sz="1000" dirty="0"/>
              <a:t>Format for tagging &amp; pushing images to registries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tag </a:t>
            </a:r>
            <a:r>
              <a:rPr lang="en-US" sz="1000" dirty="0" err="1">
                <a:latin typeface="Consolas" panose="020B0609020204030204" pitchFamily="49" charset="0"/>
              </a:rPr>
              <a:t>my_image_name:latest</a:t>
            </a:r>
            <a:r>
              <a:rPr lang="en-US" sz="1000" dirty="0">
                <a:latin typeface="Consolas" panose="020B0609020204030204" pitchFamily="49" charset="0"/>
              </a:rPr>
              <a:t> </a:t>
            </a:r>
            <a:r>
              <a:rPr lang="en-US" sz="1000" dirty="0" err="1">
                <a:latin typeface="Consolas" panose="020B0609020204030204" pitchFamily="49" charset="0"/>
              </a:rPr>
              <a:t>dns_name</a:t>
            </a:r>
            <a:r>
              <a:rPr lang="en-US" sz="1000" dirty="0">
                <a:latin typeface="Consolas" panose="020B0609020204030204" pitchFamily="49" charset="0"/>
              </a:rPr>
              <a:t>/</a:t>
            </a:r>
            <a:r>
              <a:rPr lang="en-US" sz="1000" dirty="0" err="1">
                <a:latin typeface="Consolas" panose="020B0609020204030204" pitchFamily="49" charset="0"/>
              </a:rPr>
              <a:t>my_image_name</a:t>
            </a:r>
            <a:endParaRPr lang="en-US" sz="1000" dirty="0">
              <a:latin typeface="Consolas" panose="020B0609020204030204" pitchFamily="49" charset="0"/>
            </a:endParaRP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tag </a:t>
            </a:r>
            <a:r>
              <a:rPr lang="en-US" sz="1000" dirty="0" err="1">
                <a:latin typeface="Consolas" panose="020B0609020204030204" pitchFamily="49" charset="0"/>
              </a:rPr>
              <a:t>ubuntu:latest</a:t>
            </a:r>
            <a:r>
              <a:rPr lang="en-US" sz="1000" dirty="0">
                <a:latin typeface="Consolas" panose="020B0609020204030204" pitchFamily="49" charset="0"/>
              </a:rPr>
              <a:t> localhost:5000/myubuntu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images</a:t>
            </a:r>
          </a:p>
          <a:p>
            <a:r>
              <a:rPr lang="en-US" sz="800" dirty="0"/>
              <a:t>REPOSITORY                TAG                 IMAGE ID            CREATED             SIZE</a:t>
            </a:r>
          </a:p>
          <a:p>
            <a:r>
              <a:rPr lang="en-US" sz="800" dirty="0"/>
              <a:t>myubuntu                  latest              1919b54867d4        About an hour ago   72.9MB</a:t>
            </a:r>
          </a:p>
          <a:p>
            <a:r>
              <a:rPr lang="en-US" sz="800" dirty="0"/>
              <a:t>ubuntu                    latest              9140108b62dc        12 days ago         72.9MB</a:t>
            </a:r>
          </a:p>
          <a:p>
            <a:r>
              <a:rPr lang="en-US" sz="800" dirty="0"/>
              <a:t>localhost:5000/myubuntu   latest              9140108b62dc        12 days ago         72.9MB</a:t>
            </a:r>
          </a:p>
          <a:p>
            <a:r>
              <a:rPr lang="en-US" sz="800" dirty="0"/>
              <a:t>registry                  2                   2d4f4b5309b1        3 months ago        26.2MB</a:t>
            </a:r>
          </a:p>
          <a:p>
            <a:endParaRPr lang="en-US" sz="1000" dirty="0">
              <a:latin typeface="Consolas" panose="020B0609020204030204" pitchFamily="49" charset="0"/>
            </a:endParaRPr>
          </a:p>
          <a:p>
            <a:r>
              <a:rPr lang="en-US" sz="1000" dirty="0">
                <a:latin typeface="Consolas" panose="020B0609020204030204" pitchFamily="49" charset="0"/>
              </a:rPr>
              <a:t>docker push localhost:5000/myubuntu</a:t>
            </a:r>
          </a:p>
          <a:p>
            <a:r>
              <a:rPr lang="en-US" sz="1000" dirty="0">
                <a:latin typeface="Consolas" panose="020B0609020204030204" pitchFamily="49" charset="0"/>
              </a:rPr>
              <a:t>docker pull localhost:5000/myubuntu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40EB59E-1596-4144-9607-15209B7ED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BFB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68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4AC46B-54CF-46AA-893A-1EE34CDF7AF2}"/>
              </a:ext>
            </a:extLst>
          </p:cNvPr>
          <p:cNvSpPr txBox="1"/>
          <p:nvPr/>
        </p:nvSpPr>
        <p:spPr>
          <a:xfrm>
            <a:off x="6191794" y="20074"/>
            <a:ext cx="592705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Networking</a:t>
            </a:r>
          </a:p>
          <a:p>
            <a:r>
              <a:rPr lang="en-US" sz="1000" dirty="0"/>
              <a:t>To tease out specific we can grep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F4F29-880B-468B-A05C-D1EDD35D71D7}"/>
              </a:ext>
            </a:extLst>
          </p:cNvPr>
          <p:cNvSpPr txBox="1"/>
          <p:nvPr/>
        </p:nvSpPr>
        <p:spPr>
          <a:xfrm>
            <a:off x="168946" y="146349"/>
            <a:ext cx="592705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b="1" u="sng" dirty="0"/>
              <a:t>Networking</a:t>
            </a:r>
          </a:p>
          <a:p>
            <a:r>
              <a:rPr lang="en-US" sz="1000" dirty="0"/>
              <a:t>Docker networking subsystem is pluggable, using drivers. Several drivers are available by default:</a:t>
            </a:r>
          </a:p>
          <a:p>
            <a:r>
              <a:rPr lang="en-US" sz="1000" dirty="0"/>
              <a:t>bridge</a:t>
            </a:r>
          </a:p>
          <a:p>
            <a:r>
              <a:rPr lang="en-US" sz="1000" dirty="0"/>
              <a:t>host</a:t>
            </a:r>
          </a:p>
          <a:p>
            <a:r>
              <a:rPr lang="en-US" sz="1000" dirty="0"/>
              <a:t>overlay</a:t>
            </a:r>
          </a:p>
          <a:p>
            <a:r>
              <a:rPr lang="en-US" sz="1000"/>
              <a:t>none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13006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706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D27844-827F-47C6-8BE6-D38D6B7940AF}"/>
              </a:ext>
            </a:extLst>
          </p:cNvPr>
          <p:cNvSpPr txBox="1"/>
          <p:nvPr/>
        </p:nvSpPr>
        <p:spPr>
          <a:xfrm>
            <a:off x="2569028" y="740497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</a:rPr>
              <a:t>docker --help</a:t>
            </a:r>
          </a:p>
          <a:p>
            <a:endParaRPr lang="en-US" sz="800" dirty="0">
              <a:latin typeface="Consolas" panose="020B0609020204030204" pitchFamily="49" charset="0"/>
            </a:endParaRPr>
          </a:p>
          <a:p>
            <a:r>
              <a:rPr lang="en-US" sz="800" dirty="0">
                <a:latin typeface="Consolas" panose="020B0609020204030204" pitchFamily="49" charset="0"/>
              </a:rPr>
              <a:t>Usage:  docker [OPTIONS] COMMAND</a:t>
            </a:r>
          </a:p>
          <a:p>
            <a:endParaRPr lang="en-US" sz="800" dirty="0">
              <a:latin typeface="Consolas" panose="020B0609020204030204" pitchFamily="49" charset="0"/>
            </a:endParaRPr>
          </a:p>
          <a:p>
            <a:r>
              <a:rPr lang="en-US" sz="800" dirty="0">
                <a:latin typeface="Consolas" panose="020B0609020204030204" pitchFamily="49" charset="0"/>
              </a:rPr>
              <a:t>A self-sufficient runtime for containers</a:t>
            </a:r>
          </a:p>
          <a:p>
            <a:endParaRPr lang="en-US" sz="800" dirty="0">
              <a:latin typeface="Consolas" panose="020B0609020204030204" pitchFamily="49" charset="0"/>
            </a:endParaRPr>
          </a:p>
          <a:p>
            <a:r>
              <a:rPr lang="en-US" sz="800" dirty="0">
                <a:latin typeface="Consolas" panose="020B0609020204030204" pitchFamily="49" charset="0"/>
              </a:rPr>
              <a:t>Options: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    --config string      Location of client config files (default "/home/dhaggerty/.docker")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-c, --context string     Name of the context to use to connect to the daemon (overrides DOCKER_HOST env var and default context set with "docker context use")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-D, --debug              Enable debug mode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-H, --host list          Daemon socket(s) to connect to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-l, --log-level string   Set the logging level ("</a:t>
            </a:r>
            <a:r>
              <a:rPr lang="en-US" sz="800" dirty="0" err="1">
                <a:latin typeface="Consolas" panose="020B0609020204030204" pitchFamily="49" charset="0"/>
              </a:rPr>
              <a:t>debug"|"info"|"warn"|"error"|"fatal</a:t>
            </a:r>
            <a:r>
              <a:rPr lang="en-US" sz="800" dirty="0">
                <a:latin typeface="Consolas" panose="020B0609020204030204" pitchFamily="49" charset="0"/>
              </a:rPr>
              <a:t>") (default "info")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    --</a:t>
            </a:r>
            <a:r>
              <a:rPr lang="en-US" sz="800" dirty="0" err="1">
                <a:latin typeface="Consolas" panose="020B0609020204030204" pitchFamily="49" charset="0"/>
              </a:rPr>
              <a:t>tls</a:t>
            </a:r>
            <a:r>
              <a:rPr lang="en-US" sz="800" dirty="0">
                <a:latin typeface="Consolas" panose="020B0609020204030204" pitchFamily="49" charset="0"/>
              </a:rPr>
              <a:t>                Use TLS; implied by --</a:t>
            </a:r>
            <a:r>
              <a:rPr lang="en-US" sz="800" dirty="0" err="1">
                <a:latin typeface="Consolas" panose="020B0609020204030204" pitchFamily="49" charset="0"/>
              </a:rPr>
              <a:t>tlsverify</a:t>
            </a:r>
            <a:endParaRPr lang="en-US" sz="800" dirty="0">
              <a:latin typeface="Consolas" panose="020B0609020204030204" pitchFamily="49" charset="0"/>
            </a:endParaRPr>
          </a:p>
          <a:p>
            <a:r>
              <a:rPr lang="en-US" sz="800" dirty="0">
                <a:latin typeface="Consolas" panose="020B0609020204030204" pitchFamily="49" charset="0"/>
              </a:rPr>
              <a:t>      --</a:t>
            </a:r>
            <a:r>
              <a:rPr lang="en-US" sz="800" dirty="0" err="1">
                <a:latin typeface="Consolas" panose="020B0609020204030204" pitchFamily="49" charset="0"/>
              </a:rPr>
              <a:t>tlscacert</a:t>
            </a:r>
            <a:r>
              <a:rPr lang="en-US" sz="800" dirty="0">
                <a:latin typeface="Consolas" panose="020B0609020204030204" pitchFamily="49" charset="0"/>
              </a:rPr>
              <a:t> string   Trust certs signed only by this CA (default "/home/dhaggerty/.docker/</a:t>
            </a:r>
            <a:r>
              <a:rPr lang="en-US" sz="800" dirty="0" err="1">
                <a:latin typeface="Consolas" panose="020B0609020204030204" pitchFamily="49" charset="0"/>
              </a:rPr>
              <a:t>ca.pem</a:t>
            </a:r>
            <a:r>
              <a:rPr lang="en-US" sz="800" dirty="0">
                <a:latin typeface="Consolas" panose="020B0609020204030204" pitchFamily="49" charset="0"/>
              </a:rPr>
              <a:t>")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    --</a:t>
            </a:r>
            <a:r>
              <a:rPr lang="en-US" sz="800" dirty="0" err="1">
                <a:latin typeface="Consolas" panose="020B0609020204030204" pitchFamily="49" charset="0"/>
              </a:rPr>
              <a:t>tlscert</a:t>
            </a:r>
            <a:r>
              <a:rPr lang="en-US" sz="800" dirty="0">
                <a:latin typeface="Consolas" panose="020B0609020204030204" pitchFamily="49" charset="0"/>
              </a:rPr>
              <a:t> string     Path to TLS certificate file (default "/home/dhaggerty/.docker/</a:t>
            </a:r>
            <a:r>
              <a:rPr lang="en-US" sz="800" dirty="0" err="1">
                <a:latin typeface="Consolas" panose="020B0609020204030204" pitchFamily="49" charset="0"/>
              </a:rPr>
              <a:t>cert.pem</a:t>
            </a:r>
            <a:r>
              <a:rPr lang="en-US" sz="800" dirty="0">
                <a:latin typeface="Consolas" panose="020B0609020204030204" pitchFamily="49" charset="0"/>
              </a:rPr>
              <a:t>")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    --</a:t>
            </a:r>
            <a:r>
              <a:rPr lang="en-US" sz="800" dirty="0" err="1">
                <a:latin typeface="Consolas" panose="020B0609020204030204" pitchFamily="49" charset="0"/>
              </a:rPr>
              <a:t>tlskey</a:t>
            </a:r>
            <a:r>
              <a:rPr lang="en-US" sz="800" dirty="0">
                <a:latin typeface="Consolas" panose="020B0609020204030204" pitchFamily="49" charset="0"/>
              </a:rPr>
              <a:t> string      Path to TLS key file (default "/home/dhaggerty/.docker/</a:t>
            </a:r>
            <a:r>
              <a:rPr lang="en-US" sz="800" dirty="0" err="1">
                <a:latin typeface="Consolas" panose="020B0609020204030204" pitchFamily="49" charset="0"/>
              </a:rPr>
              <a:t>key.pem</a:t>
            </a:r>
            <a:r>
              <a:rPr lang="en-US" sz="800" dirty="0">
                <a:latin typeface="Consolas" panose="020B0609020204030204" pitchFamily="49" charset="0"/>
              </a:rPr>
              <a:t>")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    --</a:t>
            </a:r>
            <a:r>
              <a:rPr lang="en-US" sz="800" dirty="0" err="1">
                <a:latin typeface="Consolas" panose="020B0609020204030204" pitchFamily="49" charset="0"/>
              </a:rPr>
              <a:t>tlsverify</a:t>
            </a:r>
            <a:r>
              <a:rPr lang="en-US" sz="800" dirty="0">
                <a:latin typeface="Consolas" panose="020B0609020204030204" pitchFamily="49" charset="0"/>
              </a:rPr>
              <a:t>          Use TLS and verify the remote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-v, --version            Print version information and quit</a:t>
            </a:r>
          </a:p>
          <a:p>
            <a:endParaRPr lang="en-US" sz="800" dirty="0">
              <a:latin typeface="Consolas" panose="020B0609020204030204" pitchFamily="49" charset="0"/>
            </a:endParaRPr>
          </a:p>
          <a:p>
            <a:r>
              <a:rPr lang="en-US" sz="800" dirty="0">
                <a:latin typeface="Consolas" panose="020B0609020204030204" pitchFamily="49" charset="0"/>
              </a:rPr>
              <a:t>Management Commands: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app*        Docker Application (Docker Inc., v0.8.0)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builder     Manage builds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</a:t>
            </a:r>
            <a:r>
              <a:rPr lang="en-US" sz="800" dirty="0" err="1">
                <a:latin typeface="Consolas" panose="020B0609020204030204" pitchFamily="49" charset="0"/>
              </a:rPr>
              <a:t>buildx</a:t>
            </a:r>
            <a:r>
              <a:rPr lang="en-US" sz="800" dirty="0">
                <a:latin typeface="Consolas" panose="020B0609020204030204" pitchFamily="49" charset="0"/>
              </a:rPr>
              <a:t>*     Build with </a:t>
            </a:r>
            <a:r>
              <a:rPr lang="en-US" sz="800" dirty="0" err="1">
                <a:latin typeface="Consolas" panose="020B0609020204030204" pitchFamily="49" charset="0"/>
              </a:rPr>
              <a:t>BuildKit</a:t>
            </a:r>
            <a:r>
              <a:rPr lang="en-US" sz="800" dirty="0">
                <a:latin typeface="Consolas" panose="020B0609020204030204" pitchFamily="49" charset="0"/>
              </a:rPr>
              <a:t> (Docker Inc., v0.4.2-tp-docker)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config      Manage Docker configs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container   Manage containers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context     Manage contexts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engine      Manage the docker engine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image       Manage images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manifest    Manage Docker image manifests and manifest lists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network     Manage networks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node        Manage Swarm nodes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plugin      Manage plugins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secret      Manage Docker secrets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service     Manage services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stack       Manage Docker stacks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swarm       Manage Swarm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system      Manage Docker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trust       Manage trust on Docker images</a:t>
            </a:r>
          </a:p>
          <a:p>
            <a:r>
              <a:rPr lang="en-US" sz="800" dirty="0">
                <a:latin typeface="Consolas" panose="020B0609020204030204" pitchFamily="49" charset="0"/>
              </a:rPr>
              <a:t>  volume      Manage volumes</a:t>
            </a:r>
          </a:p>
        </p:txBody>
      </p:sp>
    </p:spTree>
    <p:extLst>
      <p:ext uri="{BB962C8B-B14F-4D97-AF65-F5344CB8AC3E}">
        <p14:creationId xmlns:p14="http://schemas.microsoft.com/office/powerpoint/2010/main" val="1269824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2791</Words>
  <Application>Microsoft Office PowerPoint</Application>
  <PresentationFormat>Widescreen</PresentationFormat>
  <Paragraphs>466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Monaco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Haggerty</dc:creator>
  <cp:lastModifiedBy>Daniel Haggerty</cp:lastModifiedBy>
  <cp:revision>63</cp:revision>
  <dcterms:created xsi:type="dcterms:W3CDTF">2020-10-05T11:49:31Z</dcterms:created>
  <dcterms:modified xsi:type="dcterms:W3CDTF">2020-10-08T21:56:31Z</dcterms:modified>
</cp:coreProperties>
</file>