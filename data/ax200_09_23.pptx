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7" r:id="rId2"/>
    <p:sldId id="259" r:id="rId3"/>
    <p:sldId id="263" r:id="rId4"/>
    <p:sldId id="274" r:id="rId5"/>
    <p:sldId id="266" r:id="rId6"/>
    <p:sldId id="275" r:id="rId7"/>
    <p:sldId id="276" r:id="rId8"/>
    <p:sldId id="277" r:id="rId9"/>
    <p:sldId id="278" r:id="rId10"/>
    <p:sldId id="279" r:id="rId11"/>
    <p:sldId id="280" r:id="rId12"/>
    <p:sldId id="256" r:id="rId13"/>
    <p:sldId id="281" r:id="rId14"/>
    <p:sldId id="267" r:id="rId15"/>
    <p:sldId id="283" r:id="rId16"/>
    <p:sldId id="268" r:id="rId17"/>
    <p:sldId id="272" r:id="rId18"/>
    <p:sldId id="282"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326" autoAdjust="0"/>
    <p:restoredTop sz="95493" autoAdjust="0"/>
  </p:normalViewPr>
  <p:slideViewPr>
    <p:cSldViewPr snapToGrid="0">
      <p:cViewPr varScale="1">
        <p:scale>
          <a:sx n="99" d="100"/>
          <a:sy n="99" d="100"/>
        </p:scale>
        <p:origin x="114" y="34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02C8A6-52D0-4EB6-98C1-D67204C1A5B0}" type="datetimeFigureOut">
              <a:rPr lang="en-US" smtClean="0"/>
              <a:t>11/4/2020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1DBFC22-375F-44C9-8452-5AD54B18F94B}" type="slidenum">
              <a:rPr lang="en-US" smtClean="0"/>
              <a:t>‹#›</a:t>
            </a:fld>
            <a:endParaRPr lang="en-US"/>
          </a:p>
        </p:txBody>
      </p:sp>
    </p:spTree>
    <p:extLst>
      <p:ext uri="{BB962C8B-B14F-4D97-AF65-F5344CB8AC3E}">
        <p14:creationId xmlns:p14="http://schemas.microsoft.com/office/powerpoint/2010/main" val="6159747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0DACCDB-0BBE-4C3C-AC41-7C56475DF7D8}" type="slidenum">
              <a:rPr lang="en-US" smtClean="0"/>
              <a:t>11</a:t>
            </a:fld>
            <a:endParaRPr lang="en-US"/>
          </a:p>
        </p:txBody>
      </p:sp>
    </p:spTree>
    <p:extLst>
      <p:ext uri="{BB962C8B-B14F-4D97-AF65-F5344CB8AC3E}">
        <p14:creationId xmlns:p14="http://schemas.microsoft.com/office/powerpoint/2010/main" val="26895744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BF1FA8-CACA-4610-8ABC-9B55261D0FA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7015758-027A-4B52-9A65-BBD761D8B73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FCDEEF8-DF91-4288-B4F3-63D0AEAE55E6}"/>
              </a:ext>
            </a:extLst>
          </p:cNvPr>
          <p:cNvSpPr>
            <a:spLocks noGrp="1"/>
          </p:cNvSpPr>
          <p:nvPr>
            <p:ph type="dt" sz="half" idx="10"/>
          </p:nvPr>
        </p:nvSpPr>
        <p:spPr/>
        <p:txBody>
          <a:bodyPr/>
          <a:lstStyle/>
          <a:p>
            <a:fld id="{9C917E13-ACEC-46D2-9693-CA0BFF917D74}" type="datetimeFigureOut">
              <a:rPr lang="en-US" smtClean="0"/>
              <a:t>11/4/2020</a:t>
            </a:fld>
            <a:endParaRPr lang="en-US"/>
          </a:p>
        </p:txBody>
      </p:sp>
      <p:sp>
        <p:nvSpPr>
          <p:cNvPr id="5" name="Footer Placeholder 4">
            <a:extLst>
              <a:ext uri="{FF2B5EF4-FFF2-40B4-BE49-F238E27FC236}">
                <a16:creationId xmlns:a16="http://schemas.microsoft.com/office/drawing/2014/main" id="{653F798A-2A3A-4EB0-B85A-B56E062552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33BB380-8A90-43C3-B92B-0007B99A6C09}"/>
              </a:ext>
            </a:extLst>
          </p:cNvPr>
          <p:cNvSpPr>
            <a:spLocks noGrp="1"/>
          </p:cNvSpPr>
          <p:nvPr>
            <p:ph type="sldNum" sz="quarter" idx="12"/>
          </p:nvPr>
        </p:nvSpPr>
        <p:spPr/>
        <p:txBody>
          <a:bodyPr/>
          <a:lstStyle/>
          <a:p>
            <a:fld id="{A6774836-4B20-420B-82AE-6A46D43C0021}" type="slidenum">
              <a:rPr lang="en-US" smtClean="0"/>
              <a:t>‹#›</a:t>
            </a:fld>
            <a:endParaRPr lang="en-US"/>
          </a:p>
        </p:txBody>
      </p:sp>
    </p:spTree>
    <p:extLst>
      <p:ext uri="{BB962C8B-B14F-4D97-AF65-F5344CB8AC3E}">
        <p14:creationId xmlns:p14="http://schemas.microsoft.com/office/powerpoint/2010/main" val="24258736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A3B74-8353-4BBD-AC64-CD1E083C6EB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D3EE60-0ED6-4AEC-88E4-D26FBE0B871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AC5B624-8A69-4592-ACD3-9AE1EA0E489D}"/>
              </a:ext>
            </a:extLst>
          </p:cNvPr>
          <p:cNvSpPr>
            <a:spLocks noGrp="1"/>
          </p:cNvSpPr>
          <p:nvPr>
            <p:ph type="dt" sz="half" idx="10"/>
          </p:nvPr>
        </p:nvSpPr>
        <p:spPr/>
        <p:txBody>
          <a:bodyPr/>
          <a:lstStyle/>
          <a:p>
            <a:fld id="{9C917E13-ACEC-46D2-9693-CA0BFF917D74}" type="datetimeFigureOut">
              <a:rPr lang="en-US" smtClean="0"/>
              <a:t>11/4/2020</a:t>
            </a:fld>
            <a:endParaRPr lang="en-US"/>
          </a:p>
        </p:txBody>
      </p:sp>
      <p:sp>
        <p:nvSpPr>
          <p:cNvPr id="5" name="Footer Placeholder 4">
            <a:extLst>
              <a:ext uri="{FF2B5EF4-FFF2-40B4-BE49-F238E27FC236}">
                <a16:creationId xmlns:a16="http://schemas.microsoft.com/office/drawing/2014/main" id="{2AEC3C50-D3B6-4BD4-9A13-F6989EAD8E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096D54-7AA1-4DCB-8CF2-5BD8C7F66E80}"/>
              </a:ext>
            </a:extLst>
          </p:cNvPr>
          <p:cNvSpPr>
            <a:spLocks noGrp="1"/>
          </p:cNvSpPr>
          <p:nvPr>
            <p:ph type="sldNum" sz="quarter" idx="12"/>
          </p:nvPr>
        </p:nvSpPr>
        <p:spPr/>
        <p:txBody>
          <a:bodyPr/>
          <a:lstStyle/>
          <a:p>
            <a:fld id="{A6774836-4B20-420B-82AE-6A46D43C0021}" type="slidenum">
              <a:rPr lang="en-US" smtClean="0"/>
              <a:t>‹#›</a:t>
            </a:fld>
            <a:endParaRPr lang="en-US"/>
          </a:p>
        </p:txBody>
      </p:sp>
    </p:spTree>
    <p:extLst>
      <p:ext uri="{BB962C8B-B14F-4D97-AF65-F5344CB8AC3E}">
        <p14:creationId xmlns:p14="http://schemas.microsoft.com/office/powerpoint/2010/main" val="19880721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35205C-C622-44F6-95B1-57124FC6018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94E75F5-6527-4773-B1D7-571CCE0B011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525D48F-DB3A-4FA1-8C72-CE1E80C6FC4C}"/>
              </a:ext>
            </a:extLst>
          </p:cNvPr>
          <p:cNvSpPr>
            <a:spLocks noGrp="1"/>
          </p:cNvSpPr>
          <p:nvPr>
            <p:ph type="dt" sz="half" idx="10"/>
          </p:nvPr>
        </p:nvSpPr>
        <p:spPr/>
        <p:txBody>
          <a:bodyPr/>
          <a:lstStyle/>
          <a:p>
            <a:fld id="{9C917E13-ACEC-46D2-9693-CA0BFF917D74}" type="datetimeFigureOut">
              <a:rPr lang="en-US" smtClean="0"/>
              <a:t>11/4/2020</a:t>
            </a:fld>
            <a:endParaRPr lang="en-US"/>
          </a:p>
        </p:txBody>
      </p:sp>
      <p:sp>
        <p:nvSpPr>
          <p:cNvPr id="5" name="Footer Placeholder 4">
            <a:extLst>
              <a:ext uri="{FF2B5EF4-FFF2-40B4-BE49-F238E27FC236}">
                <a16:creationId xmlns:a16="http://schemas.microsoft.com/office/drawing/2014/main" id="{7A19A5B4-7E5D-485B-AA7D-CA79A29C70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471784-9602-481B-933D-E21CE97BF903}"/>
              </a:ext>
            </a:extLst>
          </p:cNvPr>
          <p:cNvSpPr>
            <a:spLocks noGrp="1"/>
          </p:cNvSpPr>
          <p:nvPr>
            <p:ph type="sldNum" sz="quarter" idx="12"/>
          </p:nvPr>
        </p:nvSpPr>
        <p:spPr/>
        <p:txBody>
          <a:bodyPr/>
          <a:lstStyle/>
          <a:p>
            <a:fld id="{A6774836-4B20-420B-82AE-6A46D43C0021}" type="slidenum">
              <a:rPr lang="en-US" smtClean="0"/>
              <a:t>‹#›</a:t>
            </a:fld>
            <a:endParaRPr lang="en-US"/>
          </a:p>
        </p:txBody>
      </p:sp>
    </p:spTree>
    <p:extLst>
      <p:ext uri="{BB962C8B-B14F-4D97-AF65-F5344CB8AC3E}">
        <p14:creationId xmlns:p14="http://schemas.microsoft.com/office/powerpoint/2010/main" val="22933250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D32F7-E600-495B-9B27-90B2477485B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202748D-562E-41B7-8AA9-6D2B6353390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A083939-CC9C-4C9B-98C6-E530CDDC0E3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964E3C8-DE9C-41C8-98B6-BC1155CB3C48}"/>
              </a:ext>
            </a:extLst>
          </p:cNvPr>
          <p:cNvSpPr>
            <a:spLocks noGrp="1"/>
          </p:cNvSpPr>
          <p:nvPr>
            <p:ph type="dt" sz="half" idx="10"/>
          </p:nvPr>
        </p:nvSpPr>
        <p:spPr/>
        <p:txBody>
          <a:bodyPr/>
          <a:lstStyle/>
          <a:p>
            <a:fld id="{9C917E13-ACEC-46D2-9693-CA0BFF917D74}" type="datetimeFigureOut">
              <a:rPr lang="en-US" smtClean="0"/>
              <a:t>11/4/2020</a:t>
            </a:fld>
            <a:endParaRPr lang="en-US"/>
          </a:p>
        </p:txBody>
      </p:sp>
      <p:sp>
        <p:nvSpPr>
          <p:cNvPr id="6" name="Footer Placeholder 5">
            <a:extLst>
              <a:ext uri="{FF2B5EF4-FFF2-40B4-BE49-F238E27FC236}">
                <a16:creationId xmlns:a16="http://schemas.microsoft.com/office/drawing/2014/main" id="{585706D3-434F-49BB-A737-3ABEE6F5BC6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53C1A0C-C707-4793-B645-EF0429902BBD}"/>
              </a:ext>
            </a:extLst>
          </p:cNvPr>
          <p:cNvSpPr>
            <a:spLocks noGrp="1"/>
          </p:cNvSpPr>
          <p:nvPr>
            <p:ph type="sldNum" sz="quarter" idx="12"/>
          </p:nvPr>
        </p:nvSpPr>
        <p:spPr/>
        <p:txBody>
          <a:bodyPr/>
          <a:lstStyle/>
          <a:p>
            <a:fld id="{A6774836-4B20-420B-82AE-6A46D43C0021}" type="slidenum">
              <a:rPr lang="en-US" smtClean="0"/>
              <a:t>‹#›</a:t>
            </a:fld>
            <a:endParaRPr lang="en-US"/>
          </a:p>
        </p:txBody>
      </p:sp>
    </p:spTree>
    <p:extLst>
      <p:ext uri="{BB962C8B-B14F-4D97-AF65-F5344CB8AC3E}">
        <p14:creationId xmlns:p14="http://schemas.microsoft.com/office/powerpoint/2010/main" val="8295140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3CCDFD-D17A-4AC8-808F-2C1774A5375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6B187D3-5232-4932-9FC6-C1C412334B5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4AD4053-264F-421D-9A7C-721D32E6520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0B1C9DF-B0FA-4403-9B88-772C320C38C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045DB9C-263E-4713-AA88-1B59CEAC031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D2C45EB-9527-431F-A21D-592D7299E68A}"/>
              </a:ext>
            </a:extLst>
          </p:cNvPr>
          <p:cNvSpPr>
            <a:spLocks noGrp="1"/>
          </p:cNvSpPr>
          <p:nvPr>
            <p:ph type="dt" sz="half" idx="10"/>
          </p:nvPr>
        </p:nvSpPr>
        <p:spPr/>
        <p:txBody>
          <a:bodyPr/>
          <a:lstStyle/>
          <a:p>
            <a:fld id="{9C917E13-ACEC-46D2-9693-CA0BFF917D74}" type="datetimeFigureOut">
              <a:rPr lang="en-US" smtClean="0"/>
              <a:t>11/4/2020</a:t>
            </a:fld>
            <a:endParaRPr lang="en-US"/>
          </a:p>
        </p:txBody>
      </p:sp>
      <p:sp>
        <p:nvSpPr>
          <p:cNvPr id="8" name="Footer Placeholder 7">
            <a:extLst>
              <a:ext uri="{FF2B5EF4-FFF2-40B4-BE49-F238E27FC236}">
                <a16:creationId xmlns:a16="http://schemas.microsoft.com/office/drawing/2014/main" id="{8D950005-99D4-4967-8FA9-1A83D0A748C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C345465-23AB-4CFF-9659-03544D207FD9}"/>
              </a:ext>
            </a:extLst>
          </p:cNvPr>
          <p:cNvSpPr>
            <a:spLocks noGrp="1"/>
          </p:cNvSpPr>
          <p:nvPr>
            <p:ph type="sldNum" sz="quarter" idx="12"/>
          </p:nvPr>
        </p:nvSpPr>
        <p:spPr/>
        <p:txBody>
          <a:bodyPr/>
          <a:lstStyle/>
          <a:p>
            <a:fld id="{A6774836-4B20-420B-82AE-6A46D43C0021}" type="slidenum">
              <a:rPr lang="en-US" smtClean="0"/>
              <a:t>‹#›</a:t>
            </a:fld>
            <a:endParaRPr lang="en-US"/>
          </a:p>
        </p:txBody>
      </p:sp>
    </p:spTree>
    <p:extLst>
      <p:ext uri="{BB962C8B-B14F-4D97-AF65-F5344CB8AC3E}">
        <p14:creationId xmlns:p14="http://schemas.microsoft.com/office/powerpoint/2010/main" val="2563813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2056A3-BFE1-4F0E-A5DA-09ED1A2A55D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E9742CB-8CFE-42E3-ABD0-3EB37EB53F11}"/>
              </a:ext>
            </a:extLst>
          </p:cNvPr>
          <p:cNvSpPr>
            <a:spLocks noGrp="1"/>
          </p:cNvSpPr>
          <p:nvPr>
            <p:ph type="dt" sz="half" idx="10"/>
          </p:nvPr>
        </p:nvSpPr>
        <p:spPr/>
        <p:txBody>
          <a:bodyPr/>
          <a:lstStyle/>
          <a:p>
            <a:fld id="{9C917E13-ACEC-46D2-9693-CA0BFF917D74}" type="datetimeFigureOut">
              <a:rPr lang="en-US" smtClean="0"/>
              <a:t>11/4/2020</a:t>
            </a:fld>
            <a:endParaRPr lang="en-US"/>
          </a:p>
        </p:txBody>
      </p:sp>
      <p:sp>
        <p:nvSpPr>
          <p:cNvPr id="4" name="Footer Placeholder 3">
            <a:extLst>
              <a:ext uri="{FF2B5EF4-FFF2-40B4-BE49-F238E27FC236}">
                <a16:creationId xmlns:a16="http://schemas.microsoft.com/office/drawing/2014/main" id="{BC7ED4D0-FFD2-4CA2-A8AF-B1B69919875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32761E4-8456-4195-AB7D-86C61E88E97D}"/>
              </a:ext>
            </a:extLst>
          </p:cNvPr>
          <p:cNvSpPr>
            <a:spLocks noGrp="1"/>
          </p:cNvSpPr>
          <p:nvPr>
            <p:ph type="sldNum" sz="quarter" idx="12"/>
          </p:nvPr>
        </p:nvSpPr>
        <p:spPr/>
        <p:txBody>
          <a:bodyPr/>
          <a:lstStyle/>
          <a:p>
            <a:fld id="{A6774836-4B20-420B-82AE-6A46D43C0021}" type="slidenum">
              <a:rPr lang="en-US" smtClean="0"/>
              <a:t>‹#›</a:t>
            </a:fld>
            <a:endParaRPr lang="en-US"/>
          </a:p>
        </p:txBody>
      </p:sp>
    </p:spTree>
    <p:extLst>
      <p:ext uri="{BB962C8B-B14F-4D97-AF65-F5344CB8AC3E}">
        <p14:creationId xmlns:p14="http://schemas.microsoft.com/office/powerpoint/2010/main" val="29479050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D5F7687-B6DD-478A-9881-106B3A6EFE5C}"/>
              </a:ext>
            </a:extLst>
          </p:cNvPr>
          <p:cNvSpPr>
            <a:spLocks noGrp="1"/>
          </p:cNvSpPr>
          <p:nvPr>
            <p:ph type="dt" sz="half" idx="10"/>
          </p:nvPr>
        </p:nvSpPr>
        <p:spPr/>
        <p:txBody>
          <a:bodyPr/>
          <a:lstStyle/>
          <a:p>
            <a:fld id="{9C917E13-ACEC-46D2-9693-CA0BFF917D74}" type="datetimeFigureOut">
              <a:rPr lang="en-US" smtClean="0"/>
              <a:t>11/4/2020</a:t>
            </a:fld>
            <a:endParaRPr lang="en-US"/>
          </a:p>
        </p:txBody>
      </p:sp>
      <p:sp>
        <p:nvSpPr>
          <p:cNvPr id="3" name="Footer Placeholder 2">
            <a:extLst>
              <a:ext uri="{FF2B5EF4-FFF2-40B4-BE49-F238E27FC236}">
                <a16:creationId xmlns:a16="http://schemas.microsoft.com/office/drawing/2014/main" id="{011FCA2D-7255-47CB-A43B-97754E78137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820727F-E0DF-4AA5-B2C3-1FBC43D73479}"/>
              </a:ext>
            </a:extLst>
          </p:cNvPr>
          <p:cNvSpPr>
            <a:spLocks noGrp="1"/>
          </p:cNvSpPr>
          <p:nvPr>
            <p:ph type="sldNum" sz="quarter" idx="12"/>
          </p:nvPr>
        </p:nvSpPr>
        <p:spPr/>
        <p:txBody>
          <a:bodyPr/>
          <a:lstStyle/>
          <a:p>
            <a:fld id="{A6774836-4B20-420B-82AE-6A46D43C0021}" type="slidenum">
              <a:rPr lang="en-US" smtClean="0"/>
              <a:t>‹#›</a:t>
            </a:fld>
            <a:endParaRPr lang="en-US"/>
          </a:p>
        </p:txBody>
      </p:sp>
    </p:spTree>
    <p:extLst>
      <p:ext uri="{BB962C8B-B14F-4D97-AF65-F5344CB8AC3E}">
        <p14:creationId xmlns:p14="http://schemas.microsoft.com/office/powerpoint/2010/main" val="34565122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2523C-04D3-4DA9-8587-A4B9C06AAF8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E9BD4D5-6C92-4673-985C-6F430CFC4F1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5CE6E6D-699C-4DE0-AE95-7831C4C840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E1B31A5-E3C0-4F67-895E-1BAC59F09100}"/>
              </a:ext>
            </a:extLst>
          </p:cNvPr>
          <p:cNvSpPr>
            <a:spLocks noGrp="1"/>
          </p:cNvSpPr>
          <p:nvPr>
            <p:ph type="dt" sz="half" idx="10"/>
          </p:nvPr>
        </p:nvSpPr>
        <p:spPr/>
        <p:txBody>
          <a:bodyPr/>
          <a:lstStyle/>
          <a:p>
            <a:fld id="{9C917E13-ACEC-46D2-9693-CA0BFF917D74}" type="datetimeFigureOut">
              <a:rPr lang="en-US" smtClean="0"/>
              <a:t>11/4/2020</a:t>
            </a:fld>
            <a:endParaRPr lang="en-US"/>
          </a:p>
        </p:txBody>
      </p:sp>
      <p:sp>
        <p:nvSpPr>
          <p:cNvPr id="6" name="Footer Placeholder 5">
            <a:extLst>
              <a:ext uri="{FF2B5EF4-FFF2-40B4-BE49-F238E27FC236}">
                <a16:creationId xmlns:a16="http://schemas.microsoft.com/office/drawing/2014/main" id="{0368C50C-194F-4732-8C90-2B95D60D18C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DA763E-5BC9-4D39-85D5-3C54D8F6F69F}"/>
              </a:ext>
            </a:extLst>
          </p:cNvPr>
          <p:cNvSpPr>
            <a:spLocks noGrp="1"/>
          </p:cNvSpPr>
          <p:nvPr>
            <p:ph type="sldNum" sz="quarter" idx="12"/>
          </p:nvPr>
        </p:nvSpPr>
        <p:spPr/>
        <p:txBody>
          <a:bodyPr/>
          <a:lstStyle/>
          <a:p>
            <a:fld id="{A6774836-4B20-420B-82AE-6A46D43C0021}" type="slidenum">
              <a:rPr lang="en-US" smtClean="0"/>
              <a:t>‹#›</a:t>
            </a:fld>
            <a:endParaRPr lang="en-US"/>
          </a:p>
        </p:txBody>
      </p:sp>
    </p:spTree>
    <p:extLst>
      <p:ext uri="{BB962C8B-B14F-4D97-AF65-F5344CB8AC3E}">
        <p14:creationId xmlns:p14="http://schemas.microsoft.com/office/powerpoint/2010/main" val="28713210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9E3E81-A799-4536-8CAD-7A02FE52D98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12B2B1C-C6C7-4815-8DA9-A8D545C12CB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5E22B5E-502A-4F2F-91E2-0F8C77BD495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95BA60F-0852-438C-B19A-9D3E7A076926}"/>
              </a:ext>
            </a:extLst>
          </p:cNvPr>
          <p:cNvSpPr>
            <a:spLocks noGrp="1"/>
          </p:cNvSpPr>
          <p:nvPr>
            <p:ph type="dt" sz="half" idx="10"/>
          </p:nvPr>
        </p:nvSpPr>
        <p:spPr/>
        <p:txBody>
          <a:bodyPr/>
          <a:lstStyle/>
          <a:p>
            <a:fld id="{9C917E13-ACEC-46D2-9693-CA0BFF917D74}" type="datetimeFigureOut">
              <a:rPr lang="en-US" smtClean="0"/>
              <a:t>11/4/2020</a:t>
            </a:fld>
            <a:endParaRPr lang="en-US"/>
          </a:p>
        </p:txBody>
      </p:sp>
      <p:sp>
        <p:nvSpPr>
          <p:cNvPr id="6" name="Footer Placeholder 5">
            <a:extLst>
              <a:ext uri="{FF2B5EF4-FFF2-40B4-BE49-F238E27FC236}">
                <a16:creationId xmlns:a16="http://schemas.microsoft.com/office/drawing/2014/main" id="{955D0B88-5F80-4881-8FE7-A56367777B1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E792517-C83B-4B27-A3D2-9BCDE3C792B9}"/>
              </a:ext>
            </a:extLst>
          </p:cNvPr>
          <p:cNvSpPr>
            <a:spLocks noGrp="1"/>
          </p:cNvSpPr>
          <p:nvPr>
            <p:ph type="sldNum" sz="quarter" idx="12"/>
          </p:nvPr>
        </p:nvSpPr>
        <p:spPr/>
        <p:txBody>
          <a:bodyPr/>
          <a:lstStyle/>
          <a:p>
            <a:fld id="{A6774836-4B20-420B-82AE-6A46D43C0021}" type="slidenum">
              <a:rPr lang="en-US" smtClean="0"/>
              <a:t>‹#›</a:t>
            </a:fld>
            <a:endParaRPr lang="en-US"/>
          </a:p>
        </p:txBody>
      </p:sp>
    </p:spTree>
    <p:extLst>
      <p:ext uri="{BB962C8B-B14F-4D97-AF65-F5344CB8AC3E}">
        <p14:creationId xmlns:p14="http://schemas.microsoft.com/office/powerpoint/2010/main" val="29132199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3AACC-6476-4C4F-B584-99A64514054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B28CB62-7A85-49F6-B8C8-E1E692F6CA5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A503EA4-75AC-48D6-B3C3-F69642E94818}"/>
              </a:ext>
            </a:extLst>
          </p:cNvPr>
          <p:cNvSpPr>
            <a:spLocks noGrp="1"/>
          </p:cNvSpPr>
          <p:nvPr>
            <p:ph type="dt" sz="half" idx="10"/>
          </p:nvPr>
        </p:nvSpPr>
        <p:spPr/>
        <p:txBody>
          <a:bodyPr/>
          <a:lstStyle/>
          <a:p>
            <a:fld id="{9C917E13-ACEC-46D2-9693-CA0BFF917D74}" type="datetimeFigureOut">
              <a:rPr lang="en-US" smtClean="0"/>
              <a:t>11/4/2020</a:t>
            </a:fld>
            <a:endParaRPr lang="en-US"/>
          </a:p>
        </p:txBody>
      </p:sp>
      <p:sp>
        <p:nvSpPr>
          <p:cNvPr id="5" name="Footer Placeholder 4">
            <a:extLst>
              <a:ext uri="{FF2B5EF4-FFF2-40B4-BE49-F238E27FC236}">
                <a16:creationId xmlns:a16="http://schemas.microsoft.com/office/drawing/2014/main" id="{C2C88108-027A-45B6-B21D-0F4E7C47DAB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64F9D0-1396-4945-901E-456EF81B5052}"/>
              </a:ext>
            </a:extLst>
          </p:cNvPr>
          <p:cNvSpPr>
            <a:spLocks noGrp="1"/>
          </p:cNvSpPr>
          <p:nvPr>
            <p:ph type="sldNum" sz="quarter" idx="12"/>
          </p:nvPr>
        </p:nvSpPr>
        <p:spPr/>
        <p:txBody>
          <a:bodyPr/>
          <a:lstStyle/>
          <a:p>
            <a:fld id="{A6774836-4B20-420B-82AE-6A46D43C0021}" type="slidenum">
              <a:rPr lang="en-US" smtClean="0"/>
              <a:t>‹#›</a:t>
            </a:fld>
            <a:endParaRPr lang="en-US"/>
          </a:p>
        </p:txBody>
      </p:sp>
    </p:spTree>
    <p:extLst>
      <p:ext uri="{BB962C8B-B14F-4D97-AF65-F5344CB8AC3E}">
        <p14:creationId xmlns:p14="http://schemas.microsoft.com/office/powerpoint/2010/main" val="6351150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7EB3C1F-8F6B-410A-AAC5-C89D3CD6971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35B5BD0-95AF-40D8-8045-96A262E3A34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9751791-FDB4-4110-B952-08D1583786A9}"/>
              </a:ext>
            </a:extLst>
          </p:cNvPr>
          <p:cNvSpPr>
            <a:spLocks noGrp="1"/>
          </p:cNvSpPr>
          <p:nvPr>
            <p:ph type="dt" sz="half" idx="10"/>
          </p:nvPr>
        </p:nvSpPr>
        <p:spPr/>
        <p:txBody>
          <a:bodyPr/>
          <a:lstStyle/>
          <a:p>
            <a:fld id="{9C917E13-ACEC-46D2-9693-CA0BFF917D74}" type="datetimeFigureOut">
              <a:rPr lang="en-US" smtClean="0"/>
              <a:t>11/4/2020</a:t>
            </a:fld>
            <a:endParaRPr lang="en-US"/>
          </a:p>
        </p:txBody>
      </p:sp>
      <p:sp>
        <p:nvSpPr>
          <p:cNvPr id="5" name="Footer Placeholder 4">
            <a:extLst>
              <a:ext uri="{FF2B5EF4-FFF2-40B4-BE49-F238E27FC236}">
                <a16:creationId xmlns:a16="http://schemas.microsoft.com/office/drawing/2014/main" id="{08BAEE01-D228-4A19-A4C5-E6DC3925A9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585A865-7E8B-4AF6-91BB-DAF34FF430DE}"/>
              </a:ext>
            </a:extLst>
          </p:cNvPr>
          <p:cNvSpPr>
            <a:spLocks noGrp="1"/>
          </p:cNvSpPr>
          <p:nvPr>
            <p:ph type="sldNum" sz="quarter" idx="12"/>
          </p:nvPr>
        </p:nvSpPr>
        <p:spPr/>
        <p:txBody>
          <a:bodyPr/>
          <a:lstStyle/>
          <a:p>
            <a:fld id="{A6774836-4B20-420B-82AE-6A46D43C0021}" type="slidenum">
              <a:rPr lang="en-US" smtClean="0"/>
              <a:t>‹#›</a:t>
            </a:fld>
            <a:endParaRPr lang="en-US"/>
          </a:p>
        </p:txBody>
      </p:sp>
    </p:spTree>
    <p:extLst>
      <p:ext uri="{BB962C8B-B14F-4D97-AF65-F5344CB8AC3E}">
        <p14:creationId xmlns:p14="http://schemas.microsoft.com/office/powerpoint/2010/main" val="7722996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4724A58-C4BD-4326-9D41-E68D63DA599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669D312-CBDF-471A-8D29-310E416A6AA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0D8E78-908E-41EC-A5CD-8317F3345E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917E13-ACEC-46D2-9693-CA0BFF917D74}" type="datetimeFigureOut">
              <a:rPr lang="en-US" smtClean="0"/>
              <a:t>11/4/2020</a:t>
            </a:fld>
            <a:endParaRPr lang="en-US"/>
          </a:p>
        </p:txBody>
      </p:sp>
      <p:sp>
        <p:nvSpPr>
          <p:cNvPr id="5" name="Footer Placeholder 4">
            <a:extLst>
              <a:ext uri="{FF2B5EF4-FFF2-40B4-BE49-F238E27FC236}">
                <a16:creationId xmlns:a16="http://schemas.microsoft.com/office/drawing/2014/main" id="{B07BD055-9E60-4364-B4B7-D1DBBD18894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B27A966-F0B8-4DAA-A136-328A78A5CC6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774836-4B20-420B-82AE-6A46D43C0021}" type="slidenum">
              <a:rPr lang="en-US" smtClean="0"/>
              <a:t>‹#›</a:t>
            </a:fld>
            <a:endParaRPr lang="en-US"/>
          </a:p>
        </p:txBody>
      </p:sp>
    </p:spTree>
    <p:extLst>
      <p:ext uri="{BB962C8B-B14F-4D97-AF65-F5344CB8AC3E}">
        <p14:creationId xmlns:p14="http://schemas.microsoft.com/office/powerpoint/2010/main" val="28332914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hyperlink" Target="http://xda-developers.com/" TargetMode="Externa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172E35D-7C0A-4E09-B031-34819AB1C8C9}"/>
              </a:ext>
            </a:extLst>
          </p:cNvPr>
          <p:cNvSpPr txBox="1"/>
          <p:nvPr/>
        </p:nvSpPr>
        <p:spPr>
          <a:xfrm>
            <a:off x="6343650" y="-16887"/>
            <a:ext cx="4002585" cy="369332"/>
          </a:xfrm>
          <a:prstGeom prst="rect">
            <a:avLst/>
          </a:prstGeom>
          <a:noFill/>
        </p:spPr>
        <p:txBody>
          <a:bodyPr wrap="square">
            <a:spAutoFit/>
          </a:bodyPr>
          <a:lstStyle/>
          <a:p>
            <a:pPr marL="228600" indent="-228600">
              <a:buFont typeface="+mj-lt"/>
              <a:buAutoNum type="arabicPeriod" startAt="2"/>
            </a:pPr>
            <a:r>
              <a:rPr lang="en-US" sz="1800" b="1" u="sng" dirty="0"/>
              <a:t>Evidence Processing/Case Creation</a:t>
            </a:r>
          </a:p>
        </p:txBody>
      </p:sp>
      <p:sp>
        <p:nvSpPr>
          <p:cNvPr id="7" name="TextBox 6">
            <a:extLst>
              <a:ext uri="{FF2B5EF4-FFF2-40B4-BE49-F238E27FC236}">
                <a16:creationId xmlns:a16="http://schemas.microsoft.com/office/drawing/2014/main" id="{510D4FEE-39AF-4167-B85A-05802EC1BD7E}"/>
              </a:ext>
            </a:extLst>
          </p:cNvPr>
          <p:cNvSpPr txBox="1"/>
          <p:nvPr/>
        </p:nvSpPr>
        <p:spPr>
          <a:xfrm>
            <a:off x="6343650" y="363915"/>
            <a:ext cx="5848350" cy="6494085"/>
          </a:xfrm>
          <a:prstGeom prst="rect">
            <a:avLst/>
          </a:prstGeom>
          <a:noFill/>
        </p:spPr>
        <p:txBody>
          <a:bodyPr wrap="square">
            <a:spAutoFit/>
          </a:bodyPr>
          <a:lstStyle/>
          <a:p>
            <a:pPr marL="342900" indent="-342900" algn="l" rtl="0" fontAlgn="base">
              <a:buFont typeface="+mj-lt"/>
              <a:buAutoNum type="arabicPeriod" startAt="2"/>
            </a:pPr>
            <a:r>
              <a:rPr lang="en-US" sz="1600" b="0" i="0" dirty="0">
                <a:solidFill>
                  <a:srgbClr val="1E4E79"/>
                </a:solidFill>
                <a:effectLst/>
                <a:latin typeface="Calibri" panose="020F0502020204030204" pitchFamily="34" charset="0"/>
              </a:rPr>
              <a:t>EVIDENCE SOURCES </a:t>
            </a:r>
            <a:endParaRPr lang="en-US" b="0" i="0" dirty="0">
              <a:solidFill>
                <a:srgbClr val="1E4E79"/>
              </a:solidFill>
              <a:effectLst/>
              <a:latin typeface="Calibri" panose="020F0502020204030204" pitchFamily="34" charset="0"/>
            </a:endParaRPr>
          </a:p>
          <a:p>
            <a:pPr algn="l" rtl="0" fontAlgn="base"/>
            <a:r>
              <a:rPr lang="en-US" sz="1000" b="0" i="0" dirty="0">
                <a:solidFill>
                  <a:srgbClr val="000000"/>
                </a:solidFill>
                <a:effectLst/>
                <a:latin typeface="Calibri" panose="020F0502020204030204" pitchFamily="34" charset="0"/>
              </a:rPr>
              <a:t>For each partition: Partition 1, Partition 2, Unpartitioned Space </a:t>
            </a:r>
          </a:p>
          <a:p>
            <a:pPr algn="l" rtl="0" fontAlgn="base"/>
            <a:r>
              <a:rPr lang="en-US" sz="1000" b="0" i="0" dirty="0">
                <a:solidFill>
                  <a:srgbClr val="000000"/>
                </a:solidFill>
                <a:effectLst/>
                <a:latin typeface="Calibri" panose="020F0502020204030204" pitchFamily="34" charset="0"/>
              </a:rPr>
              <a:t>There are 4 Search Type: </a:t>
            </a:r>
          </a:p>
          <a:p>
            <a:pPr marL="171450" indent="-171450" algn="l" rtl="0" fontAlgn="base">
              <a:buFont typeface="Arial" panose="020B0604020202020204" pitchFamily="34" charset="0"/>
              <a:buChar char="•"/>
            </a:pPr>
            <a:r>
              <a:rPr lang="en-US" sz="1000" b="1" i="0" dirty="0">
                <a:solidFill>
                  <a:srgbClr val="000000"/>
                </a:solidFill>
                <a:effectLst/>
                <a:latin typeface="Calibri" panose="020F0502020204030204" pitchFamily="34" charset="0"/>
              </a:rPr>
              <a:t>Full, Quick, Sector Level </a:t>
            </a:r>
            <a:r>
              <a:rPr lang="en-US" sz="1000" b="0" i="0" dirty="0">
                <a:solidFill>
                  <a:srgbClr val="000000"/>
                </a:solidFill>
                <a:effectLst/>
                <a:latin typeface="Calibri" panose="020F0502020204030204" pitchFamily="34" charset="0"/>
              </a:rPr>
              <a:t>(Slowest, but useful if image unsupported or corrupted), </a:t>
            </a:r>
            <a:r>
              <a:rPr lang="en-US" sz="1000" b="1" i="0" dirty="0">
                <a:solidFill>
                  <a:srgbClr val="000000"/>
                </a:solidFill>
                <a:effectLst/>
                <a:latin typeface="Calibri" panose="020F0502020204030204" pitchFamily="34" charset="0"/>
              </a:rPr>
              <a:t>Custom</a:t>
            </a:r>
            <a:r>
              <a:rPr lang="en-US" sz="1000" b="0" i="0" dirty="0">
                <a:solidFill>
                  <a:srgbClr val="000000"/>
                </a:solidFill>
                <a:effectLst/>
                <a:latin typeface="Calibri" panose="020F0502020204030204" pitchFamily="34" charset="0"/>
              </a:rPr>
              <a:t> (Check boxes) </a:t>
            </a:r>
          </a:p>
          <a:p>
            <a:pPr marL="342900" indent="-342900" algn="l" rtl="0" fontAlgn="base">
              <a:buFont typeface="+mj-lt"/>
              <a:buAutoNum type="arabicPeriod" startAt="3"/>
            </a:pPr>
            <a:r>
              <a:rPr lang="en-US" sz="1600" b="0" i="0" dirty="0">
                <a:solidFill>
                  <a:srgbClr val="1E4E79"/>
                </a:solidFill>
                <a:effectLst/>
                <a:latin typeface="Calibri" panose="020F0502020204030204" pitchFamily="34" charset="0"/>
              </a:rPr>
              <a:t>PROCESSING DETAILS </a:t>
            </a:r>
            <a:endParaRPr lang="en-US" b="0" i="0" dirty="0">
              <a:solidFill>
                <a:srgbClr val="1E4E79"/>
              </a:solidFill>
              <a:effectLst/>
              <a:latin typeface="Calibri" panose="020F0502020204030204" pitchFamily="34" charset="0"/>
            </a:endParaRPr>
          </a:p>
          <a:p>
            <a:pPr algn="l" rtl="0" fontAlgn="base"/>
            <a:r>
              <a:rPr lang="en-US" sz="1000" b="0" i="0" dirty="0">
                <a:solidFill>
                  <a:srgbClr val="2E75B5"/>
                </a:solidFill>
                <a:effectLst/>
                <a:latin typeface="Calibri" panose="020F0502020204030204" pitchFamily="34" charset="0"/>
              </a:rPr>
              <a:t>ADD KEYWORDS TO SEARCH </a:t>
            </a:r>
          </a:p>
          <a:p>
            <a:pPr marL="171450" indent="-171450" algn="l" rtl="0" fontAlgn="base">
              <a:buFont typeface="Arial" panose="020B0604020202020204" pitchFamily="34" charset="0"/>
              <a:buChar char="•"/>
            </a:pPr>
            <a:r>
              <a:rPr lang="en-US" sz="1000" b="1" i="0" dirty="0">
                <a:solidFill>
                  <a:srgbClr val="000000"/>
                </a:solidFill>
                <a:effectLst/>
                <a:latin typeface="Calibri" panose="020F0502020204030204" pitchFamily="34" charset="0"/>
              </a:rPr>
              <a:t>Artifacts: </a:t>
            </a:r>
            <a:r>
              <a:rPr lang="en-US" sz="1000" b="0" i="0" dirty="0">
                <a:solidFill>
                  <a:srgbClr val="000000"/>
                </a:solidFill>
                <a:effectLst/>
                <a:latin typeface="Calibri" panose="020F0502020204030204" pitchFamily="34" charset="0"/>
              </a:rPr>
              <a:t>search conducted after artifacts made, will miss a keyword if word NOT contained in an artifact </a:t>
            </a:r>
          </a:p>
          <a:p>
            <a:pPr marL="171450" indent="-171450" fontAlgn="base">
              <a:buFont typeface="Arial" panose="020B0604020202020204" pitchFamily="34" charset="0"/>
              <a:buChar char="•"/>
            </a:pPr>
            <a:r>
              <a:rPr lang="en-US" sz="1000" b="1" i="0" dirty="0">
                <a:solidFill>
                  <a:srgbClr val="000000"/>
                </a:solidFill>
                <a:effectLst/>
                <a:latin typeface="Calibri" panose="020F0502020204030204" pitchFamily="34" charset="0"/>
              </a:rPr>
              <a:t>All content: </a:t>
            </a:r>
            <a:r>
              <a:rPr lang="en-US" sz="1000" b="0" i="0" dirty="0">
                <a:solidFill>
                  <a:srgbClr val="000000"/>
                </a:solidFill>
                <a:effectLst/>
                <a:latin typeface="Calibri" panose="020F0502020204030204" pitchFamily="34" charset="0"/>
              </a:rPr>
              <a:t> byte-for-byte search </a:t>
            </a:r>
          </a:p>
          <a:p>
            <a:pPr marL="171450" indent="-171450" algn="l" rtl="0" fontAlgn="base">
              <a:buFont typeface="Arial" panose="020B0604020202020204" pitchFamily="34" charset="0"/>
              <a:buChar char="•"/>
            </a:pPr>
            <a:r>
              <a:rPr lang="en-US" sz="1000" b="0" i="0" dirty="0">
                <a:solidFill>
                  <a:srgbClr val="000000"/>
                </a:solidFill>
                <a:effectLst/>
                <a:latin typeface="Calibri" panose="020F0502020204030204" pitchFamily="34" charset="0"/>
              </a:rPr>
              <a:t>Add keyword list from text file </a:t>
            </a:r>
          </a:p>
          <a:p>
            <a:pPr marL="171450" indent="-171450" algn="l" rtl="0" fontAlgn="base">
              <a:buFont typeface="Arial" panose="020B0604020202020204" pitchFamily="34" charset="0"/>
              <a:buChar char="•"/>
            </a:pPr>
            <a:r>
              <a:rPr lang="en-US" sz="1000" b="0" i="0" dirty="0">
                <a:solidFill>
                  <a:srgbClr val="000000"/>
                </a:solidFill>
                <a:effectLst/>
                <a:latin typeface="Calibri" panose="020F0502020204030204" pitchFamily="34" charset="0"/>
              </a:rPr>
              <a:t>ADD KEYWORD LIST Checkbox Enabled </a:t>
            </a:r>
          </a:p>
          <a:p>
            <a:pPr marL="171450" indent="-171450" algn="l" rtl="0" fontAlgn="base">
              <a:buFont typeface="Arial" panose="020B0604020202020204" pitchFamily="34" charset="0"/>
              <a:buChar char="•"/>
            </a:pPr>
            <a:r>
              <a:rPr lang="en-US" sz="1000" b="0" i="0" dirty="0">
                <a:solidFill>
                  <a:srgbClr val="000000"/>
                </a:solidFill>
                <a:effectLst/>
                <a:latin typeface="Calibri" panose="020F0502020204030204" pitchFamily="34" charset="0"/>
              </a:rPr>
              <a:t>Checkbox the regex line items </a:t>
            </a:r>
          </a:p>
          <a:p>
            <a:pPr algn="l" rtl="0" fontAlgn="base"/>
            <a:r>
              <a:rPr lang="en-US" sz="1000" b="0" i="0" dirty="0">
                <a:solidFill>
                  <a:srgbClr val="2E75B5"/>
                </a:solidFill>
                <a:effectLst/>
                <a:latin typeface="Calibri" panose="020F0502020204030204" pitchFamily="34" charset="0"/>
              </a:rPr>
              <a:t>SEARCH ARCHIVES AND MOBILE BACKUPS </a:t>
            </a:r>
          </a:p>
          <a:p>
            <a:pPr marL="171450" indent="-171450" algn="l" rtl="0" fontAlgn="base">
              <a:buFont typeface="Arial" panose="020B0604020202020204" pitchFamily="34" charset="0"/>
              <a:buChar char="•"/>
            </a:pPr>
            <a:r>
              <a:rPr lang="en-US" sz="1000" b="0" i="0" dirty="0">
                <a:solidFill>
                  <a:srgbClr val="000000"/>
                </a:solidFill>
                <a:effectLst/>
                <a:latin typeface="Calibri" panose="020F0502020204030204" pitchFamily="34" charset="0"/>
              </a:rPr>
              <a:t>ARCHIVES: e.g., Zip, </a:t>
            </a:r>
            <a:r>
              <a:rPr lang="en-US" sz="1000" b="0" i="0" dirty="0" err="1">
                <a:solidFill>
                  <a:srgbClr val="000000"/>
                </a:solidFill>
                <a:effectLst/>
                <a:latin typeface="Calibri" panose="020F0502020204030204" pitchFamily="34" charset="0"/>
              </a:rPr>
              <a:t>gzip</a:t>
            </a:r>
            <a:r>
              <a:rPr lang="en-US" sz="1000" b="0" i="0" dirty="0">
                <a:solidFill>
                  <a:srgbClr val="000000"/>
                </a:solidFill>
                <a:effectLst/>
                <a:latin typeface="Calibri" panose="020F0502020204030204" pitchFamily="34" charset="0"/>
              </a:rPr>
              <a:t>, tar files. Will expand. </a:t>
            </a:r>
          </a:p>
          <a:p>
            <a:pPr marL="171450" indent="-171450" algn="l" rtl="0" fontAlgn="base">
              <a:buFont typeface="Arial" panose="020B0604020202020204" pitchFamily="34" charset="0"/>
              <a:buChar char="•"/>
            </a:pPr>
            <a:r>
              <a:rPr lang="en-US" sz="1000" b="0" i="0" dirty="0">
                <a:solidFill>
                  <a:srgbClr val="000000"/>
                </a:solidFill>
                <a:effectLst/>
                <a:latin typeface="Calibri" panose="020F0502020204030204" pitchFamily="34" charset="0"/>
              </a:rPr>
              <a:t>MOBILE BACKUPS: Searches backup folders (Insert any mobile backup passwords you have in box</a:t>
            </a:r>
            <a:r>
              <a:rPr lang="en-US" sz="1000" dirty="0">
                <a:solidFill>
                  <a:srgbClr val="000000"/>
                </a:solidFill>
                <a:latin typeface="Calibri" panose="020F0502020204030204" pitchFamily="34" charset="0"/>
              </a:rPr>
              <a:t>)</a:t>
            </a:r>
            <a:endParaRPr lang="en-US" sz="1000" b="0" i="0" dirty="0">
              <a:solidFill>
                <a:srgbClr val="000000"/>
              </a:solidFill>
              <a:effectLst/>
              <a:latin typeface="Calibri" panose="020F0502020204030204" pitchFamily="34" charset="0"/>
            </a:endParaRPr>
          </a:p>
          <a:p>
            <a:pPr algn="l" rtl="0" fontAlgn="base"/>
            <a:r>
              <a:rPr lang="en-US" sz="1000" b="0" i="0" dirty="0">
                <a:solidFill>
                  <a:srgbClr val="2E75B5"/>
                </a:solidFill>
                <a:effectLst/>
                <a:latin typeface="Calibri" panose="020F0502020204030204" pitchFamily="34" charset="0"/>
              </a:rPr>
              <a:t>CALCULATE HASH VALUES </a:t>
            </a:r>
          </a:p>
          <a:p>
            <a:pPr marL="171450" indent="-171450" algn="l" rtl="0" fontAlgn="base">
              <a:buFont typeface="Arial" panose="020B0604020202020204" pitchFamily="34" charset="0"/>
              <a:buChar char="•"/>
            </a:pPr>
            <a:r>
              <a:rPr lang="en-US" sz="1000" b="0" i="0" dirty="0">
                <a:solidFill>
                  <a:srgbClr val="000000"/>
                </a:solidFill>
                <a:effectLst/>
                <a:latin typeface="Calibri" panose="020F0502020204030204" pitchFamily="34" charset="0"/>
              </a:rPr>
              <a:t>CALCULATE HASH VALUES FOR ALL FILES (Can apply multiple settings)</a:t>
            </a:r>
          </a:p>
          <a:p>
            <a:pPr marL="171450" indent="-171450" algn="l" rtl="0" fontAlgn="base">
              <a:buFont typeface="Arial" panose="020B0604020202020204" pitchFamily="34" charset="0"/>
              <a:buChar char="•"/>
            </a:pPr>
            <a:r>
              <a:rPr lang="en-US" sz="1000" b="0" i="0" dirty="0">
                <a:solidFill>
                  <a:srgbClr val="000000"/>
                </a:solidFill>
                <a:effectLst/>
                <a:latin typeface="Calibri" panose="020F0502020204030204" pitchFamily="34" charset="0"/>
              </a:rPr>
              <a:t>TAG FILES WITH MATCHING HASH VALUES (Apply text file list of known hashes for files of interest here) </a:t>
            </a:r>
          </a:p>
          <a:p>
            <a:pPr marL="171450" indent="-171450" algn="l" rtl="0" fontAlgn="base">
              <a:buFont typeface="Arial" panose="020B0604020202020204" pitchFamily="34" charset="0"/>
              <a:buChar char="•"/>
            </a:pPr>
            <a:r>
              <a:rPr lang="en-US" sz="1000" b="0" i="0" dirty="0">
                <a:solidFill>
                  <a:srgbClr val="000000"/>
                </a:solidFill>
                <a:effectLst/>
                <a:latin typeface="Calibri" panose="020F0502020204030204" pitchFamily="34" charset="0"/>
              </a:rPr>
              <a:t>IGNORE NON-RELEVANT FILES (NIST </a:t>
            </a:r>
            <a:r>
              <a:rPr lang="en-US" sz="1000" b="0" i="0" dirty="0" err="1">
                <a:solidFill>
                  <a:srgbClr val="000000"/>
                </a:solidFill>
                <a:effectLst/>
                <a:latin typeface="Calibri" panose="020F0502020204030204" pitchFamily="34" charset="0"/>
              </a:rPr>
              <a:t>nsrl</a:t>
            </a:r>
            <a:r>
              <a:rPr lang="en-US" sz="1000" b="0" i="0" dirty="0">
                <a:solidFill>
                  <a:srgbClr val="000000"/>
                </a:solidFill>
                <a:effectLst/>
                <a:latin typeface="Calibri" panose="020F0502020204030204" pitchFamily="34" charset="0"/>
              </a:rPr>
              <a:t> database or company Gold/baseline image = ignore files</a:t>
            </a:r>
          </a:p>
          <a:p>
            <a:pPr algn="l" rtl="0" fontAlgn="base"/>
            <a:r>
              <a:rPr lang="en-US" sz="1000" b="0" i="0" dirty="0">
                <a:solidFill>
                  <a:srgbClr val="2E75B5"/>
                </a:solidFill>
                <a:effectLst/>
                <a:latin typeface="Calibri" panose="020F0502020204030204" pitchFamily="34" charset="0"/>
              </a:rPr>
              <a:t>CATEGORIZE CHATS </a:t>
            </a:r>
            <a:endParaRPr lang="en-US" sz="1000" b="0" i="0" dirty="0">
              <a:solidFill>
                <a:srgbClr val="000000"/>
              </a:solidFill>
              <a:effectLst/>
              <a:latin typeface="Calibri" panose="020F0502020204030204" pitchFamily="34" charset="0"/>
            </a:endParaRPr>
          </a:p>
          <a:p>
            <a:pPr algn="l" rtl="0" fontAlgn="base"/>
            <a:r>
              <a:rPr lang="en-US" sz="1000" b="0" i="0" dirty="0">
                <a:solidFill>
                  <a:srgbClr val="2E75B5"/>
                </a:solidFill>
                <a:effectLst/>
                <a:latin typeface="Calibri" panose="020F0502020204030204" pitchFamily="34" charset="0"/>
              </a:rPr>
              <a:t>CATEGORIZE PICTURES AND VIDEOS </a:t>
            </a:r>
            <a:r>
              <a:rPr lang="en-US" sz="1000" b="0" i="0" dirty="0">
                <a:solidFill>
                  <a:srgbClr val="000000"/>
                </a:solidFill>
                <a:effectLst/>
                <a:latin typeface="Calibri" panose="020F0502020204030204" pitchFamily="34" charset="0"/>
              </a:rPr>
              <a:t>LOAD PROJECT VIC/CAID FILES </a:t>
            </a:r>
            <a:endParaRPr lang="en-US" sz="1000" b="0" i="0" dirty="0">
              <a:solidFill>
                <a:srgbClr val="2E75B5"/>
              </a:solidFill>
              <a:effectLst/>
              <a:latin typeface="Calibri" panose="020F0502020204030204" pitchFamily="34" charset="0"/>
            </a:endParaRPr>
          </a:p>
          <a:p>
            <a:pPr algn="l" rtl="0" fontAlgn="base"/>
            <a:r>
              <a:rPr lang="en-US" sz="1000" b="0" i="0" dirty="0">
                <a:solidFill>
                  <a:srgbClr val="2E75B5"/>
                </a:solidFill>
                <a:effectLst/>
                <a:latin typeface="Calibri" panose="020F0502020204030204" pitchFamily="34" charset="0"/>
              </a:rPr>
              <a:t>ADD CPS DATA TO SEARCH </a:t>
            </a:r>
            <a:endParaRPr lang="en-US" sz="1000" b="0" i="0" dirty="0">
              <a:solidFill>
                <a:srgbClr val="000000"/>
              </a:solidFill>
              <a:effectLst/>
              <a:latin typeface="Calibri" panose="020F0502020204030204" pitchFamily="34" charset="0"/>
            </a:endParaRPr>
          </a:p>
          <a:p>
            <a:pPr algn="l" rtl="0" fontAlgn="base"/>
            <a:r>
              <a:rPr lang="en-US" sz="1000" b="0" i="0" dirty="0">
                <a:solidFill>
                  <a:srgbClr val="2E75B5"/>
                </a:solidFill>
                <a:effectLst/>
                <a:latin typeface="Calibri" panose="020F0502020204030204" pitchFamily="34" charset="0"/>
              </a:rPr>
              <a:t>FIND MORE ARTIFACTS </a:t>
            </a:r>
            <a:r>
              <a:rPr lang="en-US" sz="1000" b="0" i="0" dirty="0">
                <a:solidFill>
                  <a:srgbClr val="000000"/>
                </a:solidFill>
                <a:effectLst/>
                <a:latin typeface="Calibri" panose="020F0502020204030204" pitchFamily="34" charset="0"/>
              </a:rPr>
              <a:t>USE DYNAMIC APP FINDER  (Axiom can read SQLite databases)</a:t>
            </a:r>
            <a:endParaRPr lang="en-US" b="0" i="0" dirty="0">
              <a:solidFill>
                <a:srgbClr val="000000"/>
              </a:solidFill>
              <a:effectLst/>
              <a:latin typeface="Calibri" panose="020F0502020204030204" pitchFamily="34" charset="0"/>
            </a:endParaRPr>
          </a:p>
          <a:p>
            <a:pPr marL="342900" indent="-342900" algn="l" rtl="0" fontAlgn="base">
              <a:buFont typeface="+mj-lt"/>
              <a:buAutoNum type="arabicPeriod" startAt="4"/>
            </a:pPr>
            <a:r>
              <a:rPr lang="en-US" sz="1600" b="0" i="0" dirty="0">
                <a:solidFill>
                  <a:srgbClr val="1E4E79"/>
                </a:solidFill>
                <a:effectLst/>
                <a:latin typeface="Calibri" panose="020F0502020204030204" pitchFamily="34" charset="0"/>
              </a:rPr>
              <a:t>ARTIFACT DETAILS </a:t>
            </a:r>
            <a:endParaRPr lang="en-US" b="0" i="0" dirty="0">
              <a:solidFill>
                <a:srgbClr val="1E4E79"/>
              </a:solidFill>
              <a:effectLst/>
              <a:latin typeface="Calibri" panose="020F0502020204030204" pitchFamily="34" charset="0"/>
            </a:endParaRPr>
          </a:p>
          <a:p>
            <a:pPr algn="l" rtl="0" fontAlgn="base"/>
            <a:r>
              <a:rPr lang="en-US" sz="1000" b="0" i="0" dirty="0">
                <a:solidFill>
                  <a:srgbClr val="2E75B5"/>
                </a:solidFill>
                <a:effectLst/>
                <a:latin typeface="Calibri" panose="020F0502020204030204" pitchFamily="34" charset="0"/>
              </a:rPr>
              <a:t>COMPUTER ARTIFACTS </a:t>
            </a:r>
            <a:r>
              <a:rPr lang="en-US" sz="1000" b="0" i="0" dirty="0">
                <a:solidFill>
                  <a:srgbClr val="000000"/>
                </a:solidFill>
                <a:effectLst/>
                <a:latin typeface="Calibri" panose="020F0502020204030204" pitchFamily="34" charset="0"/>
              </a:rPr>
              <a:t>There may be extra options for each artifact </a:t>
            </a:r>
            <a:r>
              <a:rPr lang="en-US" sz="1000" b="0" i="0" dirty="0" err="1">
                <a:solidFill>
                  <a:srgbClr val="000000"/>
                </a:solidFill>
                <a:effectLst/>
                <a:latin typeface="Calibri" panose="020F0502020204030204" pitchFamily="34" charset="0"/>
              </a:rPr>
              <a:t>eg</a:t>
            </a:r>
            <a:r>
              <a:rPr lang="en-US" sz="1000" b="0" i="0" dirty="0">
                <a:solidFill>
                  <a:srgbClr val="000000"/>
                </a:solidFill>
                <a:effectLst/>
                <a:latin typeface="Calibri" panose="020F0502020204030204" pitchFamily="34" charset="0"/>
              </a:rPr>
              <a:t> for max video size etc... </a:t>
            </a:r>
          </a:p>
          <a:p>
            <a:pPr algn="l" rtl="0" fontAlgn="base"/>
            <a:r>
              <a:rPr lang="en-US" sz="1000" b="0" i="0" dirty="0">
                <a:solidFill>
                  <a:srgbClr val="2E75B5"/>
                </a:solidFill>
                <a:effectLst/>
                <a:latin typeface="Calibri" panose="020F0502020204030204" pitchFamily="34" charset="0"/>
              </a:rPr>
              <a:t>MOBILE ARTIFACTS </a:t>
            </a:r>
            <a:r>
              <a:rPr lang="en-US" sz="1000" b="0" i="0" dirty="0">
                <a:solidFill>
                  <a:srgbClr val="000000"/>
                </a:solidFill>
                <a:effectLst/>
                <a:latin typeface="Calibri" panose="020F0502020204030204" pitchFamily="34" charset="0"/>
              </a:rPr>
              <a:t>Will be grayed out if no mobile data added </a:t>
            </a:r>
            <a:endParaRPr lang="en-US" sz="1000" b="0" i="0" dirty="0">
              <a:solidFill>
                <a:srgbClr val="2E75B5"/>
              </a:solidFill>
              <a:effectLst/>
              <a:latin typeface="Calibri" panose="020F0502020204030204" pitchFamily="34" charset="0"/>
            </a:endParaRPr>
          </a:p>
          <a:p>
            <a:pPr algn="l" rtl="0" fontAlgn="base"/>
            <a:r>
              <a:rPr lang="en-US" sz="1000" b="0" i="0" dirty="0">
                <a:solidFill>
                  <a:srgbClr val="2E75B5"/>
                </a:solidFill>
                <a:effectLst/>
                <a:latin typeface="Calibri" panose="020F0502020204030204" pitchFamily="34" charset="0"/>
              </a:rPr>
              <a:t>CLOUD ARTIFACTS </a:t>
            </a:r>
            <a:r>
              <a:rPr lang="en-US" sz="1000" b="0" i="0" dirty="0">
                <a:solidFill>
                  <a:srgbClr val="000000"/>
                </a:solidFill>
                <a:effectLst/>
                <a:latin typeface="Calibri" panose="020F0502020204030204" pitchFamily="34" charset="0"/>
              </a:rPr>
              <a:t>Will be grayed out if no mobile data added</a:t>
            </a:r>
          </a:p>
          <a:p>
            <a:pPr algn="l" rtl="0" fontAlgn="base"/>
            <a:r>
              <a:rPr lang="en-US" sz="1000" dirty="0">
                <a:solidFill>
                  <a:srgbClr val="000000"/>
                </a:solidFill>
                <a:latin typeface="Calibri" panose="020F0502020204030204" pitchFamily="34" charset="0"/>
              </a:rPr>
              <a:t>It is possible to select checkboxes and save as a profile… </a:t>
            </a:r>
            <a:r>
              <a:rPr lang="en-US" sz="1000" dirty="0" err="1">
                <a:solidFill>
                  <a:srgbClr val="000000"/>
                </a:solidFill>
                <a:latin typeface="Calibri" panose="020F0502020204030204" pitchFamily="34" charset="0"/>
              </a:rPr>
              <a:t>eg</a:t>
            </a:r>
            <a:r>
              <a:rPr lang="en-US" sz="1000" dirty="0">
                <a:solidFill>
                  <a:srgbClr val="000000"/>
                </a:solidFill>
                <a:latin typeface="Calibri" panose="020F0502020204030204" pitchFamily="34" charset="0"/>
              </a:rPr>
              <a:t> just OS artifacts… save as OS profile, export profile</a:t>
            </a:r>
            <a:endParaRPr lang="en-US" b="0" i="0" dirty="0">
              <a:solidFill>
                <a:srgbClr val="000000"/>
              </a:solidFill>
              <a:effectLst/>
              <a:latin typeface="Calibri" panose="020F0502020204030204" pitchFamily="34" charset="0"/>
            </a:endParaRPr>
          </a:p>
          <a:p>
            <a:pPr marL="342900" indent="-342900" algn="l" rtl="0" fontAlgn="base">
              <a:buFont typeface="+mj-lt"/>
              <a:buAutoNum type="arabicPeriod" startAt="5"/>
            </a:pPr>
            <a:r>
              <a:rPr lang="en-US" sz="1600" b="0" i="0" dirty="0">
                <a:solidFill>
                  <a:srgbClr val="1E4E79"/>
                </a:solidFill>
                <a:effectLst/>
                <a:latin typeface="Calibri" panose="020F0502020204030204" pitchFamily="34" charset="0"/>
              </a:rPr>
              <a:t>ANALYZE EVIDENCE </a:t>
            </a:r>
          </a:p>
          <a:p>
            <a:pPr algn="l" rtl="0" fontAlgn="base"/>
            <a:r>
              <a:rPr lang="en-US" sz="1600" b="0" i="0" dirty="0">
                <a:solidFill>
                  <a:srgbClr val="1E4E79"/>
                </a:solidFill>
                <a:effectLst/>
                <a:latin typeface="Calibri" panose="020F0502020204030204" pitchFamily="34" charset="0"/>
              </a:rPr>
              <a:t>CASE DASHBOARD </a:t>
            </a:r>
            <a:endParaRPr lang="en-US" sz="1600" b="0" i="0" dirty="0">
              <a:solidFill>
                <a:srgbClr val="1E4E79"/>
              </a:solidFill>
              <a:effectLst/>
              <a:latin typeface="Segoe UI" panose="020B0502040204020203" pitchFamily="34" charset="0"/>
            </a:endParaRPr>
          </a:p>
          <a:p>
            <a:pPr algn="l" rtl="0" fontAlgn="base"/>
            <a:r>
              <a:rPr lang="en-US" sz="1000" b="0" i="0" dirty="0">
                <a:solidFill>
                  <a:srgbClr val="2E75B5"/>
                </a:solidFill>
                <a:effectLst/>
                <a:latin typeface="Calibri" panose="020F0502020204030204" pitchFamily="34" charset="0"/>
              </a:rPr>
              <a:t>CASE SUMMARY NOTES </a:t>
            </a:r>
            <a:r>
              <a:rPr lang="en-US" sz="1000" b="0" i="0" dirty="0">
                <a:solidFill>
                  <a:srgbClr val="000000"/>
                </a:solidFill>
                <a:effectLst/>
                <a:latin typeface="Calibri" panose="020F0502020204030204" pitchFamily="34" charset="0"/>
              </a:rPr>
              <a:t>Put all notes you want for case here </a:t>
            </a:r>
          </a:p>
          <a:p>
            <a:pPr algn="l" rtl="0" fontAlgn="base"/>
            <a:r>
              <a:rPr lang="en-US" sz="1000" b="0" i="0" dirty="0">
                <a:solidFill>
                  <a:srgbClr val="2E75B5"/>
                </a:solidFill>
                <a:effectLst/>
                <a:latin typeface="Calibri" panose="020F0502020204030204" pitchFamily="34" charset="0"/>
              </a:rPr>
              <a:t>CASE PROCESSING DETAILS  </a:t>
            </a:r>
            <a:r>
              <a:rPr lang="en-US" sz="1000" b="0" i="0" dirty="0">
                <a:solidFill>
                  <a:srgbClr val="000000"/>
                </a:solidFill>
                <a:effectLst/>
                <a:latin typeface="Calibri" panose="020F0502020204030204" pitchFamily="34" charset="0"/>
              </a:rPr>
              <a:t>View scan summary </a:t>
            </a:r>
          </a:p>
          <a:p>
            <a:pPr algn="l" rtl="0" fontAlgn="base"/>
            <a:r>
              <a:rPr lang="en-US" sz="1000" b="0" i="0" dirty="0">
                <a:solidFill>
                  <a:srgbClr val="2E75B5"/>
                </a:solidFill>
                <a:effectLst/>
                <a:latin typeface="Calibri" panose="020F0502020204030204" pitchFamily="34" charset="0"/>
              </a:rPr>
              <a:t>CASE INFORMATION </a:t>
            </a:r>
            <a:r>
              <a:rPr lang="en-US" sz="1000" b="0" i="0" dirty="0">
                <a:solidFill>
                  <a:srgbClr val="000000"/>
                </a:solidFill>
                <a:effectLst/>
                <a:latin typeface="Calibri" panose="020F0502020204030204" pitchFamily="34" charset="0"/>
              </a:rPr>
              <a:t>View scan summary </a:t>
            </a:r>
          </a:p>
          <a:p>
            <a:pPr algn="l" rtl="0" fontAlgn="base"/>
            <a:r>
              <a:rPr lang="en-US" sz="1600" b="0" i="0" dirty="0">
                <a:solidFill>
                  <a:srgbClr val="1E4E79"/>
                </a:solidFill>
                <a:effectLst/>
                <a:latin typeface="Calibri" panose="020F0502020204030204" pitchFamily="34" charset="0"/>
              </a:rPr>
              <a:t>ADDING EVIDENCE TO PRE-EXISTING CASE </a:t>
            </a:r>
            <a:endParaRPr lang="en-US" sz="1000" b="0" i="0" dirty="0">
              <a:solidFill>
                <a:srgbClr val="1E4E79"/>
              </a:solidFill>
              <a:effectLst/>
              <a:latin typeface="Calibri" panose="020F0502020204030204" pitchFamily="34" charset="0"/>
            </a:endParaRPr>
          </a:p>
          <a:p>
            <a:pPr marL="171450" indent="-171450" algn="l" rtl="0" fontAlgn="base">
              <a:buFont typeface="Arial" panose="020B0604020202020204" pitchFamily="34" charset="0"/>
              <a:buChar char="•"/>
            </a:pPr>
            <a:r>
              <a:rPr lang="en-US" sz="1000" b="0" i="0" dirty="0">
                <a:solidFill>
                  <a:srgbClr val="000000"/>
                </a:solidFill>
                <a:effectLst/>
                <a:latin typeface="Calibri" panose="020F0502020204030204" pitchFamily="34" charset="0"/>
              </a:rPr>
              <a:t>Standard, just add as before from within the CASE DASHBOARD </a:t>
            </a:r>
          </a:p>
          <a:p>
            <a:pPr marL="171450" indent="-171450" algn="l" rtl="0" fontAlgn="base">
              <a:buFont typeface="Arial" panose="020B0604020202020204" pitchFamily="34" charset="0"/>
              <a:buChar char="•"/>
            </a:pPr>
            <a:r>
              <a:rPr lang="en-US" sz="1000" b="0" i="0" dirty="0">
                <a:solidFill>
                  <a:srgbClr val="000000"/>
                </a:solidFill>
                <a:effectLst/>
                <a:latin typeface="Calibri" panose="020F0502020204030204" pitchFamily="34" charset="0"/>
              </a:rPr>
              <a:t>Can add Encrypted Drives (they will display a padlock) </a:t>
            </a:r>
          </a:p>
          <a:p>
            <a:pPr marL="171450" indent="-171450" algn="l" rtl="0" fontAlgn="base">
              <a:buFont typeface="Arial" panose="020B0604020202020204" pitchFamily="34" charset="0"/>
              <a:buChar char="•"/>
            </a:pPr>
            <a:r>
              <a:rPr lang="en-US" sz="1000" b="0" i="0" dirty="0">
                <a:solidFill>
                  <a:srgbClr val="000000"/>
                </a:solidFill>
                <a:effectLst/>
                <a:latin typeface="Calibri" panose="020F0502020204030204" pitchFamily="34" charset="0"/>
              </a:rPr>
              <a:t>If Auto build connections enabled&gt;start building connections between artifacts once processing completes</a:t>
            </a:r>
          </a:p>
          <a:p>
            <a:pPr marL="171450" indent="-171450" algn="l" rtl="0" fontAlgn="base">
              <a:buFont typeface="Arial" panose="020B0604020202020204" pitchFamily="34" charset="0"/>
              <a:buChar char="•"/>
            </a:pPr>
            <a:r>
              <a:rPr lang="en-US" sz="1000" b="0" i="0" dirty="0">
                <a:solidFill>
                  <a:srgbClr val="000000"/>
                </a:solidFill>
                <a:effectLst/>
                <a:latin typeface="Calibri" panose="020F0502020204030204" pitchFamily="34" charset="0"/>
              </a:rPr>
              <a:t>If new evidence is added post processing auto build connections</a:t>
            </a:r>
          </a:p>
          <a:p>
            <a:pPr marL="171450" indent="-171450" algn="l" rtl="0" fontAlgn="base">
              <a:buFont typeface="Arial" panose="020B0604020202020204" pitchFamily="34" charset="0"/>
              <a:buChar char="•"/>
            </a:pPr>
            <a:r>
              <a:rPr lang="en-US" sz="1000" b="0" i="0" dirty="0">
                <a:solidFill>
                  <a:srgbClr val="000000"/>
                </a:solidFill>
                <a:effectLst/>
                <a:latin typeface="Calibri" panose="020F0502020204030204" pitchFamily="34" charset="0"/>
              </a:rPr>
              <a:t>If auto build connections not enabled then connections need to be built every time new evidence added </a:t>
            </a:r>
          </a:p>
        </p:txBody>
      </p:sp>
      <p:sp>
        <p:nvSpPr>
          <p:cNvPr id="11" name="TextBox 10">
            <a:extLst>
              <a:ext uri="{FF2B5EF4-FFF2-40B4-BE49-F238E27FC236}">
                <a16:creationId xmlns:a16="http://schemas.microsoft.com/office/drawing/2014/main" id="{7ACA8F1F-6DAF-450B-A343-9B91A5480D55}"/>
              </a:ext>
            </a:extLst>
          </p:cNvPr>
          <p:cNvSpPr txBox="1"/>
          <p:nvPr/>
        </p:nvSpPr>
        <p:spPr>
          <a:xfrm>
            <a:off x="0" y="0"/>
            <a:ext cx="6121908" cy="6678751"/>
          </a:xfrm>
          <a:prstGeom prst="rect">
            <a:avLst/>
          </a:prstGeom>
          <a:noFill/>
        </p:spPr>
        <p:txBody>
          <a:bodyPr wrap="square">
            <a:spAutoFit/>
          </a:bodyPr>
          <a:lstStyle/>
          <a:p>
            <a:pPr fontAlgn="base"/>
            <a:r>
              <a:rPr lang="en-US" b="1" u="sng" dirty="0"/>
              <a:t>0. TIPS</a:t>
            </a:r>
          </a:p>
          <a:p>
            <a:pPr fontAlgn="base"/>
            <a:r>
              <a:rPr lang="en-US" sz="1000" dirty="0"/>
              <a:t>If an artifact was not recovered by Axiom then an empty category will </a:t>
            </a:r>
            <a:r>
              <a:rPr lang="en-US" sz="1000" b="1" dirty="0"/>
              <a:t>NOT</a:t>
            </a:r>
            <a:r>
              <a:rPr lang="en-US" sz="1000" dirty="0"/>
              <a:t> be created.</a:t>
            </a:r>
          </a:p>
          <a:p>
            <a:pPr algn="l" rtl="0" fontAlgn="base"/>
            <a:r>
              <a:rPr lang="en-US" sz="1000" b="0" i="0" dirty="0">
                <a:solidFill>
                  <a:srgbClr val="000000"/>
                </a:solidFill>
                <a:effectLst/>
                <a:latin typeface="Calibri" panose="020F0502020204030204" pitchFamily="34" charset="0"/>
              </a:rPr>
              <a:t>COLUMN: Right-Click vs Left-click… Filter vs Sort</a:t>
            </a:r>
          </a:p>
          <a:p>
            <a:pPr algn="l" rtl="0" fontAlgn="base"/>
            <a:r>
              <a:rPr lang="en-US" sz="1000" b="0" i="0" dirty="0">
                <a:solidFill>
                  <a:srgbClr val="000000"/>
                </a:solidFill>
                <a:effectLst/>
                <a:latin typeface="Calibri" panose="020F0502020204030204" pitchFamily="34" charset="0"/>
              </a:rPr>
              <a:t>Combining Keyword lists into artifact searches </a:t>
            </a:r>
            <a:endParaRPr lang="en-US" sz="1000" b="0" i="0" dirty="0">
              <a:solidFill>
                <a:srgbClr val="000000"/>
              </a:solidFill>
              <a:effectLst/>
              <a:latin typeface="Segoe UI" panose="020B0502040204020203" pitchFamily="34" charset="0"/>
            </a:endParaRPr>
          </a:p>
          <a:p>
            <a:pPr algn="l" rtl="0" fontAlgn="base"/>
            <a:r>
              <a:rPr lang="en-US" sz="1000" b="0" i="0" dirty="0">
                <a:solidFill>
                  <a:srgbClr val="000000"/>
                </a:solidFill>
                <a:effectLst/>
              </a:rPr>
              <a:t>Select something from artifacts </a:t>
            </a:r>
            <a:r>
              <a:rPr lang="en-US" sz="1000" b="0" i="0" dirty="0" err="1">
                <a:solidFill>
                  <a:srgbClr val="000000"/>
                </a:solidFill>
                <a:effectLst/>
              </a:rPr>
              <a:t>eg</a:t>
            </a:r>
            <a:r>
              <a:rPr lang="en-US" sz="1000" b="0" i="0" dirty="0">
                <a:solidFill>
                  <a:srgbClr val="000000"/>
                </a:solidFill>
                <a:effectLst/>
              </a:rPr>
              <a:t> Google searches then in keywords dropdown select </a:t>
            </a:r>
            <a:r>
              <a:rPr lang="en-US" sz="1000" dirty="0">
                <a:solidFill>
                  <a:srgbClr val="000000"/>
                </a:solidFill>
              </a:rPr>
              <a:t>(cannabis, </a:t>
            </a:r>
            <a:r>
              <a:rPr lang="en-US" sz="1000" dirty="0" err="1">
                <a:solidFill>
                  <a:srgbClr val="000000"/>
                </a:solidFill>
              </a:rPr>
              <a:t>lsd</a:t>
            </a:r>
            <a:r>
              <a:rPr lang="en-US" sz="1000" dirty="0">
                <a:solidFill>
                  <a:srgbClr val="000000"/>
                </a:solidFill>
              </a:rPr>
              <a:t>)</a:t>
            </a:r>
          </a:p>
          <a:p>
            <a:pPr marL="171450" indent="-171450" algn="l" rtl="0" fontAlgn="base">
              <a:buFont typeface="Arial" panose="020B0604020202020204" pitchFamily="34" charset="0"/>
              <a:buChar char="•"/>
            </a:pPr>
            <a:r>
              <a:rPr lang="en-US" sz="1000" b="0" i="0" dirty="0">
                <a:solidFill>
                  <a:srgbClr val="000000"/>
                </a:solidFill>
                <a:effectLst/>
              </a:rPr>
              <a:t>Multiple search terms selected from keyword lists use OR logic </a:t>
            </a:r>
          </a:p>
          <a:p>
            <a:pPr marL="171450" indent="-171450" algn="l" rtl="0" fontAlgn="base">
              <a:buFont typeface="Arial" panose="020B0604020202020204" pitchFamily="34" charset="0"/>
              <a:buChar char="•"/>
            </a:pPr>
            <a:r>
              <a:rPr lang="en-US" sz="1000" b="0" i="0" dirty="0">
                <a:solidFill>
                  <a:srgbClr val="000000"/>
                </a:solidFill>
                <a:effectLst/>
              </a:rPr>
              <a:t>Multiple search terms from search box use AND logic  </a:t>
            </a:r>
          </a:p>
          <a:p>
            <a:r>
              <a:rPr lang="en-US" sz="1000" b="0" i="0" dirty="0">
                <a:effectLst/>
              </a:rPr>
              <a:t>By searching in Identifiers for Isaiah, Dashner, and Isaiah </a:t>
            </a:r>
            <a:r>
              <a:rPr lang="en-US" sz="1000" b="0" i="0" dirty="0" err="1">
                <a:effectLst/>
              </a:rPr>
              <a:t>dashner</a:t>
            </a:r>
            <a:r>
              <a:rPr lang="en-US" sz="1000" b="0" i="0" dirty="0">
                <a:effectLst/>
              </a:rPr>
              <a:t> and adding all to the PROFILE, when we select Dashner profile from the PROFILE menu bar axiom has found ton of Isaiah Dashner artifacts</a:t>
            </a:r>
            <a:endParaRPr lang="en-US" sz="1000" dirty="0"/>
          </a:p>
          <a:p>
            <a:r>
              <a:rPr lang="en-US" sz="1000" dirty="0"/>
              <a:t>If an artifact missing may have to locate resource </a:t>
            </a:r>
            <a:r>
              <a:rPr lang="en-US" sz="1000" dirty="0">
                <a:sym typeface="Wingdings" panose="05000000000000000000" pitchFamily="2" charset="2"/>
              </a:rPr>
              <a:t> normally E01</a:t>
            </a:r>
          </a:p>
          <a:p>
            <a:pPr marL="171450" indent="-171450" algn="l" rtl="0" fontAlgn="base">
              <a:buFont typeface="Arial" panose="020B0604020202020204" pitchFamily="34" charset="0"/>
              <a:buChar char="•"/>
            </a:pPr>
            <a:r>
              <a:rPr lang="en-US" sz="1000" b="0" i="0" dirty="0">
                <a:solidFill>
                  <a:srgbClr val="000000"/>
                </a:solidFill>
                <a:effectLst/>
              </a:rPr>
              <a:t>Click Source link for artifact </a:t>
            </a:r>
          </a:p>
          <a:p>
            <a:pPr marL="628650" lvl="1" indent="-171450" algn="l" rtl="0" fontAlgn="base">
              <a:buFont typeface="Arial" panose="020B0604020202020204" pitchFamily="34" charset="0"/>
              <a:buChar char="•"/>
            </a:pPr>
            <a:r>
              <a:rPr lang="en-US" sz="1000" b="0" i="0" dirty="0">
                <a:solidFill>
                  <a:srgbClr val="000000"/>
                </a:solidFill>
                <a:effectLst/>
              </a:rPr>
              <a:t>TEXT AND HEX = File Offset 0 </a:t>
            </a:r>
          </a:p>
          <a:p>
            <a:pPr marL="171450" indent="-171450" algn="l" rtl="0" fontAlgn="base">
              <a:buFont typeface="Arial" panose="020B0604020202020204" pitchFamily="34" charset="0"/>
              <a:buChar char="•"/>
            </a:pPr>
            <a:r>
              <a:rPr lang="en-US" sz="1000" b="0" i="0" dirty="0">
                <a:solidFill>
                  <a:srgbClr val="000000"/>
                </a:solidFill>
                <a:effectLst/>
              </a:rPr>
              <a:t>Click Location </a:t>
            </a:r>
          </a:p>
          <a:p>
            <a:pPr marL="628650" lvl="1" indent="-171450" algn="l" rtl="0" fontAlgn="base">
              <a:buFont typeface="Arial" panose="020B0604020202020204" pitchFamily="34" charset="0"/>
              <a:buChar char="•"/>
            </a:pPr>
            <a:r>
              <a:rPr lang="en-US" sz="1000" b="0" i="0" dirty="0">
                <a:solidFill>
                  <a:srgbClr val="000000"/>
                </a:solidFill>
                <a:effectLst/>
              </a:rPr>
              <a:t>TEXT AND HEX = Exact File Offset </a:t>
            </a:r>
          </a:p>
          <a:p>
            <a:pPr algn="l" rtl="0" fontAlgn="base"/>
            <a:r>
              <a:rPr lang="en-US" sz="1000" b="0" i="0" dirty="0">
                <a:solidFill>
                  <a:srgbClr val="000000"/>
                </a:solidFill>
                <a:effectLst/>
              </a:rPr>
              <a:t>If artifact was carved from unallocated space, the Physical Sector will be listed in Location field vs a File Offset</a:t>
            </a:r>
            <a:endParaRPr lang="en-US" sz="1000" dirty="0">
              <a:solidFill>
                <a:srgbClr val="000000"/>
              </a:solidFill>
            </a:endParaRPr>
          </a:p>
          <a:p>
            <a:pPr algn="l" fontAlgn="base"/>
            <a:r>
              <a:rPr lang="en-US" sz="1000" b="0" i="0" dirty="0">
                <a:effectLst/>
              </a:rPr>
              <a:t>If do google search the URL ends up with following params </a:t>
            </a:r>
          </a:p>
          <a:p>
            <a:pPr marL="171450" indent="-171450" algn="l" rtl="0" fontAlgn="base">
              <a:buFont typeface="Arial" panose="020B0604020202020204" pitchFamily="34" charset="0"/>
              <a:buChar char="•"/>
            </a:pPr>
            <a:r>
              <a:rPr lang="en-US" sz="1000" b="0" i="0" dirty="0">
                <a:solidFill>
                  <a:srgbClr val="000000"/>
                </a:solidFill>
                <a:effectLst/>
              </a:rPr>
              <a:t>q = query  </a:t>
            </a:r>
            <a:r>
              <a:rPr lang="en-US" sz="1000" b="1" i="0" dirty="0">
                <a:solidFill>
                  <a:srgbClr val="000000"/>
                </a:solidFill>
                <a:effectLst/>
              </a:rPr>
              <a:t>Vikings helmet</a:t>
            </a:r>
          </a:p>
          <a:p>
            <a:pPr marL="171450" indent="-171450" fontAlgn="base">
              <a:buFont typeface="Arial" panose="020B0604020202020204" pitchFamily="34" charset="0"/>
              <a:buChar char="•"/>
            </a:pPr>
            <a:r>
              <a:rPr lang="en-US" sz="1000" b="0" i="0" dirty="0" err="1">
                <a:solidFill>
                  <a:srgbClr val="000000"/>
                </a:solidFill>
                <a:effectLst/>
              </a:rPr>
              <a:t>oq</a:t>
            </a:r>
            <a:r>
              <a:rPr lang="en-US" sz="1000" b="0" i="0" dirty="0">
                <a:solidFill>
                  <a:srgbClr val="000000"/>
                </a:solidFill>
                <a:effectLst/>
              </a:rPr>
              <a:t> = original query </a:t>
            </a:r>
            <a:r>
              <a:rPr lang="en-US" sz="1000" b="1" i="0" dirty="0">
                <a:solidFill>
                  <a:srgbClr val="000000"/>
                </a:solidFill>
                <a:effectLst/>
              </a:rPr>
              <a:t>Vikings (autocomplete suggestion to q, above)</a:t>
            </a:r>
          </a:p>
          <a:p>
            <a:pPr marL="171450" indent="-171450" fontAlgn="base">
              <a:buFont typeface="Arial" panose="020B0604020202020204" pitchFamily="34" charset="0"/>
              <a:buChar char="•"/>
            </a:pPr>
            <a:r>
              <a:rPr lang="en-US" sz="1000" b="1" dirty="0">
                <a:solidFill>
                  <a:srgbClr val="000000"/>
                </a:solidFill>
              </a:rPr>
              <a:t>%20 (hexadecimal space)</a:t>
            </a:r>
            <a:endParaRPr lang="en-US" sz="1000" b="1" i="0" dirty="0">
              <a:solidFill>
                <a:srgbClr val="000000"/>
              </a:solidFill>
              <a:effectLst/>
            </a:endParaRPr>
          </a:p>
          <a:p>
            <a:pPr algn="l" rtl="0" fontAlgn="base"/>
            <a:endParaRPr lang="en-US" sz="1000" b="1" i="0" dirty="0">
              <a:solidFill>
                <a:srgbClr val="000000"/>
              </a:solidFill>
              <a:effectLst/>
            </a:endParaRPr>
          </a:p>
          <a:p>
            <a:pPr algn="l" rtl="0" fontAlgn="base"/>
            <a:r>
              <a:rPr lang="en-US" sz="1000" b="1" i="0" dirty="0">
                <a:solidFill>
                  <a:srgbClr val="000000"/>
                </a:solidFill>
                <a:effectLst/>
              </a:rPr>
              <a:t>REGEX </a:t>
            </a:r>
          </a:p>
          <a:p>
            <a:pPr algn="l" rtl="0" fontAlgn="base"/>
            <a:r>
              <a:rPr lang="en-US" sz="1000" b="0" i="0" dirty="0">
                <a:solidFill>
                  <a:srgbClr val="000000"/>
                </a:solidFill>
                <a:effectLst/>
              </a:rPr>
              <a:t>VISA 4[0-9]{12}(?:[0-9]{3}) </a:t>
            </a:r>
          </a:p>
          <a:p>
            <a:pPr algn="l" rtl="0" fontAlgn="base"/>
            <a:r>
              <a:rPr lang="en-US" sz="1000" b="0" i="0" dirty="0">
                <a:solidFill>
                  <a:srgbClr val="000000"/>
                </a:solidFill>
                <a:effectLst/>
              </a:rPr>
              <a:t>MASTECARD 5[1-5][0-9]{14}</a:t>
            </a:r>
          </a:p>
          <a:p>
            <a:pPr fontAlgn="base"/>
            <a:r>
              <a:rPr lang="en-US" sz="1000" b="0" i="0" dirty="0">
                <a:effectLst/>
              </a:rPr>
              <a:t>Search for entries that DO NOT contain a keyword</a:t>
            </a:r>
          </a:p>
          <a:p>
            <a:pPr algn="l" rtl="0" fontAlgn="base"/>
            <a:r>
              <a:rPr lang="en-US" sz="1000" b="0" i="0" dirty="0">
                <a:solidFill>
                  <a:srgbClr val="000000"/>
                </a:solidFill>
                <a:effectLst/>
              </a:rPr>
              <a:t> ^((?!keyword).)*$</a:t>
            </a:r>
            <a:endParaRPr lang="en-US" sz="1000" dirty="0">
              <a:solidFill>
                <a:srgbClr val="000000"/>
              </a:solidFill>
            </a:endParaRPr>
          </a:p>
          <a:p>
            <a:pPr algn="l" rtl="0" fontAlgn="base"/>
            <a:r>
              <a:rPr lang="en-US" sz="1000" b="1" u="sng" dirty="0">
                <a:solidFill>
                  <a:srgbClr val="000000"/>
                </a:solidFill>
              </a:rPr>
              <a:t>To</a:t>
            </a:r>
            <a:r>
              <a:rPr lang="en-US" sz="1000" dirty="0">
                <a:solidFill>
                  <a:srgbClr val="000000"/>
                </a:solidFill>
              </a:rPr>
              <a:t> Column in EML(X): Filter on Column: GREP/REGEX</a:t>
            </a:r>
          </a:p>
          <a:p>
            <a:pPr algn="l" rtl="0" fontAlgn="base"/>
            <a:r>
              <a:rPr lang="en-US" sz="1000" dirty="0">
                <a:solidFill>
                  <a:srgbClr val="000000"/>
                </a:solidFill>
              </a:rPr>
              <a:t>^((?!</a:t>
            </a:r>
            <a:r>
              <a:rPr lang="en-US" sz="1000" dirty="0" err="1">
                <a:solidFill>
                  <a:srgbClr val="000000"/>
                </a:solidFill>
              </a:rPr>
              <a:t>dashner</a:t>
            </a:r>
            <a:r>
              <a:rPr lang="en-US" sz="1000" dirty="0">
                <a:solidFill>
                  <a:srgbClr val="000000"/>
                </a:solidFill>
              </a:rPr>
              <a:t>).)*$</a:t>
            </a:r>
          </a:p>
          <a:p>
            <a:pPr algn="l" rtl="0" fontAlgn="base"/>
            <a:r>
              <a:rPr lang="en-US" sz="1000" dirty="0">
                <a:solidFill>
                  <a:srgbClr val="000000"/>
                </a:solidFill>
              </a:rPr>
              <a:t>When searching use a common stem of a word </a:t>
            </a:r>
            <a:r>
              <a:rPr lang="en-US" sz="1000" dirty="0" err="1">
                <a:solidFill>
                  <a:srgbClr val="000000"/>
                </a:solidFill>
              </a:rPr>
              <a:t>e.g</a:t>
            </a:r>
            <a:r>
              <a:rPr lang="en-US" sz="1000" dirty="0">
                <a:solidFill>
                  <a:srgbClr val="000000"/>
                </a:solidFill>
              </a:rPr>
              <a:t>… when searching for encryption, decryption, search for ‘crypt’</a:t>
            </a:r>
          </a:p>
          <a:p>
            <a:pPr algn="l" rtl="0" fontAlgn="base"/>
            <a:r>
              <a:rPr lang="en-US" sz="1000" b="0" i="0" dirty="0">
                <a:solidFill>
                  <a:srgbClr val="000000"/>
                </a:solidFill>
                <a:effectLst/>
              </a:rPr>
              <a:t>“</a:t>
            </a:r>
            <a:r>
              <a:rPr lang="en-US" sz="1000" b="0" i="0" dirty="0" err="1">
                <a:solidFill>
                  <a:srgbClr val="000000"/>
                </a:solidFill>
                <a:effectLst/>
              </a:rPr>
              <a:t>Visits|History</a:t>
            </a:r>
            <a:r>
              <a:rPr lang="en-US" sz="1000" b="0" i="0" dirty="0">
                <a:solidFill>
                  <a:srgbClr val="000000"/>
                </a:solidFill>
                <a:effectLst/>
              </a:rPr>
              <a:t>” Searches for either Visits or History </a:t>
            </a:r>
          </a:p>
          <a:p>
            <a:pPr algn="l" rtl="0" fontAlgn="base"/>
            <a:r>
              <a:rPr lang="en-US" sz="1000" dirty="0">
                <a:solidFill>
                  <a:srgbClr val="000000"/>
                </a:solidFill>
              </a:rPr>
              <a:t>Connections: click on hash and can see other files of same content (though maybe named differently)</a:t>
            </a:r>
          </a:p>
          <a:p>
            <a:pPr algn="l" rtl="0" fontAlgn="base"/>
            <a:r>
              <a:rPr lang="en-US" sz="1000" b="0" i="0" dirty="0">
                <a:solidFill>
                  <a:srgbClr val="000000"/>
                </a:solidFill>
                <a:effectLst/>
              </a:rPr>
              <a:t>Use connections on file to see where it was accessed from</a:t>
            </a:r>
            <a:endParaRPr lang="en-US" sz="1000" b="1" dirty="0">
              <a:solidFill>
                <a:srgbClr val="000000"/>
              </a:solidFill>
            </a:endParaRPr>
          </a:p>
          <a:p>
            <a:pPr algn="l" rtl="0" fontAlgn="base"/>
            <a:r>
              <a:rPr lang="en-US" sz="1000" b="1" dirty="0">
                <a:solidFill>
                  <a:srgbClr val="000000"/>
                </a:solidFill>
              </a:rPr>
              <a:t>If files downloaded, installed, executed? </a:t>
            </a:r>
            <a:r>
              <a:rPr lang="en-US" sz="1000" dirty="0" err="1">
                <a:solidFill>
                  <a:srgbClr val="000000"/>
                </a:solidFill>
              </a:rPr>
              <a:t>url</a:t>
            </a:r>
            <a:r>
              <a:rPr lang="en-US" sz="1000" dirty="0">
                <a:solidFill>
                  <a:srgbClr val="000000"/>
                </a:solidFill>
              </a:rPr>
              <a:t> visit, downloaded file, installed file, prefetch details</a:t>
            </a:r>
          </a:p>
          <a:p>
            <a:pPr algn="l" rtl="0" fontAlgn="base"/>
            <a:r>
              <a:rPr lang="en-US" sz="1000" b="1" i="0" dirty="0">
                <a:solidFill>
                  <a:srgbClr val="000000"/>
                </a:solidFill>
                <a:effectLst/>
              </a:rPr>
              <a:t>Marijuana searched in Chrome? </a:t>
            </a:r>
            <a:r>
              <a:rPr lang="en-US" sz="1000" i="0" dirty="0">
                <a:solidFill>
                  <a:srgbClr val="000000"/>
                </a:solidFill>
                <a:effectLst/>
              </a:rPr>
              <a:t>Google searches, Parsed Queri</a:t>
            </a:r>
            <a:r>
              <a:rPr lang="en-US" sz="1000" dirty="0">
                <a:solidFill>
                  <a:srgbClr val="000000"/>
                </a:solidFill>
              </a:rPr>
              <a:t>es, Chrome Downloads, “Marijuana”</a:t>
            </a:r>
          </a:p>
          <a:p>
            <a:pPr algn="l" rtl="0" fontAlgn="base"/>
            <a:r>
              <a:rPr lang="en-US" sz="1000" b="1" i="0" dirty="0">
                <a:solidFill>
                  <a:srgbClr val="000000"/>
                </a:solidFill>
                <a:effectLst/>
              </a:rPr>
              <a:t>Was “</a:t>
            </a:r>
            <a:r>
              <a:rPr lang="en-US" sz="1000" b="1" i="0" dirty="0" err="1">
                <a:solidFill>
                  <a:srgbClr val="000000"/>
                </a:solidFill>
                <a:effectLst/>
              </a:rPr>
              <a:t>Truecrypt</a:t>
            </a:r>
            <a:r>
              <a:rPr lang="en-US" sz="1000" b="1" i="0" dirty="0">
                <a:solidFill>
                  <a:srgbClr val="000000"/>
                </a:solidFill>
                <a:effectLst/>
              </a:rPr>
              <a:t>” used? </a:t>
            </a:r>
            <a:r>
              <a:rPr lang="en-US" sz="1000" i="0" dirty="0">
                <a:solidFill>
                  <a:srgbClr val="000000"/>
                </a:solidFill>
                <a:effectLst/>
              </a:rPr>
              <a:t>LNK files</a:t>
            </a:r>
            <a:r>
              <a:rPr lang="en-US" sz="1000" dirty="0">
                <a:solidFill>
                  <a:srgbClr val="000000"/>
                </a:solidFill>
              </a:rPr>
              <a:t>, User Assist, Windows Logs and search “</a:t>
            </a:r>
            <a:r>
              <a:rPr lang="en-US" sz="1000" dirty="0" err="1">
                <a:solidFill>
                  <a:srgbClr val="000000"/>
                </a:solidFill>
              </a:rPr>
              <a:t>truecrypt</a:t>
            </a:r>
            <a:r>
              <a:rPr lang="en-US" sz="1000" dirty="0">
                <a:solidFill>
                  <a:srgbClr val="000000"/>
                </a:solidFill>
              </a:rPr>
              <a:t>”, always check SID</a:t>
            </a:r>
          </a:p>
          <a:p>
            <a:pPr algn="l" rtl="0" fontAlgn="base"/>
            <a:r>
              <a:rPr lang="en-US" sz="1000" b="1" i="0" dirty="0">
                <a:solidFill>
                  <a:srgbClr val="000000"/>
                </a:solidFill>
                <a:effectLst/>
              </a:rPr>
              <a:t>Product license keys stored where? </a:t>
            </a:r>
            <a:r>
              <a:rPr lang="en-US" sz="1000" i="0" dirty="0">
                <a:solidFill>
                  <a:srgbClr val="000000"/>
                </a:solidFill>
                <a:effectLst/>
              </a:rPr>
              <a:t>in text files and rtf files</a:t>
            </a:r>
          </a:p>
          <a:p>
            <a:pPr algn="l" rtl="0" fontAlgn="base"/>
            <a:r>
              <a:rPr lang="en-US" sz="1000" b="1" dirty="0">
                <a:solidFill>
                  <a:srgbClr val="000000"/>
                </a:solidFill>
              </a:rPr>
              <a:t>Connected to WLAN? </a:t>
            </a:r>
            <a:r>
              <a:rPr lang="en-US" sz="1000" dirty="0">
                <a:solidFill>
                  <a:srgbClr val="000000"/>
                </a:solidFill>
              </a:rPr>
              <a:t>Logs, Net. Interfaces, Net. Profiles Filter on SSID “</a:t>
            </a:r>
            <a:r>
              <a:rPr lang="en-US" sz="1000" dirty="0" err="1">
                <a:solidFill>
                  <a:srgbClr val="000000"/>
                </a:solidFill>
              </a:rPr>
              <a:t>wifi</a:t>
            </a:r>
            <a:r>
              <a:rPr lang="en-US" sz="1000" dirty="0">
                <a:solidFill>
                  <a:srgbClr val="000000"/>
                </a:solidFill>
              </a:rPr>
              <a:t> name”, Event ID = 8001</a:t>
            </a:r>
          </a:p>
          <a:p>
            <a:pPr algn="l" rtl="0" fontAlgn="base"/>
            <a:r>
              <a:rPr lang="en-US" sz="1000" b="1" i="0" dirty="0">
                <a:solidFill>
                  <a:srgbClr val="000000"/>
                </a:solidFill>
                <a:effectLst/>
              </a:rPr>
              <a:t>Accessed</a:t>
            </a:r>
            <a:r>
              <a:rPr lang="en-US" sz="1000" b="1" dirty="0">
                <a:solidFill>
                  <a:srgbClr val="000000"/>
                </a:solidFill>
              </a:rPr>
              <a:t> IEF data not on C? </a:t>
            </a:r>
            <a:r>
              <a:rPr lang="en-US" sz="1000" dirty="0">
                <a:solidFill>
                  <a:srgbClr val="000000"/>
                </a:solidFill>
              </a:rPr>
              <a:t>LNK files, filter \windows\recent, sort Linked path</a:t>
            </a:r>
            <a:r>
              <a:rPr lang="en-US" sz="1000" dirty="0">
                <a:solidFill>
                  <a:srgbClr val="000000"/>
                </a:solidFill>
                <a:sym typeface="Wingdings" panose="05000000000000000000" pitchFamily="2" charset="2"/>
              </a:rPr>
              <a:t>, filter col: Drive Type “removable”</a:t>
            </a:r>
          </a:p>
          <a:p>
            <a:pPr algn="l" rtl="0" fontAlgn="base"/>
            <a:r>
              <a:rPr lang="en-US" sz="1000" b="1" i="0" dirty="0">
                <a:solidFill>
                  <a:srgbClr val="000000"/>
                </a:solidFill>
                <a:effectLst/>
                <a:sym typeface="Wingdings" panose="05000000000000000000" pitchFamily="2" charset="2"/>
              </a:rPr>
              <a:t>Encrypted volume drive letter? </a:t>
            </a:r>
          </a:p>
          <a:p>
            <a:pPr marL="628650" lvl="1" indent="-171450" fontAlgn="base">
              <a:buFont typeface="Arial" panose="020B0604020202020204" pitchFamily="34" charset="0"/>
              <a:buChar char="•"/>
            </a:pPr>
            <a:r>
              <a:rPr lang="en-US" sz="1000" i="0" dirty="0">
                <a:solidFill>
                  <a:srgbClr val="000000"/>
                </a:solidFill>
                <a:effectLst/>
                <a:sym typeface="Wingdings" panose="05000000000000000000" pitchFamily="2" charset="2"/>
              </a:rPr>
              <a:t>JMP lists (searched linked path for possible removed drives  T:)</a:t>
            </a:r>
          </a:p>
          <a:p>
            <a:pPr marL="628650" lvl="1" indent="-171450" fontAlgn="base">
              <a:buFont typeface="Arial" panose="020B0604020202020204" pitchFamily="34" charset="0"/>
              <a:buChar char="•"/>
            </a:pPr>
            <a:r>
              <a:rPr lang="en-US" sz="1000" i="0" dirty="0">
                <a:solidFill>
                  <a:srgbClr val="000000"/>
                </a:solidFill>
                <a:effectLst/>
                <a:sym typeface="Wingdings" panose="05000000000000000000" pitchFamily="2" charset="2"/>
              </a:rPr>
              <a:t>LNK files (search Linked Path for above drive = “T:\”)</a:t>
            </a:r>
          </a:p>
          <a:p>
            <a:pPr marL="628650" lvl="1" indent="-171450" fontAlgn="base">
              <a:buFont typeface="Arial" panose="020B0604020202020204" pitchFamily="34" charset="0"/>
              <a:buChar char="•"/>
            </a:pPr>
            <a:r>
              <a:rPr lang="en-US" sz="1000" i="0" dirty="0" err="1">
                <a:solidFill>
                  <a:srgbClr val="000000"/>
                </a:solidFill>
                <a:effectLst/>
                <a:sym typeface="Wingdings" panose="05000000000000000000" pitchFamily="2" charset="2"/>
              </a:rPr>
              <a:t>Shellbags</a:t>
            </a:r>
            <a:r>
              <a:rPr lang="en-US" sz="1000" i="0" dirty="0">
                <a:solidFill>
                  <a:srgbClr val="000000"/>
                </a:solidFill>
                <a:effectLst/>
                <a:sym typeface="Wingdings" panose="05000000000000000000" pitchFamily="2" charset="2"/>
              </a:rPr>
              <a:t> (Linked Path = “T:\”)</a:t>
            </a:r>
          </a:p>
          <a:p>
            <a:pPr fontAlgn="base"/>
            <a:r>
              <a:rPr lang="en-US" sz="1000" b="1" dirty="0">
                <a:solidFill>
                  <a:srgbClr val="000000"/>
                </a:solidFill>
                <a:sym typeface="Wingdings" panose="05000000000000000000" pitchFamily="2" charset="2"/>
              </a:rPr>
              <a:t>What apps used on Google cloud account? </a:t>
            </a:r>
            <a:r>
              <a:rPr lang="en-US" sz="1000" dirty="0">
                <a:solidFill>
                  <a:srgbClr val="000000"/>
                </a:solidFill>
                <a:sym typeface="Wingdings" panose="05000000000000000000" pitchFamily="2" charset="2"/>
              </a:rPr>
              <a:t>Cloud Google Activity &gt; Action == Used</a:t>
            </a:r>
            <a:endParaRPr lang="en-US" sz="1000" i="0" dirty="0">
              <a:solidFill>
                <a:srgbClr val="000000"/>
              </a:solidFill>
              <a:effectLst/>
              <a:sym typeface="Wingdings" panose="05000000000000000000" pitchFamily="2" charset="2"/>
            </a:endParaRPr>
          </a:p>
        </p:txBody>
      </p:sp>
    </p:spTree>
    <p:extLst>
      <p:ext uri="{BB962C8B-B14F-4D97-AF65-F5344CB8AC3E}">
        <p14:creationId xmlns:p14="http://schemas.microsoft.com/office/powerpoint/2010/main" val="6126095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DF80FB3-22A2-4057-A3B4-CD922A116FA9}"/>
              </a:ext>
            </a:extLst>
          </p:cNvPr>
          <p:cNvSpPr txBox="1"/>
          <p:nvPr/>
        </p:nvSpPr>
        <p:spPr>
          <a:xfrm>
            <a:off x="1524" y="0"/>
            <a:ext cx="6094476" cy="369332"/>
          </a:xfrm>
          <a:prstGeom prst="rect">
            <a:avLst/>
          </a:prstGeom>
          <a:noFill/>
        </p:spPr>
        <p:txBody>
          <a:bodyPr wrap="square">
            <a:spAutoFit/>
          </a:bodyPr>
          <a:lstStyle/>
          <a:p>
            <a:r>
              <a:rPr lang="en-US" sz="1800" b="1" u="sng" dirty="0"/>
              <a:t>3a Refined Results </a:t>
            </a:r>
          </a:p>
        </p:txBody>
      </p:sp>
      <p:sp>
        <p:nvSpPr>
          <p:cNvPr id="7" name="TextBox 6">
            <a:extLst>
              <a:ext uri="{FF2B5EF4-FFF2-40B4-BE49-F238E27FC236}">
                <a16:creationId xmlns:a16="http://schemas.microsoft.com/office/drawing/2014/main" id="{B9A1D5BB-5E34-492D-95EF-6662A2BF5688}"/>
              </a:ext>
            </a:extLst>
          </p:cNvPr>
          <p:cNvSpPr txBox="1"/>
          <p:nvPr/>
        </p:nvSpPr>
        <p:spPr>
          <a:xfrm>
            <a:off x="0" y="369332"/>
            <a:ext cx="6117336" cy="6401753"/>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GOOGLE SEARCHES searches on Google sites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PARSED SEARCH QUERIES searches on non-Google sites </a:t>
            </a:r>
            <a:endParaRPr kumimoji="0" lang="en-US" altLang="en-US"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CLASSIFIED URLs  ~38 domains </a:t>
            </a:r>
            <a:endParaRPr kumimoji="0" lang="en-US" altLang="en-US"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CLOUD SERVICES URLs ~49 domains </a:t>
            </a:r>
            <a:endParaRPr kumimoji="0" lang="en-US" altLang="en-US"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FACEBOOK URLS = Combined for data from all browsers </a:t>
            </a:r>
            <a:endParaRPr kumimoji="0" lang="en-US" altLang="en-US"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SOCIAL MEDIA URLS = Excluding Facebook (own category, above) </a:t>
            </a:r>
            <a:endParaRPr kumimoji="0" lang="en-US" altLang="en-US"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GOOGLE MAP QUERIES = artifacts from browser activity on Google Maps website </a:t>
            </a:r>
            <a:endParaRPr kumimoji="0" lang="en-US" altLang="en-US" sz="9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2E75B5"/>
                </a:solidFill>
                <a:effectLst/>
                <a:latin typeface="Calibri" panose="020F0502020204030204" pitchFamily="34" charset="0"/>
                <a:cs typeface="Calibri" panose="020F0502020204030204" pitchFamily="34" charset="0"/>
              </a:rPr>
              <a:t>MAKING PROFILES </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To add</a:t>
            </a:r>
            <a:r>
              <a:rPr kumimoji="0" lang="en-US" altLang="en-US" sz="1000" b="1" i="0" u="sng" strike="noStrike" cap="none" normalizeH="0" baseline="0" dirty="0">
                <a:ln>
                  <a:noFill/>
                </a:ln>
                <a:solidFill>
                  <a:schemeClr val="tx1"/>
                </a:solidFill>
                <a:effectLst/>
                <a:latin typeface="Calibri" panose="020F0502020204030204" pitchFamily="34" charset="0"/>
                <a:cs typeface="Calibri" panose="020F0502020204030204" pitchFamily="34" charset="0"/>
              </a:rPr>
              <a:t> IDENTIFIERS </a:t>
            </a:r>
            <a:r>
              <a:rPr kumimoji="0" lang="en-US" altLang="en-US" sz="10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to PROFILE: make profile from PROFILE tab, highlight, RIGHT pane TAGS, PROFILES &amp; … add. </a:t>
            </a: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lang="en-US" altLang="en-US" sz="1000" dirty="0">
                <a:latin typeface="Calibri" panose="020F0502020204030204" pitchFamily="34" charset="0"/>
                <a:cs typeface="Calibri" panose="020F0502020204030204" pitchFamily="34" charset="0"/>
              </a:rPr>
              <a:t>Email addresses</a:t>
            </a: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0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Instant messenger user names</a:t>
            </a: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lang="en-US" altLang="en-US" sz="1000" dirty="0">
                <a:latin typeface="Calibri" panose="020F0502020204030204" pitchFamily="34" charset="0"/>
                <a:cs typeface="Calibri" panose="020F0502020204030204" pitchFamily="34" charset="0"/>
              </a:rPr>
              <a:t>Social media user names</a:t>
            </a: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0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Windows User Account names</a:t>
            </a: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lang="en-US" altLang="en-US" sz="1000" dirty="0">
                <a:latin typeface="Calibri" panose="020F0502020204030204" pitchFamily="34" charset="0"/>
                <a:cs typeface="Calibri" panose="020F0502020204030204" pitchFamily="34" charset="0"/>
              </a:rPr>
              <a:t>Microsoft Office files authors from metadata</a:t>
            </a: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0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SID numbers from local registry </a:t>
            </a:r>
            <a:endParaRPr kumimoji="0" lang="en-US" altLang="en-US" sz="1600" b="0" i="0" u="none" strike="noStrike" cap="none" normalizeH="0" baseline="0" dirty="0">
              <a:ln>
                <a:noFill/>
              </a:ln>
              <a:solidFill>
                <a:srgbClr val="1E4E79"/>
              </a:solidFill>
              <a:effectLst/>
              <a:latin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sz="1600" b="1" u="sng" dirty="0"/>
              <a:t>3b Chat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Potentially-unsupported instant messaging client artifacts can be recovered using “Find More Artifacts”</a:t>
            </a:r>
            <a:endParaRPr kumimoji="0" lang="en-US" altLang="en-US" sz="1000" b="0" i="0" u="none" strike="noStrike" cap="none" normalizeH="0" baseline="0" dirty="0">
              <a:ln>
                <a:noFill/>
              </a:ln>
              <a:solidFill>
                <a:schemeClr val="tx1"/>
              </a:solidFill>
              <a:effectLst/>
            </a:endParaRPr>
          </a:p>
          <a:p>
            <a:pPr algn="l" rtl="0" fontAlgn="base"/>
            <a:r>
              <a:rPr lang="en-US" sz="1000" dirty="0">
                <a:solidFill>
                  <a:srgbClr val="000000"/>
                </a:solidFill>
              </a:rPr>
              <a:t>D</a:t>
            </a:r>
            <a:r>
              <a:rPr lang="en-US" sz="1000" b="0" i="0" dirty="0">
                <a:solidFill>
                  <a:srgbClr val="000000"/>
                </a:solidFill>
                <a:effectLst/>
              </a:rPr>
              <a:t>ropdown view option CONVERSATION VIEW groups into conversations. ROW view allows export of a REPORT </a:t>
            </a:r>
            <a:endParaRPr kumimoji="0" lang="en-US" altLang="en-US" sz="1400" b="0" i="0" u="none" strike="noStrike" cap="none" normalizeH="0" baseline="0" dirty="0">
              <a:ln>
                <a:noFill/>
              </a:ln>
              <a:solidFill>
                <a:srgbClr val="2E75B5"/>
              </a:solidFill>
              <a:effectLst/>
              <a:latin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2E75B5"/>
                </a:solidFill>
                <a:effectLst/>
                <a:latin typeface="Calibri" panose="020F0502020204030204" pitchFamily="34" charset="0"/>
                <a:cs typeface="Calibri" panose="020F0502020204030204" pitchFamily="34" charset="0"/>
              </a:rPr>
              <a:t>YAHOO MESSENGER </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At the processing stage: Yahoo OPTIONS  </a:t>
            </a:r>
            <a:endParaRPr kumimoji="0" lang="en-US" altLang="en-US" sz="1000" b="0" i="0" u="none" strike="noStrike" cap="none" normalizeH="0" baseline="0" dirty="0">
              <a:ln>
                <a:noFill/>
              </a:ln>
              <a:solidFill>
                <a:srgbClr val="000000"/>
              </a:solidFill>
              <a:effectLst/>
              <a:latin typeface="Segoe UI" panose="020B0502040204020203" pitchFamily="34" charset="0"/>
              <a:cs typeface="Segoe UI" panose="020B0502040204020203"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0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Manually enter usernames  or have AXIOM attempt to find usernames </a:t>
            </a:r>
            <a:endParaRPr kumimoji="0" lang="en-US" altLang="en-US" sz="1000" b="0" i="0" u="none" strike="noStrike" cap="none" normalizeH="0" baseline="0" dirty="0">
              <a:ln>
                <a:noFill/>
              </a:ln>
              <a:solidFill>
                <a:srgbClr val="000000"/>
              </a:solidFill>
              <a:effectLst/>
              <a:latin typeface="Calibri" panose="020F0502020204030204" pitchFamily="34" charset="0"/>
              <a:cs typeface="Calibri" panose="020F050202020403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0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Restrict date range to remove false positives </a:t>
            </a:r>
            <a:endParaRPr kumimoji="0" lang="en-US" altLang="en-US" sz="1000" b="0" i="0" u="none" strike="noStrike" cap="none" normalizeH="0" baseline="0" dirty="0">
              <a:ln>
                <a:noFill/>
              </a:ln>
              <a:solidFill>
                <a:srgbClr val="000000"/>
              </a:solidFill>
              <a:effectLst/>
              <a:latin typeface="Calibri" panose="020F0502020204030204" pitchFamily="34" charset="0"/>
              <a:cs typeface="Calibri" panose="020F0502020204030204" pitchFamily="34" charset="0"/>
            </a:endParaRPr>
          </a:p>
          <a:p>
            <a:pPr algn="l" rtl="0" fontAlgn="base"/>
            <a:r>
              <a:rPr lang="en-US" sz="1100" b="0" i="0" dirty="0">
                <a:solidFill>
                  <a:srgbClr val="2E75B5"/>
                </a:solidFill>
                <a:effectLst/>
              </a:rPr>
              <a:t>MAGNET AI CHAT CLASSIFICATION </a:t>
            </a:r>
            <a:r>
              <a:rPr lang="en-US" sz="1000" b="0" i="0" dirty="0">
                <a:solidFill>
                  <a:srgbClr val="000000"/>
                </a:solidFill>
                <a:effectLst/>
              </a:rPr>
              <a:t>To enable &gt; Process -&gt; Categorize chats </a:t>
            </a:r>
          </a:p>
          <a:p>
            <a:pPr algn="l" rtl="0" fontAlgn="base"/>
            <a:r>
              <a:rPr lang="en-US" sz="1100" b="0" i="0" dirty="0">
                <a:solidFill>
                  <a:srgbClr val="2E75B5"/>
                </a:solidFill>
                <a:effectLst/>
              </a:rPr>
              <a:t>SKYPE </a:t>
            </a:r>
          </a:p>
          <a:p>
            <a:pPr lvl="1" fontAlgn="base"/>
            <a:r>
              <a:rPr lang="en-US" sz="1000" b="0" i="0" dirty="0" err="1">
                <a:solidFill>
                  <a:srgbClr val="000000"/>
                </a:solidFill>
                <a:effectLst/>
              </a:rPr>
              <a:t>maindb</a:t>
            </a:r>
            <a:r>
              <a:rPr lang="en-US" sz="1000" b="0" i="0" dirty="0">
                <a:solidFill>
                  <a:srgbClr val="000000"/>
                </a:solidFill>
                <a:effectLst/>
              </a:rPr>
              <a:t> Tables: </a:t>
            </a:r>
          </a:p>
          <a:p>
            <a:pPr marL="628650" lvl="1" indent="-171450" fontAlgn="base">
              <a:buFont typeface="Arial" panose="020B0604020202020204" pitchFamily="34" charset="0"/>
              <a:buChar char="•"/>
            </a:pPr>
            <a:r>
              <a:rPr lang="en-US" sz="1000" b="0" i="0" dirty="0">
                <a:solidFill>
                  <a:srgbClr val="000000"/>
                </a:solidFill>
                <a:effectLst/>
              </a:rPr>
              <a:t>Calls </a:t>
            </a:r>
          </a:p>
          <a:p>
            <a:pPr marL="628650" lvl="1" indent="-171450" fontAlgn="base">
              <a:buFont typeface="Arial" panose="020B0604020202020204" pitchFamily="34" charset="0"/>
              <a:buChar char="•"/>
            </a:pPr>
            <a:r>
              <a:rPr lang="en-US" sz="1000" b="0" i="0" dirty="0">
                <a:solidFill>
                  <a:srgbClr val="000000"/>
                </a:solidFill>
                <a:effectLst/>
              </a:rPr>
              <a:t>Chat messages  </a:t>
            </a:r>
          </a:p>
          <a:p>
            <a:pPr marL="628650" lvl="1" indent="-171450" fontAlgn="base">
              <a:buFont typeface="Arial" panose="020B0604020202020204" pitchFamily="34" charset="0"/>
              <a:buChar char="•"/>
            </a:pPr>
            <a:r>
              <a:rPr lang="en-US" sz="1000" b="0" i="0" dirty="0" err="1">
                <a:solidFill>
                  <a:srgbClr val="000000"/>
                </a:solidFill>
                <a:effectLst/>
              </a:rPr>
              <a:t>Chatsync</a:t>
            </a:r>
            <a:r>
              <a:rPr lang="en-US" sz="1000" b="0" i="0" dirty="0">
                <a:solidFill>
                  <a:srgbClr val="000000"/>
                </a:solidFill>
                <a:effectLst/>
              </a:rPr>
              <a:t> messages </a:t>
            </a:r>
          </a:p>
          <a:p>
            <a:pPr marL="628650" lvl="1" indent="-171450" fontAlgn="base">
              <a:buFont typeface="Arial" panose="020B0604020202020204" pitchFamily="34" charset="0"/>
              <a:buChar char="•"/>
            </a:pPr>
            <a:r>
              <a:rPr lang="en-US" sz="1000" b="0" i="0" dirty="0">
                <a:solidFill>
                  <a:srgbClr val="000000"/>
                </a:solidFill>
                <a:effectLst/>
              </a:rPr>
              <a:t>Contacts </a:t>
            </a:r>
          </a:p>
          <a:p>
            <a:pPr marL="628650" lvl="1" indent="-171450" fontAlgn="base">
              <a:buFont typeface="Arial" panose="020B0604020202020204" pitchFamily="34" charset="0"/>
              <a:buChar char="•"/>
            </a:pPr>
            <a:r>
              <a:rPr lang="en-US" sz="1000" b="0" i="0" dirty="0">
                <a:solidFill>
                  <a:srgbClr val="000000"/>
                </a:solidFill>
                <a:effectLst/>
              </a:rPr>
              <a:t>IP addresses </a:t>
            </a:r>
          </a:p>
          <a:p>
            <a:pPr marL="628650" lvl="1" indent="-171450" fontAlgn="base">
              <a:buFont typeface="Arial" panose="020B0604020202020204" pitchFamily="34" charset="0"/>
              <a:buChar char="•"/>
            </a:pPr>
            <a:r>
              <a:rPr lang="en-US" sz="1000" b="0" i="0" dirty="0">
                <a:solidFill>
                  <a:srgbClr val="000000"/>
                </a:solidFill>
                <a:effectLst/>
              </a:rPr>
              <a:t>Media Cache </a:t>
            </a:r>
          </a:p>
          <a:p>
            <a:pPr marL="171450" indent="-171450" algn="l" rtl="0" fontAlgn="base">
              <a:buFont typeface="Arial" panose="020B0604020202020204" pitchFamily="34" charset="0"/>
              <a:buChar char="•"/>
            </a:pPr>
            <a:r>
              <a:rPr lang="en-US" sz="1000" b="0" i="0" dirty="0">
                <a:solidFill>
                  <a:srgbClr val="000000"/>
                </a:solidFill>
                <a:effectLst/>
              </a:rPr>
              <a:t>Content of the message is in the </a:t>
            </a:r>
            <a:r>
              <a:rPr lang="en-US" sz="1000" b="0" i="0" dirty="0" err="1">
                <a:solidFill>
                  <a:srgbClr val="000000"/>
                </a:solidFill>
                <a:effectLst/>
              </a:rPr>
              <a:t>body_xml</a:t>
            </a:r>
            <a:r>
              <a:rPr lang="en-US" sz="1000" b="0" i="0" dirty="0">
                <a:solidFill>
                  <a:srgbClr val="000000"/>
                </a:solidFill>
                <a:effectLst/>
              </a:rPr>
              <a:t> field </a:t>
            </a:r>
          </a:p>
          <a:p>
            <a:pPr marL="171450" indent="-171450" algn="l" rtl="0" fontAlgn="base">
              <a:buFont typeface="Arial" panose="020B0604020202020204" pitchFamily="34" charset="0"/>
              <a:buChar char="•"/>
            </a:pPr>
            <a:r>
              <a:rPr lang="en-US" sz="1000" b="0" i="0" dirty="0">
                <a:solidFill>
                  <a:srgbClr val="000000"/>
                </a:solidFill>
                <a:effectLst/>
              </a:rPr>
              <a:t>The </a:t>
            </a:r>
            <a:r>
              <a:rPr lang="en-US" sz="1000" b="0" i="0" dirty="0" err="1">
                <a:solidFill>
                  <a:srgbClr val="000000"/>
                </a:solidFill>
                <a:effectLst/>
              </a:rPr>
              <a:t>convo_id</a:t>
            </a:r>
            <a:r>
              <a:rPr lang="en-US" sz="1000" b="0" i="0" dirty="0">
                <a:solidFill>
                  <a:srgbClr val="000000"/>
                </a:solidFill>
                <a:effectLst/>
              </a:rPr>
              <a:t> value links the Messages table to the Conversations table </a:t>
            </a:r>
          </a:p>
          <a:p>
            <a:pPr marL="171450" indent="-171450" algn="l" rtl="0" fontAlgn="base">
              <a:buFont typeface="Arial" panose="020B0604020202020204" pitchFamily="34" charset="0"/>
              <a:buChar char="•"/>
            </a:pPr>
            <a:r>
              <a:rPr lang="en-US" sz="1000" b="0" i="0" dirty="0">
                <a:solidFill>
                  <a:srgbClr val="000000"/>
                </a:solidFill>
                <a:effectLst/>
              </a:rPr>
              <a:t>Skype Contacts artifacts parsed from Contacts table of the </a:t>
            </a:r>
            <a:r>
              <a:rPr lang="en-US" sz="1000" b="0" i="0" dirty="0" err="1">
                <a:solidFill>
                  <a:srgbClr val="000000"/>
                </a:solidFill>
                <a:effectLst/>
              </a:rPr>
              <a:t>main.db</a:t>
            </a:r>
            <a:r>
              <a:rPr lang="en-US" sz="1000" b="0" i="0" dirty="0">
                <a:solidFill>
                  <a:srgbClr val="000000"/>
                </a:solidFill>
                <a:effectLst/>
              </a:rPr>
              <a:t>. Contains </a:t>
            </a:r>
            <a:r>
              <a:rPr lang="en-US" sz="1000" b="0" i="0" dirty="0" err="1">
                <a:solidFill>
                  <a:srgbClr val="000000"/>
                </a:solidFill>
                <a:effectLst/>
              </a:rPr>
              <a:t>is_blocked</a:t>
            </a:r>
            <a:r>
              <a:rPr lang="en-US" sz="1000" b="0" i="0" dirty="0">
                <a:solidFill>
                  <a:srgbClr val="000000"/>
                </a:solidFill>
                <a:effectLst/>
              </a:rPr>
              <a:t> </a:t>
            </a:r>
            <a:r>
              <a:rPr lang="en-US" sz="1000" b="0" i="0" dirty="0" err="1">
                <a:solidFill>
                  <a:srgbClr val="000000"/>
                </a:solidFill>
                <a:effectLst/>
              </a:rPr>
              <a:t>Contact_Added</a:t>
            </a:r>
            <a:r>
              <a:rPr lang="en-US" sz="1000" b="0" i="0" dirty="0">
                <a:solidFill>
                  <a:srgbClr val="000000"/>
                </a:solidFill>
                <a:effectLst/>
              </a:rPr>
              <a:t> </a:t>
            </a:r>
          </a:p>
          <a:p>
            <a:pPr marL="171450" indent="-171450" algn="l" rtl="0" fontAlgn="base">
              <a:buFont typeface="Arial" panose="020B0604020202020204" pitchFamily="34" charset="0"/>
              <a:buChar char="•"/>
            </a:pPr>
            <a:r>
              <a:rPr lang="en-US" sz="1000" b="0" i="0" dirty="0">
                <a:solidFill>
                  <a:srgbClr val="000000"/>
                </a:solidFill>
                <a:effectLst/>
              </a:rPr>
              <a:t>The Skype IP Addresses artifacts, are parsed from proprietary *.</a:t>
            </a:r>
            <a:r>
              <a:rPr lang="en-US" sz="1000" b="0" i="0" dirty="0" err="1">
                <a:solidFill>
                  <a:srgbClr val="000000"/>
                </a:solidFill>
                <a:effectLst/>
              </a:rPr>
              <a:t>dat</a:t>
            </a:r>
            <a:r>
              <a:rPr lang="en-US" sz="1000" b="0" i="0" dirty="0">
                <a:solidFill>
                  <a:srgbClr val="000000"/>
                </a:solidFill>
                <a:effectLst/>
              </a:rPr>
              <a:t> files, in \</a:t>
            </a:r>
            <a:r>
              <a:rPr lang="en-US" sz="1000" b="0" i="0" dirty="0" err="1">
                <a:solidFill>
                  <a:srgbClr val="000000"/>
                </a:solidFill>
                <a:effectLst/>
              </a:rPr>
              <a:t>chatsync</a:t>
            </a:r>
            <a:r>
              <a:rPr lang="en-US" sz="1000" b="0" i="0" dirty="0">
                <a:solidFill>
                  <a:srgbClr val="000000"/>
                </a:solidFill>
                <a:effectLst/>
              </a:rPr>
              <a:t>\ folder structure. The File Offset value within the DETAILS pane identifies location of the IP address, stored as hex value, in the *.</a:t>
            </a:r>
            <a:r>
              <a:rPr lang="en-US" sz="1000" b="0" i="0" dirty="0" err="1">
                <a:solidFill>
                  <a:srgbClr val="000000"/>
                </a:solidFill>
                <a:effectLst/>
              </a:rPr>
              <a:t>dat</a:t>
            </a:r>
            <a:r>
              <a:rPr lang="en-US" sz="1000" b="0" i="0" dirty="0">
                <a:solidFill>
                  <a:srgbClr val="000000"/>
                </a:solidFill>
                <a:effectLst/>
              </a:rPr>
              <a:t> file. </a:t>
            </a:r>
          </a:p>
          <a:p>
            <a:pPr marL="171450" indent="-171450" algn="l" rtl="0" fontAlgn="base">
              <a:buFont typeface="Arial" panose="020B0604020202020204" pitchFamily="34" charset="0"/>
              <a:buChar char="•"/>
            </a:pPr>
            <a:r>
              <a:rPr lang="en-US" sz="1000" b="0" i="0" dirty="0">
                <a:solidFill>
                  <a:srgbClr val="000000"/>
                </a:solidFill>
                <a:effectLst/>
              </a:rPr>
              <a:t>Will have to change the dropdown option in SQLite viewer to Contacts </a:t>
            </a:r>
          </a:p>
          <a:p>
            <a:pPr marL="171450" indent="-171450" algn="l" rtl="0" fontAlgn="base">
              <a:buFont typeface="Arial" panose="020B0604020202020204" pitchFamily="34" charset="0"/>
              <a:buChar char="•"/>
            </a:pPr>
            <a:r>
              <a:rPr lang="en-US" sz="1000" b="0" i="0" dirty="0">
                <a:solidFill>
                  <a:srgbClr val="000000"/>
                </a:solidFill>
                <a:effectLst/>
              </a:rPr>
              <a:t>IP addresses parsed from proprietary *.</a:t>
            </a:r>
            <a:r>
              <a:rPr lang="en-US" sz="1000" b="0" i="0" dirty="0" err="1">
                <a:solidFill>
                  <a:srgbClr val="000000"/>
                </a:solidFill>
                <a:effectLst/>
              </a:rPr>
              <a:t>dat</a:t>
            </a:r>
            <a:r>
              <a:rPr lang="en-US" sz="1000" b="0" i="0" dirty="0">
                <a:solidFill>
                  <a:srgbClr val="000000"/>
                </a:solidFill>
                <a:effectLst/>
              </a:rPr>
              <a:t> files within \</a:t>
            </a:r>
            <a:r>
              <a:rPr lang="en-US" sz="1000" b="0" i="0" dirty="0" err="1">
                <a:solidFill>
                  <a:srgbClr val="000000"/>
                </a:solidFill>
                <a:effectLst/>
              </a:rPr>
              <a:t>chatsync</a:t>
            </a:r>
            <a:r>
              <a:rPr lang="en-US" sz="1000" b="0" i="0" dirty="0">
                <a:solidFill>
                  <a:srgbClr val="000000"/>
                </a:solidFill>
                <a:effectLst/>
              </a:rPr>
              <a:t>\ folder structure.  </a:t>
            </a:r>
          </a:p>
          <a:p>
            <a:pPr marL="171450" indent="-171450" algn="l" rtl="0" fontAlgn="base">
              <a:buFont typeface="Arial" panose="020B0604020202020204" pitchFamily="34" charset="0"/>
              <a:buChar char="•"/>
            </a:pPr>
            <a:r>
              <a:rPr lang="en-US" sz="1000" b="0" i="0" dirty="0">
                <a:solidFill>
                  <a:srgbClr val="000000"/>
                </a:solidFill>
                <a:effectLst/>
              </a:rPr>
              <a:t>IP Addresses &gt; select item in evidence &gt; select "File Offset 1120" in details pane or whatever File offset is &gt; This open </a:t>
            </a:r>
            <a:r>
              <a:rPr lang="en-US" sz="1000" b="0" i="0" dirty="0" err="1">
                <a:solidFill>
                  <a:srgbClr val="000000"/>
                </a:solidFill>
                <a:effectLst/>
              </a:rPr>
              <a:t>dat</a:t>
            </a:r>
            <a:r>
              <a:rPr lang="en-US" sz="1000" b="0" i="0" dirty="0">
                <a:solidFill>
                  <a:srgbClr val="000000"/>
                </a:solidFill>
                <a:effectLst/>
              </a:rPr>
              <a:t> file in evidence pane. </a:t>
            </a:r>
          </a:p>
        </p:txBody>
      </p:sp>
      <p:sp>
        <p:nvSpPr>
          <p:cNvPr id="6" name="TextBox 5">
            <a:extLst>
              <a:ext uri="{FF2B5EF4-FFF2-40B4-BE49-F238E27FC236}">
                <a16:creationId xmlns:a16="http://schemas.microsoft.com/office/drawing/2014/main" id="{FF64108B-7325-4CEB-8E07-772B7CC7CE6A}"/>
              </a:ext>
            </a:extLst>
          </p:cNvPr>
          <p:cNvSpPr txBox="1"/>
          <p:nvPr/>
        </p:nvSpPr>
        <p:spPr>
          <a:xfrm>
            <a:off x="6070334" y="518263"/>
            <a:ext cx="6121666" cy="6093976"/>
          </a:xfrm>
          <a:prstGeom prst="rect">
            <a:avLst/>
          </a:prstGeom>
          <a:noFill/>
        </p:spPr>
        <p:txBody>
          <a:bodyPr wrap="square">
            <a:spAutoFit/>
          </a:bodyPr>
          <a:lstStyle/>
          <a:p>
            <a:r>
              <a:rPr lang="en-US" sz="1000" dirty="0"/>
              <a:t>Following doc formats:</a:t>
            </a:r>
          </a:p>
          <a:p>
            <a:pPr marL="171450" indent="-171450">
              <a:buFont typeface="Arial" panose="020B0604020202020204" pitchFamily="34" charset="0"/>
              <a:buChar char="•"/>
            </a:pPr>
            <a:r>
              <a:rPr lang="en-US" sz="1000" dirty="0"/>
              <a:t>CSV</a:t>
            </a:r>
          </a:p>
          <a:p>
            <a:pPr marL="171450" indent="-171450">
              <a:buFont typeface="Arial" panose="020B0604020202020204" pitchFamily="34" charset="0"/>
              <a:buChar char="•"/>
            </a:pPr>
            <a:r>
              <a:rPr lang="en-US" sz="1000" dirty="0"/>
              <a:t>Hangul word processor</a:t>
            </a:r>
          </a:p>
          <a:p>
            <a:pPr marL="171450" indent="-171450">
              <a:buFont typeface="Arial" panose="020B0604020202020204" pitchFamily="34" charset="0"/>
              <a:buChar char="•"/>
            </a:pPr>
            <a:r>
              <a:rPr lang="en-US" sz="1000" dirty="0"/>
              <a:t>Excel, PowerPoint, Word</a:t>
            </a:r>
          </a:p>
          <a:p>
            <a:pPr marL="171450" indent="-171450">
              <a:buFont typeface="Arial" panose="020B0604020202020204" pitchFamily="34" charset="0"/>
              <a:buChar char="•"/>
            </a:pPr>
            <a:r>
              <a:rPr lang="en-US" sz="1000" dirty="0"/>
              <a:t>Corel Word Perfect Documents</a:t>
            </a:r>
          </a:p>
          <a:p>
            <a:pPr marL="171450" indent="-171450">
              <a:buFont typeface="Arial" panose="020B0604020202020204" pitchFamily="34" charset="0"/>
              <a:buChar char="•"/>
            </a:pPr>
            <a:r>
              <a:rPr lang="en-US" sz="1000" dirty="0"/>
              <a:t>OpenOffice Calc, Impress and Writer</a:t>
            </a:r>
          </a:p>
          <a:p>
            <a:pPr marL="171450" indent="-171450">
              <a:buFont typeface="Arial" panose="020B0604020202020204" pitchFamily="34" charset="0"/>
              <a:buChar char="•"/>
            </a:pPr>
            <a:r>
              <a:rPr lang="en-US" sz="1000" dirty="0"/>
              <a:t>PDF (Portable Document Format)</a:t>
            </a:r>
          </a:p>
          <a:p>
            <a:pPr marL="171450" indent="-171450">
              <a:buFont typeface="Arial" panose="020B0604020202020204" pitchFamily="34" charset="0"/>
              <a:buChar char="•"/>
            </a:pPr>
            <a:r>
              <a:rPr lang="en-US" sz="1000" dirty="0"/>
              <a:t>RTF</a:t>
            </a:r>
          </a:p>
          <a:p>
            <a:pPr marL="171450" indent="-171450">
              <a:buFont typeface="Arial" panose="020B0604020202020204" pitchFamily="34" charset="0"/>
              <a:buChar char="•"/>
            </a:pPr>
            <a:r>
              <a:rPr lang="en-US" sz="1000" dirty="0"/>
              <a:t>Text</a:t>
            </a:r>
          </a:p>
          <a:p>
            <a:pPr marL="171450" indent="-171450">
              <a:buFont typeface="Arial" panose="020B0604020202020204" pitchFamily="34" charset="0"/>
              <a:buChar char="•"/>
            </a:pPr>
            <a:endParaRPr lang="en-US" sz="1000" dirty="0"/>
          </a:p>
          <a:p>
            <a:pPr marL="171450" indent="-171450">
              <a:buFont typeface="Arial" panose="020B0604020202020204" pitchFamily="34" charset="0"/>
              <a:buChar char="•"/>
            </a:pPr>
            <a:r>
              <a:rPr lang="en-US" sz="1000" dirty="0"/>
              <a:t>Details pane 1. Rendering 2. Text</a:t>
            </a:r>
          </a:p>
          <a:p>
            <a:pPr marL="171450" indent="-171450">
              <a:buFont typeface="Arial" panose="020B0604020202020204" pitchFamily="34" charset="0"/>
              <a:buChar char="•"/>
            </a:pPr>
            <a:r>
              <a:rPr lang="en-US" sz="1000" dirty="0"/>
              <a:t>Searches from search bar should show up as yellow text in second PREVIEW pane</a:t>
            </a:r>
          </a:p>
          <a:p>
            <a:pPr marL="171450" indent="-171450">
              <a:buFont typeface="Arial" panose="020B0604020202020204" pitchFamily="34" charset="0"/>
              <a:buChar char="•"/>
            </a:pPr>
            <a:endParaRPr lang="en-US" sz="1000" dirty="0"/>
          </a:p>
          <a:p>
            <a:pPr algn="l" rtl="0" fontAlgn="base"/>
            <a:r>
              <a:rPr lang="en-US" sz="1000" b="0" i="0" dirty="0">
                <a:solidFill>
                  <a:srgbClr val="000000"/>
                </a:solidFill>
                <a:effectLst/>
              </a:rPr>
              <a:t>In addition to the ARTIFACT INFORMATION detailed in the previous section, The DETAILS card could </a:t>
            </a:r>
          </a:p>
          <a:p>
            <a:pPr algn="l" rtl="0" fontAlgn="base"/>
            <a:r>
              <a:rPr lang="en-US" sz="1000" b="0" i="0" dirty="0">
                <a:solidFill>
                  <a:srgbClr val="000000"/>
                </a:solidFill>
                <a:effectLst/>
              </a:rPr>
              <a:t>also include the following information that has been extracted from the internal document metadata: </a:t>
            </a:r>
          </a:p>
          <a:p>
            <a:pPr marL="171450" indent="-171450" algn="l" rtl="0" fontAlgn="base">
              <a:buFont typeface="Arial" panose="020B0604020202020204" pitchFamily="34" charset="0"/>
              <a:buChar char="•"/>
            </a:pPr>
            <a:r>
              <a:rPr lang="en-US" sz="1000" b="1" i="0" dirty="0">
                <a:solidFill>
                  <a:srgbClr val="000000"/>
                </a:solidFill>
                <a:effectLst/>
              </a:rPr>
              <a:t>Title </a:t>
            </a:r>
            <a:r>
              <a:rPr lang="en-US" sz="1000" b="0" i="0" dirty="0">
                <a:solidFill>
                  <a:srgbClr val="000000"/>
                </a:solidFill>
                <a:effectLst/>
              </a:rPr>
              <a:t>The title of the document. </a:t>
            </a:r>
          </a:p>
          <a:p>
            <a:pPr marL="171450" indent="-171450" algn="l" rtl="0" fontAlgn="base">
              <a:buFont typeface="Arial" panose="020B0604020202020204" pitchFamily="34" charset="0"/>
              <a:buChar char="•"/>
            </a:pPr>
            <a:r>
              <a:rPr lang="en-US" sz="1000" b="1" i="0" dirty="0">
                <a:solidFill>
                  <a:srgbClr val="000000"/>
                </a:solidFill>
                <a:effectLst/>
              </a:rPr>
              <a:t>Subject</a:t>
            </a:r>
            <a:r>
              <a:rPr lang="en-US" sz="1000" b="0" i="0" dirty="0">
                <a:solidFill>
                  <a:srgbClr val="000000"/>
                </a:solidFill>
                <a:effectLst/>
              </a:rPr>
              <a:t> The subject of the document. </a:t>
            </a:r>
          </a:p>
          <a:p>
            <a:pPr marL="171450" indent="-171450" algn="l" rtl="0" fontAlgn="base">
              <a:buFont typeface="Arial" panose="020B0604020202020204" pitchFamily="34" charset="0"/>
              <a:buChar char="•"/>
            </a:pPr>
            <a:r>
              <a:rPr lang="en-US" sz="1000" b="1" i="0" dirty="0">
                <a:solidFill>
                  <a:srgbClr val="000000"/>
                </a:solidFill>
                <a:effectLst/>
              </a:rPr>
              <a:t>Authors</a:t>
            </a:r>
            <a:r>
              <a:rPr lang="en-US" sz="1000" b="0" i="0" dirty="0">
                <a:solidFill>
                  <a:srgbClr val="000000"/>
                </a:solidFill>
                <a:effectLst/>
              </a:rPr>
              <a:t> The document authors. </a:t>
            </a:r>
          </a:p>
          <a:p>
            <a:pPr marL="171450" indent="-171450" algn="l" rtl="0" fontAlgn="base">
              <a:buFont typeface="Arial" panose="020B0604020202020204" pitchFamily="34" charset="0"/>
              <a:buChar char="•"/>
            </a:pPr>
            <a:r>
              <a:rPr lang="en-US" sz="1000" b="1" i="0" dirty="0">
                <a:solidFill>
                  <a:srgbClr val="000000"/>
                </a:solidFill>
                <a:effectLst/>
              </a:rPr>
              <a:t>Last Author </a:t>
            </a:r>
            <a:r>
              <a:rPr lang="en-US" sz="1000" b="0" i="0" dirty="0">
                <a:solidFill>
                  <a:srgbClr val="000000"/>
                </a:solidFill>
                <a:effectLst/>
              </a:rPr>
              <a:t>The last author of the document. </a:t>
            </a:r>
          </a:p>
          <a:p>
            <a:pPr marL="171450" indent="-171450" algn="l" rtl="0" fontAlgn="base">
              <a:buFont typeface="Arial" panose="020B0604020202020204" pitchFamily="34" charset="0"/>
              <a:buChar char="•"/>
            </a:pPr>
            <a:r>
              <a:rPr lang="en-US" sz="1000" b="1" i="0" dirty="0">
                <a:solidFill>
                  <a:srgbClr val="000000"/>
                </a:solidFill>
                <a:effectLst/>
              </a:rPr>
              <a:t>Company</a:t>
            </a:r>
            <a:r>
              <a:rPr lang="en-US" sz="1000" b="0" i="0" dirty="0">
                <a:solidFill>
                  <a:srgbClr val="000000"/>
                </a:solidFill>
                <a:effectLst/>
              </a:rPr>
              <a:t> The Company the software is registered to. </a:t>
            </a:r>
          </a:p>
          <a:p>
            <a:pPr marL="171450" indent="-171450" algn="l" rtl="0" fontAlgn="base">
              <a:buFont typeface="Arial" panose="020B0604020202020204" pitchFamily="34" charset="0"/>
              <a:buChar char="•"/>
            </a:pPr>
            <a:r>
              <a:rPr lang="en-US" sz="1000" b="1" i="0" dirty="0">
                <a:solidFill>
                  <a:srgbClr val="000000"/>
                </a:solidFill>
                <a:effectLst/>
              </a:rPr>
              <a:t>Keywords</a:t>
            </a:r>
            <a:r>
              <a:rPr lang="en-US" sz="1000" b="0" i="0" dirty="0">
                <a:solidFill>
                  <a:srgbClr val="000000"/>
                </a:solidFill>
                <a:effectLst/>
              </a:rPr>
              <a:t> Any keywords the user added to the document. </a:t>
            </a:r>
          </a:p>
          <a:p>
            <a:pPr marL="171450" indent="-171450" algn="l" rtl="0" fontAlgn="base">
              <a:buFont typeface="Arial" panose="020B0604020202020204" pitchFamily="34" charset="0"/>
              <a:buChar char="•"/>
            </a:pPr>
            <a:r>
              <a:rPr lang="en-US" sz="1000" b="1" i="0" dirty="0">
                <a:solidFill>
                  <a:srgbClr val="000000"/>
                </a:solidFill>
                <a:effectLst/>
              </a:rPr>
              <a:t>Comments</a:t>
            </a:r>
            <a:r>
              <a:rPr lang="en-US" sz="1000" b="0" i="0" dirty="0">
                <a:solidFill>
                  <a:srgbClr val="000000"/>
                </a:solidFill>
                <a:effectLst/>
              </a:rPr>
              <a:t> Any comments the user added to the document. </a:t>
            </a:r>
          </a:p>
          <a:p>
            <a:pPr marL="171450" indent="-171450" algn="l" rtl="0" fontAlgn="base">
              <a:buFont typeface="Arial" panose="020B0604020202020204" pitchFamily="34" charset="0"/>
              <a:buChar char="•"/>
            </a:pPr>
            <a:r>
              <a:rPr lang="en-US" sz="1000" b="1" i="0" dirty="0">
                <a:solidFill>
                  <a:srgbClr val="000000"/>
                </a:solidFill>
                <a:effectLst/>
              </a:rPr>
              <a:t>Created Date/Time </a:t>
            </a:r>
            <a:r>
              <a:rPr lang="en-US" sz="1000" b="0" i="0" dirty="0">
                <a:solidFill>
                  <a:srgbClr val="000000"/>
                </a:solidFill>
                <a:effectLst/>
              </a:rPr>
              <a:t>The date the document was. </a:t>
            </a:r>
          </a:p>
          <a:p>
            <a:pPr marL="171450" indent="-171450" algn="l" rtl="0" fontAlgn="base">
              <a:buFont typeface="Arial" panose="020B0604020202020204" pitchFamily="34" charset="0"/>
              <a:buChar char="•"/>
            </a:pPr>
            <a:r>
              <a:rPr lang="en-US" sz="1000" b="1" i="0" dirty="0">
                <a:solidFill>
                  <a:srgbClr val="000000"/>
                </a:solidFill>
                <a:effectLst/>
              </a:rPr>
              <a:t>Last Modified Date/Time </a:t>
            </a:r>
            <a:r>
              <a:rPr lang="en-US" sz="1000" b="0" i="0" dirty="0">
                <a:solidFill>
                  <a:srgbClr val="000000"/>
                </a:solidFill>
                <a:effectLst/>
              </a:rPr>
              <a:t>The date and time the document was last modified. </a:t>
            </a:r>
          </a:p>
          <a:p>
            <a:pPr marL="171450" indent="-171450" algn="l" rtl="0" fontAlgn="base">
              <a:buFont typeface="Arial" panose="020B0604020202020204" pitchFamily="34" charset="0"/>
              <a:buChar char="•"/>
            </a:pPr>
            <a:r>
              <a:rPr lang="en-US" sz="1000" b="1" i="0" dirty="0">
                <a:solidFill>
                  <a:srgbClr val="000000"/>
                </a:solidFill>
                <a:effectLst/>
              </a:rPr>
              <a:t>Last Printed Date/Time </a:t>
            </a:r>
            <a:r>
              <a:rPr lang="en-US" sz="1000" b="0" i="0" dirty="0">
                <a:solidFill>
                  <a:srgbClr val="000000"/>
                </a:solidFill>
                <a:effectLst/>
              </a:rPr>
              <a:t>The date the document was created. </a:t>
            </a:r>
          </a:p>
          <a:p>
            <a:pPr algn="l" rtl="0" fontAlgn="base"/>
            <a:r>
              <a:rPr lang="en-US" sz="1000" b="0" i="0" dirty="0">
                <a:solidFill>
                  <a:srgbClr val="000000"/>
                </a:solidFill>
                <a:effectLst/>
              </a:rPr>
              <a:t> </a:t>
            </a:r>
          </a:p>
          <a:p>
            <a:pPr algn="l" rtl="0" fontAlgn="base"/>
            <a:r>
              <a:rPr lang="en-US" sz="1000" b="0" i="0" dirty="0">
                <a:solidFill>
                  <a:srgbClr val="000000"/>
                </a:solidFill>
                <a:effectLst/>
              </a:rPr>
              <a:t>Metadata internal vs file system </a:t>
            </a:r>
          </a:p>
          <a:p>
            <a:pPr marL="171450" indent="-171450" algn="l" rtl="0" fontAlgn="base">
              <a:buFont typeface="Arial" panose="020B0604020202020204" pitchFamily="34" charset="0"/>
              <a:buChar char="•"/>
            </a:pPr>
            <a:r>
              <a:rPr lang="en-US" sz="1000" b="0" i="0" dirty="0">
                <a:solidFill>
                  <a:srgbClr val="000000"/>
                </a:solidFill>
                <a:effectLst/>
              </a:rPr>
              <a:t>The Last Modified Date/Time and Created Date/Time information is internal metadata that has been extracted from the file. </a:t>
            </a:r>
          </a:p>
          <a:p>
            <a:pPr marL="171450" indent="-171450" algn="l" rtl="0" fontAlgn="base">
              <a:buFont typeface="Arial" panose="020B0604020202020204" pitchFamily="34" charset="0"/>
              <a:buChar char="•"/>
            </a:pPr>
            <a:r>
              <a:rPr lang="en-US" sz="1000" b="0" i="0" dirty="0">
                <a:solidFill>
                  <a:srgbClr val="000000"/>
                </a:solidFill>
                <a:effectLst/>
              </a:rPr>
              <a:t>The File System Created Date/Time, and File System Last Modified Date/Time information has been extracted from the file system. On an NTFS formatted volume this information is stored in the $MFT file. </a:t>
            </a:r>
          </a:p>
          <a:p>
            <a:pPr algn="l" rtl="0" fontAlgn="base"/>
            <a:r>
              <a:rPr lang="en-US" sz="1000" b="0" i="0" dirty="0">
                <a:solidFill>
                  <a:srgbClr val="000000"/>
                </a:solidFill>
                <a:effectLst/>
              </a:rPr>
              <a:t> </a:t>
            </a:r>
          </a:p>
          <a:p>
            <a:pPr algn="l" rtl="0" fontAlgn="base"/>
            <a:r>
              <a:rPr lang="en-US" sz="1000" b="0" i="0" dirty="0">
                <a:solidFill>
                  <a:srgbClr val="000000"/>
                </a:solidFill>
                <a:effectLst/>
              </a:rPr>
              <a:t>CSV, RTF and Text documents do not have metadata. </a:t>
            </a:r>
          </a:p>
          <a:p>
            <a:pPr algn="l" rtl="0" fontAlgn="base"/>
            <a:endParaRPr lang="en-US" sz="1000" b="0" i="0" dirty="0">
              <a:solidFill>
                <a:srgbClr val="000000"/>
              </a:solidFill>
              <a:effectLst/>
            </a:endParaRPr>
          </a:p>
          <a:p>
            <a:pPr algn="l" rtl="0" fontAlgn="base"/>
            <a:r>
              <a:rPr lang="en-US" sz="1000" b="0" i="0" dirty="0">
                <a:solidFill>
                  <a:srgbClr val="000000"/>
                </a:solidFill>
                <a:effectLst/>
              </a:rPr>
              <a:t>Right click create report excel &gt; NEXT </a:t>
            </a:r>
          </a:p>
          <a:p>
            <a:pPr algn="l" rtl="0" fontAlgn="base"/>
            <a:endParaRPr lang="en-US" sz="1000" dirty="0">
              <a:solidFill>
                <a:srgbClr val="000000"/>
              </a:solidFill>
            </a:endParaRPr>
          </a:p>
          <a:p>
            <a:pPr algn="l" rtl="0" fontAlgn="base"/>
            <a:r>
              <a:rPr lang="en-US" sz="1000" b="0" i="0" dirty="0">
                <a:solidFill>
                  <a:srgbClr val="1E4E79"/>
                </a:solidFill>
                <a:effectLst/>
              </a:rPr>
              <a:t>CONNECTIONS </a:t>
            </a:r>
          </a:p>
          <a:p>
            <a:pPr algn="l" rtl="0" fontAlgn="base"/>
            <a:r>
              <a:rPr lang="en-US" sz="1000" b="0" i="0" dirty="0">
                <a:solidFill>
                  <a:srgbClr val="000000"/>
                </a:solidFill>
                <a:effectLst/>
              </a:rPr>
              <a:t>One off  : Tools → Build connections </a:t>
            </a:r>
          </a:p>
          <a:p>
            <a:pPr algn="l" rtl="0" fontAlgn="base"/>
            <a:r>
              <a:rPr lang="en-US" sz="1000" b="0" i="0" dirty="0">
                <a:solidFill>
                  <a:srgbClr val="000000"/>
                </a:solidFill>
                <a:effectLst/>
              </a:rPr>
              <a:t>Set to auto : Tools → Settings → Connections. </a:t>
            </a:r>
          </a:p>
        </p:txBody>
      </p:sp>
      <p:sp>
        <p:nvSpPr>
          <p:cNvPr id="3" name="TextBox 2">
            <a:extLst>
              <a:ext uri="{FF2B5EF4-FFF2-40B4-BE49-F238E27FC236}">
                <a16:creationId xmlns:a16="http://schemas.microsoft.com/office/drawing/2014/main" id="{AA3FA620-2E83-41A5-B9BE-0CB0994C3ADD}"/>
              </a:ext>
            </a:extLst>
          </p:cNvPr>
          <p:cNvSpPr txBox="1"/>
          <p:nvPr/>
        </p:nvSpPr>
        <p:spPr>
          <a:xfrm>
            <a:off x="5977289" y="9914"/>
            <a:ext cx="1522661" cy="369332"/>
          </a:xfrm>
          <a:prstGeom prst="rect">
            <a:avLst/>
          </a:prstGeom>
          <a:noFill/>
        </p:spPr>
        <p:txBody>
          <a:bodyPr wrap="none" rtlCol="0">
            <a:spAutoFit/>
          </a:bodyPr>
          <a:lstStyle/>
          <a:p>
            <a:r>
              <a:rPr lang="en-US" b="1" u="sng" dirty="0"/>
              <a:t>3c Documents</a:t>
            </a:r>
          </a:p>
        </p:txBody>
      </p:sp>
    </p:spTree>
    <p:extLst>
      <p:ext uri="{BB962C8B-B14F-4D97-AF65-F5344CB8AC3E}">
        <p14:creationId xmlns:p14="http://schemas.microsoft.com/office/powerpoint/2010/main" val="22247607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6AEF821-BB4F-434C-AB50-8B5FADE57698}"/>
              </a:ext>
            </a:extLst>
          </p:cNvPr>
          <p:cNvSpPr txBox="1"/>
          <p:nvPr/>
        </p:nvSpPr>
        <p:spPr>
          <a:xfrm>
            <a:off x="0" y="0"/>
            <a:ext cx="1003801" cy="369332"/>
          </a:xfrm>
          <a:prstGeom prst="rect">
            <a:avLst/>
          </a:prstGeom>
          <a:noFill/>
        </p:spPr>
        <p:txBody>
          <a:bodyPr wrap="none" rtlCol="0">
            <a:spAutoFit/>
          </a:bodyPr>
          <a:lstStyle/>
          <a:p>
            <a:r>
              <a:rPr lang="en-US" b="1" u="sng" dirty="0"/>
              <a:t>3d Email</a:t>
            </a:r>
          </a:p>
        </p:txBody>
      </p:sp>
      <p:sp>
        <p:nvSpPr>
          <p:cNvPr id="6" name="TextBox 5">
            <a:extLst>
              <a:ext uri="{FF2B5EF4-FFF2-40B4-BE49-F238E27FC236}">
                <a16:creationId xmlns:a16="http://schemas.microsoft.com/office/drawing/2014/main" id="{A7993880-0D5F-4EF0-8B54-7DA563B3D903}"/>
              </a:ext>
            </a:extLst>
          </p:cNvPr>
          <p:cNvSpPr txBox="1"/>
          <p:nvPr/>
        </p:nvSpPr>
        <p:spPr>
          <a:xfrm>
            <a:off x="0" y="335845"/>
            <a:ext cx="5888736" cy="6524863"/>
          </a:xfrm>
          <a:prstGeom prst="rect">
            <a:avLst/>
          </a:prstGeom>
          <a:noFill/>
        </p:spPr>
        <p:txBody>
          <a:bodyPr wrap="square">
            <a:spAutoFit/>
          </a:bodyPr>
          <a:lstStyle/>
          <a:p>
            <a:pPr algn="l" rtl="0" fontAlgn="base"/>
            <a:r>
              <a:rPr lang="en-US" sz="1000" b="0" i="0" dirty="0">
                <a:solidFill>
                  <a:srgbClr val="000000"/>
                </a:solidFill>
                <a:effectLst/>
              </a:rPr>
              <a:t>Select the EMAIL → EML(X) Files category. </a:t>
            </a:r>
          </a:p>
          <a:p>
            <a:pPr marL="171450" indent="-171450" algn="l" rtl="0" fontAlgn="base">
              <a:buFont typeface="Arial" panose="020B0604020202020204" pitchFamily="34" charset="0"/>
              <a:buChar char="•"/>
            </a:pPr>
            <a:r>
              <a:rPr lang="en-US" sz="1000" b="0" i="0" dirty="0">
                <a:solidFill>
                  <a:srgbClr val="000000"/>
                </a:solidFill>
                <a:effectLst/>
              </a:rPr>
              <a:t>Email Headers can be an excellent source of information as they often include: </a:t>
            </a:r>
          </a:p>
          <a:p>
            <a:pPr marL="628650" lvl="1" indent="-171450" fontAlgn="base">
              <a:buFont typeface="Arial" panose="020B0604020202020204" pitchFamily="34" charset="0"/>
              <a:buChar char="•"/>
            </a:pPr>
            <a:r>
              <a:rPr lang="en-US" sz="1000" b="0" i="0" dirty="0">
                <a:solidFill>
                  <a:srgbClr val="000000"/>
                </a:solidFill>
                <a:effectLst/>
              </a:rPr>
              <a:t>the source of an email,</a:t>
            </a:r>
          </a:p>
          <a:p>
            <a:pPr marL="628650" lvl="1" indent="-171450" fontAlgn="base">
              <a:buFont typeface="Arial" panose="020B0604020202020204" pitchFamily="34" charset="0"/>
              <a:buChar char="•"/>
            </a:pPr>
            <a:r>
              <a:rPr lang="en-US" sz="1000" b="0" i="0" dirty="0">
                <a:solidFill>
                  <a:srgbClr val="000000"/>
                </a:solidFill>
                <a:effectLst/>
              </a:rPr>
              <a:t>the email servers the message has passed through, </a:t>
            </a:r>
          </a:p>
          <a:p>
            <a:pPr marL="628650" lvl="1" indent="-171450" fontAlgn="base">
              <a:buFont typeface="Arial" panose="020B0604020202020204" pitchFamily="34" charset="0"/>
              <a:buChar char="•"/>
            </a:pPr>
            <a:r>
              <a:rPr lang="en-US" sz="1000" b="0" i="0" dirty="0">
                <a:solidFill>
                  <a:srgbClr val="000000"/>
                </a:solidFill>
                <a:effectLst/>
              </a:rPr>
              <a:t>IP addresses of the sender and the email servers, </a:t>
            </a:r>
          </a:p>
          <a:p>
            <a:pPr marL="628650" lvl="1" indent="-171450" fontAlgn="base">
              <a:buFont typeface="Arial" panose="020B0604020202020204" pitchFamily="34" charset="0"/>
              <a:buChar char="•"/>
            </a:pPr>
            <a:r>
              <a:rPr lang="en-US" sz="1000" b="0" i="0" dirty="0">
                <a:solidFill>
                  <a:srgbClr val="000000"/>
                </a:solidFill>
                <a:effectLst/>
              </a:rPr>
              <a:t>the email client used to send the message, </a:t>
            </a:r>
          </a:p>
          <a:p>
            <a:pPr marL="628650" lvl="1" indent="-171450" fontAlgn="base">
              <a:buFont typeface="Arial" panose="020B0604020202020204" pitchFamily="34" charset="0"/>
              <a:buChar char="•"/>
            </a:pPr>
            <a:r>
              <a:rPr lang="en-US" sz="1000" b="0" i="0" dirty="0">
                <a:solidFill>
                  <a:srgbClr val="000000"/>
                </a:solidFill>
                <a:effectLst/>
              </a:rPr>
              <a:t>true email address of the sender e.g. if a message is sent from a group mailbox the header will also include the email address of the person actually sending</a:t>
            </a:r>
            <a:r>
              <a:rPr lang="en-US" sz="1000" dirty="0">
                <a:solidFill>
                  <a:srgbClr val="000000"/>
                </a:solidFill>
              </a:rPr>
              <a:t> </a:t>
            </a:r>
            <a:r>
              <a:rPr lang="en-US" sz="1000" b="0" i="0" dirty="0">
                <a:solidFill>
                  <a:srgbClr val="000000"/>
                </a:solidFill>
                <a:effectLst/>
              </a:rPr>
              <a:t>message.  </a:t>
            </a:r>
          </a:p>
          <a:p>
            <a:pPr marL="171450" indent="-171450" algn="l" rtl="0" fontAlgn="base">
              <a:buFont typeface="Arial" panose="020B0604020202020204" pitchFamily="34" charset="0"/>
              <a:buChar char="•"/>
            </a:pPr>
            <a:r>
              <a:rPr lang="en-US" sz="1000" dirty="0">
                <a:solidFill>
                  <a:srgbClr val="000000"/>
                </a:solidFill>
              </a:rPr>
              <a:t>E</a:t>
            </a:r>
            <a:r>
              <a:rPr lang="en-US" sz="1000" b="0" i="0" dirty="0">
                <a:solidFill>
                  <a:srgbClr val="000000"/>
                </a:solidFill>
                <a:effectLst/>
              </a:rPr>
              <a:t>ach email server timestamps the header during transit.  </a:t>
            </a:r>
          </a:p>
          <a:p>
            <a:pPr marL="171450" indent="-171450" algn="l" rtl="0" fontAlgn="base">
              <a:buFont typeface="Arial" panose="020B0604020202020204" pitchFamily="34" charset="0"/>
              <a:buChar char="•"/>
            </a:pPr>
            <a:r>
              <a:rPr lang="en-US" sz="1000" b="0" i="0" dirty="0">
                <a:solidFill>
                  <a:srgbClr val="000000"/>
                </a:solidFill>
                <a:effectLst/>
              </a:rPr>
              <a:t>As these timestamps are placed in the header after departing the originating computer, these timestamps can be trusted more than the sent date and time detailed on the email itself.  </a:t>
            </a:r>
          </a:p>
          <a:p>
            <a:pPr marL="171450" indent="-171450" algn="l" rtl="0" fontAlgn="base">
              <a:buFont typeface="Arial" panose="020B0604020202020204" pitchFamily="34" charset="0"/>
              <a:buChar char="•"/>
            </a:pPr>
            <a:r>
              <a:rPr lang="en-US" sz="1000" b="0" i="0" dirty="0">
                <a:solidFill>
                  <a:srgbClr val="000000"/>
                </a:solidFill>
                <a:effectLst/>
              </a:rPr>
              <a:t>If individual is manipulating a timeline, email Headers ascertain true date/time message sent. </a:t>
            </a:r>
          </a:p>
          <a:p>
            <a:pPr marL="171450" indent="-171450" algn="l" rtl="0" fontAlgn="base">
              <a:buFont typeface="Arial" panose="020B0604020202020204" pitchFamily="34" charset="0"/>
              <a:buChar char="•"/>
            </a:pPr>
            <a:r>
              <a:rPr lang="en-US" sz="1000" b="0" i="0" dirty="0">
                <a:solidFill>
                  <a:srgbClr val="000000"/>
                </a:solidFill>
                <a:effectLst/>
              </a:rPr>
              <a:t>The metadata and content of email messages can be extracted into an artifact report</a:t>
            </a:r>
            <a:endParaRPr lang="en-US" sz="1000" dirty="0">
              <a:solidFill>
                <a:srgbClr val="000000"/>
              </a:solidFill>
            </a:endParaRPr>
          </a:p>
          <a:p>
            <a:pPr marL="171450" indent="-171450" algn="l" rtl="0" fontAlgn="base">
              <a:buFont typeface="Arial" panose="020B0604020202020204" pitchFamily="34" charset="0"/>
              <a:buChar char="•"/>
            </a:pPr>
            <a:r>
              <a:rPr lang="en-US" sz="1000" dirty="0">
                <a:solidFill>
                  <a:srgbClr val="000000"/>
                </a:solidFill>
              </a:rPr>
              <a:t>Common </a:t>
            </a:r>
            <a:r>
              <a:rPr lang="en-US" sz="1000" b="0" i="0" dirty="0">
                <a:solidFill>
                  <a:srgbClr val="000000"/>
                </a:solidFill>
                <a:effectLst/>
              </a:rPr>
              <a:t>EMAIL report: HTML. </a:t>
            </a:r>
            <a:r>
              <a:rPr lang="en-US" sz="1000" dirty="0">
                <a:solidFill>
                  <a:srgbClr val="000000"/>
                </a:solidFill>
              </a:rPr>
              <a:t>If</a:t>
            </a:r>
            <a:r>
              <a:rPr lang="en-US" sz="1000" b="0" i="0" dirty="0">
                <a:solidFill>
                  <a:srgbClr val="000000"/>
                </a:solidFill>
                <a:effectLst/>
              </a:rPr>
              <a:t> emails </a:t>
            </a:r>
            <a:r>
              <a:rPr lang="en-US" sz="1000" b="0" i="0" dirty="0" err="1">
                <a:solidFill>
                  <a:srgbClr val="000000"/>
                </a:solidFill>
                <a:effectLst/>
              </a:rPr>
              <a:t>orig</a:t>
            </a:r>
            <a:r>
              <a:rPr lang="en-US" sz="1000" b="0" i="0" dirty="0">
                <a:solidFill>
                  <a:srgbClr val="000000"/>
                </a:solidFill>
                <a:effectLst/>
              </a:rPr>
              <a:t> from PST/OST: export to new PST container (below)</a:t>
            </a:r>
          </a:p>
          <a:p>
            <a:pPr marL="171450" indent="-171450" algn="l" rtl="0" fontAlgn="base">
              <a:buFont typeface="Arial" panose="020B0604020202020204" pitchFamily="34" charset="0"/>
              <a:buChar char="•"/>
            </a:pPr>
            <a:r>
              <a:rPr lang="en-US" sz="1000" b="0" i="0" dirty="0">
                <a:solidFill>
                  <a:srgbClr val="000000"/>
                </a:solidFill>
                <a:effectLst/>
              </a:rPr>
              <a:t>Right-click in the EVIDENCE pane on email selection and select Create report / export. </a:t>
            </a:r>
          </a:p>
          <a:p>
            <a:pPr marL="171450" indent="-171450" algn="l" rtl="0" fontAlgn="base">
              <a:buFont typeface="Arial" panose="020B0604020202020204" pitchFamily="34" charset="0"/>
              <a:buChar char="•"/>
            </a:pPr>
            <a:r>
              <a:rPr lang="en-US" sz="1000" b="0" i="0" dirty="0">
                <a:solidFill>
                  <a:srgbClr val="000000"/>
                </a:solidFill>
                <a:effectLst/>
              </a:rPr>
              <a:t>Click BROWSE next to the File path and save the report to a folder \Outlook Emails\</a:t>
            </a:r>
          </a:p>
          <a:p>
            <a:pPr marL="171450" indent="-171450" algn="l" rtl="0" fontAlgn="base">
              <a:buFont typeface="Arial" panose="020B0604020202020204" pitchFamily="34" charset="0"/>
              <a:buChar char="•"/>
            </a:pPr>
            <a:r>
              <a:rPr lang="en-US" sz="1000" b="0" i="0" dirty="0">
                <a:solidFill>
                  <a:srgbClr val="000000"/>
                </a:solidFill>
                <a:effectLst/>
              </a:rPr>
              <a:t>In the Export type drop-down select PST. (enabled as Outlook Emails care sourced from a PST/OST file</a:t>
            </a:r>
            <a:r>
              <a:rPr lang="en-US" sz="1000" dirty="0">
                <a:solidFill>
                  <a:srgbClr val="000000"/>
                </a:solidFill>
              </a:rPr>
              <a:t>s)</a:t>
            </a:r>
            <a:endParaRPr lang="en-US" sz="1000" b="0" i="0" dirty="0">
              <a:solidFill>
                <a:srgbClr val="000000"/>
              </a:solidFill>
              <a:effectLst/>
            </a:endParaRPr>
          </a:p>
          <a:p>
            <a:pPr marL="171450" indent="-171450" algn="l" rtl="0" fontAlgn="base">
              <a:buFont typeface="Arial" panose="020B0604020202020204" pitchFamily="34" charset="0"/>
              <a:buChar char="•"/>
            </a:pPr>
            <a:r>
              <a:rPr lang="en-US" sz="1000" b="0" i="0" dirty="0">
                <a:solidFill>
                  <a:srgbClr val="000000"/>
                </a:solidFill>
                <a:effectLst/>
              </a:rPr>
              <a:t>Select Outlook messages in the current view for the ITEMS TO INCLUDE. </a:t>
            </a:r>
          </a:p>
          <a:p>
            <a:pPr marL="171450" indent="-171450" algn="l" rtl="0" fontAlgn="base">
              <a:buFont typeface="Arial" panose="020B0604020202020204" pitchFamily="34" charset="0"/>
              <a:buChar char="•"/>
            </a:pPr>
            <a:r>
              <a:rPr lang="en-US" sz="1000" b="0" i="0" dirty="0">
                <a:solidFill>
                  <a:srgbClr val="000000"/>
                </a:solidFill>
                <a:effectLst/>
              </a:rPr>
              <a:t>There is no option to select the LEVEL OF DETAIL. Click CREATE , and when the message Export to PST complete appears, click OPEN. </a:t>
            </a:r>
          </a:p>
          <a:p>
            <a:pPr marL="171450" indent="-171450" algn="l" rtl="0" fontAlgn="base">
              <a:buFont typeface="Arial" panose="020B0604020202020204" pitchFamily="34" charset="0"/>
              <a:buChar char="•"/>
            </a:pPr>
            <a:r>
              <a:rPr lang="en-US" sz="1000" b="0" i="0" dirty="0">
                <a:solidFill>
                  <a:srgbClr val="000000"/>
                </a:solidFill>
                <a:effectLst/>
              </a:rPr>
              <a:t>If Microsoft Outlook is installed on your workstation, open the exported PST file and view the content. </a:t>
            </a:r>
            <a:endParaRPr lang="en-US" sz="1000" dirty="0">
              <a:solidFill>
                <a:srgbClr val="000000"/>
              </a:solidFill>
            </a:endParaRPr>
          </a:p>
          <a:p>
            <a:pPr fontAlgn="base"/>
            <a:r>
              <a:rPr lang="en-US" b="1" u="sng" dirty="0"/>
              <a:t>3e Media</a:t>
            </a:r>
          </a:p>
          <a:p>
            <a:pPr marL="171450" indent="-171450" algn="l" rtl="0" fontAlgn="base">
              <a:buFont typeface="Arial" panose="020B0604020202020204" pitchFamily="34" charset="0"/>
              <a:buChar char="•"/>
            </a:pPr>
            <a:r>
              <a:rPr lang="en-US" sz="1000" b="0" i="0" dirty="0">
                <a:solidFill>
                  <a:srgbClr val="000000"/>
                </a:solidFill>
                <a:effectLst/>
                <a:latin typeface="Calibri" panose="020F0502020204030204" pitchFamily="34" charset="0"/>
              </a:rPr>
              <a:t>AXIOM Process first parses any MEDIA artifacts from evidence file(s), then searches for &amp; carves any MEDIA artifacts from within other files on disk, as well as file slack, uninitialized file areas and unallocated space</a:t>
            </a:r>
            <a:endParaRPr lang="en-US" sz="1000" b="0" i="0" dirty="0">
              <a:solidFill>
                <a:srgbClr val="000000"/>
              </a:solidFill>
              <a:effectLst/>
              <a:latin typeface="Segoe UI" panose="020B0502040204020203" pitchFamily="34" charset="0"/>
            </a:endParaRPr>
          </a:p>
          <a:p>
            <a:pPr marL="171450" indent="-171450" algn="l" rtl="0" fontAlgn="base">
              <a:buFont typeface="Arial" panose="020B0604020202020204" pitchFamily="34" charset="0"/>
              <a:buChar char="•"/>
            </a:pPr>
            <a:r>
              <a:rPr lang="en-US" sz="1000" b="0" i="0" dirty="0">
                <a:solidFill>
                  <a:srgbClr val="000000"/>
                </a:solidFill>
                <a:effectLst/>
                <a:latin typeface="Calibri" panose="020F0502020204030204" pitchFamily="34" charset="0"/>
              </a:rPr>
              <a:t>The supported picture formats include: JPG, GIF, PNG, BMP, and many RAW image formats.  </a:t>
            </a:r>
            <a:endParaRPr lang="en-US" sz="1000" b="0" i="0" dirty="0">
              <a:solidFill>
                <a:srgbClr val="000000"/>
              </a:solidFill>
              <a:effectLst/>
              <a:latin typeface="Segoe UI" panose="020B0502040204020203" pitchFamily="34" charset="0"/>
            </a:endParaRPr>
          </a:p>
          <a:p>
            <a:pPr marL="171450" indent="-171450" algn="l" rtl="0" fontAlgn="base">
              <a:buFont typeface="Arial" panose="020B0604020202020204" pitchFamily="34" charset="0"/>
              <a:buChar char="•"/>
            </a:pPr>
            <a:r>
              <a:rPr lang="en-US" sz="1000" b="0" i="0" dirty="0">
                <a:solidFill>
                  <a:srgbClr val="000000"/>
                </a:solidFill>
                <a:effectLst/>
                <a:latin typeface="Calibri" panose="020F0502020204030204" pitchFamily="34" charset="0"/>
              </a:rPr>
              <a:t>The video formats include: MPEG, AVI, MOV, and additional RAW video formats </a:t>
            </a:r>
            <a:endParaRPr lang="en-US" sz="1000" b="0" i="0" dirty="0">
              <a:solidFill>
                <a:srgbClr val="000000"/>
              </a:solidFill>
              <a:effectLst/>
              <a:latin typeface="Segoe UI" panose="020B0502040204020203" pitchFamily="34" charset="0"/>
            </a:endParaRPr>
          </a:p>
          <a:p>
            <a:pPr marL="171450" indent="-171450" algn="l" rtl="0" fontAlgn="base">
              <a:buFont typeface="Arial" panose="020B0604020202020204" pitchFamily="34" charset="0"/>
              <a:buChar char="•"/>
            </a:pPr>
            <a:r>
              <a:rPr lang="en-US" sz="1000" b="0" i="0" dirty="0">
                <a:solidFill>
                  <a:srgbClr val="000000"/>
                </a:solidFill>
                <a:effectLst/>
                <a:latin typeface="Calibri" panose="020F0502020204030204" pitchFamily="34" charset="0"/>
              </a:rPr>
              <a:t>Pictures better viewed in Thumbnail View </a:t>
            </a:r>
            <a:endParaRPr lang="en-US" sz="1000" b="0" i="0" dirty="0">
              <a:solidFill>
                <a:srgbClr val="000000"/>
              </a:solidFill>
              <a:effectLst/>
              <a:latin typeface="Segoe UI" panose="020B0502040204020203" pitchFamily="34" charset="0"/>
            </a:endParaRPr>
          </a:p>
          <a:p>
            <a:pPr marL="171450" indent="-171450" algn="l" rtl="0" fontAlgn="base">
              <a:buFont typeface="Arial" panose="020B0604020202020204" pitchFamily="34" charset="0"/>
              <a:buChar char="•"/>
            </a:pPr>
            <a:r>
              <a:rPr lang="en-US" sz="1000" b="0" i="0" dirty="0">
                <a:solidFill>
                  <a:srgbClr val="000000"/>
                </a:solidFill>
                <a:effectLst/>
                <a:latin typeface="Calibri" panose="020F0502020204030204" pitchFamily="34" charset="0"/>
              </a:rPr>
              <a:t>If, at the time of processing, Extract EXIF data was selected in the PICTURES options the DETAILS pane for each Picture artifact will include any EXIF data contained within the file. </a:t>
            </a:r>
          </a:p>
          <a:p>
            <a:pPr algn="l" rtl="0" fontAlgn="base"/>
            <a:r>
              <a:rPr lang="en-US" sz="1000" b="0" i="0" dirty="0">
                <a:solidFill>
                  <a:schemeClr val="accent1">
                    <a:lumMod val="75000"/>
                  </a:schemeClr>
                </a:solidFill>
                <a:effectLst/>
                <a:latin typeface="Calibri" panose="020F0502020204030204" pitchFamily="34" charset="0"/>
              </a:rPr>
              <a:t>VIDEOS </a:t>
            </a:r>
            <a:endParaRPr lang="en-US" sz="1000" b="0" i="0" dirty="0">
              <a:solidFill>
                <a:schemeClr val="accent1">
                  <a:lumMod val="75000"/>
                </a:schemeClr>
              </a:solidFill>
              <a:effectLst/>
              <a:latin typeface="Segoe UI" panose="020B0502040204020203" pitchFamily="34" charset="0"/>
            </a:endParaRPr>
          </a:p>
          <a:p>
            <a:pPr marL="171450" indent="-171450" algn="l" rtl="0" fontAlgn="base">
              <a:buFont typeface="Arial" panose="020B0604020202020204" pitchFamily="34" charset="0"/>
              <a:buChar char="•"/>
            </a:pPr>
            <a:r>
              <a:rPr lang="en-US" sz="1000" b="0" i="0" dirty="0">
                <a:solidFill>
                  <a:srgbClr val="000000"/>
                </a:solidFill>
                <a:effectLst/>
                <a:latin typeface="Calibri" panose="020F0502020204030204" pitchFamily="34" charset="0"/>
              </a:rPr>
              <a:t>If, at the time of processing, Create a preview using still frames was selected in the VIDEO options the DETAILS pane for each VIDEO artifact will include a PREVIEW card that is a filmstrip of the video content. </a:t>
            </a:r>
            <a:endParaRPr lang="en-US" sz="1000" b="0" i="0" dirty="0">
              <a:solidFill>
                <a:srgbClr val="000000"/>
              </a:solidFill>
              <a:effectLst/>
              <a:latin typeface="Segoe UI" panose="020B0502040204020203" pitchFamily="34" charset="0"/>
            </a:endParaRPr>
          </a:p>
          <a:p>
            <a:pPr marL="171450" indent="-171450" algn="l" rtl="0" fontAlgn="base">
              <a:buFont typeface="Arial" panose="020B0604020202020204" pitchFamily="34" charset="0"/>
              <a:buChar char="•"/>
            </a:pPr>
            <a:r>
              <a:rPr lang="en-US" sz="1000" b="0" i="0" dirty="0">
                <a:solidFill>
                  <a:srgbClr val="000000"/>
                </a:solidFill>
                <a:effectLst/>
                <a:latin typeface="Calibri" panose="020F0502020204030204" pitchFamily="34" charset="0"/>
              </a:rPr>
              <a:t>If, at the time of processing, Save videos up to was selected in the VIDEOS options the DETAILS pane for each VIDEO artifact will also include a playable PREVIEW card </a:t>
            </a:r>
            <a:endParaRPr lang="en-US" sz="1000" b="0" i="0" dirty="0">
              <a:solidFill>
                <a:srgbClr val="1E4E79"/>
              </a:solidFill>
              <a:effectLst/>
              <a:latin typeface="Calibri" panose="020F0502020204030204" pitchFamily="34" charset="0"/>
            </a:endParaRPr>
          </a:p>
          <a:p>
            <a:pPr algn="l" rtl="0" fontAlgn="base"/>
            <a:r>
              <a:rPr lang="en-US" sz="1000" b="0" i="0" dirty="0">
                <a:solidFill>
                  <a:srgbClr val="1E4E79"/>
                </a:solidFill>
                <a:effectLst/>
                <a:latin typeface="Calibri" panose="020F0502020204030204" pitchFamily="34" charset="0"/>
              </a:rPr>
              <a:t>CATEGORIZING PICTURES USING MAGNET.AI </a:t>
            </a:r>
            <a:endParaRPr lang="en-US" sz="1000" b="0" i="0" dirty="0">
              <a:solidFill>
                <a:srgbClr val="1E4E79"/>
              </a:solidFill>
              <a:effectLst/>
              <a:latin typeface="Segoe UI" panose="020B0502040204020203" pitchFamily="34" charset="0"/>
            </a:endParaRPr>
          </a:p>
          <a:p>
            <a:pPr marL="171450" indent="-171450" algn="l" rtl="0" fontAlgn="base">
              <a:buFont typeface="Arial" panose="020B0604020202020204" pitchFamily="34" charset="0"/>
              <a:buChar char="•"/>
            </a:pPr>
            <a:r>
              <a:rPr lang="en-US" sz="1000" b="0" i="0" dirty="0">
                <a:solidFill>
                  <a:srgbClr val="000000"/>
                </a:solidFill>
                <a:effectLst/>
                <a:latin typeface="Calibri" panose="020F0502020204030204" pitchFamily="34" charset="0"/>
              </a:rPr>
              <a:t>Magnet.AI, can be used to help quickly identify picture content of interest within the case.  </a:t>
            </a:r>
            <a:endParaRPr lang="en-US" sz="1000" b="0" i="0" dirty="0">
              <a:solidFill>
                <a:srgbClr val="000000"/>
              </a:solidFill>
              <a:effectLst/>
              <a:latin typeface="Segoe UI" panose="020B0502040204020203" pitchFamily="34" charset="0"/>
            </a:endParaRPr>
          </a:p>
          <a:p>
            <a:pPr marL="171450" indent="-171450" algn="l" rtl="0" fontAlgn="base">
              <a:buFont typeface="Arial" panose="020B0604020202020204" pitchFamily="34" charset="0"/>
              <a:buChar char="•"/>
            </a:pPr>
            <a:r>
              <a:rPr lang="en-US" sz="1000" b="0" i="0" dirty="0">
                <a:solidFill>
                  <a:srgbClr val="000000"/>
                </a:solidFill>
                <a:effectLst/>
                <a:latin typeface="Calibri" panose="020F0502020204030204" pitchFamily="34" charset="0"/>
              </a:rPr>
              <a:t>When the CATEGORIZE PICTURES process is started within AXIOM Examine, Magnet.AI identifies/tags picture content matching selected criteria, reducing need to manually sort through thousands of images. </a:t>
            </a:r>
            <a:endParaRPr lang="en-US" sz="1000" b="0" i="0" dirty="0">
              <a:solidFill>
                <a:srgbClr val="000000"/>
              </a:solidFill>
              <a:effectLst/>
              <a:latin typeface="Segoe UI" panose="020B0502040204020203" pitchFamily="34" charset="0"/>
            </a:endParaRPr>
          </a:p>
          <a:p>
            <a:pPr marL="171450" indent="-171450" algn="l" rtl="0" fontAlgn="base">
              <a:buFont typeface="Arial" panose="020B0604020202020204" pitchFamily="34" charset="0"/>
              <a:buChar char="•"/>
            </a:pPr>
            <a:r>
              <a:rPr lang="en-US" sz="1000" i="0" dirty="0">
                <a:solidFill>
                  <a:srgbClr val="000000"/>
                </a:solidFill>
                <a:effectLst/>
                <a:latin typeface="Calibri" panose="020F0502020204030204" pitchFamily="34" charset="0"/>
              </a:rPr>
              <a:t>Can categorize on the fly… </a:t>
            </a:r>
            <a:r>
              <a:rPr lang="en-US" sz="1000" b="1" i="0" dirty="0">
                <a:solidFill>
                  <a:srgbClr val="000000"/>
                </a:solidFill>
                <a:effectLst/>
                <a:latin typeface="Calibri" panose="020F0502020204030204" pitchFamily="34" charset="0"/>
              </a:rPr>
              <a:t>Process → Categorize pictures: select tags</a:t>
            </a:r>
            <a:r>
              <a:rPr lang="en-US" sz="1000" b="0" i="0" dirty="0">
                <a:solidFill>
                  <a:srgbClr val="000000"/>
                </a:solidFill>
                <a:effectLst/>
                <a:latin typeface="Calibri" panose="020F0502020204030204" pitchFamily="34" charset="0"/>
              </a:rPr>
              <a:t> </a:t>
            </a:r>
            <a:r>
              <a:rPr lang="en-US" sz="1000" b="0" i="0" dirty="0">
                <a:solidFill>
                  <a:srgbClr val="000000"/>
                </a:solidFill>
                <a:effectLst/>
                <a:latin typeface="Calibri" panose="020F0502020204030204" pitchFamily="34" charset="0"/>
                <a:sym typeface="Wingdings" panose="05000000000000000000" pitchFamily="2" charset="2"/>
              </a:rPr>
              <a:t> Case Dashboard for tags</a:t>
            </a:r>
            <a:endParaRPr lang="en-US" sz="1000" b="0" i="0" dirty="0">
              <a:solidFill>
                <a:srgbClr val="000000"/>
              </a:solidFill>
              <a:effectLst/>
              <a:latin typeface="Segoe UI" panose="020B0502040204020203" pitchFamily="34" charset="0"/>
            </a:endParaRPr>
          </a:p>
          <a:p>
            <a:pPr marL="171450" indent="-171450" algn="l" rtl="0" fontAlgn="base">
              <a:buFont typeface="Arial" panose="020B0604020202020204" pitchFamily="34" charset="0"/>
              <a:buChar char="•"/>
            </a:pPr>
            <a:r>
              <a:rPr lang="en-US" sz="1000" b="0" i="0" dirty="0">
                <a:solidFill>
                  <a:srgbClr val="000000"/>
                </a:solidFill>
                <a:effectLst/>
                <a:latin typeface="Calibri" panose="020F0502020204030204" pitchFamily="34" charset="0"/>
              </a:rPr>
              <a:t>Sort pictures on "Model" </a:t>
            </a:r>
            <a:r>
              <a:rPr lang="en-US" sz="1000" b="0" i="0" dirty="0" err="1">
                <a:solidFill>
                  <a:srgbClr val="000000"/>
                </a:solidFill>
                <a:effectLst/>
                <a:latin typeface="Calibri" panose="020F0502020204030204" pitchFamily="34" charset="0"/>
              </a:rPr>
              <a:t>eg</a:t>
            </a:r>
            <a:r>
              <a:rPr lang="en-US" sz="1000" b="0" i="0" dirty="0">
                <a:solidFill>
                  <a:srgbClr val="000000"/>
                </a:solidFill>
                <a:effectLst/>
                <a:latin typeface="Calibri" panose="020F0502020204030204" pitchFamily="34" charset="0"/>
              </a:rPr>
              <a:t>, iPhone, Canon, Nikon </a:t>
            </a:r>
            <a:endParaRPr lang="en-US" sz="1000" b="0" i="0" dirty="0">
              <a:solidFill>
                <a:srgbClr val="000000"/>
              </a:solidFill>
              <a:effectLst/>
              <a:latin typeface="Segoe UI" panose="020B0502040204020203" pitchFamily="34" charset="0"/>
            </a:endParaRPr>
          </a:p>
        </p:txBody>
      </p:sp>
      <p:sp>
        <p:nvSpPr>
          <p:cNvPr id="2" name="TextBox 1">
            <a:extLst>
              <a:ext uri="{FF2B5EF4-FFF2-40B4-BE49-F238E27FC236}">
                <a16:creationId xmlns:a16="http://schemas.microsoft.com/office/drawing/2014/main" id="{617F174B-B128-4B77-A21F-7327883034D4}"/>
              </a:ext>
            </a:extLst>
          </p:cNvPr>
          <p:cNvSpPr txBox="1"/>
          <p:nvPr/>
        </p:nvSpPr>
        <p:spPr>
          <a:xfrm>
            <a:off x="5804034" y="-3546"/>
            <a:ext cx="2893869" cy="369332"/>
          </a:xfrm>
          <a:prstGeom prst="rect">
            <a:avLst/>
          </a:prstGeom>
          <a:noFill/>
        </p:spPr>
        <p:txBody>
          <a:bodyPr wrap="none" rtlCol="0">
            <a:spAutoFit/>
          </a:bodyPr>
          <a:lstStyle/>
          <a:p>
            <a:r>
              <a:rPr lang="en-US" b="1" u="sng" dirty="0"/>
              <a:t>3f Encryption/Anti-Forensics</a:t>
            </a:r>
          </a:p>
        </p:txBody>
      </p:sp>
      <p:sp>
        <p:nvSpPr>
          <p:cNvPr id="3" name="TextBox 2">
            <a:extLst>
              <a:ext uri="{FF2B5EF4-FFF2-40B4-BE49-F238E27FC236}">
                <a16:creationId xmlns:a16="http://schemas.microsoft.com/office/drawing/2014/main" id="{6F94F6F7-136C-4A26-8690-AE95C929F803}"/>
              </a:ext>
            </a:extLst>
          </p:cNvPr>
          <p:cNvSpPr txBox="1"/>
          <p:nvPr/>
        </p:nvSpPr>
        <p:spPr>
          <a:xfrm>
            <a:off x="6207013" y="365786"/>
            <a:ext cx="5864353" cy="6093976"/>
          </a:xfrm>
          <a:prstGeom prst="rect">
            <a:avLst/>
          </a:prstGeom>
          <a:noFill/>
        </p:spPr>
        <p:txBody>
          <a:bodyPr wrap="square">
            <a:spAutoFit/>
          </a:bodyPr>
          <a:lstStyle/>
          <a:p>
            <a:pPr algn="l" rtl="0" fontAlgn="base"/>
            <a:r>
              <a:rPr lang="en-US" sz="1000" b="0" i="0" dirty="0">
                <a:solidFill>
                  <a:srgbClr val="000000"/>
                </a:solidFill>
                <a:effectLst/>
                <a:latin typeface="Calibri" panose="020F0502020204030204" pitchFamily="34" charset="0"/>
              </a:rPr>
              <a:t>Encryption and anti-forensics artifacts are all found at: </a:t>
            </a:r>
            <a:endParaRPr lang="en-US" sz="1000" b="0" i="0" dirty="0">
              <a:solidFill>
                <a:srgbClr val="000000"/>
              </a:solidFill>
              <a:effectLst/>
              <a:latin typeface="Segoe UI" panose="020B0502040204020203" pitchFamily="34" charset="0"/>
            </a:endParaRPr>
          </a:p>
          <a:p>
            <a:pPr algn="l" rtl="0" fontAlgn="base"/>
            <a:r>
              <a:rPr lang="en-US" sz="1000" b="0" i="0" dirty="0">
                <a:solidFill>
                  <a:srgbClr val="000000"/>
                </a:solidFill>
                <a:effectLst/>
                <a:latin typeface="Calibri" panose="020F0502020204030204" pitchFamily="34" charset="0"/>
              </a:rPr>
              <a:t>ARTIFACTS &gt; </a:t>
            </a:r>
            <a:r>
              <a:rPr lang="en-US" sz="1000" b="1" i="0" u="sng" dirty="0">
                <a:solidFill>
                  <a:srgbClr val="000000"/>
                </a:solidFill>
                <a:effectLst/>
                <a:latin typeface="Calibri" panose="020F0502020204030204" pitchFamily="34" charset="0"/>
              </a:rPr>
              <a:t>ENCRYPTION</a:t>
            </a:r>
            <a:r>
              <a:rPr lang="en-US" sz="1000" b="0" i="0" dirty="0">
                <a:solidFill>
                  <a:srgbClr val="000000"/>
                </a:solidFill>
                <a:effectLst/>
                <a:latin typeface="Calibri" panose="020F0502020204030204" pitchFamily="34" charset="0"/>
              </a:rPr>
              <a:t> &gt; Two artifacts</a:t>
            </a:r>
            <a:endParaRPr lang="en-US" sz="1000" b="0" i="0" dirty="0">
              <a:solidFill>
                <a:srgbClr val="000000"/>
              </a:solidFill>
              <a:effectLst/>
              <a:latin typeface="Segoe UI" panose="020B0502040204020203" pitchFamily="34" charset="0"/>
            </a:endParaRPr>
          </a:p>
          <a:p>
            <a:pPr marL="685800" lvl="1" indent="-228600" fontAlgn="base">
              <a:buFont typeface="+mj-lt"/>
              <a:buAutoNum type="arabicPeriod"/>
            </a:pPr>
            <a:r>
              <a:rPr lang="en-US" sz="1000" b="0" i="0" dirty="0">
                <a:solidFill>
                  <a:srgbClr val="000000"/>
                </a:solidFill>
                <a:effectLst/>
                <a:latin typeface="Calibri" panose="020F0502020204030204" pitchFamily="34" charset="0"/>
              </a:rPr>
              <a:t>Encrypted files </a:t>
            </a:r>
          </a:p>
          <a:p>
            <a:pPr marL="685800" lvl="1" indent="-228600" fontAlgn="base">
              <a:buFont typeface="+mj-lt"/>
              <a:buAutoNum type="arabicPeriod"/>
            </a:pPr>
            <a:r>
              <a:rPr lang="en-US" sz="1000" b="0" i="0" dirty="0">
                <a:solidFill>
                  <a:srgbClr val="000000"/>
                </a:solidFill>
                <a:effectLst/>
                <a:latin typeface="Calibri" panose="020F0502020204030204" pitchFamily="34" charset="0"/>
              </a:rPr>
              <a:t>Encryption / Anti-forensics Tools </a:t>
            </a:r>
          </a:p>
          <a:p>
            <a:pPr marL="171450" indent="-171450" algn="l" rtl="0" fontAlgn="base">
              <a:buFont typeface="Arial" panose="020B0604020202020204" pitchFamily="34" charset="0"/>
              <a:buChar char="•"/>
            </a:pPr>
            <a:r>
              <a:rPr lang="en-US" sz="1000" b="0" i="0" dirty="0">
                <a:solidFill>
                  <a:srgbClr val="000000"/>
                </a:solidFill>
                <a:effectLst/>
                <a:latin typeface="Calibri" panose="020F0502020204030204" pitchFamily="34" charset="0"/>
              </a:rPr>
              <a:t>When searching for Encrypted Files, AXIOM Process is conducting an entropy check of the file content. </a:t>
            </a:r>
          </a:p>
          <a:p>
            <a:pPr marL="171450" indent="-171450" algn="l" rtl="0" fontAlgn="base">
              <a:buFont typeface="Arial" panose="020B0604020202020204" pitchFamily="34" charset="0"/>
              <a:buChar char="•"/>
            </a:pPr>
            <a:r>
              <a:rPr lang="en-US" sz="1000" b="0" i="0" dirty="0">
                <a:solidFill>
                  <a:srgbClr val="000000"/>
                </a:solidFill>
                <a:effectLst/>
                <a:latin typeface="Calibri" panose="020F0502020204030204" pitchFamily="34" charset="0"/>
              </a:rPr>
              <a:t>It checks the randomness of the data content of each file in the case and generates an Entropy Value score between 0 and 8. </a:t>
            </a:r>
          </a:p>
          <a:p>
            <a:pPr marL="171450" indent="-171450" algn="l" rtl="0" fontAlgn="base">
              <a:buFont typeface="Arial" panose="020B0604020202020204" pitchFamily="34" charset="0"/>
              <a:buChar char="•"/>
            </a:pPr>
            <a:r>
              <a:rPr lang="en-US" sz="1000" b="0" i="0" dirty="0">
                <a:solidFill>
                  <a:srgbClr val="000000"/>
                </a:solidFill>
                <a:effectLst/>
                <a:latin typeface="Calibri" panose="020F0502020204030204" pitchFamily="34" charset="0"/>
              </a:rPr>
              <a:t>AXIOM Process does </a:t>
            </a:r>
            <a:r>
              <a:rPr lang="en-US" sz="1000" b="1" i="0" dirty="0">
                <a:solidFill>
                  <a:srgbClr val="000000"/>
                </a:solidFill>
                <a:effectLst/>
                <a:latin typeface="Calibri" panose="020F0502020204030204" pitchFamily="34" charset="0"/>
              </a:rPr>
              <a:t>NOT</a:t>
            </a:r>
            <a:r>
              <a:rPr lang="en-US" sz="1000" b="0" i="0" dirty="0">
                <a:solidFill>
                  <a:srgbClr val="000000"/>
                </a:solidFill>
                <a:effectLst/>
                <a:latin typeface="Calibri" panose="020F0502020204030204" pitchFamily="34" charset="0"/>
              </a:rPr>
              <a:t> determine which program/encryption scheme has been used to encrypt the file</a:t>
            </a:r>
            <a:endParaRPr lang="en-US" sz="1000" dirty="0">
              <a:solidFill>
                <a:srgbClr val="000000"/>
              </a:solidFill>
              <a:latin typeface="Calibri" panose="020F0502020204030204" pitchFamily="34" charset="0"/>
            </a:endParaRPr>
          </a:p>
          <a:p>
            <a:pPr marL="171450" indent="-171450" algn="l" rtl="0" fontAlgn="base">
              <a:buFont typeface="Arial" panose="020B0604020202020204" pitchFamily="34" charset="0"/>
              <a:buChar char="•"/>
            </a:pPr>
            <a:r>
              <a:rPr lang="en-US" sz="1000" b="0" i="0" dirty="0">
                <a:solidFill>
                  <a:srgbClr val="000000"/>
                </a:solidFill>
                <a:effectLst/>
                <a:latin typeface="Calibri" panose="020F0502020204030204" pitchFamily="34" charset="0"/>
              </a:rPr>
              <a:t>Axiom process often generates a large number of false positives that are not encrypted files. </a:t>
            </a:r>
          </a:p>
          <a:p>
            <a:pPr marL="171450" indent="-171450" algn="l" rtl="0" fontAlgn="base">
              <a:buFont typeface="Arial" panose="020B0604020202020204" pitchFamily="34" charset="0"/>
              <a:buChar char="•"/>
            </a:pPr>
            <a:r>
              <a:rPr lang="en-US" sz="1000" b="0" i="0" dirty="0">
                <a:solidFill>
                  <a:srgbClr val="000000"/>
                </a:solidFill>
                <a:effectLst/>
                <a:latin typeface="Calibri" panose="020F0502020204030204" pitchFamily="34" charset="0"/>
              </a:rPr>
              <a:t>Due to the processing time overhead incurred when searching for Encrypted Files, this artifact is not enabled by default. </a:t>
            </a:r>
          </a:p>
          <a:p>
            <a:pPr marL="171450" indent="-171450" algn="l" rtl="0" fontAlgn="base">
              <a:buFont typeface="Arial" panose="020B0604020202020204" pitchFamily="34" charset="0"/>
              <a:buChar char="•"/>
            </a:pPr>
            <a:r>
              <a:rPr lang="en-US" sz="1000" dirty="0">
                <a:solidFill>
                  <a:srgbClr val="000000"/>
                </a:solidFill>
                <a:latin typeface="Calibri" panose="020F0502020204030204" pitchFamily="34" charset="0"/>
              </a:rPr>
              <a:t>Was </a:t>
            </a:r>
            <a:r>
              <a:rPr lang="en-US" sz="1000" dirty="0" err="1">
                <a:solidFill>
                  <a:srgbClr val="000000"/>
                </a:solidFill>
                <a:latin typeface="Calibri" panose="020F0502020204030204" pitchFamily="34" charset="0"/>
              </a:rPr>
              <a:t>axcrypt</a:t>
            </a:r>
            <a:r>
              <a:rPr lang="en-US" sz="1000" dirty="0">
                <a:solidFill>
                  <a:srgbClr val="000000"/>
                </a:solidFill>
                <a:latin typeface="Calibri" panose="020F0502020204030204" pitchFamily="34" charset="0"/>
              </a:rPr>
              <a:t> run? Check windows prefetch.</a:t>
            </a:r>
            <a:endParaRPr lang="en-US" sz="1000" b="0" i="0" dirty="0">
              <a:solidFill>
                <a:srgbClr val="1E4E79"/>
              </a:solidFill>
              <a:effectLst/>
              <a:latin typeface="Calibri" panose="020F0502020204030204" pitchFamily="34" charset="0"/>
            </a:endParaRPr>
          </a:p>
          <a:p>
            <a:pPr algn="l" rtl="0" fontAlgn="base"/>
            <a:endParaRPr lang="en-US" sz="1000" b="0" i="0" dirty="0">
              <a:solidFill>
                <a:srgbClr val="1E4E79"/>
              </a:solidFill>
              <a:effectLst/>
              <a:latin typeface="Calibri" panose="020F0502020204030204" pitchFamily="34" charset="0"/>
            </a:endParaRPr>
          </a:p>
          <a:p>
            <a:pPr algn="l" rtl="0" fontAlgn="base"/>
            <a:r>
              <a:rPr lang="en-US" sz="1000" b="0" i="0" dirty="0">
                <a:solidFill>
                  <a:srgbClr val="1E4E79"/>
                </a:solidFill>
                <a:effectLst/>
                <a:latin typeface="Calibri" panose="020F0502020204030204" pitchFamily="34" charset="0"/>
              </a:rPr>
              <a:t>Software Application Name Executable File </a:t>
            </a:r>
            <a:endParaRPr lang="en-US" sz="1000" b="0" i="0" dirty="0">
              <a:solidFill>
                <a:srgbClr val="1E4E79"/>
              </a:solidFill>
              <a:effectLst/>
              <a:latin typeface="Segoe UI" panose="020B0502040204020203" pitchFamily="34" charset="0"/>
            </a:endParaRPr>
          </a:p>
          <a:p>
            <a:pPr algn="l" rtl="0" fontAlgn="base">
              <a:buFont typeface="Arial" panose="020B0604020202020204" pitchFamily="34" charset="0"/>
              <a:buChar char="•"/>
            </a:pPr>
            <a:r>
              <a:rPr lang="en-US" sz="1000" b="0" i="0" dirty="0">
                <a:solidFill>
                  <a:srgbClr val="000000"/>
                </a:solidFill>
                <a:effectLst/>
                <a:latin typeface="Calibri" panose="020F0502020204030204" pitchFamily="34" charset="0"/>
              </a:rPr>
              <a:t>AES Crypt  </a:t>
            </a:r>
          </a:p>
          <a:p>
            <a:pPr marL="742950" lvl="1" indent="-285750" algn="l" rtl="0" fontAlgn="base">
              <a:buFont typeface="Arial" panose="020B0604020202020204" pitchFamily="34" charset="0"/>
              <a:buChar char="•"/>
            </a:pPr>
            <a:r>
              <a:rPr lang="en-US" sz="1000" b="0" i="0" dirty="0">
                <a:solidFill>
                  <a:srgbClr val="000000"/>
                </a:solidFill>
                <a:effectLst/>
                <a:latin typeface="Calibri" panose="020F0502020204030204" pitchFamily="34" charset="0"/>
              </a:rPr>
              <a:t>aescrypt.exe </a:t>
            </a:r>
          </a:p>
          <a:p>
            <a:pPr marL="742950" lvl="1" indent="-285750" algn="l" rtl="0" fontAlgn="base">
              <a:buFont typeface="Arial" panose="020B0604020202020204" pitchFamily="34" charset="0"/>
              <a:buChar char="•"/>
            </a:pPr>
            <a:r>
              <a:rPr lang="en-US" sz="1000" b="0" i="0" dirty="0">
                <a:solidFill>
                  <a:srgbClr val="000000"/>
                </a:solidFill>
                <a:effectLst/>
                <a:latin typeface="Calibri" panose="020F0502020204030204" pitchFamily="34" charset="0"/>
              </a:rPr>
              <a:t>AESCrypt32.exe </a:t>
            </a:r>
          </a:p>
          <a:p>
            <a:pPr algn="l" rtl="0" fontAlgn="base">
              <a:buFont typeface="Arial" panose="020B0604020202020204" pitchFamily="34" charset="0"/>
              <a:buChar char="•"/>
            </a:pPr>
            <a:r>
              <a:rPr lang="en-US" sz="1000" b="0" i="0" dirty="0" err="1">
                <a:solidFill>
                  <a:srgbClr val="000000"/>
                </a:solidFill>
                <a:effectLst/>
                <a:latin typeface="Calibri" panose="020F0502020204030204" pitchFamily="34" charset="0"/>
              </a:rPr>
              <a:t>AxCrypt</a:t>
            </a:r>
            <a:r>
              <a:rPr lang="en-US" sz="1000" b="0" i="0" dirty="0">
                <a:solidFill>
                  <a:srgbClr val="000000"/>
                </a:solidFill>
                <a:effectLst/>
                <a:latin typeface="Calibri" panose="020F0502020204030204" pitchFamily="34" charset="0"/>
              </a:rPr>
              <a:t>  </a:t>
            </a:r>
          </a:p>
          <a:p>
            <a:pPr marL="742950" lvl="1" indent="-285750" algn="l" rtl="0" fontAlgn="base">
              <a:buFont typeface="Arial" panose="020B0604020202020204" pitchFamily="34" charset="0"/>
              <a:buChar char="•"/>
            </a:pPr>
            <a:r>
              <a:rPr lang="en-US" sz="1000" b="0" i="0" dirty="0">
                <a:solidFill>
                  <a:srgbClr val="000000"/>
                </a:solidFill>
                <a:effectLst/>
                <a:latin typeface="Calibri" panose="020F0502020204030204" pitchFamily="34" charset="0"/>
              </a:rPr>
              <a:t>AxCrypt.exe </a:t>
            </a:r>
          </a:p>
          <a:p>
            <a:pPr marL="742950" lvl="1" indent="-285750" algn="l" rtl="0" fontAlgn="base">
              <a:buFont typeface="Arial" panose="020B0604020202020204" pitchFamily="34" charset="0"/>
              <a:buChar char="•"/>
            </a:pPr>
            <a:r>
              <a:rPr lang="en-US" sz="1000" b="0" i="0" dirty="0">
                <a:solidFill>
                  <a:srgbClr val="000000"/>
                </a:solidFill>
                <a:effectLst/>
                <a:latin typeface="Calibri" panose="020F0502020204030204" pitchFamily="34" charset="0"/>
              </a:rPr>
              <a:t>AxCrypt2Go.exe </a:t>
            </a:r>
          </a:p>
          <a:p>
            <a:pPr algn="l" rtl="0" fontAlgn="base">
              <a:buFont typeface="Arial" panose="020B0604020202020204" pitchFamily="34" charset="0"/>
              <a:buChar char="•"/>
            </a:pPr>
            <a:r>
              <a:rPr lang="en-US" sz="1000" b="0" i="0" dirty="0" err="1">
                <a:solidFill>
                  <a:srgbClr val="000000"/>
                </a:solidFill>
                <a:effectLst/>
                <a:latin typeface="Calibri" panose="020F0502020204030204" pitchFamily="34" charset="0"/>
              </a:rPr>
              <a:t>BestCrypt</a:t>
            </a:r>
            <a:r>
              <a:rPr lang="en-US" sz="1000" b="0" i="0" dirty="0">
                <a:solidFill>
                  <a:srgbClr val="000000"/>
                </a:solidFill>
                <a:effectLst/>
                <a:latin typeface="Calibri" panose="020F0502020204030204" pitchFamily="34" charset="0"/>
              </a:rPr>
              <a:t>  </a:t>
            </a:r>
          </a:p>
          <a:p>
            <a:pPr marL="742950" lvl="1" indent="-285750" algn="l" rtl="0" fontAlgn="base">
              <a:buFont typeface="Arial" panose="020B0604020202020204" pitchFamily="34" charset="0"/>
              <a:buChar char="•"/>
            </a:pPr>
            <a:r>
              <a:rPr lang="en-US" sz="1000" b="0" i="0" dirty="0">
                <a:solidFill>
                  <a:srgbClr val="000000"/>
                </a:solidFill>
                <a:effectLst/>
                <a:latin typeface="Calibri" panose="020F0502020204030204" pitchFamily="34" charset="0"/>
              </a:rPr>
              <a:t>bcveserv.exe </a:t>
            </a:r>
          </a:p>
          <a:p>
            <a:pPr marL="742950" lvl="1" indent="-285750" algn="l" rtl="0" fontAlgn="base">
              <a:buFont typeface="Arial" panose="020B0604020202020204" pitchFamily="34" charset="0"/>
              <a:buChar char="•"/>
            </a:pPr>
            <a:r>
              <a:rPr lang="en-US" sz="1000" b="0" i="0" dirty="0">
                <a:solidFill>
                  <a:srgbClr val="000000"/>
                </a:solidFill>
                <a:effectLst/>
                <a:latin typeface="Calibri" panose="020F0502020204030204" pitchFamily="34" charset="0"/>
              </a:rPr>
              <a:t>bcvetray.exe </a:t>
            </a:r>
          </a:p>
          <a:p>
            <a:pPr marL="742950" lvl="1" indent="-285750" algn="l" rtl="0" fontAlgn="base">
              <a:buFont typeface="Arial" panose="020B0604020202020204" pitchFamily="34" charset="0"/>
              <a:buChar char="•"/>
            </a:pPr>
            <a:r>
              <a:rPr lang="en-US" sz="1000" b="0" i="0" dirty="0">
                <a:solidFill>
                  <a:srgbClr val="000000"/>
                </a:solidFill>
                <a:effectLst/>
                <a:latin typeface="Calibri" panose="020F0502020204030204" pitchFamily="34" charset="0"/>
              </a:rPr>
              <a:t>bestcrypt.exe </a:t>
            </a:r>
          </a:p>
          <a:p>
            <a:pPr algn="l" rtl="0" fontAlgn="base">
              <a:buFont typeface="Arial" panose="020B0604020202020204" pitchFamily="34" charset="0"/>
              <a:buChar char="•"/>
            </a:pPr>
            <a:r>
              <a:rPr lang="en-US" sz="1000" b="0" i="0" dirty="0" err="1">
                <a:solidFill>
                  <a:srgbClr val="000000"/>
                </a:solidFill>
                <a:effectLst/>
                <a:latin typeface="Calibri" panose="020F0502020204030204" pitchFamily="34" charset="0"/>
              </a:rPr>
              <a:t>CCleaner</a:t>
            </a:r>
            <a:r>
              <a:rPr lang="en-US" sz="1000" b="0" i="0" dirty="0">
                <a:solidFill>
                  <a:srgbClr val="000000"/>
                </a:solidFill>
                <a:effectLst/>
                <a:latin typeface="Calibri" panose="020F0502020204030204" pitchFamily="34" charset="0"/>
              </a:rPr>
              <a:t>  </a:t>
            </a:r>
          </a:p>
          <a:p>
            <a:pPr marL="742950" lvl="1" indent="-285750" algn="l" rtl="0" fontAlgn="base">
              <a:buFont typeface="Arial" panose="020B0604020202020204" pitchFamily="34" charset="0"/>
              <a:buChar char="•"/>
            </a:pPr>
            <a:r>
              <a:rPr lang="en-US" sz="1000" b="0" i="0" dirty="0">
                <a:solidFill>
                  <a:srgbClr val="000000"/>
                </a:solidFill>
                <a:effectLst/>
                <a:latin typeface="Calibri" panose="020F0502020204030204" pitchFamily="34" charset="0"/>
              </a:rPr>
              <a:t>CCleaner.exe </a:t>
            </a:r>
          </a:p>
          <a:p>
            <a:pPr marL="742950" lvl="1" indent="-285750" algn="l" rtl="0" fontAlgn="base">
              <a:buFont typeface="Arial" panose="020B0604020202020204" pitchFamily="34" charset="0"/>
              <a:buChar char="•"/>
            </a:pPr>
            <a:r>
              <a:rPr lang="en-US" sz="1000" b="0" i="0" dirty="0">
                <a:solidFill>
                  <a:srgbClr val="000000"/>
                </a:solidFill>
                <a:effectLst/>
                <a:latin typeface="Calibri" panose="020F0502020204030204" pitchFamily="34" charset="0"/>
              </a:rPr>
              <a:t>CCleaner64.exe </a:t>
            </a:r>
          </a:p>
          <a:p>
            <a:pPr algn="l" rtl="0" fontAlgn="base">
              <a:buFont typeface="Arial" panose="020B0604020202020204" pitchFamily="34" charset="0"/>
              <a:buChar char="•"/>
            </a:pPr>
            <a:r>
              <a:rPr lang="en-US" sz="1000" b="0" i="0" dirty="0">
                <a:solidFill>
                  <a:srgbClr val="000000"/>
                </a:solidFill>
                <a:effectLst/>
                <a:latin typeface="Calibri" panose="020F0502020204030204" pitchFamily="34" charset="0"/>
              </a:rPr>
              <a:t>Check Point Encryption  </a:t>
            </a:r>
          </a:p>
          <a:p>
            <a:pPr marL="742950" lvl="1" indent="-285750" algn="l" rtl="0" fontAlgn="base">
              <a:buFont typeface="Arial" panose="020B0604020202020204" pitchFamily="34" charset="0"/>
              <a:buChar char="•"/>
            </a:pPr>
            <a:r>
              <a:rPr lang="en-US" sz="1000" b="0" i="0" dirty="0">
                <a:solidFill>
                  <a:srgbClr val="000000"/>
                </a:solidFill>
                <a:effectLst/>
                <a:latin typeface="Calibri" panose="020F0502020204030204" pitchFamily="34" charset="0"/>
              </a:rPr>
              <a:t>cptray.exe </a:t>
            </a:r>
          </a:p>
          <a:p>
            <a:pPr marL="742950" lvl="1" indent="-285750" algn="l" rtl="0" fontAlgn="base">
              <a:buFont typeface="Arial" panose="020B0604020202020204" pitchFamily="34" charset="0"/>
              <a:buChar char="•"/>
            </a:pPr>
            <a:r>
              <a:rPr lang="en-US" sz="1000" b="0" i="0" dirty="0">
                <a:solidFill>
                  <a:srgbClr val="000000"/>
                </a:solidFill>
                <a:effectLst/>
                <a:latin typeface="Calibri" panose="020F0502020204030204" pitchFamily="34" charset="0"/>
              </a:rPr>
              <a:t>p95tray.exe </a:t>
            </a:r>
          </a:p>
          <a:p>
            <a:pPr marL="742950" lvl="1" indent="-285750" algn="l" rtl="0" fontAlgn="base">
              <a:buFont typeface="Arial" panose="020B0604020202020204" pitchFamily="34" charset="0"/>
              <a:buChar char="•"/>
            </a:pPr>
            <a:r>
              <a:rPr lang="en-US" sz="1000" b="0" i="0" dirty="0">
                <a:solidFill>
                  <a:srgbClr val="000000"/>
                </a:solidFill>
                <a:effectLst/>
                <a:latin typeface="Calibri" panose="020F0502020204030204" pitchFamily="34" charset="0"/>
              </a:rPr>
              <a:t>prot_srv.exe </a:t>
            </a:r>
          </a:p>
          <a:p>
            <a:pPr marL="742950" lvl="1" indent="-285750" algn="l" rtl="0" fontAlgn="base">
              <a:buFont typeface="Arial" panose="020B0604020202020204" pitchFamily="34" charset="0"/>
              <a:buChar char="•"/>
            </a:pPr>
            <a:r>
              <a:rPr lang="en-US" sz="1000" b="0" i="0" dirty="0">
                <a:solidFill>
                  <a:srgbClr val="000000"/>
                </a:solidFill>
                <a:effectLst/>
                <a:latin typeface="Calibri" panose="020F0502020204030204" pitchFamily="34" charset="0"/>
              </a:rPr>
              <a:t>pstartsr.exe </a:t>
            </a:r>
          </a:p>
          <a:p>
            <a:pPr marL="171450" indent="-171450" algn="l" rtl="0" fontAlgn="base">
              <a:buFont typeface="Arial" panose="020B0604020202020204" pitchFamily="34" charset="0"/>
              <a:buChar char="•"/>
            </a:pPr>
            <a:r>
              <a:rPr lang="en-US" sz="1000" b="0" i="0" dirty="0">
                <a:solidFill>
                  <a:srgbClr val="000000"/>
                </a:solidFill>
                <a:effectLst/>
                <a:latin typeface="Calibri" panose="020F0502020204030204" pitchFamily="34" charset="0"/>
              </a:rPr>
              <a:t>Eraser Eraser.exe </a:t>
            </a:r>
          </a:p>
          <a:p>
            <a:pPr marL="171450" indent="-171450" algn="l" rtl="0" fontAlgn="base">
              <a:buFont typeface="Arial" panose="020B0604020202020204" pitchFamily="34" charset="0"/>
              <a:buChar char="•"/>
            </a:pPr>
            <a:r>
              <a:rPr lang="en-US" sz="1000" b="0" i="0" dirty="0">
                <a:solidFill>
                  <a:srgbClr val="000000"/>
                </a:solidFill>
                <a:effectLst/>
                <a:latin typeface="Calibri" panose="020F0502020204030204" pitchFamily="34" charset="0"/>
              </a:rPr>
              <a:t>File Shredder Shredder.exe </a:t>
            </a:r>
          </a:p>
          <a:p>
            <a:pPr marL="171450" indent="-171450" algn="l" rtl="0" fontAlgn="base">
              <a:buFont typeface="Arial" panose="020B0604020202020204" pitchFamily="34" charset="0"/>
              <a:buChar char="•"/>
            </a:pPr>
            <a:r>
              <a:rPr lang="en-US" sz="1000" b="0" i="0" dirty="0">
                <a:solidFill>
                  <a:srgbClr val="000000"/>
                </a:solidFill>
                <a:effectLst/>
                <a:latin typeface="Calibri" panose="020F0502020204030204" pitchFamily="34" charset="0"/>
              </a:rPr>
              <a:t>Folder Lock Folder Lock.exe </a:t>
            </a:r>
          </a:p>
          <a:p>
            <a:pPr marL="171450" indent="-171450" algn="l" rtl="0" fontAlgn="base">
              <a:buFont typeface="Arial" panose="020B0604020202020204" pitchFamily="34" charset="0"/>
              <a:buChar char="•"/>
            </a:pPr>
            <a:r>
              <a:rPr lang="en-US" sz="1000" b="0" i="0" dirty="0">
                <a:solidFill>
                  <a:srgbClr val="000000"/>
                </a:solidFill>
                <a:effectLst/>
                <a:latin typeface="Calibri" panose="020F0502020204030204" pitchFamily="34" charset="0"/>
              </a:rPr>
              <a:t>Freenet FreenetTray.exe </a:t>
            </a:r>
          </a:p>
          <a:p>
            <a:pPr marL="171450" indent="-171450" algn="l" rtl="0" fontAlgn="base">
              <a:buFont typeface="Arial" panose="020B0604020202020204" pitchFamily="34" charset="0"/>
              <a:buChar char="•"/>
            </a:pPr>
            <a:r>
              <a:rPr lang="en-US" sz="1000" b="0" i="0" dirty="0">
                <a:solidFill>
                  <a:srgbClr val="000000"/>
                </a:solidFill>
                <a:effectLst/>
                <a:latin typeface="Calibri" panose="020F0502020204030204" pitchFamily="34" charset="0"/>
              </a:rPr>
              <a:t>GPG gpg.exe </a:t>
            </a:r>
          </a:p>
          <a:p>
            <a:pPr marL="171450" indent="-171450" fontAlgn="base">
              <a:buFont typeface="Arial" panose="020B0604020202020204" pitchFamily="34" charset="0"/>
              <a:buChar char="•"/>
            </a:pPr>
            <a:r>
              <a:rPr lang="en-US" sz="1000" b="0" i="0" dirty="0">
                <a:solidFill>
                  <a:srgbClr val="000000"/>
                </a:solidFill>
                <a:effectLst/>
                <a:latin typeface="Calibri" panose="020F0502020204030204" pitchFamily="34" charset="0"/>
              </a:rPr>
              <a:t>i2p I2P.exe </a:t>
            </a:r>
          </a:p>
          <a:p>
            <a:pPr algn="l" rtl="0" fontAlgn="base"/>
            <a:endParaRPr lang="en-US" sz="1000" b="0" i="0" dirty="0">
              <a:solidFill>
                <a:srgbClr val="000000"/>
              </a:solidFill>
              <a:effectLst/>
              <a:latin typeface="Calibri" panose="020F0502020204030204" pitchFamily="34" charset="0"/>
            </a:endParaRPr>
          </a:p>
        </p:txBody>
      </p:sp>
      <p:sp>
        <p:nvSpPr>
          <p:cNvPr id="12" name="TextBox 11">
            <a:extLst>
              <a:ext uri="{FF2B5EF4-FFF2-40B4-BE49-F238E27FC236}">
                <a16:creationId xmlns:a16="http://schemas.microsoft.com/office/drawing/2014/main" id="{B08A87C3-F78C-4E0A-A849-F18491081717}"/>
              </a:ext>
            </a:extLst>
          </p:cNvPr>
          <p:cNvSpPr txBox="1"/>
          <p:nvPr/>
        </p:nvSpPr>
        <p:spPr>
          <a:xfrm>
            <a:off x="8697903" y="2534344"/>
            <a:ext cx="3051208" cy="3631763"/>
          </a:xfrm>
          <a:prstGeom prst="rect">
            <a:avLst/>
          </a:prstGeom>
          <a:noFill/>
        </p:spPr>
        <p:txBody>
          <a:bodyPr wrap="square">
            <a:spAutoFit/>
          </a:bodyPr>
          <a:lstStyle/>
          <a:p>
            <a:pPr marL="171450" indent="-171450" algn="l" rtl="0" fontAlgn="base">
              <a:buFont typeface="Arial" panose="020B0604020202020204" pitchFamily="34" charset="0"/>
              <a:buChar char="•"/>
            </a:pPr>
            <a:r>
              <a:rPr lang="en-US" sz="1000" b="0" i="0" dirty="0" err="1">
                <a:solidFill>
                  <a:srgbClr val="000000"/>
                </a:solidFill>
                <a:effectLst/>
                <a:latin typeface="Calibri" panose="020F0502020204030204" pitchFamily="34" charset="0"/>
              </a:rPr>
              <a:t>Kruptos</a:t>
            </a:r>
            <a:r>
              <a:rPr lang="en-US" sz="1000" b="0" i="0" dirty="0">
                <a:solidFill>
                  <a:srgbClr val="000000"/>
                </a:solidFill>
                <a:effectLst/>
                <a:latin typeface="Calibri" panose="020F0502020204030204" pitchFamily="34" charset="0"/>
              </a:rPr>
              <a:t> 2 Professional Kruptos2Pro.exe </a:t>
            </a:r>
          </a:p>
          <a:p>
            <a:pPr marL="171450" indent="-171450" algn="l" rtl="0" fontAlgn="base">
              <a:buFont typeface="Arial" panose="020B0604020202020204" pitchFamily="34" charset="0"/>
              <a:buChar char="•"/>
            </a:pPr>
            <a:r>
              <a:rPr lang="en-US" sz="1000" b="0" i="0" dirty="0">
                <a:solidFill>
                  <a:srgbClr val="000000"/>
                </a:solidFill>
                <a:effectLst/>
                <a:latin typeface="Calibri" panose="020F0502020204030204" pitchFamily="34" charset="0"/>
              </a:rPr>
              <a:t>Mask Surf Pro msu.exe </a:t>
            </a:r>
          </a:p>
          <a:p>
            <a:pPr marL="171450" indent="-171450" algn="l" rtl="0" fontAlgn="base">
              <a:buFont typeface="Arial" panose="020B0604020202020204" pitchFamily="34" charset="0"/>
              <a:buChar char="•"/>
            </a:pPr>
            <a:r>
              <a:rPr lang="en-US" sz="1000" b="0" i="0" dirty="0" err="1">
                <a:solidFill>
                  <a:srgbClr val="000000"/>
                </a:solidFill>
                <a:effectLst/>
                <a:latin typeface="Calibri" panose="020F0502020204030204" pitchFamily="34" charset="0"/>
              </a:rPr>
              <a:t>OpenPuff</a:t>
            </a:r>
            <a:r>
              <a:rPr lang="en-US" sz="1000" b="0" i="0" dirty="0">
                <a:solidFill>
                  <a:srgbClr val="000000"/>
                </a:solidFill>
                <a:effectLst/>
                <a:latin typeface="Calibri" panose="020F0502020204030204" pitchFamily="34" charset="0"/>
              </a:rPr>
              <a:t> OpenPuff.exe </a:t>
            </a:r>
          </a:p>
          <a:p>
            <a:pPr marL="171450" indent="-171450" algn="l" rtl="0" fontAlgn="base">
              <a:buFont typeface="Arial" panose="020B0604020202020204" pitchFamily="34" charset="0"/>
              <a:buChar char="•"/>
            </a:pPr>
            <a:r>
              <a:rPr lang="en-US" sz="1000" b="0" i="0" dirty="0">
                <a:solidFill>
                  <a:srgbClr val="000000"/>
                </a:solidFill>
                <a:effectLst/>
                <a:latin typeface="Calibri" panose="020F0502020204030204" pitchFamily="34" charset="0"/>
              </a:rPr>
              <a:t>Our Secret OurSecret.exe </a:t>
            </a:r>
          </a:p>
          <a:p>
            <a:pPr marL="171450" indent="-171450" algn="l" rtl="0" fontAlgn="base">
              <a:buFont typeface="Arial" panose="020B0604020202020204" pitchFamily="34" charset="0"/>
              <a:buChar char="•"/>
            </a:pPr>
            <a:r>
              <a:rPr lang="en-US" sz="1000" b="0" i="0" dirty="0">
                <a:solidFill>
                  <a:srgbClr val="000000"/>
                </a:solidFill>
                <a:effectLst/>
                <a:latin typeface="Calibri" panose="020F0502020204030204" pitchFamily="34" charset="0"/>
              </a:rPr>
              <a:t>PGP pgp.exe </a:t>
            </a:r>
          </a:p>
          <a:p>
            <a:pPr marL="171450" indent="-171450" algn="l" rtl="0" fontAlgn="base">
              <a:buFont typeface="Arial" panose="020B0604020202020204" pitchFamily="34" charset="0"/>
              <a:buChar char="•"/>
            </a:pPr>
            <a:r>
              <a:rPr lang="en-US" sz="1000" b="0" i="0" dirty="0">
                <a:solidFill>
                  <a:srgbClr val="000000"/>
                </a:solidFill>
                <a:effectLst/>
                <a:latin typeface="Calibri" panose="020F0502020204030204" pitchFamily="34" charset="0"/>
              </a:rPr>
              <a:t>Slacker slacker.exe </a:t>
            </a:r>
          </a:p>
          <a:p>
            <a:pPr marL="171450" indent="-171450" algn="l" rtl="0" fontAlgn="base">
              <a:buFont typeface="Arial" panose="020B0604020202020204" pitchFamily="34" charset="0"/>
              <a:buChar char="•"/>
            </a:pPr>
            <a:r>
              <a:rPr lang="en-US" sz="1000" b="0" i="0" dirty="0">
                <a:solidFill>
                  <a:srgbClr val="000000"/>
                </a:solidFill>
                <a:effectLst/>
                <a:latin typeface="Calibri" panose="020F0502020204030204" pitchFamily="34" charset="0"/>
              </a:rPr>
              <a:t>Sophos </a:t>
            </a:r>
            <a:r>
              <a:rPr lang="en-US" sz="1000" b="0" i="0" dirty="0" err="1">
                <a:solidFill>
                  <a:srgbClr val="000000"/>
                </a:solidFill>
                <a:effectLst/>
                <a:latin typeface="Calibri" panose="020F0502020204030204" pitchFamily="34" charset="0"/>
              </a:rPr>
              <a:t>SafeGuard</a:t>
            </a:r>
            <a:r>
              <a:rPr lang="en-US" sz="1000" b="0" i="0" dirty="0">
                <a:solidFill>
                  <a:srgbClr val="000000"/>
                </a:solidFill>
                <a:effectLst/>
                <a:latin typeface="Calibri" panose="020F0502020204030204" pitchFamily="34" charset="0"/>
              </a:rPr>
              <a:t>  </a:t>
            </a:r>
          </a:p>
          <a:p>
            <a:pPr marL="628650" lvl="1" indent="-171450" algn="l" rtl="0" fontAlgn="base">
              <a:buFont typeface="Arial" panose="020B0604020202020204" pitchFamily="34" charset="0"/>
              <a:buChar char="•"/>
            </a:pPr>
            <a:r>
              <a:rPr lang="en-US" sz="1000" b="0" i="0" dirty="0">
                <a:solidFill>
                  <a:srgbClr val="000000"/>
                </a:solidFill>
                <a:effectLst/>
                <a:latin typeface="Calibri" panose="020F0502020204030204" pitchFamily="34" charset="0"/>
              </a:rPr>
              <a:t>BEDevCtl.exe </a:t>
            </a:r>
          </a:p>
          <a:p>
            <a:pPr marL="628650" lvl="1" indent="-171450" algn="l" rtl="0" fontAlgn="base">
              <a:buFont typeface="Arial" panose="020B0604020202020204" pitchFamily="34" charset="0"/>
              <a:buChar char="•"/>
            </a:pPr>
            <a:r>
              <a:rPr lang="en-US" sz="1000" b="0" i="0" dirty="0">
                <a:solidFill>
                  <a:srgbClr val="000000"/>
                </a:solidFill>
                <a:effectLst/>
                <a:latin typeface="Calibri" panose="020F0502020204030204" pitchFamily="34" charset="0"/>
              </a:rPr>
              <a:t>BEFCSvcn.exe </a:t>
            </a:r>
          </a:p>
          <a:p>
            <a:pPr marL="628650" lvl="1" indent="-171450" algn="l" rtl="0" fontAlgn="base">
              <a:buFont typeface="Arial" panose="020B0604020202020204" pitchFamily="34" charset="0"/>
              <a:buChar char="•"/>
            </a:pPr>
            <a:r>
              <a:rPr lang="en-US" sz="1000" b="0" i="0" dirty="0">
                <a:solidFill>
                  <a:srgbClr val="000000"/>
                </a:solidFill>
                <a:effectLst/>
                <a:latin typeface="Calibri" panose="020F0502020204030204" pitchFamily="34" charset="0"/>
              </a:rPr>
              <a:t>SGNMaster.exe </a:t>
            </a:r>
          </a:p>
          <a:p>
            <a:pPr marL="628650" lvl="1" indent="-171450" algn="l" rtl="0" fontAlgn="base">
              <a:buFont typeface="Arial" panose="020B0604020202020204" pitchFamily="34" charset="0"/>
              <a:buChar char="•"/>
            </a:pPr>
            <a:r>
              <a:rPr lang="en-US" sz="1000" b="0" i="0" dirty="0">
                <a:solidFill>
                  <a:srgbClr val="000000"/>
                </a:solidFill>
                <a:effectLst/>
                <a:latin typeface="Calibri" panose="020F0502020204030204" pitchFamily="34" charset="0"/>
              </a:rPr>
              <a:t>SGNMasterServicen.exe </a:t>
            </a:r>
          </a:p>
          <a:p>
            <a:pPr marL="628650" lvl="1" indent="-171450" algn="l" rtl="0" fontAlgn="base">
              <a:buFont typeface="Arial" panose="020B0604020202020204" pitchFamily="34" charset="0"/>
              <a:buChar char="•"/>
            </a:pPr>
            <a:r>
              <a:rPr lang="en-US" sz="1000" b="0" i="0" dirty="0" err="1">
                <a:solidFill>
                  <a:srgbClr val="000000"/>
                </a:solidFill>
                <a:effectLst/>
                <a:latin typeface="Calibri" panose="020F0502020204030204" pitchFamily="34" charset="0"/>
              </a:rPr>
              <a:t>Spotflux</a:t>
            </a:r>
            <a:r>
              <a:rPr lang="en-US" sz="1000" b="0" i="0" dirty="0">
                <a:solidFill>
                  <a:srgbClr val="000000"/>
                </a:solidFill>
                <a:effectLst/>
                <a:latin typeface="Calibri" panose="020F0502020204030204" pitchFamily="34" charset="0"/>
              </a:rPr>
              <a:t> SpotfluxAgent.exe </a:t>
            </a:r>
          </a:p>
          <a:p>
            <a:pPr marL="171450" indent="-171450" algn="l" rtl="0" fontAlgn="base">
              <a:buFont typeface="Arial" panose="020B0604020202020204" pitchFamily="34" charset="0"/>
              <a:buChar char="•"/>
            </a:pPr>
            <a:r>
              <a:rPr lang="en-US" sz="1000" b="0" i="0" dirty="0">
                <a:solidFill>
                  <a:srgbClr val="000000"/>
                </a:solidFill>
                <a:effectLst/>
                <a:latin typeface="Calibri" panose="020F0502020204030204" pitchFamily="34" charset="0"/>
              </a:rPr>
              <a:t>Steg steg.exe </a:t>
            </a:r>
          </a:p>
          <a:p>
            <a:pPr marL="171450" indent="-171450" algn="l" rtl="0" fontAlgn="base">
              <a:buFont typeface="Arial" panose="020B0604020202020204" pitchFamily="34" charset="0"/>
              <a:buChar char="•"/>
            </a:pPr>
            <a:r>
              <a:rPr lang="en-US" sz="1000" b="0" i="0" dirty="0" err="1">
                <a:solidFill>
                  <a:srgbClr val="000000"/>
                </a:solidFill>
                <a:effectLst/>
                <a:latin typeface="Calibri" panose="020F0502020204030204" pitchFamily="34" charset="0"/>
              </a:rPr>
              <a:t>Steganos</a:t>
            </a:r>
            <a:r>
              <a:rPr lang="en-US" sz="1000" b="0" i="0" dirty="0">
                <a:solidFill>
                  <a:srgbClr val="000000"/>
                </a:solidFill>
                <a:effectLst/>
                <a:latin typeface="Calibri" panose="020F0502020204030204" pitchFamily="34" charset="0"/>
              </a:rPr>
              <a:t> Privacy Suite SteganosHotKeyService.exe </a:t>
            </a:r>
          </a:p>
          <a:p>
            <a:pPr marL="171450" indent="-171450" algn="l" rtl="0" fontAlgn="base">
              <a:buFont typeface="Arial" panose="020B0604020202020204" pitchFamily="34" charset="0"/>
              <a:buChar char="•"/>
            </a:pPr>
            <a:r>
              <a:rPr lang="en-US" sz="1000" b="0" i="0" dirty="0">
                <a:solidFill>
                  <a:srgbClr val="000000"/>
                </a:solidFill>
                <a:effectLst/>
                <a:latin typeface="Calibri" panose="020F0502020204030204" pitchFamily="34" charset="0"/>
              </a:rPr>
              <a:t>Symantec Drive Encryption  </a:t>
            </a:r>
          </a:p>
          <a:p>
            <a:pPr marL="628650" lvl="1" indent="-171450" algn="l" rtl="0" fontAlgn="base">
              <a:buFont typeface="Arial" panose="020B0604020202020204" pitchFamily="34" charset="0"/>
              <a:buChar char="•"/>
            </a:pPr>
            <a:r>
              <a:rPr lang="en-US" sz="1000" b="0" i="0" dirty="0">
                <a:solidFill>
                  <a:srgbClr val="000000"/>
                </a:solidFill>
                <a:effectLst/>
                <a:latin typeface="Calibri" panose="020F0502020204030204" pitchFamily="34" charset="0"/>
              </a:rPr>
              <a:t>EAFRCliManager.exe </a:t>
            </a:r>
          </a:p>
          <a:p>
            <a:pPr marL="628650" lvl="1" indent="-171450" algn="l" rtl="0" fontAlgn="base">
              <a:buFont typeface="Arial" panose="020B0604020202020204" pitchFamily="34" charset="0"/>
              <a:buChar char="•"/>
            </a:pPr>
            <a:r>
              <a:rPr lang="en-US" sz="1000" b="0" i="0" dirty="0">
                <a:solidFill>
                  <a:srgbClr val="000000"/>
                </a:solidFill>
                <a:effectLst/>
                <a:latin typeface="Calibri" panose="020F0502020204030204" pitchFamily="34" charset="0"/>
              </a:rPr>
              <a:t>EAFRCliStart.exe </a:t>
            </a:r>
          </a:p>
          <a:p>
            <a:pPr marL="628650" lvl="1" indent="-171450" algn="l" rtl="0" fontAlgn="base">
              <a:buFont typeface="Arial" panose="020B0604020202020204" pitchFamily="34" charset="0"/>
              <a:buChar char="•"/>
            </a:pPr>
            <a:r>
              <a:rPr lang="en-US" sz="1000" b="0" i="0" dirty="0">
                <a:solidFill>
                  <a:srgbClr val="000000"/>
                </a:solidFill>
                <a:effectLst/>
                <a:latin typeface="Calibri" panose="020F0502020204030204" pitchFamily="34" charset="0"/>
              </a:rPr>
              <a:t>EACommunicatorSrv.exe </a:t>
            </a:r>
          </a:p>
          <a:p>
            <a:pPr marL="171450" indent="-171450" algn="l" rtl="0" fontAlgn="base">
              <a:buFont typeface="Arial" panose="020B0604020202020204" pitchFamily="34" charset="0"/>
              <a:buChar char="•"/>
            </a:pPr>
            <a:r>
              <a:rPr lang="en-US" sz="1000" b="0" i="0" dirty="0" err="1">
                <a:solidFill>
                  <a:srgbClr val="000000"/>
                </a:solidFill>
                <a:effectLst/>
                <a:latin typeface="Calibri" panose="020F0502020204030204" pitchFamily="34" charset="0"/>
              </a:rPr>
              <a:t>Timestomp</a:t>
            </a:r>
            <a:r>
              <a:rPr lang="en-US" sz="1000" b="0" i="0" dirty="0">
                <a:solidFill>
                  <a:srgbClr val="000000"/>
                </a:solidFill>
                <a:effectLst/>
                <a:latin typeface="Calibri" panose="020F0502020204030204" pitchFamily="34" charset="0"/>
              </a:rPr>
              <a:t> timestomp.exe </a:t>
            </a:r>
          </a:p>
          <a:p>
            <a:pPr marL="171450" indent="-171450" algn="l" rtl="0" fontAlgn="base">
              <a:buFont typeface="Arial" panose="020B0604020202020204" pitchFamily="34" charset="0"/>
              <a:buChar char="•"/>
            </a:pPr>
            <a:r>
              <a:rPr lang="en-US" sz="1000" b="0" i="0" dirty="0">
                <a:solidFill>
                  <a:srgbClr val="000000"/>
                </a:solidFill>
                <a:effectLst/>
                <a:latin typeface="Calibri" panose="020F0502020204030204" pitchFamily="34" charset="0"/>
              </a:rPr>
              <a:t>Tor tor.exe </a:t>
            </a:r>
          </a:p>
          <a:p>
            <a:pPr marL="171450" indent="-171450" algn="l" rtl="0" fontAlgn="base">
              <a:buFont typeface="Arial" panose="020B0604020202020204" pitchFamily="34" charset="0"/>
              <a:buChar char="•"/>
            </a:pPr>
            <a:r>
              <a:rPr lang="en-US" sz="1000" b="0" i="0" dirty="0">
                <a:solidFill>
                  <a:srgbClr val="000000"/>
                </a:solidFill>
                <a:effectLst/>
                <a:latin typeface="Calibri" panose="020F0502020204030204" pitchFamily="34" charset="0"/>
              </a:rPr>
              <a:t>TrueCrypt truecrypt.exe </a:t>
            </a:r>
          </a:p>
          <a:p>
            <a:pPr marL="171450" indent="-171450" algn="l" rtl="0" fontAlgn="base">
              <a:buFont typeface="Arial" panose="020B0604020202020204" pitchFamily="34" charset="0"/>
              <a:buChar char="•"/>
            </a:pPr>
            <a:r>
              <a:rPr lang="en-US" sz="1000" b="0" i="0" dirty="0" err="1">
                <a:solidFill>
                  <a:srgbClr val="000000"/>
                </a:solidFill>
                <a:effectLst/>
                <a:latin typeface="Calibri" panose="020F0502020204030204" pitchFamily="34" charset="0"/>
              </a:rPr>
              <a:t>Veracrypt</a:t>
            </a:r>
            <a:r>
              <a:rPr lang="en-US" sz="1000" b="0" i="0" dirty="0">
                <a:solidFill>
                  <a:srgbClr val="000000"/>
                </a:solidFill>
                <a:effectLst/>
                <a:latin typeface="Calibri" panose="020F0502020204030204" pitchFamily="34" charset="0"/>
              </a:rPr>
              <a:t> VeraCrypt.exe </a:t>
            </a:r>
          </a:p>
          <a:p>
            <a:pPr marL="171450" indent="-171450" algn="l" rtl="0" fontAlgn="base">
              <a:buFont typeface="Arial" panose="020B0604020202020204" pitchFamily="34" charset="0"/>
              <a:buChar char="•"/>
            </a:pPr>
            <a:r>
              <a:rPr lang="en-US" sz="1000" b="0" i="0" dirty="0" err="1">
                <a:solidFill>
                  <a:srgbClr val="000000"/>
                </a:solidFill>
                <a:effectLst/>
                <a:latin typeface="Calibri" panose="020F0502020204030204" pitchFamily="34" charset="0"/>
              </a:rPr>
              <a:t>Winclear</a:t>
            </a:r>
            <a:r>
              <a:rPr lang="en-US" sz="1000" b="0" i="0" dirty="0">
                <a:solidFill>
                  <a:srgbClr val="000000"/>
                </a:solidFill>
                <a:effectLst/>
                <a:latin typeface="Calibri" panose="020F0502020204030204" pitchFamily="34" charset="0"/>
              </a:rPr>
              <a:t> WinClear.exe </a:t>
            </a:r>
          </a:p>
        </p:txBody>
      </p:sp>
    </p:spTree>
    <p:extLst>
      <p:ext uri="{BB962C8B-B14F-4D97-AF65-F5344CB8AC3E}">
        <p14:creationId xmlns:p14="http://schemas.microsoft.com/office/powerpoint/2010/main" val="32812544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5E6468C-3D25-4DBA-A72D-FA6AADCA619A}"/>
              </a:ext>
            </a:extLst>
          </p:cNvPr>
          <p:cNvSpPr txBox="1"/>
          <p:nvPr/>
        </p:nvSpPr>
        <p:spPr>
          <a:xfrm>
            <a:off x="1524" y="436228"/>
            <a:ext cx="6094476" cy="6432530"/>
          </a:xfrm>
          <a:prstGeom prst="rect">
            <a:avLst/>
          </a:prstGeom>
          <a:noFill/>
        </p:spPr>
        <p:txBody>
          <a:bodyPr wrap="square">
            <a:spAutoFit/>
          </a:bodyPr>
          <a:lstStyle/>
          <a:p>
            <a:pPr algn="l" rtl="0" fontAlgn="base"/>
            <a:r>
              <a:rPr lang="en-US" sz="1100" b="0" i="0" dirty="0">
                <a:effectLst/>
              </a:rPr>
              <a:t>Tagging refined artifacts does not necessarily tag the equivalent Chrome/Firefox/</a:t>
            </a:r>
            <a:r>
              <a:rPr lang="en-US" sz="1100" dirty="0"/>
              <a:t>IE/Edge artifact</a:t>
            </a:r>
            <a:endParaRPr lang="en-US" sz="1100" b="0" i="0" dirty="0">
              <a:effectLst/>
            </a:endParaRPr>
          </a:p>
          <a:p>
            <a:pPr algn="l" rtl="0" fontAlgn="base"/>
            <a:r>
              <a:rPr lang="en-US" sz="1100" b="0" i="0" dirty="0">
                <a:solidFill>
                  <a:srgbClr val="1E4E79"/>
                </a:solidFill>
                <a:effectLst/>
              </a:rPr>
              <a:t>HISTORY GOOGLE CHROME </a:t>
            </a:r>
          </a:p>
          <a:p>
            <a:pPr marL="171450" indent="-171450" algn="l" rtl="0" fontAlgn="base">
              <a:buFont typeface="Arial" panose="020B0604020202020204" pitchFamily="34" charset="0"/>
              <a:buChar char="•"/>
            </a:pPr>
            <a:r>
              <a:rPr lang="en-US" sz="1000" b="0" i="0" dirty="0">
                <a:solidFill>
                  <a:srgbClr val="000000"/>
                </a:solidFill>
                <a:effectLst/>
              </a:rPr>
              <a:t>Google Chrome can be configured with multiple browsing profiles, the first of which is named Default </a:t>
            </a:r>
          </a:p>
          <a:p>
            <a:pPr marL="171450" indent="-171450" algn="l" rtl="0" fontAlgn="base">
              <a:buFont typeface="Arial" panose="020B0604020202020204" pitchFamily="34" charset="0"/>
              <a:buChar char="•"/>
            </a:pPr>
            <a:r>
              <a:rPr lang="en-US" sz="1000" b="0" i="0" dirty="0">
                <a:solidFill>
                  <a:srgbClr val="000000"/>
                </a:solidFill>
                <a:effectLst/>
              </a:rPr>
              <a:t>Any additional profiles created will be named Profile1 , Profile2 etc. </a:t>
            </a:r>
          </a:p>
          <a:p>
            <a:pPr marL="171450" indent="-171450" algn="l" rtl="0" fontAlgn="base">
              <a:buFont typeface="Arial" panose="020B0604020202020204" pitchFamily="34" charset="0"/>
              <a:buChar char="•"/>
            </a:pPr>
            <a:r>
              <a:rPr lang="en-US" sz="1000" dirty="0">
                <a:solidFill>
                  <a:srgbClr val="000000"/>
                </a:solidFill>
              </a:rPr>
              <a:t>Artifacts: 1. Chrome Web History (</a:t>
            </a:r>
            <a:r>
              <a:rPr lang="en-US" sz="1000" dirty="0" err="1">
                <a:solidFill>
                  <a:srgbClr val="000000"/>
                </a:solidFill>
              </a:rPr>
              <a:t>urls</a:t>
            </a:r>
            <a:r>
              <a:rPr lang="en-US" sz="1000" dirty="0">
                <a:solidFill>
                  <a:srgbClr val="000000"/>
                </a:solidFill>
              </a:rPr>
              <a:t> visited), Chrome Web Visits (Each visit info)</a:t>
            </a:r>
            <a:endParaRPr lang="en-US" sz="1000" b="0" i="0" dirty="0">
              <a:solidFill>
                <a:srgbClr val="000000"/>
              </a:solidFill>
              <a:effectLst/>
            </a:endParaRPr>
          </a:p>
          <a:p>
            <a:pPr algn="l" rtl="0" fontAlgn="base"/>
            <a:r>
              <a:rPr lang="en-US" sz="1000" i="1" dirty="0">
                <a:solidFill>
                  <a:srgbClr val="000000"/>
                </a:solidFill>
                <a:effectLst/>
              </a:rPr>
              <a:t>\Users\&lt;username&gt;\AppData\Local\Google\Chrome\User Data\ </a:t>
            </a:r>
          </a:p>
          <a:p>
            <a:pPr algn="l" rtl="0" fontAlgn="base"/>
            <a:r>
              <a:rPr lang="en-US" sz="1000" i="1" dirty="0">
                <a:solidFill>
                  <a:srgbClr val="000000"/>
                </a:solidFill>
                <a:effectLst/>
              </a:rPr>
              <a:t>\Users\&lt;username&gt;\AppData\Local\Google\Chrome\User Data\Default\ or &lt;Profile1&gt; </a:t>
            </a:r>
            <a:r>
              <a:rPr lang="en-US" sz="1000" b="0" i="0" dirty="0" err="1">
                <a:solidFill>
                  <a:srgbClr val="000000"/>
                </a:solidFill>
                <a:effectLst/>
              </a:rPr>
              <a:t>etc</a:t>
            </a:r>
            <a:endParaRPr lang="en-US" sz="1000" dirty="0">
              <a:solidFill>
                <a:srgbClr val="000000"/>
              </a:solidFill>
            </a:endParaRPr>
          </a:p>
          <a:p>
            <a:pPr algn="l" rtl="0" fontAlgn="base"/>
            <a:r>
              <a:rPr lang="en-US" sz="1000" b="0" i="0" dirty="0">
                <a:solidFill>
                  <a:srgbClr val="000000"/>
                </a:solidFill>
                <a:effectLst/>
              </a:rPr>
              <a:t>Chrome history is stored in an SQLite database named </a:t>
            </a:r>
            <a:r>
              <a:rPr lang="en-US" sz="1000" b="1" i="0" dirty="0">
                <a:solidFill>
                  <a:srgbClr val="000000"/>
                </a:solidFill>
                <a:effectLst/>
              </a:rPr>
              <a:t>History</a:t>
            </a:r>
            <a:r>
              <a:rPr lang="en-US" sz="1000" b="0" i="0" dirty="0">
                <a:solidFill>
                  <a:srgbClr val="000000"/>
                </a:solidFill>
                <a:effectLst/>
              </a:rPr>
              <a:t>. Tables = </a:t>
            </a:r>
            <a:r>
              <a:rPr lang="en-US" sz="1000" b="1" i="0" dirty="0">
                <a:solidFill>
                  <a:srgbClr val="000000"/>
                </a:solidFill>
                <a:effectLst/>
              </a:rPr>
              <a:t>urls</a:t>
            </a:r>
            <a:r>
              <a:rPr lang="en-US" sz="1000" b="1" dirty="0">
                <a:solidFill>
                  <a:srgbClr val="000000"/>
                </a:solidFill>
              </a:rPr>
              <a:t>, </a:t>
            </a:r>
            <a:r>
              <a:rPr lang="en-US" sz="1000" b="1" i="0" dirty="0">
                <a:solidFill>
                  <a:srgbClr val="000000"/>
                </a:solidFill>
                <a:effectLst/>
              </a:rPr>
              <a:t>visits</a:t>
            </a:r>
            <a:r>
              <a:rPr lang="en-US" sz="1000" b="1" dirty="0">
                <a:solidFill>
                  <a:srgbClr val="000000"/>
                </a:solidFill>
              </a:rPr>
              <a:t>, </a:t>
            </a:r>
            <a:r>
              <a:rPr lang="en-US" sz="1000" b="1" i="0" dirty="0" err="1">
                <a:solidFill>
                  <a:srgbClr val="000000"/>
                </a:solidFill>
                <a:effectLst/>
              </a:rPr>
              <a:t>visit_source</a:t>
            </a:r>
            <a:endParaRPr lang="en-US" sz="1000" b="0" i="0" dirty="0">
              <a:solidFill>
                <a:srgbClr val="1E4E79"/>
              </a:solidFill>
              <a:effectLst/>
            </a:endParaRPr>
          </a:p>
          <a:p>
            <a:pPr algn="l" rtl="0" fontAlgn="base"/>
            <a:r>
              <a:rPr lang="en-US" sz="1000" b="1" i="0" dirty="0">
                <a:solidFill>
                  <a:srgbClr val="000000"/>
                </a:solidFill>
                <a:effectLst/>
              </a:rPr>
              <a:t>Transition Type </a:t>
            </a:r>
            <a:r>
              <a:rPr lang="en-US" sz="1000" b="0" i="0" dirty="0">
                <a:solidFill>
                  <a:srgbClr val="000000"/>
                </a:solidFill>
                <a:effectLst/>
              </a:rPr>
              <a:t>How the browser navigated to the website. </a:t>
            </a:r>
          </a:p>
          <a:p>
            <a:pPr algn="l" rtl="0" fontAlgn="base"/>
            <a:r>
              <a:rPr lang="en-US" sz="1000" b="1" i="0" dirty="0">
                <a:solidFill>
                  <a:srgbClr val="000000"/>
                </a:solidFill>
                <a:effectLst/>
              </a:rPr>
              <a:t>Visit Source</a:t>
            </a:r>
            <a:r>
              <a:rPr lang="en-US" sz="1000" b="0" i="0" dirty="0">
                <a:solidFill>
                  <a:srgbClr val="000000"/>
                </a:solidFill>
                <a:effectLst/>
              </a:rPr>
              <a:t> The source of the visit entry in the database. </a:t>
            </a:r>
          </a:p>
          <a:p>
            <a:pPr algn="l" rtl="0" fontAlgn="base"/>
            <a:r>
              <a:rPr lang="en-US" sz="1000" b="0" i="0" dirty="0">
                <a:solidFill>
                  <a:srgbClr val="000000"/>
                </a:solidFill>
                <a:effectLst/>
              </a:rPr>
              <a:t> </a:t>
            </a:r>
          </a:p>
          <a:p>
            <a:pPr algn="l" rtl="0" fontAlgn="base"/>
            <a:r>
              <a:rPr lang="en-US" sz="1000" b="0" i="0" dirty="0">
                <a:solidFill>
                  <a:srgbClr val="000000"/>
                </a:solidFill>
                <a:effectLst/>
              </a:rPr>
              <a:t>The possible values for the </a:t>
            </a:r>
            <a:r>
              <a:rPr lang="en-US" sz="1000" b="1" i="0" dirty="0">
                <a:solidFill>
                  <a:srgbClr val="000000"/>
                </a:solidFill>
                <a:effectLst/>
              </a:rPr>
              <a:t>Transition Type </a:t>
            </a:r>
            <a:r>
              <a:rPr lang="en-US" sz="1000" b="0" i="0" dirty="0">
                <a:solidFill>
                  <a:srgbClr val="000000"/>
                </a:solidFill>
                <a:effectLst/>
              </a:rPr>
              <a:t>are: </a:t>
            </a:r>
          </a:p>
          <a:p>
            <a:pPr algn="l" rtl="0" fontAlgn="base"/>
            <a:r>
              <a:rPr lang="en-US" sz="1000" b="1" i="0" dirty="0">
                <a:solidFill>
                  <a:srgbClr val="000000"/>
                </a:solidFill>
                <a:effectLst/>
              </a:rPr>
              <a:t>LINK</a:t>
            </a:r>
            <a:r>
              <a:rPr lang="en-US" sz="1000" b="0" i="0" dirty="0">
                <a:solidFill>
                  <a:srgbClr val="000000"/>
                </a:solidFill>
                <a:effectLst/>
              </a:rPr>
              <a:t> The user clicked a link in another page. </a:t>
            </a:r>
          </a:p>
          <a:p>
            <a:pPr algn="l" rtl="0" fontAlgn="base"/>
            <a:r>
              <a:rPr lang="en-US" sz="1000" b="1" i="0" dirty="0">
                <a:solidFill>
                  <a:srgbClr val="000000"/>
                </a:solidFill>
                <a:effectLst/>
              </a:rPr>
              <a:t>AUTO_TOPLEVE</a:t>
            </a:r>
            <a:r>
              <a:rPr lang="en-US" sz="1000" b="0" i="0" dirty="0">
                <a:solidFill>
                  <a:srgbClr val="000000"/>
                </a:solidFill>
                <a:effectLst/>
              </a:rPr>
              <a:t>L Any content that is automatically loaded in a top-level frame. E.g. opening the dev tools window, or opening web-based dialog boxes. It can also be the page passed to the command line. </a:t>
            </a:r>
          </a:p>
          <a:p>
            <a:pPr algn="l" rtl="0" fontAlgn="base"/>
            <a:r>
              <a:rPr lang="en-US" sz="1000" b="1" i="0" dirty="0">
                <a:solidFill>
                  <a:srgbClr val="000000"/>
                </a:solidFill>
                <a:effectLst/>
              </a:rPr>
              <a:t>AUTO_SUBFRAME</a:t>
            </a:r>
            <a:r>
              <a:rPr lang="en-US" sz="1000" b="0" i="0" dirty="0">
                <a:solidFill>
                  <a:srgbClr val="000000"/>
                </a:solidFill>
                <a:effectLst/>
              </a:rPr>
              <a:t> Any nested subframe that is loaded automatically by the parent page. This is often seen where frames contain ads the ad URLs will have this transition type. </a:t>
            </a:r>
          </a:p>
          <a:p>
            <a:pPr algn="l" rtl="0" fontAlgn="base"/>
            <a:r>
              <a:rPr lang="en-US" sz="1000" b="1" i="0" dirty="0">
                <a:solidFill>
                  <a:srgbClr val="000000"/>
                </a:solidFill>
                <a:effectLst/>
              </a:rPr>
              <a:t>MANUAL_SUBFRAME </a:t>
            </a:r>
            <a:r>
              <a:rPr lang="en-US" sz="1000" b="0" i="0" dirty="0">
                <a:solidFill>
                  <a:srgbClr val="000000"/>
                </a:solidFill>
                <a:effectLst/>
              </a:rPr>
              <a:t>Any nested subframe that is loaded as a result of an explicit action by the user and generates new navigation entries in the back/forward page navigation list. </a:t>
            </a:r>
          </a:p>
          <a:p>
            <a:pPr algn="l" rtl="0" fontAlgn="base"/>
            <a:r>
              <a:rPr lang="en-US" sz="1000" b="1" i="0" dirty="0">
                <a:solidFill>
                  <a:srgbClr val="000000"/>
                </a:solidFill>
                <a:effectLst/>
              </a:rPr>
              <a:t>GENERATED </a:t>
            </a:r>
            <a:r>
              <a:rPr lang="en-US" sz="1000" b="0" i="0" dirty="0">
                <a:solidFill>
                  <a:srgbClr val="000000"/>
                </a:solidFill>
                <a:effectLst/>
              </a:rPr>
              <a:t>The user started typing in the address bar, then selected an entry that did NOT look like a URL. These are discrete from Typed URLs as the suggestion did not look like a URL. </a:t>
            </a:r>
          </a:p>
          <a:p>
            <a:pPr algn="l" rtl="0" fontAlgn="base"/>
            <a:r>
              <a:rPr lang="en-US" sz="1000" b="1" i="0" dirty="0">
                <a:solidFill>
                  <a:srgbClr val="000000"/>
                </a:solidFill>
                <a:effectLst/>
              </a:rPr>
              <a:t>KEYWORD </a:t>
            </a:r>
            <a:r>
              <a:rPr lang="en-US" sz="1000" b="0" i="0" dirty="0">
                <a:solidFill>
                  <a:srgbClr val="000000"/>
                </a:solidFill>
                <a:effectLst/>
              </a:rPr>
              <a:t>The URL was generated from keyword search configured by the user. This search might also generate an additional visit with a transition type of KEYWORD_GENERATED. E.g. if the user enters a search for the generated URL has a transition type of KEYWORD; a second URL for wikipedia.org with a transition type of KEYWORD_GENERATED might also be created. </a:t>
            </a:r>
          </a:p>
          <a:p>
            <a:pPr algn="l" rtl="0" fontAlgn="base"/>
            <a:r>
              <a:rPr lang="en-US" sz="1000" b="1" i="0" dirty="0">
                <a:solidFill>
                  <a:srgbClr val="000000"/>
                </a:solidFill>
                <a:effectLst/>
              </a:rPr>
              <a:t>KEYWORD_GENERATED</a:t>
            </a:r>
            <a:r>
              <a:rPr lang="en-US" sz="1000" b="0" i="0" dirty="0">
                <a:solidFill>
                  <a:srgbClr val="000000"/>
                </a:solidFill>
                <a:effectLst/>
              </a:rPr>
              <a:t> Corresponds to a visit generated for a keyword. See description of KEYWORD above. </a:t>
            </a:r>
          </a:p>
          <a:p>
            <a:pPr algn="l" rtl="0" fontAlgn="base"/>
            <a:r>
              <a:rPr lang="en-US" sz="1000" b="1" i="0" dirty="0">
                <a:solidFill>
                  <a:srgbClr val="000000"/>
                </a:solidFill>
                <a:effectLst/>
              </a:rPr>
              <a:t>FORM_SUBMIT</a:t>
            </a:r>
            <a:r>
              <a:rPr lang="en-US" sz="1000" b="0" i="0" dirty="0">
                <a:solidFill>
                  <a:srgbClr val="000000"/>
                </a:solidFill>
                <a:effectLst/>
              </a:rPr>
              <a:t> The user filled out values in a form and submitted it. NOTE: in some situations, such as when a form uses a script to submit its content, submitting a form does not result in this transition type. </a:t>
            </a:r>
          </a:p>
          <a:p>
            <a:pPr algn="l" rtl="0" fontAlgn="base"/>
            <a:r>
              <a:rPr lang="en-US" sz="1000" b="1" i="0" dirty="0">
                <a:solidFill>
                  <a:srgbClr val="000000"/>
                </a:solidFill>
                <a:effectLst/>
              </a:rPr>
              <a:t>RELOAD</a:t>
            </a:r>
            <a:r>
              <a:rPr lang="en-US" sz="1000" b="0" i="0" dirty="0">
                <a:solidFill>
                  <a:srgbClr val="000000"/>
                </a:solidFill>
                <a:effectLst/>
              </a:rPr>
              <a:t> The user reloaded the page using either the reload/refresh button, or pressing enter in the address bar. This transition type is also used for session restore when reopening closed tabs. </a:t>
            </a:r>
          </a:p>
          <a:p>
            <a:pPr algn="l" rtl="0" fontAlgn="base"/>
            <a:r>
              <a:rPr lang="en-US" sz="1000" b="1" i="0" dirty="0">
                <a:solidFill>
                  <a:srgbClr val="000000"/>
                </a:solidFill>
                <a:effectLst/>
              </a:rPr>
              <a:t>TYPED</a:t>
            </a:r>
            <a:r>
              <a:rPr lang="en-US" sz="1000" b="0" i="0" dirty="0">
                <a:solidFill>
                  <a:srgbClr val="000000"/>
                </a:solidFill>
                <a:effectLst/>
              </a:rPr>
              <a:t> The user either entered the URL into the address bar or selected a URL from the autocomplete suggestions offered. This type is not used if the user selected a choice that didn't look like a URL; see GENERATED above. </a:t>
            </a:r>
          </a:p>
          <a:p>
            <a:pPr algn="l" rtl="0" fontAlgn="base"/>
            <a:r>
              <a:rPr lang="en-US" sz="1000" b="1" i="0" dirty="0">
                <a:solidFill>
                  <a:srgbClr val="000000"/>
                </a:solidFill>
                <a:effectLst/>
              </a:rPr>
              <a:t>AUTO_BOOKMARK</a:t>
            </a:r>
            <a:r>
              <a:rPr lang="en-US" sz="1000" b="0" i="0" dirty="0">
                <a:solidFill>
                  <a:srgbClr val="000000"/>
                </a:solidFill>
                <a:effectLst/>
              </a:rPr>
              <a:t> The user selected an entry from the User Interface. This includes bookmarks/history. </a:t>
            </a:r>
          </a:p>
          <a:p>
            <a:pPr algn="l" rtl="0" fontAlgn="base"/>
            <a:endParaRPr lang="en-US" sz="1000" b="0" i="0" dirty="0">
              <a:solidFill>
                <a:srgbClr val="000000"/>
              </a:solidFill>
              <a:effectLst/>
            </a:endParaRPr>
          </a:p>
          <a:p>
            <a:pPr algn="l" rtl="0" fontAlgn="base"/>
            <a:r>
              <a:rPr lang="en-US" sz="1000" b="0" i="0" dirty="0">
                <a:solidFill>
                  <a:srgbClr val="000000"/>
                </a:solidFill>
                <a:effectLst/>
              </a:rPr>
              <a:t>The possible values for the </a:t>
            </a:r>
            <a:r>
              <a:rPr lang="en-US" sz="1000" b="1" i="0" dirty="0">
                <a:solidFill>
                  <a:srgbClr val="000000"/>
                </a:solidFill>
                <a:effectLst/>
              </a:rPr>
              <a:t>Visit Source </a:t>
            </a:r>
            <a:r>
              <a:rPr lang="en-US" sz="1000" b="0" i="0" dirty="0">
                <a:solidFill>
                  <a:srgbClr val="000000"/>
                </a:solidFill>
                <a:effectLst/>
              </a:rPr>
              <a:t>are: </a:t>
            </a:r>
          </a:p>
          <a:p>
            <a:pPr marL="171450" indent="-171450" algn="l" rtl="0" fontAlgn="base">
              <a:buFont typeface="Arial" panose="020B0604020202020204" pitchFamily="34" charset="0"/>
              <a:buChar char="•"/>
            </a:pPr>
            <a:r>
              <a:rPr lang="en-US" sz="1000" b="1" i="0" dirty="0">
                <a:solidFill>
                  <a:srgbClr val="000000"/>
                </a:solidFill>
                <a:effectLst/>
              </a:rPr>
              <a:t>Synced</a:t>
            </a:r>
            <a:r>
              <a:rPr lang="en-US" sz="1000" b="0" i="0" dirty="0">
                <a:solidFill>
                  <a:srgbClr val="000000"/>
                </a:solidFill>
                <a:effectLst/>
              </a:rPr>
              <a:t> Synchronized from somewhere else. </a:t>
            </a:r>
          </a:p>
          <a:p>
            <a:pPr marL="171450" indent="-171450" algn="l" rtl="0" fontAlgn="base">
              <a:buFont typeface="Arial" panose="020B0604020202020204" pitchFamily="34" charset="0"/>
              <a:buChar char="•"/>
            </a:pPr>
            <a:r>
              <a:rPr lang="en-US" sz="1000" b="1" i="0" dirty="0">
                <a:solidFill>
                  <a:srgbClr val="000000"/>
                </a:solidFill>
                <a:effectLst/>
              </a:rPr>
              <a:t>User </a:t>
            </a:r>
            <a:r>
              <a:rPr lang="en-US" sz="1000" b="0" i="0" dirty="0">
                <a:solidFill>
                  <a:srgbClr val="000000"/>
                </a:solidFill>
                <a:effectLst/>
              </a:rPr>
              <a:t>Browsed User browsed see NOTE below. </a:t>
            </a:r>
          </a:p>
          <a:p>
            <a:pPr marL="171450" indent="-171450" algn="l" rtl="0" fontAlgn="base">
              <a:buFont typeface="Arial" panose="020B0604020202020204" pitchFamily="34" charset="0"/>
              <a:buChar char="•"/>
            </a:pPr>
            <a:r>
              <a:rPr lang="en-US" sz="1000" b="1" i="0" dirty="0">
                <a:solidFill>
                  <a:srgbClr val="000000"/>
                </a:solidFill>
                <a:effectLst/>
              </a:rPr>
              <a:t>Extension</a:t>
            </a:r>
            <a:r>
              <a:rPr lang="en-US" sz="1000" b="0" i="0" dirty="0">
                <a:solidFill>
                  <a:srgbClr val="000000"/>
                </a:solidFill>
                <a:effectLst/>
              </a:rPr>
              <a:t> Added by an extension. </a:t>
            </a:r>
          </a:p>
          <a:p>
            <a:pPr marL="171450" indent="-171450" algn="l" rtl="0" fontAlgn="base">
              <a:buFont typeface="Arial" panose="020B0604020202020204" pitchFamily="34" charset="0"/>
              <a:buChar char="•"/>
            </a:pPr>
            <a:r>
              <a:rPr lang="en-US" sz="1000" b="1" i="0" dirty="0">
                <a:solidFill>
                  <a:srgbClr val="000000"/>
                </a:solidFill>
                <a:effectLst/>
              </a:rPr>
              <a:t>Firefox Import </a:t>
            </a:r>
            <a:r>
              <a:rPr lang="en-US" sz="1000" b="0" i="0" dirty="0">
                <a:solidFill>
                  <a:srgbClr val="000000"/>
                </a:solidFill>
                <a:effectLst/>
              </a:rPr>
              <a:t>Imported from Firefox. </a:t>
            </a:r>
          </a:p>
          <a:p>
            <a:pPr marL="171450" indent="-171450" algn="l" rtl="0" fontAlgn="base">
              <a:buFont typeface="Arial" panose="020B0604020202020204" pitchFamily="34" charset="0"/>
              <a:buChar char="•"/>
            </a:pPr>
            <a:r>
              <a:rPr lang="en-US" sz="1000" b="1" i="0" dirty="0">
                <a:solidFill>
                  <a:srgbClr val="000000"/>
                </a:solidFill>
                <a:effectLst/>
              </a:rPr>
              <a:t>IE Import </a:t>
            </a:r>
            <a:r>
              <a:rPr lang="en-US" sz="1000" b="0" i="0" dirty="0">
                <a:solidFill>
                  <a:srgbClr val="000000"/>
                </a:solidFill>
                <a:effectLst/>
              </a:rPr>
              <a:t>Imported from Internet Explorer. </a:t>
            </a:r>
          </a:p>
          <a:p>
            <a:pPr marL="171450" indent="-171450" algn="l" rtl="0" fontAlgn="base">
              <a:buFont typeface="Arial" panose="020B0604020202020204" pitchFamily="34" charset="0"/>
              <a:buChar char="•"/>
            </a:pPr>
            <a:r>
              <a:rPr lang="en-US" sz="1000" b="1" i="0" dirty="0">
                <a:solidFill>
                  <a:srgbClr val="000000"/>
                </a:solidFill>
                <a:effectLst/>
              </a:rPr>
              <a:t>Safari Import </a:t>
            </a:r>
            <a:r>
              <a:rPr lang="en-US" sz="1000" b="0" i="0" dirty="0">
                <a:solidFill>
                  <a:srgbClr val="000000"/>
                </a:solidFill>
                <a:effectLst/>
              </a:rPr>
              <a:t>Imported from Safari. </a:t>
            </a:r>
          </a:p>
        </p:txBody>
      </p:sp>
      <p:sp>
        <p:nvSpPr>
          <p:cNvPr id="7" name="TextBox 6">
            <a:extLst>
              <a:ext uri="{FF2B5EF4-FFF2-40B4-BE49-F238E27FC236}">
                <a16:creationId xmlns:a16="http://schemas.microsoft.com/office/drawing/2014/main" id="{5CBD43F8-CDA6-4900-A285-04D23724E992}"/>
              </a:ext>
            </a:extLst>
          </p:cNvPr>
          <p:cNvSpPr txBox="1"/>
          <p:nvPr/>
        </p:nvSpPr>
        <p:spPr>
          <a:xfrm>
            <a:off x="6096000" y="0"/>
            <a:ext cx="6094476" cy="6894195"/>
          </a:xfrm>
          <a:prstGeom prst="rect">
            <a:avLst/>
          </a:prstGeom>
          <a:noFill/>
        </p:spPr>
        <p:txBody>
          <a:bodyPr wrap="square">
            <a:spAutoFit/>
          </a:bodyPr>
          <a:lstStyle/>
          <a:p>
            <a:pPr fontAlgn="base"/>
            <a:r>
              <a:rPr lang="en-US" sz="1100" b="0" i="0" dirty="0">
                <a:solidFill>
                  <a:srgbClr val="1E4E79"/>
                </a:solidFill>
                <a:effectLst/>
              </a:rPr>
              <a:t>HISTORY FIREFOX</a:t>
            </a:r>
            <a:endParaRPr lang="en-US" sz="1100" b="0" i="0" dirty="0">
              <a:solidFill>
                <a:srgbClr val="000000"/>
              </a:solidFill>
              <a:effectLst/>
            </a:endParaRPr>
          </a:p>
          <a:p>
            <a:pPr algn="l" rtl="0" fontAlgn="base"/>
            <a:r>
              <a:rPr lang="en-US" sz="1000" b="0" i="0" dirty="0">
                <a:solidFill>
                  <a:srgbClr val="000000"/>
                </a:solidFill>
                <a:effectLst/>
              </a:rPr>
              <a:t>Most of the data is stored within a user's roaming profile and the subfolders are stored in the following location: </a:t>
            </a:r>
          </a:p>
          <a:p>
            <a:pPr algn="l" rtl="0" fontAlgn="base"/>
            <a:r>
              <a:rPr lang="en-US" sz="1000" b="1" i="0" dirty="0">
                <a:solidFill>
                  <a:srgbClr val="000000"/>
                </a:solidFill>
                <a:effectLst/>
              </a:rPr>
              <a:t>\Users\&lt;username&gt;\AppData\Roaming\Mozilla\Firefox\Profiles\</a:t>
            </a:r>
            <a:r>
              <a:rPr lang="en-US" sz="1000" b="0" i="0" dirty="0">
                <a:solidFill>
                  <a:srgbClr val="000000"/>
                </a:solidFill>
                <a:effectLst/>
              </a:rPr>
              <a:t> </a:t>
            </a:r>
          </a:p>
          <a:p>
            <a:pPr algn="l" rtl="0" fontAlgn="base"/>
            <a:r>
              <a:rPr lang="en-US" sz="1000" b="0" i="0" dirty="0">
                <a:solidFill>
                  <a:srgbClr val="000000"/>
                </a:solidFill>
                <a:effectLst/>
              </a:rPr>
              <a:t>So, the user data relating to the default profile is located at: </a:t>
            </a:r>
          </a:p>
          <a:p>
            <a:pPr algn="l" rtl="0" fontAlgn="base"/>
            <a:r>
              <a:rPr lang="en-US" sz="1000" b="1" i="0" dirty="0">
                <a:solidFill>
                  <a:srgbClr val="000000"/>
                </a:solidFill>
                <a:effectLst/>
              </a:rPr>
              <a:t>\Users</a:t>
            </a:r>
            <a:r>
              <a:rPr lang="en-US" sz="1000" b="0" i="0" dirty="0">
                <a:solidFill>
                  <a:srgbClr val="000000"/>
                </a:solidFill>
                <a:effectLst/>
              </a:rPr>
              <a:t>\</a:t>
            </a:r>
            <a:r>
              <a:rPr lang="en-US" sz="1000" b="1" i="0" dirty="0">
                <a:solidFill>
                  <a:srgbClr val="000000"/>
                </a:solidFill>
                <a:effectLst/>
              </a:rPr>
              <a:t>&lt;username&gt;\AppData\Roaming\Mozilla\Firefox\Profiles\</a:t>
            </a:r>
            <a:r>
              <a:rPr lang="en-US" sz="1000" b="1" i="0" dirty="0" err="1">
                <a:solidFill>
                  <a:srgbClr val="000000"/>
                </a:solidFill>
                <a:effectLst/>
              </a:rPr>
              <a:t>xxxxxxxx.deault</a:t>
            </a:r>
            <a:r>
              <a:rPr lang="en-US" sz="1000" b="1" i="0" dirty="0">
                <a:solidFill>
                  <a:srgbClr val="000000"/>
                </a:solidFill>
                <a:effectLst/>
              </a:rPr>
              <a:t>\</a:t>
            </a:r>
            <a:r>
              <a:rPr lang="en-US" sz="1000" b="0" i="0" dirty="0">
                <a:solidFill>
                  <a:srgbClr val="000000"/>
                </a:solidFill>
                <a:effectLst/>
              </a:rPr>
              <a:t> </a:t>
            </a:r>
          </a:p>
          <a:p>
            <a:pPr algn="l" rtl="0" fontAlgn="base"/>
            <a:r>
              <a:rPr lang="en-US" sz="1000" b="0" i="0" dirty="0">
                <a:solidFill>
                  <a:srgbClr val="000000"/>
                </a:solidFill>
                <a:effectLst/>
              </a:rPr>
              <a:t>Firefox browser history is stored in an SQLite database </a:t>
            </a:r>
            <a:r>
              <a:rPr lang="en-US" sz="1000" b="1" i="0" dirty="0">
                <a:solidFill>
                  <a:srgbClr val="000000"/>
                </a:solidFill>
                <a:effectLst/>
              </a:rPr>
              <a:t>places.sqlite</a:t>
            </a:r>
            <a:r>
              <a:rPr lang="en-US" sz="1000" b="0" i="0" dirty="0">
                <a:solidFill>
                  <a:srgbClr val="000000"/>
                </a:solidFill>
                <a:effectLst/>
              </a:rPr>
              <a:t>. </a:t>
            </a:r>
          </a:p>
          <a:p>
            <a:pPr algn="l" rtl="0" fontAlgn="base"/>
            <a:r>
              <a:rPr lang="en-US" sz="1000" b="0" i="0" dirty="0">
                <a:solidFill>
                  <a:srgbClr val="000000"/>
                </a:solidFill>
                <a:effectLst/>
              </a:rPr>
              <a:t>Tables: </a:t>
            </a:r>
            <a:r>
              <a:rPr lang="en-US" sz="1000" b="1" i="0" dirty="0">
                <a:solidFill>
                  <a:srgbClr val="000000"/>
                </a:solidFill>
                <a:effectLst/>
              </a:rPr>
              <a:t>moz_places, </a:t>
            </a:r>
            <a:r>
              <a:rPr lang="en-US" sz="1000" i="0" dirty="0">
                <a:solidFill>
                  <a:srgbClr val="000000"/>
                </a:solidFill>
                <a:effectLst/>
              </a:rPr>
              <a:t>and </a:t>
            </a:r>
            <a:r>
              <a:rPr lang="en-US" sz="1000" b="1" i="0" dirty="0">
                <a:solidFill>
                  <a:srgbClr val="000000"/>
                </a:solidFill>
                <a:effectLst/>
              </a:rPr>
              <a:t>moz_historyvisits</a:t>
            </a:r>
            <a:r>
              <a:rPr lang="en-US" sz="1000" b="0" i="0" dirty="0">
                <a:solidFill>
                  <a:srgbClr val="000000"/>
                </a:solidFill>
                <a:effectLst/>
              </a:rPr>
              <a:t>.  </a:t>
            </a:r>
          </a:p>
          <a:p>
            <a:pPr algn="l" rtl="0" fontAlgn="base"/>
            <a:r>
              <a:rPr lang="en-US" sz="1000" b="0" i="0" dirty="0">
                <a:solidFill>
                  <a:srgbClr val="000000"/>
                </a:solidFill>
                <a:effectLst/>
              </a:rPr>
              <a:t>The moz_places tables is a list of each unique URL stored in the database and the moz_historyvisits table contains a list of each time the browser has visited a URL, regardless of whether the URL has been accessed multiple times.  moz_historyvisits.place_id that cross references the moz_places table. </a:t>
            </a:r>
          </a:p>
          <a:p>
            <a:pPr algn="l" rtl="0" fontAlgn="base"/>
            <a:r>
              <a:rPr lang="en-US" sz="1000" b="0" i="0" dirty="0">
                <a:solidFill>
                  <a:srgbClr val="000000"/>
                </a:solidFill>
                <a:effectLst/>
              </a:rPr>
              <a:t>moz_places table is extracted by AXIOM Process and placed in the </a:t>
            </a:r>
            <a:r>
              <a:rPr lang="en-US" sz="1000" b="1" i="0" dirty="0">
                <a:solidFill>
                  <a:srgbClr val="000000"/>
                </a:solidFill>
                <a:effectLst/>
              </a:rPr>
              <a:t>WEB RELATED → Firefox Web History </a:t>
            </a:r>
            <a:r>
              <a:rPr lang="en-US" sz="1000" b="0" i="0" dirty="0">
                <a:solidFill>
                  <a:srgbClr val="000000"/>
                </a:solidFill>
                <a:effectLst/>
              </a:rPr>
              <a:t>category moz_historyvisits table is placed in the </a:t>
            </a:r>
            <a:r>
              <a:rPr lang="en-US" sz="1000" b="1" i="0" dirty="0">
                <a:solidFill>
                  <a:srgbClr val="000000"/>
                </a:solidFill>
                <a:effectLst/>
              </a:rPr>
              <a:t>WEB RELATED → Firefox Web Visits</a:t>
            </a:r>
            <a:r>
              <a:rPr lang="en-US" sz="1000" b="0" i="0" dirty="0">
                <a:solidFill>
                  <a:srgbClr val="000000"/>
                </a:solidFill>
                <a:effectLst/>
              </a:rPr>
              <a:t> category.  </a:t>
            </a:r>
          </a:p>
          <a:p>
            <a:pPr algn="l" rtl="0" fontAlgn="base"/>
            <a:r>
              <a:rPr lang="en-US" sz="1000" b="0" i="0" dirty="0">
                <a:solidFill>
                  <a:srgbClr val="000000"/>
                </a:solidFill>
                <a:effectLst/>
              </a:rPr>
              <a:t>The DETAILS card lists which records from each table have been used to compile the artifact. </a:t>
            </a:r>
          </a:p>
          <a:p>
            <a:pPr algn="l" rtl="0" fontAlgn="base"/>
            <a:r>
              <a:rPr lang="en-US" sz="1000" b="0" i="0" dirty="0">
                <a:solidFill>
                  <a:srgbClr val="000000"/>
                </a:solidFill>
                <a:effectLst/>
              </a:rPr>
              <a:t>The possible values for the </a:t>
            </a:r>
            <a:r>
              <a:rPr lang="en-US" sz="1000" b="1" i="0" dirty="0">
                <a:solidFill>
                  <a:srgbClr val="000000"/>
                </a:solidFill>
                <a:effectLst/>
              </a:rPr>
              <a:t>Transition Type </a:t>
            </a:r>
            <a:r>
              <a:rPr lang="en-US" sz="1000" b="0" i="0" dirty="0">
                <a:solidFill>
                  <a:srgbClr val="000000"/>
                </a:solidFill>
                <a:effectLst/>
              </a:rPr>
              <a:t>are: </a:t>
            </a:r>
          </a:p>
          <a:p>
            <a:pPr algn="l" rtl="0" fontAlgn="base"/>
            <a:r>
              <a:rPr lang="en-US" sz="1000" b="1" i="0" dirty="0">
                <a:solidFill>
                  <a:srgbClr val="000000"/>
                </a:solidFill>
                <a:effectLst/>
              </a:rPr>
              <a:t>TRANSITION_LINK</a:t>
            </a:r>
            <a:r>
              <a:rPr lang="en-US" sz="1000" b="0" i="0" dirty="0">
                <a:solidFill>
                  <a:srgbClr val="000000"/>
                </a:solidFill>
                <a:effectLst/>
              </a:rPr>
              <a:t> User clicked on a link </a:t>
            </a:r>
          </a:p>
          <a:p>
            <a:pPr algn="l" rtl="0" fontAlgn="base"/>
            <a:r>
              <a:rPr lang="en-US" sz="1000" b="1" i="0" dirty="0">
                <a:solidFill>
                  <a:srgbClr val="000000"/>
                </a:solidFill>
                <a:effectLst/>
              </a:rPr>
              <a:t>TRANSITION_TYPED</a:t>
            </a:r>
            <a:r>
              <a:rPr lang="en-US" sz="1000" b="0" i="0" dirty="0">
                <a:solidFill>
                  <a:srgbClr val="000000"/>
                </a:solidFill>
                <a:effectLst/>
              </a:rPr>
              <a:t> User typed the URL into the address bar </a:t>
            </a:r>
          </a:p>
          <a:p>
            <a:pPr algn="l" rtl="0" fontAlgn="base"/>
            <a:r>
              <a:rPr lang="en-US" sz="1000" b="1" i="0" dirty="0">
                <a:solidFill>
                  <a:srgbClr val="000000"/>
                </a:solidFill>
                <a:effectLst/>
              </a:rPr>
              <a:t>TRANSITION_BOOKMARK </a:t>
            </a:r>
            <a:r>
              <a:rPr lang="en-US" sz="1000" b="0" i="0" dirty="0">
                <a:solidFill>
                  <a:srgbClr val="000000"/>
                </a:solidFill>
                <a:effectLst/>
              </a:rPr>
              <a:t>User clicked on a bookmark for the website </a:t>
            </a:r>
          </a:p>
          <a:p>
            <a:pPr algn="l" rtl="0" fontAlgn="base"/>
            <a:r>
              <a:rPr lang="en-US" sz="1000" b="1" i="0" dirty="0">
                <a:solidFill>
                  <a:srgbClr val="000000"/>
                </a:solidFill>
                <a:effectLst/>
              </a:rPr>
              <a:t>TRANSITION_EMBED</a:t>
            </a:r>
            <a:r>
              <a:rPr lang="en-US" sz="1000" b="0" i="0" dirty="0">
                <a:solidFill>
                  <a:srgbClr val="000000"/>
                </a:solidFill>
                <a:effectLst/>
              </a:rPr>
              <a:t> Content within a webpage was load (this would include imbedded images) </a:t>
            </a:r>
          </a:p>
          <a:p>
            <a:pPr algn="l" rtl="0" fontAlgn="base"/>
            <a:r>
              <a:rPr lang="en-US" sz="1000" b="1" i="0" dirty="0">
                <a:solidFill>
                  <a:srgbClr val="000000"/>
                </a:solidFill>
                <a:effectLst/>
              </a:rPr>
              <a:t>TRANSITION_REDIRECT_PERMANENT </a:t>
            </a:r>
            <a:r>
              <a:rPr lang="en-US" sz="1000" b="0" i="0" dirty="0">
                <a:solidFill>
                  <a:srgbClr val="000000"/>
                </a:solidFill>
                <a:effectLst/>
              </a:rPr>
              <a:t>Transition was a permanent redirect </a:t>
            </a:r>
          </a:p>
          <a:p>
            <a:pPr algn="l" rtl="0" fontAlgn="base"/>
            <a:r>
              <a:rPr lang="en-US" sz="1000" b="1" i="0" dirty="0">
                <a:solidFill>
                  <a:srgbClr val="000000"/>
                </a:solidFill>
                <a:effectLst/>
              </a:rPr>
              <a:t>TRANSITION_REDIRECT_TEMPORARY</a:t>
            </a:r>
            <a:r>
              <a:rPr lang="en-US" sz="1000" b="0" i="0" dirty="0">
                <a:solidFill>
                  <a:srgbClr val="000000"/>
                </a:solidFill>
                <a:effectLst/>
              </a:rPr>
              <a:t> Transition was a temporary redirect </a:t>
            </a:r>
          </a:p>
          <a:p>
            <a:pPr algn="l" rtl="0" fontAlgn="base"/>
            <a:r>
              <a:rPr lang="en-US" sz="1000" b="1" i="0" dirty="0">
                <a:solidFill>
                  <a:srgbClr val="000000"/>
                </a:solidFill>
                <a:effectLst/>
              </a:rPr>
              <a:t>TRANSITION_DOWNLOAD</a:t>
            </a:r>
            <a:r>
              <a:rPr lang="en-US" sz="1000" b="0" i="0" dirty="0">
                <a:solidFill>
                  <a:srgbClr val="000000"/>
                </a:solidFill>
                <a:effectLst/>
              </a:rPr>
              <a:t> A download link was clicked on </a:t>
            </a:r>
          </a:p>
          <a:p>
            <a:pPr algn="l" rtl="0" fontAlgn="base"/>
            <a:r>
              <a:rPr lang="en-US" sz="1000" b="0" i="0" dirty="0">
                <a:solidFill>
                  <a:srgbClr val="000000"/>
                </a:solidFill>
                <a:effectLst/>
              </a:rPr>
              <a:t> </a:t>
            </a:r>
            <a:endParaRPr lang="en-US" sz="1000" b="1" dirty="0">
              <a:solidFill>
                <a:srgbClr val="000000"/>
              </a:solidFill>
            </a:endParaRPr>
          </a:p>
          <a:p>
            <a:pPr algn="l" rtl="0" fontAlgn="base"/>
            <a:r>
              <a:rPr lang="en-US" sz="1000" b="1" i="0" dirty="0" err="1">
                <a:solidFill>
                  <a:srgbClr val="000000"/>
                </a:solidFill>
                <a:effectLst/>
              </a:rPr>
              <a:t>places.sqlite.wal</a:t>
            </a:r>
            <a:r>
              <a:rPr lang="en-US" sz="1000" b="1" i="0" dirty="0">
                <a:solidFill>
                  <a:srgbClr val="000000"/>
                </a:solidFill>
                <a:effectLst/>
              </a:rPr>
              <a:t> </a:t>
            </a:r>
            <a:r>
              <a:rPr lang="en-US" sz="1000" i="0" dirty="0">
                <a:solidFill>
                  <a:srgbClr val="000000"/>
                </a:solidFill>
                <a:effectLst/>
              </a:rPr>
              <a:t>write ahead log may contain yet to be added/deleted references to </a:t>
            </a:r>
            <a:r>
              <a:rPr lang="en-US" sz="1000" i="0" dirty="0" err="1">
                <a:solidFill>
                  <a:srgbClr val="000000"/>
                </a:solidFill>
                <a:effectLst/>
              </a:rPr>
              <a:t>places.sqlite</a:t>
            </a:r>
            <a:r>
              <a:rPr lang="en-US" sz="1000" i="0" dirty="0">
                <a:solidFill>
                  <a:srgbClr val="000000"/>
                </a:solidFill>
                <a:effectLst/>
              </a:rPr>
              <a:t> tables.</a:t>
            </a:r>
          </a:p>
          <a:p>
            <a:pPr algn="l" rtl="0" fontAlgn="base"/>
            <a:endParaRPr lang="en-US" sz="1000" b="0" i="0" dirty="0">
              <a:solidFill>
                <a:srgbClr val="000000"/>
              </a:solidFill>
              <a:effectLst/>
            </a:endParaRPr>
          </a:p>
          <a:p>
            <a:pPr algn="l" rtl="0" fontAlgn="base"/>
            <a:r>
              <a:rPr lang="en-US" sz="1100" b="0" i="0" dirty="0">
                <a:solidFill>
                  <a:srgbClr val="1E4E79"/>
                </a:solidFill>
                <a:effectLst/>
              </a:rPr>
              <a:t>HISTORY MICROSOFT INTERNET EXPLORER &amp; EDGE </a:t>
            </a:r>
          </a:p>
          <a:p>
            <a:pPr algn="l" rtl="0" fontAlgn="base"/>
            <a:r>
              <a:rPr lang="en-US" sz="1000" b="0" i="0" dirty="0">
                <a:solidFill>
                  <a:srgbClr val="000000"/>
                </a:solidFill>
                <a:effectLst/>
              </a:rPr>
              <a:t>Explorer v9 and prior stored browsing history in </a:t>
            </a:r>
            <a:r>
              <a:rPr lang="en-US" sz="1000" b="1" i="0" dirty="0">
                <a:solidFill>
                  <a:srgbClr val="000000"/>
                </a:solidFill>
                <a:effectLst/>
              </a:rPr>
              <a:t>Index.dat </a:t>
            </a:r>
            <a:r>
              <a:rPr lang="en-US" sz="1000" b="0" i="0" dirty="0">
                <a:solidFill>
                  <a:srgbClr val="000000"/>
                </a:solidFill>
                <a:effectLst/>
              </a:rPr>
              <a:t>files within the user profile in the following location: </a:t>
            </a:r>
          </a:p>
          <a:p>
            <a:pPr algn="l" rtl="0" fontAlgn="base"/>
            <a:r>
              <a:rPr lang="en-US" sz="1000" b="0" i="1" dirty="0">
                <a:solidFill>
                  <a:srgbClr val="000000"/>
                </a:solidFill>
                <a:effectLst/>
              </a:rPr>
              <a:t>\Users\&lt;username&gt;\AppData\Local\Microsoft\History\History.IE5\ </a:t>
            </a:r>
          </a:p>
          <a:p>
            <a:pPr algn="l" rtl="0" fontAlgn="base"/>
            <a:r>
              <a:rPr lang="en-US" sz="1000" b="0" i="0" dirty="0">
                <a:solidFill>
                  <a:srgbClr val="000000"/>
                </a:solidFill>
                <a:effectLst/>
              </a:rPr>
              <a:t>Internet Explorer v10 and v11 and Edge browsers store their browsing history data in an Extensible Storage Engine (ESE) database, aka a Jet Blue database, named WebCacheV01.dat stored in the following location: </a:t>
            </a:r>
          </a:p>
          <a:p>
            <a:pPr algn="l" rtl="0" fontAlgn="base"/>
            <a:r>
              <a:rPr lang="en-US" sz="1000" b="0" i="1" dirty="0">
                <a:solidFill>
                  <a:srgbClr val="000000"/>
                </a:solidFill>
                <a:effectLst/>
              </a:rPr>
              <a:t>\Users\&lt;username&gt;\AppData\Local\Microsoft\Windows\WebCache\ </a:t>
            </a:r>
          </a:p>
          <a:p>
            <a:pPr algn="l" rtl="0" fontAlgn="base"/>
            <a:r>
              <a:rPr lang="en-US" sz="1000" b="0" i="0" dirty="0">
                <a:solidFill>
                  <a:srgbClr val="000000"/>
                </a:solidFill>
                <a:effectLst/>
              </a:rPr>
              <a:t>Internet Explorer v10 and v11 and Edge store these histories as separate tables within the WebCacheV01.dat file. </a:t>
            </a:r>
          </a:p>
          <a:p>
            <a:pPr algn="l" rtl="0" fontAlgn="base"/>
            <a:r>
              <a:rPr lang="en-US" sz="1000" b="0" i="0" dirty="0">
                <a:solidFill>
                  <a:srgbClr val="000000"/>
                </a:solidFill>
                <a:effectLst/>
              </a:rPr>
              <a:t>In AXIOM Examine, the three histories from Internet Explorer v10-11 are populated into two WEB RELATED categories: </a:t>
            </a:r>
            <a:r>
              <a:rPr lang="en-US" sz="1000" b="1" i="0" dirty="0">
                <a:solidFill>
                  <a:srgbClr val="000000"/>
                </a:solidFill>
                <a:effectLst/>
              </a:rPr>
              <a:t>Internet Explorer v10-11 Main History</a:t>
            </a:r>
            <a:r>
              <a:rPr lang="en-US" sz="1000" b="0" i="0" dirty="0">
                <a:solidFill>
                  <a:srgbClr val="000000"/>
                </a:solidFill>
                <a:effectLst/>
              </a:rPr>
              <a:t>, and </a:t>
            </a:r>
            <a:r>
              <a:rPr lang="en-US" sz="1000" b="1" i="0" dirty="0">
                <a:solidFill>
                  <a:srgbClr val="000000"/>
                </a:solidFill>
                <a:effectLst/>
              </a:rPr>
              <a:t>Internet Explorer v10-11 Daily/Weekly History</a:t>
            </a:r>
            <a:r>
              <a:rPr lang="en-US" sz="1000" b="0" i="0" dirty="0">
                <a:solidFill>
                  <a:srgbClr val="000000"/>
                </a:solidFill>
                <a:effectLst/>
              </a:rPr>
              <a:t>. </a:t>
            </a:r>
          </a:p>
          <a:p>
            <a:pPr algn="l" rtl="0" fontAlgn="base"/>
            <a:r>
              <a:rPr lang="en-US" sz="1000" b="0" i="0" dirty="0">
                <a:solidFill>
                  <a:srgbClr val="000000"/>
                </a:solidFill>
                <a:effectLst/>
              </a:rPr>
              <a:t>The three histories from older versions of Internet Explorer are populated into the two WEB RELATED categories: </a:t>
            </a:r>
            <a:r>
              <a:rPr lang="en-US" sz="1000" b="1" i="0" dirty="0">
                <a:solidFill>
                  <a:srgbClr val="000000"/>
                </a:solidFill>
                <a:effectLst/>
              </a:rPr>
              <a:t>Internet Explorer Main History</a:t>
            </a:r>
            <a:r>
              <a:rPr lang="en-US" sz="1000" b="0" i="0" dirty="0">
                <a:solidFill>
                  <a:srgbClr val="000000"/>
                </a:solidFill>
                <a:effectLst/>
              </a:rPr>
              <a:t>, and </a:t>
            </a:r>
            <a:r>
              <a:rPr lang="en-US" sz="1000" b="1" i="0" dirty="0">
                <a:solidFill>
                  <a:srgbClr val="000000"/>
                </a:solidFill>
                <a:effectLst/>
              </a:rPr>
              <a:t>Internet Explorer Weekly History</a:t>
            </a:r>
            <a:r>
              <a:rPr lang="en-US" sz="1000" b="0" i="0" dirty="0">
                <a:solidFill>
                  <a:srgbClr val="000000"/>
                </a:solidFill>
                <a:effectLst/>
              </a:rPr>
              <a:t>. </a:t>
            </a:r>
          </a:p>
          <a:p>
            <a:pPr algn="l" rtl="0" fontAlgn="base"/>
            <a:r>
              <a:rPr lang="en-US" sz="1000" b="0" i="0" dirty="0">
                <a:solidFill>
                  <a:srgbClr val="000000"/>
                </a:solidFill>
                <a:effectLst/>
              </a:rPr>
              <a:t>As the cumulative main history is created at the same time as the daily history it is not unusual to see duplicate entries across these two categories Daily/Weekly and Main. </a:t>
            </a:r>
          </a:p>
          <a:p>
            <a:pPr fontAlgn="base"/>
            <a:r>
              <a:rPr lang="en-US" sz="1000" dirty="0">
                <a:solidFill>
                  <a:srgbClr val="000000"/>
                </a:solidFill>
              </a:rPr>
              <a:t>Edge Access Counts are notoriously bollocks in Axiom</a:t>
            </a:r>
          </a:p>
          <a:p>
            <a:pPr fontAlgn="base"/>
            <a:r>
              <a:rPr lang="en-US" sz="1000" dirty="0">
                <a:solidFill>
                  <a:srgbClr val="1E4E79"/>
                </a:solidFill>
              </a:rPr>
              <a:t>ARTIFACT INFORMATION </a:t>
            </a:r>
          </a:p>
          <a:p>
            <a:pPr algn="l" rtl="0" fontAlgn="base"/>
            <a:r>
              <a:rPr lang="en-US" sz="1000" b="1" i="0" dirty="0">
                <a:solidFill>
                  <a:srgbClr val="000000"/>
                </a:solidFill>
                <a:effectLst/>
              </a:rPr>
              <a:t>URL</a:t>
            </a:r>
            <a:r>
              <a:rPr lang="en-US" sz="1000" b="0" i="0" dirty="0">
                <a:solidFill>
                  <a:srgbClr val="000000"/>
                </a:solidFill>
                <a:effectLst/>
              </a:rPr>
              <a:t> The URL accessed by the browser. </a:t>
            </a:r>
          </a:p>
          <a:p>
            <a:pPr algn="l" rtl="0" fontAlgn="base"/>
            <a:r>
              <a:rPr lang="en-US" sz="1000" b="1" i="0" dirty="0">
                <a:solidFill>
                  <a:srgbClr val="000000"/>
                </a:solidFill>
                <a:effectLst/>
              </a:rPr>
              <a:t>Use</a:t>
            </a:r>
            <a:r>
              <a:rPr lang="en-US" sz="1000" b="0" i="0" dirty="0">
                <a:solidFill>
                  <a:srgbClr val="000000"/>
                </a:solidFill>
                <a:effectLst/>
              </a:rPr>
              <a:t>r The local Windows username. </a:t>
            </a:r>
          </a:p>
          <a:p>
            <a:pPr algn="l" rtl="0" fontAlgn="base"/>
            <a:r>
              <a:rPr lang="en-US" sz="1000" b="1" i="0" dirty="0">
                <a:solidFill>
                  <a:srgbClr val="000000"/>
                </a:solidFill>
                <a:effectLst/>
              </a:rPr>
              <a:t>Accessed Date/Time </a:t>
            </a:r>
            <a:r>
              <a:rPr lang="en-US" sz="1000" b="0" i="0" dirty="0">
                <a:solidFill>
                  <a:srgbClr val="000000"/>
                </a:solidFill>
                <a:effectLst/>
              </a:rPr>
              <a:t>The most recent visit to the URL. </a:t>
            </a:r>
          </a:p>
          <a:p>
            <a:pPr algn="l" rtl="0" fontAlgn="base"/>
            <a:r>
              <a:rPr lang="en-US" sz="1000" b="1" i="0" dirty="0">
                <a:solidFill>
                  <a:srgbClr val="000000"/>
                </a:solidFill>
                <a:effectLst/>
              </a:rPr>
              <a:t>Page title </a:t>
            </a:r>
            <a:r>
              <a:rPr lang="en-US" sz="1000" b="0" i="0" dirty="0">
                <a:solidFill>
                  <a:srgbClr val="000000"/>
                </a:solidFill>
                <a:effectLst/>
              </a:rPr>
              <a:t>The title of the webpage as it appears in the browser's title bar/tab. </a:t>
            </a:r>
          </a:p>
          <a:p>
            <a:pPr algn="l" rtl="0" fontAlgn="base"/>
            <a:r>
              <a:rPr lang="en-US" sz="1000" b="1" i="0" dirty="0">
                <a:solidFill>
                  <a:srgbClr val="000000"/>
                </a:solidFill>
                <a:effectLst/>
              </a:rPr>
              <a:t>Access Count </a:t>
            </a:r>
            <a:r>
              <a:rPr lang="en-US" sz="1000" dirty="0">
                <a:solidFill>
                  <a:srgbClr val="000000"/>
                </a:solidFill>
              </a:rPr>
              <a:t>U</a:t>
            </a:r>
            <a:r>
              <a:rPr lang="en-US" sz="1000" b="0" i="0" dirty="0">
                <a:solidFill>
                  <a:srgbClr val="000000"/>
                </a:solidFill>
                <a:effectLst/>
              </a:rPr>
              <a:t>nclear all the actions that trigger this counter, not necessarily </a:t>
            </a:r>
            <a:r>
              <a:rPr lang="en-US" sz="1000" dirty="0">
                <a:solidFill>
                  <a:srgbClr val="000000"/>
                </a:solidFill>
              </a:rPr>
              <a:t>#</a:t>
            </a:r>
            <a:r>
              <a:rPr lang="en-US" sz="1000" b="0" i="0" dirty="0">
                <a:solidFill>
                  <a:srgbClr val="000000"/>
                </a:solidFill>
                <a:effectLst/>
              </a:rPr>
              <a:t> of times URL has been accessed </a:t>
            </a:r>
          </a:p>
        </p:txBody>
      </p:sp>
      <p:sp>
        <p:nvSpPr>
          <p:cNvPr id="9" name="TextBox 8">
            <a:extLst>
              <a:ext uri="{FF2B5EF4-FFF2-40B4-BE49-F238E27FC236}">
                <a16:creationId xmlns:a16="http://schemas.microsoft.com/office/drawing/2014/main" id="{0A4CD800-D3BA-41A4-B65E-5493DE366F7F}"/>
              </a:ext>
            </a:extLst>
          </p:cNvPr>
          <p:cNvSpPr txBox="1"/>
          <p:nvPr/>
        </p:nvSpPr>
        <p:spPr>
          <a:xfrm>
            <a:off x="0" y="0"/>
            <a:ext cx="2575129" cy="369332"/>
          </a:xfrm>
          <a:prstGeom prst="rect">
            <a:avLst/>
          </a:prstGeom>
          <a:noFill/>
        </p:spPr>
        <p:txBody>
          <a:bodyPr wrap="none" rtlCol="0">
            <a:spAutoFit/>
          </a:bodyPr>
          <a:lstStyle/>
          <a:p>
            <a:r>
              <a:rPr lang="en-US" b="1" u="sng" dirty="0"/>
              <a:t>3g Web related: HISTORY</a:t>
            </a:r>
          </a:p>
        </p:txBody>
      </p:sp>
    </p:spTree>
    <p:extLst>
      <p:ext uri="{BB962C8B-B14F-4D97-AF65-F5344CB8AC3E}">
        <p14:creationId xmlns:p14="http://schemas.microsoft.com/office/powerpoint/2010/main" val="14401570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6A382E2-587C-48FE-A83C-1B972530688B}"/>
              </a:ext>
            </a:extLst>
          </p:cNvPr>
          <p:cNvSpPr txBox="1"/>
          <p:nvPr/>
        </p:nvSpPr>
        <p:spPr>
          <a:xfrm>
            <a:off x="0" y="0"/>
            <a:ext cx="5001306" cy="369332"/>
          </a:xfrm>
          <a:prstGeom prst="rect">
            <a:avLst/>
          </a:prstGeom>
          <a:noFill/>
        </p:spPr>
        <p:txBody>
          <a:bodyPr wrap="none" rtlCol="0">
            <a:spAutoFit/>
          </a:bodyPr>
          <a:lstStyle/>
          <a:p>
            <a:r>
              <a:rPr lang="en-US" b="1" u="sng" dirty="0"/>
              <a:t>3g Web related: SESSION RECOVERY/DOWNLOADS</a:t>
            </a:r>
          </a:p>
        </p:txBody>
      </p:sp>
      <p:sp>
        <p:nvSpPr>
          <p:cNvPr id="8" name="TextBox 7">
            <a:extLst>
              <a:ext uri="{FF2B5EF4-FFF2-40B4-BE49-F238E27FC236}">
                <a16:creationId xmlns:a16="http://schemas.microsoft.com/office/drawing/2014/main" id="{47D0318E-5349-42F7-9091-028533C98C41}"/>
              </a:ext>
            </a:extLst>
          </p:cNvPr>
          <p:cNvSpPr txBox="1"/>
          <p:nvPr/>
        </p:nvSpPr>
        <p:spPr>
          <a:xfrm>
            <a:off x="0" y="456337"/>
            <a:ext cx="6117336" cy="6355586"/>
          </a:xfrm>
          <a:prstGeom prst="rect">
            <a:avLst/>
          </a:prstGeom>
          <a:noFill/>
        </p:spPr>
        <p:txBody>
          <a:bodyPr wrap="square">
            <a:spAutoFit/>
          </a:bodyPr>
          <a:lstStyle/>
          <a:p>
            <a:pPr algn="l" rtl="0" fontAlgn="base"/>
            <a:r>
              <a:rPr lang="en-US" sz="1100" b="0" i="0" dirty="0">
                <a:solidFill>
                  <a:srgbClr val="1E4E79"/>
                </a:solidFill>
                <a:effectLst/>
              </a:rPr>
              <a:t>SESSION RECOVERY </a:t>
            </a:r>
          </a:p>
          <a:p>
            <a:pPr algn="l" rtl="0" fontAlgn="base"/>
            <a:r>
              <a:rPr lang="en-US" sz="1000" b="0" i="0" dirty="0">
                <a:solidFill>
                  <a:srgbClr val="000000"/>
                </a:solidFill>
                <a:effectLst/>
              </a:rPr>
              <a:t>Session Recovery files provide the means for a browser to return to the last pages or tabs open. These are used: in the event of a crash or sudden power loss; to re-open tabs that were accidently closed by the user; or to re-open any pages still open when the browser was closed </a:t>
            </a:r>
          </a:p>
          <a:p>
            <a:pPr algn="l" rtl="0" fontAlgn="base"/>
            <a:r>
              <a:rPr lang="en-US" sz="1100" b="0" i="0" dirty="0">
                <a:solidFill>
                  <a:srgbClr val="2E75B5"/>
                </a:solidFill>
                <a:effectLst/>
              </a:rPr>
              <a:t> </a:t>
            </a:r>
          </a:p>
          <a:p>
            <a:pPr algn="l" rtl="0" fontAlgn="base"/>
            <a:r>
              <a:rPr lang="en-US" sz="1100" b="0" i="0" dirty="0">
                <a:solidFill>
                  <a:srgbClr val="2E75B5"/>
                </a:solidFill>
                <a:effectLst/>
              </a:rPr>
              <a:t>CHROME RECOVERY </a:t>
            </a:r>
          </a:p>
          <a:p>
            <a:pPr algn="l" rtl="0" fontAlgn="base"/>
            <a:r>
              <a:rPr lang="en-US" sz="1000" b="0" i="0" dirty="0">
                <a:solidFill>
                  <a:srgbClr val="000000"/>
                </a:solidFill>
                <a:effectLst/>
              </a:rPr>
              <a:t>Chrome stores this session recovery information in four files (all stored in the profile folder) named: </a:t>
            </a:r>
          </a:p>
          <a:p>
            <a:pPr fontAlgn="base"/>
            <a:r>
              <a:rPr lang="en-US" sz="1000" i="1" dirty="0">
                <a:solidFill>
                  <a:srgbClr val="000000"/>
                </a:solidFill>
                <a:effectLst/>
              </a:rPr>
              <a:t>\Users\&lt;username&gt;\</a:t>
            </a:r>
            <a:r>
              <a:rPr lang="en-US" sz="1000" i="1" dirty="0" err="1">
                <a:solidFill>
                  <a:srgbClr val="000000"/>
                </a:solidFill>
                <a:effectLst/>
              </a:rPr>
              <a:t>AppData</a:t>
            </a:r>
            <a:r>
              <a:rPr lang="en-US" sz="1000" i="1" dirty="0">
                <a:solidFill>
                  <a:srgbClr val="000000"/>
                </a:solidFill>
                <a:effectLst/>
              </a:rPr>
              <a:t>\Local\Google\Chrome\User Data\Default\ ...</a:t>
            </a:r>
            <a:endParaRPr lang="en-US" sz="1000" b="0" i="0" dirty="0">
              <a:solidFill>
                <a:srgbClr val="000000"/>
              </a:solidFill>
              <a:effectLst/>
            </a:endParaRPr>
          </a:p>
          <a:p>
            <a:pPr marL="171450" indent="-171450" algn="l" rtl="0" fontAlgn="base">
              <a:buFont typeface="Arial" panose="020B0604020202020204" pitchFamily="34" charset="0"/>
              <a:buChar char="•"/>
            </a:pPr>
            <a:r>
              <a:rPr lang="en-US" sz="1000" b="0" i="0" dirty="0">
                <a:solidFill>
                  <a:srgbClr val="000000"/>
                </a:solidFill>
                <a:effectLst/>
              </a:rPr>
              <a:t>Current Session </a:t>
            </a:r>
          </a:p>
          <a:p>
            <a:pPr marL="171450" indent="-171450" algn="l" rtl="0" fontAlgn="base">
              <a:buFont typeface="Arial" panose="020B0604020202020204" pitchFamily="34" charset="0"/>
              <a:buChar char="•"/>
            </a:pPr>
            <a:r>
              <a:rPr lang="en-US" sz="1000" b="0" i="0" dirty="0" err="1">
                <a:solidFill>
                  <a:srgbClr val="000000"/>
                </a:solidFill>
                <a:effectLst/>
              </a:rPr>
              <a:t>CurrentTabs</a:t>
            </a:r>
            <a:endParaRPr lang="en-US" sz="1000" b="0" i="0" dirty="0">
              <a:solidFill>
                <a:srgbClr val="000000"/>
              </a:solidFill>
              <a:effectLst/>
            </a:endParaRPr>
          </a:p>
          <a:p>
            <a:pPr marL="171450" indent="-171450" algn="l" rtl="0" fontAlgn="base">
              <a:buFont typeface="Arial" panose="020B0604020202020204" pitchFamily="34" charset="0"/>
              <a:buChar char="•"/>
            </a:pPr>
            <a:r>
              <a:rPr lang="en-US" sz="1000" b="0" i="0" dirty="0">
                <a:solidFill>
                  <a:srgbClr val="000000"/>
                </a:solidFill>
                <a:effectLst/>
              </a:rPr>
              <a:t>Last Session</a:t>
            </a:r>
          </a:p>
          <a:p>
            <a:pPr marL="171450" indent="-171450" algn="l" rtl="0" fontAlgn="base">
              <a:buFont typeface="Arial" panose="020B0604020202020204" pitchFamily="34" charset="0"/>
              <a:buChar char="•"/>
            </a:pPr>
            <a:r>
              <a:rPr lang="en-US" sz="1000" b="0" i="0" dirty="0">
                <a:solidFill>
                  <a:srgbClr val="000000"/>
                </a:solidFill>
                <a:effectLst/>
              </a:rPr>
              <a:t>Last Tabs</a:t>
            </a:r>
          </a:p>
          <a:p>
            <a:pPr algn="l" rtl="0" fontAlgn="base"/>
            <a:endParaRPr lang="en-US" sz="1000" b="0" i="0" dirty="0">
              <a:solidFill>
                <a:srgbClr val="000000"/>
              </a:solidFill>
              <a:effectLst/>
            </a:endParaRPr>
          </a:p>
          <a:p>
            <a:pPr algn="l" rtl="0" fontAlgn="base"/>
            <a:r>
              <a:rPr lang="en-US" sz="1000" b="0" i="0" dirty="0">
                <a:solidFill>
                  <a:srgbClr val="000000"/>
                </a:solidFill>
                <a:effectLst/>
              </a:rPr>
              <a:t>The Current Session file lists the tabs that were open during the most recent browsing session.  </a:t>
            </a:r>
          </a:p>
          <a:p>
            <a:pPr algn="l" rtl="0" fontAlgn="base"/>
            <a:r>
              <a:rPr lang="en-US" sz="1000" b="0" i="0" dirty="0">
                <a:solidFill>
                  <a:srgbClr val="000000"/>
                </a:solidFill>
                <a:effectLst/>
              </a:rPr>
              <a:t>The Current Tabs file list the tabs that were still open when the browsing session ended.  </a:t>
            </a:r>
          </a:p>
          <a:p>
            <a:pPr algn="l" rtl="0" fontAlgn="base"/>
            <a:r>
              <a:rPr lang="en-US" sz="1000" b="0" i="0" dirty="0">
                <a:solidFill>
                  <a:srgbClr val="000000"/>
                </a:solidFill>
                <a:effectLst/>
              </a:rPr>
              <a:t>The Last Session and Last Tabs files relate to the browsing session before the most recent/current one.  </a:t>
            </a:r>
          </a:p>
          <a:p>
            <a:pPr algn="l" rtl="0" fontAlgn="base"/>
            <a:r>
              <a:rPr lang="en-US" sz="1000" b="0" i="0" dirty="0">
                <a:solidFill>
                  <a:srgbClr val="000000"/>
                </a:solidFill>
                <a:effectLst/>
              </a:rPr>
              <a:t>WEB RELATED categories</a:t>
            </a:r>
            <a:r>
              <a:rPr lang="en-US" sz="1000" b="1" i="0" dirty="0">
                <a:solidFill>
                  <a:srgbClr val="000000"/>
                </a:solidFill>
                <a:effectLst/>
              </a:rPr>
              <a:t>:, Chrome Current Tabs, Chrome Last Session, Chrome Last Tabs. </a:t>
            </a:r>
          </a:p>
          <a:p>
            <a:pPr algn="l" rtl="0" fontAlgn="base"/>
            <a:endParaRPr lang="en-US" sz="1100" b="0" i="0" dirty="0">
              <a:solidFill>
                <a:srgbClr val="000000"/>
              </a:solidFill>
              <a:effectLst/>
            </a:endParaRPr>
          </a:p>
          <a:p>
            <a:pPr algn="l" rtl="0" fontAlgn="base"/>
            <a:r>
              <a:rPr lang="en-US" sz="1100" b="0" i="0" dirty="0">
                <a:solidFill>
                  <a:srgbClr val="2E75B5"/>
                </a:solidFill>
                <a:effectLst/>
              </a:rPr>
              <a:t>FIREFOX RECOVERY </a:t>
            </a:r>
          </a:p>
          <a:p>
            <a:pPr algn="l" rtl="0" fontAlgn="base"/>
            <a:r>
              <a:rPr lang="en-US" sz="1000" b="0" i="0" dirty="0">
                <a:solidFill>
                  <a:srgbClr val="000000"/>
                </a:solidFill>
                <a:effectLst/>
              </a:rPr>
              <a:t>Firefox stores session recovery info from most recent browsing session in file named </a:t>
            </a:r>
            <a:r>
              <a:rPr lang="en-US" sz="1000" b="1" i="0" dirty="0">
                <a:solidFill>
                  <a:srgbClr val="000000"/>
                </a:solidFill>
                <a:effectLst/>
              </a:rPr>
              <a:t>sessionstore.js</a:t>
            </a:r>
            <a:r>
              <a:rPr lang="en-US" sz="1000" b="0" i="0" dirty="0">
                <a:solidFill>
                  <a:srgbClr val="000000"/>
                </a:solidFill>
                <a:effectLst/>
              </a:rPr>
              <a:t>. </a:t>
            </a:r>
          </a:p>
          <a:p>
            <a:pPr algn="l" rtl="0" fontAlgn="base"/>
            <a:r>
              <a:rPr lang="en-US" sz="1000" b="0" i="0" dirty="0">
                <a:solidFill>
                  <a:srgbClr val="000000"/>
                </a:solidFill>
                <a:effectLst/>
              </a:rPr>
              <a:t>Firefox stores session recovery info from the previous browsing session in a file is named </a:t>
            </a:r>
            <a:r>
              <a:rPr lang="en-US" sz="1000" b="1" i="0" dirty="0">
                <a:solidFill>
                  <a:srgbClr val="000000"/>
                </a:solidFill>
                <a:effectLst/>
              </a:rPr>
              <a:t>previous.js </a:t>
            </a:r>
          </a:p>
          <a:p>
            <a:pPr algn="l" rtl="0" fontAlgn="base"/>
            <a:r>
              <a:rPr lang="en-US" sz="1000" dirty="0">
                <a:solidFill>
                  <a:srgbClr val="000000"/>
                </a:solidFill>
              </a:rPr>
              <a:t>F</a:t>
            </a:r>
            <a:r>
              <a:rPr lang="en-US" sz="1000" b="0" i="0" dirty="0">
                <a:solidFill>
                  <a:srgbClr val="000000"/>
                </a:solidFill>
                <a:effectLst/>
              </a:rPr>
              <a:t>or the default profile this file is stored in the following location: </a:t>
            </a:r>
          </a:p>
          <a:p>
            <a:pPr algn="l" rtl="0" fontAlgn="base"/>
            <a:r>
              <a:rPr lang="en-US" sz="1000" i="1" dirty="0">
                <a:solidFill>
                  <a:srgbClr val="000000"/>
                </a:solidFill>
                <a:effectLst/>
              </a:rPr>
              <a:t>\Users\&lt;username&gt;\</a:t>
            </a:r>
            <a:r>
              <a:rPr lang="en-US" sz="1000" i="1" dirty="0" err="1">
                <a:solidFill>
                  <a:srgbClr val="000000"/>
                </a:solidFill>
                <a:effectLst/>
              </a:rPr>
              <a:t>AppData</a:t>
            </a:r>
            <a:r>
              <a:rPr lang="en-US" sz="1000" i="1" dirty="0">
                <a:solidFill>
                  <a:srgbClr val="000000"/>
                </a:solidFill>
                <a:effectLst/>
              </a:rPr>
              <a:t>\Roaming\Mozilla\Firefox\Profiles\</a:t>
            </a:r>
            <a:r>
              <a:rPr lang="en-US" sz="1000" i="1" dirty="0" err="1">
                <a:solidFill>
                  <a:srgbClr val="000000"/>
                </a:solidFill>
                <a:effectLst/>
              </a:rPr>
              <a:t>xxxxxxxx.default</a:t>
            </a:r>
            <a:r>
              <a:rPr lang="en-US" sz="1000" i="1" dirty="0">
                <a:solidFill>
                  <a:srgbClr val="000000"/>
                </a:solidFill>
                <a:effectLst/>
              </a:rPr>
              <a:t>\</a:t>
            </a:r>
            <a:r>
              <a:rPr lang="en-US" sz="1000" b="0" i="1" dirty="0" err="1">
                <a:solidFill>
                  <a:srgbClr val="000000"/>
                </a:solidFill>
                <a:effectLst/>
              </a:rPr>
              <a:t>sessionstore</a:t>
            </a:r>
            <a:r>
              <a:rPr lang="en-US" sz="1000" b="0" i="1" dirty="0">
                <a:solidFill>
                  <a:srgbClr val="000000"/>
                </a:solidFill>
                <a:effectLst/>
              </a:rPr>
              <a:t>-backups\. </a:t>
            </a:r>
          </a:p>
          <a:p>
            <a:pPr algn="l" rtl="0" fontAlgn="base"/>
            <a:endParaRPr lang="en-US" sz="1000" b="0" i="0" dirty="0">
              <a:solidFill>
                <a:srgbClr val="000000"/>
              </a:solidFill>
              <a:effectLst/>
            </a:endParaRPr>
          </a:p>
          <a:p>
            <a:pPr algn="l" rtl="0" fontAlgn="base"/>
            <a:r>
              <a:rPr lang="en-US" sz="1000" b="0" i="0" dirty="0">
                <a:solidFill>
                  <a:srgbClr val="000000"/>
                </a:solidFill>
                <a:effectLst/>
              </a:rPr>
              <a:t>AXIOM Process also carves any Firefox session recovery data located in unallocated space and file slack. All the Firefox session recovery artifacts are grouped together in </a:t>
            </a:r>
            <a:r>
              <a:rPr lang="en-US" sz="1000" b="1" i="0" dirty="0">
                <a:solidFill>
                  <a:srgbClr val="000000"/>
                </a:solidFill>
                <a:effectLst/>
              </a:rPr>
              <a:t>the WEB RELATED → Firefox </a:t>
            </a:r>
            <a:r>
              <a:rPr lang="en-US" sz="1000" b="1" i="0" dirty="0" err="1">
                <a:solidFill>
                  <a:srgbClr val="000000"/>
                </a:solidFill>
                <a:effectLst/>
              </a:rPr>
              <a:t>SessionStore</a:t>
            </a:r>
            <a:r>
              <a:rPr lang="en-US" sz="1000" b="1" i="0" dirty="0">
                <a:solidFill>
                  <a:srgbClr val="000000"/>
                </a:solidFill>
                <a:effectLst/>
              </a:rPr>
              <a:t> </a:t>
            </a:r>
          </a:p>
          <a:p>
            <a:pPr algn="l" rtl="0" fontAlgn="base"/>
            <a:endParaRPr lang="en-US" sz="1100" b="0" i="0" dirty="0">
              <a:solidFill>
                <a:srgbClr val="000000"/>
              </a:solidFill>
              <a:effectLst/>
            </a:endParaRPr>
          </a:p>
          <a:p>
            <a:pPr algn="l" rtl="0" fontAlgn="base"/>
            <a:r>
              <a:rPr lang="en-US" sz="1100" b="0" i="0" dirty="0">
                <a:solidFill>
                  <a:srgbClr val="2E75B5"/>
                </a:solidFill>
                <a:effectLst/>
              </a:rPr>
              <a:t>INTERNET EXPLORER AND EDGE RECOVERY </a:t>
            </a:r>
          </a:p>
          <a:p>
            <a:pPr algn="l" rtl="0" fontAlgn="base"/>
            <a:r>
              <a:rPr lang="en-US" sz="1000" b="0" i="0" dirty="0">
                <a:solidFill>
                  <a:srgbClr val="000000"/>
                </a:solidFill>
                <a:effectLst/>
              </a:rPr>
              <a:t>Session recovery files for Internet Explorer and Edge are compound files with a naming convention </a:t>
            </a:r>
          </a:p>
          <a:p>
            <a:pPr algn="l" rtl="0" fontAlgn="base"/>
            <a:r>
              <a:rPr lang="en-US" sz="1000" b="1" i="0" dirty="0">
                <a:solidFill>
                  <a:srgbClr val="000000"/>
                </a:solidFill>
                <a:effectLst/>
              </a:rPr>
              <a:t>{GUID}.dat</a:t>
            </a:r>
            <a:r>
              <a:rPr lang="en-US" sz="1000" b="0" i="0" dirty="0">
                <a:solidFill>
                  <a:srgbClr val="000000"/>
                </a:solidFill>
                <a:effectLst/>
              </a:rPr>
              <a:t>. This file contains multiple entries known as Travel Logs numbered with a TL0, TL1, etc. </a:t>
            </a:r>
          </a:p>
          <a:p>
            <a:pPr algn="l" rtl="0" fontAlgn="base"/>
            <a:endParaRPr lang="en-US" sz="1000" b="0" i="0" dirty="0">
              <a:solidFill>
                <a:srgbClr val="000000"/>
              </a:solidFill>
              <a:effectLst/>
            </a:endParaRPr>
          </a:p>
          <a:p>
            <a:pPr algn="l" rtl="0" fontAlgn="base"/>
            <a:r>
              <a:rPr lang="en-US" sz="1000" b="0" i="0" dirty="0">
                <a:solidFill>
                  <a:srgbClr val="000000"/>
                </a:solidFill>
                <a:effectLst/>
              </a:rPr>
              <a:t>The session recovery files for Internet Explorer are stored in the folder: </a:t>
            </a:r>
          </a:p>
          <a:p>
            <a:pPr algn="l" rtl="0" fontAlgn="base"/>
            <a:r>
              <a:rPr lang="en-US" sz="1000" i="1" dirty="0">
                <a:solidFill>
                  <a:srgbClr val="000000"/>
                </a:solidFill>
                <a:effectLst/>
              </a:rPr>
              <a:t>\Users\&lt;username&gt;\AppData\Local\Microsoft\Internet Explorer\Recovery\ </a:t>
            </a:r>
          </a:p>
          <a:p>
            <a:pPr algn="l" rtl="0" fontAlgn="base"/>
            <a:endParaRPr lang="en-US" sz="1000" b="0" i="0" dirty="0">
              <a:solidFill>
                <a:srgbClr val="000000"/>
              </a:solidFill>
              <a:effectLst/>
            </a:endParaRPr>
          </a:p>
          <a:p>
            <a:pPr algn="l" rtl="0" fontAlgn="base"/>
            <a:r>
              <a:rPr lang="en-US" sz="1000" b="0" i="0" dirty="0">
                <a:solidFill>
                  <a:srgbClr val="000000"/>
                </a:solidFill>
                <a:effectLst/>
              </a:rPr>
              <a:t>The session recovery files for Edge are stored in the folder: </a:t>
            </a:r>
          </a:p>
          <a:p>
            <a:pPr algn="l" rtl="0" fontAlgn="base"/>
            <a:r>
              <a:rPr lang="en-US" sz="1000" i="1" dirty="0">
                <a:solidFill>
                  <a:srgbClr val="000000"/>
                </a:solidFill>
                <a:effectLst/>
              </a:rPr>
              <a:t>\Users\&lt;username&gt;\AppData\Local\Packages\Microsoft.MicrosoftEdge_8wekyb </a:t>
            </a:r>
          </a:p>
          <a:p>
            <a:pPr algn="l" rtl="0" fontAlgn="base"/>
            <a:r>
              <a:rPr lang="en-US" sz="1000" i="1" dirty="0">
                <a:solidFill>
                  <a:srgbClr val="000000"/>
                </a:solidFill>
                <a:effectLst/>
              </a:rPr>
              <a:t>3d8bbwe\AC\</a:t>
            </a:r>
            <a:r>
              <a:rPr lang="en-US" sz="1000" i="1" dirty="0" err="1">
                <a:solidFill>
                  <a:srgbClr val="000000"/>
                </a:solidFill>
                <a:effectLst/>
              </a:rPr>
              <a:t>MicrosoftEdge</a:t>
            </a:r>
            <a:r>
              <a:rPr lang="en-US" sz="1000" i="1" dirty="0">
                <a:solidFill>
                  <a:srgbClr val="000000"/>
                </a:solidFill>
                <a:effectLst/>
              </a:rPr>
              <a:t>\User\Default\Recovery </a:t>
            </a:r>
          </a:p>
          <a:p>
            <a:pPr algn="l" rtl="0" fontAlgn="base"/>
            <a:endParaRPr lang="en-US" sz="1000" b="0" i="0" dirty="0">
              <a:solidFill>
                <a:srgbClr val="000000"/>
              </a:solidFill>
              <a:effectLst/>
            </a:endParaRPr>
          </a:p>
          <a:p>
            <a:pPr algn="l" rtl="0" fontAlgn="base"/>
            <a:r>
              <a:rPr lang="en-US" sz="1000" b="0" i="0" dirty="0">
                <a:solidFill>
                  <a:srgbClr val="000000"/>
                </a:solidFill>
                <a:effectLst/>
              </a:rPr>
              <a:t>The Active session data is stored in a subfolder </a:t>
            </a:r>
            <a:r>
              <a:rPr lang="en-US" sz="1000" b="0" i="1" dirty="0">
                <a:solidFill>
                  <a:srgbClr val="000000"/>
                </a:solidFill>
                <a:effectLst/>
              </a:rPr>
              <a:t>\Active\, </a:t>
            </a:r>
            <a:r>
              <a:rPr lang="en-US" sz="1000" b="0" i="0" dirty="0">
                <a:solidFill>
                  <a:srgbClr val="000000"/>
                </a:solidFill>
                <a:effectLst/>
              </a:rPr>
              <a:t>the last session data is stored in a subfolder </a:t>
            </a:r>
            <a:r>
              <a:rPr lang="en-US" sz="1000" b="0" i="1" dirty="0">
                <a:solidFill>
                  <a:srgbClr val="000000"/>
                </a:solidFill>
                <a:effectLst/>
              </a:rPr>
              <a:t>\Last Active\. </a:t>
            </a:r>
            <a:r>
              <a:rPr lang="en-US" sz="1000" dirty="0">
                <a:solidFill>
                  <a:srgbClr val="000000"/>
                </a:solidFill>
              </a:rPr>
              <a:t>S</a:t>
            </a:r>
            <a:r>
              <a:rPr lang="en-US" sz="1000" b="0" i="0" dirty="0">
                <a:solidFill>
                  <a:srgbClr val="000000"/>
                </a:solidFill>
                <a:effectLst/>
              </a:rPr>
              <a:t>ubfolders: \High\ and \Low\ which relate to elevated security, e.g. Low standard user, and High administrator. </a:t>
            </a:r>
          </a:p>
        </p:txBody>
      </p:sp>
      <p:sp>
        <p:nvSpPr>
          <p:cNvPr id="10" name="TextBox 9">
            <a:extLst>
              <a:ext uri="{FF2B5EF4-FFF2-40B4-BE49-F238E27FC236}">
                <a16:creationId xmlns:a16="http://schemas.microsoft.com/office/drawing/2014/main" id="{63C3F3A2-B1C2-4772-9BD8-1A13D28F837E}"/>
              </a:ext>
            </a:extLst>
          </p:cNvPr>
          <p:cNvSpPr txBox="1"/>
          <p:nvPr/>
        </p:nvSpPr>
        <p:spPr>
          <a:xfrm>
            <a:off x="6074664" y="0"/>
            <a:ext cx="6117336" cy="6940361"/>
          </a:xfrm>
          <a:prstGeom prst="rect">
            <a:avLst/>
          </a:prstGeom>
          <a:noFill/>
        </p:spPr>
        <p:txBody>
          <a:bodyPr wrap="square">
            <a:spAutoFit/>
          </a:bodyPr>
          <a:lstStyle/>
          <a:p>
            <a:pPr algn="l" rtl="0" fontAlgn="base"/>
            <a:r>
              <a:rPr lang="en-US" sz="1100" b="0" i="0" dirty="0">
                <a:solidFill>
                  <a:srgbClr val="2E75B5"/>
                </a:solidFill>
                <a:effectLst/>
              </a:rPr>
              <a:t>CHROME DOWNLOADS </a:t>
            </a:r>
          </a:p>
          <a:p>
            <a:pPr fontAlgn="base"/>
            <a:r>
              <a:rPr lang="en-US" sz="1000" b="1" i="0" dirty="0">
                <a:solidFill>
                  <a:srgbClr val="000000"/>
                </a:solidFill>
                <a:effectLst/>
              </a:rPr>
              <a:t>WEB RELATED → Chrome Downloads</a:t>
            </a:r>
            <a:r>
              <a:rPr lang="en-US" sz="1000" b="0" i="0" dirty="0">
                <a:solidFill>
                  <a:srgbClr val="000000"/>
                </a:solidFill>
                <a:effectLst/>
              </a:rPr>
              <a:t> </a:t>
            </a:r>
          </a:p>
          <a:p>
            <a:pPr algn="l" rtl="0" fontAlgn="base"/>
            <a:r>
              <a:rPr lang="en-US" sz="1000" b="1" i="0" dirty="0">
                <a:solidFill>
                  <a:srgbClr val="000000"/>
                </a:solidFill>
                <a:effectLst/>
              </a:rPr>
              <a:t>History</a:t>
            </a:r>
            <a:r>
              <a:rPr lang="en-US" sz="1000" b="0" i="0" dirty="0">
                <a:solidFill>
                  <a:srgbClr val="000000"/>
                </a:solidFill>
                <a:effectLst/>
              </a:rPr>
              <a:t> database file stored in the profile folder.  Tables: downloads and </a:t>
            </a:r>
            <a:r>
              <a:rPr lang="en-US" sz="1000" b="0" i="0" dirty="0" err="1">
                <a:solidFill>
                  <a:srgbClr val="000000"/>
                </a:solidFill>
                <a:effectLst/>
              </a:rPr>
              <a:t>downloads_url_chains</a:t>
            </a:r>
            <a:endParaRPr lang="en-US" sz="1000" b="0" i="0" dirty="0">
              <a:solidFill>
                <a:srgbClr val="000000"/>
              </a:solidFill>
              <a:effectLst/>
            </a:endParaRPr>
          </a:p>
          <a:p>
            <a:pPr algn="l" rtl="0" fontAlgn="base"/>
            <a:r>
              <a:rPr lang="en-US" sz="1000" i="1" dirty="0">
                <a:solidFill>
                  <a:srgbClr val="000000"/>
                </a:solidFill>
                <a:effectLst/>
              </a:rPr>
              <a:t>\Users\&lt;username&gt;\AppData\Local\Google\Chrome\User Data\Default\ </a:t>
            </a:r>
          </a:p>
          <a:p>
            <a:pPr algn="l" rtl="0" fontAlgn="base"/>
            <a:endParaRPr lang="en-US" sz="1000" b="0" i="0" dirty="0">
              <a:solidFill>
                <a:srgbClr val="000000"/>
              </a:solidFill>
              <a:effectLst/>
            </a:endParaRPr>
          </a:p>
          <a:p>
            <a:pPr algn="l" rtl="0" fontAlgn="base"/>
            <a:r>
              <a:rPr lang="en-US" sz="1000" b="0" i="0" dirty="0">
                <a:solidFill>
                  <a:srgbClr val="1F3763"/>
                </a:solidFill>
                <a:effectLst/>
              </a:rPr>
              <a:t>ARTIFACT INFORMATION </a:t>
            </a:r>
          </a:p>
          <a:p>
            <a:pPr algn="l" rtl="0" fontAlgn="base"/>
            <a:r>
              <a:rPr lang="en-US" sz="1000" b="1" i="0" dirty="0">
                <a:solidFill>
                  <a:srgbClr val="000000"/>
                </a:solidFill>
                <a:effectLst/>
              </a:rPr>
              <a:t>Download Source </a:t>
            </a:r>
            <a:r>
              <a:rPr lang="en-US" sz="1000" b="0" i="0" dirty="0">
                <a:solidFill>
                  <a:srgbClr val="000000"/>
                </a:solidFill>
                <a:effectLst/>
              </a:rPr>
              <a:t>The source URL of the downloaded file. </a:t>
            </a:r>
          </a:p>
          <a:p>
            <a:pPr algn="l" rtl="0" fontAlgn="base"/>
            <a:r>
              <a:rPr lang="en-US" sz="1000" b="1" i="0" dirty="0">
                <a:solidFill>
                  <a:srgbClr val="000000"/>
                </a:solidFill>
                <a:effectLst/>
              </a:rPr>
              <a:t>File Name</a:t>
            </a:r>
            <a:r>
              <a:rPr lang="en-US" sz="1000" b="0" i="0" dirty="0">
                <a:solidFill>
                  <a:srgbClr val="000000"/>
                </a:solidFill>
                <a:effectLst/>
              </a:rPr>
              <a:t> The name given to the file when it was saved to the local machine. </a:t>
            </a:r>
          </a:p>
          <a:p>
            <a:pPr algn="l" rtl="0" fontAlgn="base"/>
            <a:r>
              <a:rPr lang="en-US" sz="1000" b="1" i="0" dirty="0">
                <a:solidFill>
                  <a:srgbClr val="000000"/>
                </a:solidFill>
                <a:effectLst/>
              </a:rPr>
              <a:t>Start Time Date/Time</a:t>
            </a:r>
            <a:r>
              <a:rPr lang="en-US" sz="1000" b="0" i="0" dirty="0">
                <a:solidFill>
                  <a:srgbClr val="000000"/>
                </a:solidFill>
                <a:effectLst/>
              </a:rPr>
              <a:t> The date and time the download started. </a:t>
            </a:r>
          </a:p>
          <a:p>
            <a:pPr algn="l" rtl="0" fontAlgn="base"/>
            <a:r>
              <a:rPr lang="en-US" sz="1000" b="1" i="0" dirty="0">
                <a:solidFill>
                  <a:srgbClr val="000000"/>
                </a:solidFill>
                <a:effectLst/>
              </a:rPr>
              <a:t>End Time Date/Time</a:t>
            </a:r>
            <a:r>
              <a:rPr lang="en-US" sz="1000" b="0" i="0" dirty="0">
                <a:solidFill>
                  <a:srgbClr val="000000"/>
                </a:solidFill>
                <a:effectLst/>
              </a:rPr>
              <a:t> The date and time the download completed or stopped. </a:t>
            </a:r>
          </a:p>
          <a:p>
            <a:pPr algn="l" rtl="0" fontAlgn="base"/>
            <a:r>
              <a:rPr lang="en-US" sz="1000" b="1" i="0" dirty="0">
                <a:solidFill>
                  <a:srgbClr val="000000"/>
                </a:solidFill>
                <a:effectLst/>
              </a:rPr>
              <a:t>Saved To</a:t>
            </a:r>
            <a:r>
              <a:rPr lang="en-US" sz="1000" b="0" i="0" dirty="0">
                <a:solidFill>
                  <a:srgbClr val="000000"/>
                </a:solidFill>
                <a:effectLst/>
              </a:rPr>
              <a:t> The local path and filename where the file was saved. </a:t>
            </a:r>
          </a:p>
          <a:p>
            <a:pPr algn="l" rtl="0" fontAlgn="base"/>
            <a:r>
              <a:rPr lang="en-US" sz="1000" b="1" i="0" dirty="0">
                <a:solidFill>
                  <a:srgbClr val="000000"/>
                </a:solidFill>
                <a:effectLst/>
              </a:rPr>
              <a:t>State </a:t>
            </a:r>
            <a:r>
              <a:rPr lang="en-US" sz="1000" b="0" i="0" dirty="0">
                <a:solidFill>
                  <a:srgbClr val="000000"/>
                </a:solidFill>
                <a:effectLst/>
              </a:rPr>
              <a:t>Indicates whether the download completed successfully. </a:t>
            </a:r>
          </a:p>
          <a:p>
            <a:pPr algn="l" rtl="0" fontAlgn="base"/>
            <a:r>
              <a:rPr lang="en-US" sz="1000" b="1" i="0" dirty="0">
                <a:solidFill>
                  <a:srgbClr val="000000"/>
                </a:solidFill>
                <a:effectLst/>
              </a:rPr>
              <a:t>Opened by User </a:t>
            </a:r>
            <a:r>
              <a:rPr lang="en-US" sz="1000" b="0" i="0" dirty="0">
                <a:solidFill>
                  <a:srgbClr val="000000"/>
                </a:solidFill>
                <a:effectLst/>
              </a:rPr>
              <a:t>Indicates whether the file was opened by clicking link at the bottom of browser after download. </a:t>
            </a:r>
          </a:p>
          <a:p>
            <a:pPr algn="l" rtl="0" fontAlgn="base"/>
            <a:r>
              <a:rPr lang="en-US" sz="1000" b="1" i="0" dirty="0">
                <a:solidFill>
                  <a:srgbClr val="000000"/>
                </a:solidFill>
                <a:effectLst/>
              </a:rPr>
              <a:t>Bytes Downloaded </a:t>
            </a:r>
            <a:r>
              <a:rPr lang="en-US" sz="1000" b="0" i="0" dirty="0">
                <a:solidFill>
                  <a:srgbClr val="000000"/>
                </a:solidFill>
                <a:effectLst/>
              </a:rPr>
              <a:t>The number of bytes of the file downloaded. </a:t>
            </a:r>
          </a:p>
          <a:p>
            <a:pPr algn="l" rtl="0" fontAlgn="base"/>
            <a:r>
              <a:rPr lang="en-US" sz="1000" b="1" i="0" dirty="0">
                <a:solidFill>
                  <a:srgbClr val="000000"/>
                </a:solidFill>
                <a:effectLst/>
              </a:rPr>
              <a:t>File Size (Bytes) </a:t>
            </a:r>
            <a:r>
              <a:rPr lang="en-US" sz="1000" b="0" i="0" dirty="0">
                <a:solidFill>
                  <a:srgbClr val="000000"/>
                </a:solidFill>
                <a:effectLst/>
              </a:rPr>
              <a:t>The size of the fully downloaded file. </a:t>
            </a:r>
          </a:p>
          <a:p>
            <a:pPr algn="l" rtl="0" fontAlgn="base"/>
            <a:r>
              <a:rPr lang="en-US" sz="1100" b="0" i="0" dirty="0">
                <a:solidFill>
                  <a:srgbClr val="000000"/>
                </a:solidFill>
                <a:effectLst/>
              </a:rPr>
              <a:t> </a:t>
            </a:r>
          </a:p>
          <a:p>
            <a:pPr algn="l" rtl="0" fontAlgn="base"/>
            <a:r>
              <a:rPr lang="en-US" sz="1100" b="0" i="0" dirty="0">
                <a:solidFill>
                  <a:srgbClr val="2E75B5"/>
                </a:solidFill>
                <a:effectLst/>
              </a:rPr>
              <a:t>FIREFOX DOWNLOADS </a:t>
            </a:r>
          </a:p>
          <a:p>
            <a:pPr algn="l" rtl="0" fontAlgn="base"/>
            <a:r>
              <a:rPr lang="en-US" sz="1000" b="0" i="0" dirty="0">
                <a:solidFill>
                  <a:srgbClr val="000000"/>
                </a:solidFill>
                <a:effectLst/>
              </a:rPr>
              <a:t>Firefox tracks download activity in the </a:t>
            </a:r>
            <a:r>
              <a:rPr lang="en-US" sz="1000" b="1" i="0" dirty="0">
                <a:solidFill>
                  <a:srgbClr val="000000"/>
                </a:solidFill>
                <a:effectLst/>
              </a:rPr>
              <a:t>places.sqlite </a:t>
            </a:r>
            <a:r>
              <a:rPr lang="en-US" sz="1000" b="0" i="0" dirty="0">
                <a:solidFill>
                  <a:srgbClr val="000000"/>
                </a:solidFill>
                <a:effectLst/>
              </a:rPr>
              <a:t>database that stores the browsing history. For default profile: </a:t>
            </a:r>
            <a:r>
              <a:rPr lang="en-US" sz="1000" i="1" dirty="0">
                <a:solidFill>
                  <a:srgbClr val="000000"/>
                </a:solidFill>
                <a:effectLst/>
              </a:rPr>
              <a:t>\Users\&lt;username&gt;\AppData\Roaming\Mozilla\Firefox\Profiles\</a:t>
            </a:r>
            <a:r>
              <a:rPr lang="en-US" sz="1000" i="1" dirty="0" err="1">
                <a:solidFill>
                  <a:srgbClr val="000000"/>
                </a:solidFill>
                <a:effectLst/>
              </a:rPr>
              <a:t>xxxxxxxx.default</a:t>
            </a:r>
            <a:r>
              <a:rPr lang="en-US" sz="1000" i="1" dirty="0">
                <a:solidFill>
                  <a:srgbClr val="000000"/>
                </a:solidFill>
                <a:effectLst/>
              </a:rPr>
              <a:t>\ </a:t>
            </a:r>
          </a:p>
          <a:p>
            <a:pPr algn="l" rtl="0" fontAlgn="base"/>
            <a:r>
              <a:rPr lang="en-US" sz="1000" b="0" i="0" dirty="0">
                <a:solidFill>
                  <a:srgbClr val="000000"/>
                </a:solidFill>
                <a:effectLst/>
              </a:rPr>
              <a:t>Two tables: </a:t>
            </a:r>
            <a:r>
              <a:rPr lang="en-US" sz="1000" b="1" i="0" dirty="0">
                <a:solidFill>
                  <a:srgbClr val="000000"/>
                </a:solidFill>
                <a:effectLst/>
              </a:rPr>
              <a:t>moz_places </a:t>
            </a:r>
            <a:r>
              <a:rPr lang="en-US" sz="1000" b="0" i="0" dirty="0">
                <a:solidFill>
                  <a:srgbClr val="000000"/>
                </a:solidFill>
                <a:effectLst/>
              </a:rPr>
              <a:t>and </a:t>
            </a:r>
            <a:r>
              <a:rPr lang="en-US" sz="1000" b="1" i="0" dirty="0" err="1">
                <a:solidFill>
                  <a:srgbClr val="000000"/>
                </a:solidFill>
                <a:effectLst/>
              </a:rPr>
              <a:t>moz_annos</a:t>
            </a:r>
            <a:r>
              <a:rPr lang="en-US" sz="1000" b="0" i="0" dirty="0">
                <a:solidFill>
                  <a:srgbClr val="000000"/>
                </a:solidFill>
                <a:effectLst/>
              </a:rPr>
              <a:t>, and shown/processed at </a:t>
            </a:r>
            <a:r>
              <a:rPr lang="en-US" sz="1000" b="1" i="0" dirty="0">
                <a:solidFill>
                  <a:srgbClr val="000000"/>
                </a:solidFill>
                <a:effectLst/>
              </a:rPr>
              <a:t>WEB RELATED → Firefox Downloads</a:t>
            </a:r>
          </a:p>
          <a:p>
            <a:pPr fontAlgn="base"/>
            <a:endParaRPr lang="en-US" sz="1000" b="1" dirty="0">
              <a:solidFill>
                <a:srgbClr val="000000"/>
              </a:solidFill>
            </a:endParaRPr>
          </a:p>
          <a:p>
            <a:pPr fontAlgn="base"/>
            <a:r>
              <a:rPr lang="en-US" sz="1000" b="0" i="0" dirty="0">
                <a:solidFill>
                  <a:srgbClr val="1F3763"/>
                </a:solidFill>
                <a:effectLst/>
              </a:rPr>
              <a:t>ARTIFACT INFORMATION </a:t>
            </a:r>
            <a:endParaRPr lang="en-US" sz="1000" b="1" i="0" dirty="0">
              <a:solidFill>
                <a:srgbClr val="000000"/>
              </a:solidFill>
              <a:effectLst/>
            </a:endParaRPr>
          </a:p>
          <a:p>
            <a:pPr algn="l" rtl="0" fontAlgn="base"/>
            <a:r>
              <a:rPr lang="en-US" sz="1000" b="1" i="0" dirty="0">
                <a:solidFill>
                  <a:srgbClr val="000000"/>
                </a:solidFill>
                <a:effectLst/>
              </a:rPr>
              <a:t>File Name </a:t>
            </a:r>
            <a:r>
              <a:rPr lang="en-US" sz="1000" b="0" i="0" dirty="0">
                <a:solidFill>
                  <a:srgbClr val="000000"/>
                </a:solidFill>
                <a:effectLst/>
              </a:rPr>
              <a:t>The name given to the file when it was saved to the local machine. </a:t>
            </a:r>
          </a:p>
          <a:p>
            <a:pPr algn="l" rtl="0" fontAlgn="base"/>
            <a:r>
              <a:rPr lang="en-US" sz="1000" b="1" i="0" dirty="0">
                <a:solidFill>
                  <a:srgbClr val="000000"/>
                </a:solidFill>
                <a:effectLst/>
              </a:rPr>
              <a:t>Download Source</a:t>
            </a:r>
            <a:r>
              <a:rPr lang="en-US" sz="1000" b="0" i="0" dirty="0">
                <a:solidFill>
                  <a:srgbClr val="000000"/>
                </a:solidFill>
                <a:effectLst/>
              </a:rPr>
              <a:t> The source URL of the downloaded file. </a:t>
            </a:r>
          </a:p>
          <a:p>
            <a:pPr algn="l" rtl="0" fontAlgn="base"/>
            <a:r>
              <a:rPr lang="en-US" sz="1000" b="1" i="0" dirty="0">
                <a:solidFill>
                  <a:srgbClr val="000000"/>
                </a:solidFill>
                <a:effectLst/>
              </a:rPr>
              <a:t>Start Date/Time</a:t>
            </a:r>
            <a:r>
              <a:rPr lang="en-US" sz="1000" b="0" i="0" dirty="0">
                <a:solidFill>
                  <a:srgbClr val="000000"/>
                </a:solidFill>
                <a:effectLst/>
              </a:rPr>
              <a:t> The date and time the download was started. </a:t>
            </a:r>
          </a:p>
          <a:p>
            <a:pPr algn="l" rtl="0" fontAlgn="base"/>
            <a:r>
              <a:rPr lang="en-US" sz="1000" b="1" i="0" dirty="0">
                <a:solidFill>
                  <a:srgbClr val="000000"/>
                </a:solidFill>
                <a:effectLst/>
              </a:rPr>
              <a:t>End Date/Time</a:t>
            </a:r>
            <a:r>
              <a:rPr lang="en-US" sz="1000" b="0" i="0" dirty="0">
                <a:solidFill>
                  <a:srgbClr val="000000"/>
                </a:solidFill>
                <a:effectLst/>
              </a:rPr>
              <a:t> The date and time the download completed or stopped. </a:t>
            </a:r>
          </a:p>
          <a:p>
            <a:pPr algn="l" rtl="0" fontAlgn="base"/>
            <a:r>
              <a:rPr lang="en-US" sz="1000" b="1" i="0" dirty="0">
                <a:solidFill>
                  <a:srgbClr val="000000"/>
                </a:solidFill>
                <a:effectLst/>
              </a:rPr>
              <a:t>Saved To</a:t>
            </a:r>
            <a:r>
              <a:rPr lang="en-US" sz="1000" b="0" i="0" dirty="0">
                <a:solidFill>
                  <a:srgbClr val="000000"/>
                </a:solidFill>
                <a:effectLst/>
              </a:rPr>
              <a:t> The local path and filename where the file was saved. </a:t>
            </a:r>
          </a:p>
          <a:p>
            <a:pPr algn="l" rtl="0" fontAlgn="base"/>
            <a:r>
              <a:rPr lang="en-US" sz="1000" b="1" i="0" dirty="0">
                <a:solidFill>
                  <a:srgbClr val="000000"/>
                </a:solidFill>
                <a:effectLst/>
              </a:rPr>
              <a:t>Temp Path</a:t>
            </a:r>
            <a:r>
              <a:rPr lang="en-US" sz="1000" b="0" i="0" dirty="0">
                <a:solidFill>
                  <a:srgbClr val="000000"/>
                </a:solidFill>
                <a:effectLst/>
              </a:rPr>
              <a:t> The local path and filename where the file was temporarily stored during download, if applicable. </a:t>
            </a:r>
          </a:p>
          <a:p>
            <a:pPr algn="l" rtl="0" fontAlgn="base"/>
            <a:r>
              <a:rPr lang="en-US" sz="1000" b="1" i="0" dirty="0">
                <a:solidFill>
                  <a:srgbClr val="000000"/>
                </a:solidFill>
                <a:effectLst/>
              </a:rPr>
              <a:t>State</a:t>
            </a:r>
            <a:r>
              <a:rPr lang="en-US" sz="1000" b="0" i="0" dirty="0">
                <a:solidFill>
                  <a:srgbClr val="000000"/>
                </a:solidFill>
                <a:effectLst/>
              </a:rPr>
              <a:t>: Download Complete, Download In Progress, Download Stopped, Download Paused. </a:t>
            </a:r>
          </a:p>
          <a:p>
            <a:pPr algn="l" rtl="0" fontAlgn="base"/>
            <a:r>
              <a:rPr lang="en-US" sz="1000" b="1" i="0" dirty="0">
                <a:solidFill>
                  <a:srgbClr val="000000"/>
                </a:solidFill>
                <a:effectLst/>
              </a:rPr>
              <a:t>Referrer</a:t>
            </a:r>
            <a:r>
              <a:rPr lang="en-US" sz="1000" b="0" i="0" dirty="0">
                <a:solidFill>
                  <a:srgbClr val="000000"/>
                </a:solidFill>
                <a:effectLst/>
              </a:rPr>
              <a:t> If the webpage used a mirror for downloading, the path to the original download URL. </a:t>
            </a:r>
          </a:p>
          <a:p>
            <a:pPr algn="l" rtl="0" fontAlgn="base"/>
            <a:r>
              <a:rPr lang="en-US" sz="1000" b="1" i="0" dirty="0">
                <a:solidFill>
                  <a:srgbClr val="000000"/>
                </a:solidFill>
                <a:effectLst/>
              </a:rPr>
              <a:t>Bytes Downloaded</a:t>
            </a:r>
            <a:r>
              <a:rPr lang="en-US" sz="1000" b="0" i="0" dirty="0">
                <a:solidFill>
                  <a:srgbClr val="000000"/>
                </a:solidFill>
                <a:effectLst/>
              </a:rPr>
              <a:t> The number of bytes of the file downloaded. </a:t>
            </a:r>
          </a:p>
          <a:p>
            <a:pPr algn="l" rtl="0" fontAlgn="base"/>
            <a:r>
              <a:rPr lang="en-US" sz="1000" b="1" i="0" dirty="0">
                <a:solidFill>
                  <a:srgbClr val="000000"/>
                </a:solidFill>
                <a:effectLst/>
              </a:rPr>
              <a:t>File Size (Bytes) T</a:t>
            </a:r>
            <a:r>
              <a:rPr lang="en-US" sz="1000" b="0" i="0" dirty="0">
                <a:solidFill>
                  <a:srgbClr val="000000"/>
                </a:solidFill>
                <a:effectLst/>
              </a:rPr>
              <a:t>he size of the fully downloaded file. </a:t>
            </a:r>
          </a:p>
          <a:p>
            <a:pPr algn="l" rtl="0" fontAlgn="base"/>
            <a:r>
              <a:rPr lang="en-US" sz="1100" b="0" i="0" dirty="0">
                <a:solidFill>
                  <a:srgbClr val="000000"/>
                </a:solidFill>
                <a:effectLst/>
              </a:rPr>
              <a:t> </a:t>
            </a:r>
          </a:p>
          <a:p>
            <a:pPr algn="l" rtl="0" fontAlgn="base"/>
            <a:r>
              <a:rPr lang="en-US" sz="1100" b="0" i="0" dirty="0">
                <a:solidFill>
                  <a:srgbClr val="2E75B5"/>
                </a:solidFill>
                <a:effectLst/>
              </a:rPr>
              <a:t>INTERNET EXPLORER AND EDGE DOWNLOADS </a:t>
            </a:r>
            <a:endParaRPr lang="en-US" sz="1100" b="0" i="0" dirty="0">
              <a:solidFill>
                <a:srgbClr val="000000"/>
              </a:solidFill>
              <a:effectLst/>
            </a:endParaRPr>
          </a:p>
          <a:p>
            <a:pPr algn="l" rtl="0" fontAlgn="base"/>
            <a:r>
              <a:rPr lang="en-US" sz="1000" b="0" i="0" dirty="0">
                <a:solidFill>
                  <a:srgbClr val="000000"/>
                </a:solidFill>
                <a:effectLst/>
              </a:rPr>
              <a:t>Internet Explorer v10-11 and Edge track download activity in the WebCacheV01.dat file that stores the browsing history. </a:t>
            </a:r>
            <a:r>
              <a:rPr lang="en-US" sz="1000" i="1" dirty="0">
                <a:solidFill>
                  <a:srgbClr val="000000"/>
                </a:solidFill>
                <a:effectLst/>
              </a:rPr>
              <a:t>\Users\&lt;username&gt;\AppData\Local\Microsoft\Windows\WebCache\ </a:t>
            </a:r>
          </a:p>
          <a:p>
            <a:pPr algn="l" rtl="0" fontAlgn="base"/>
            <a:r>
              <a:rPr lang="en-US" sz="1000" b="0" i="0" dirty="0">
                <a:solidFill>
                  <a:srgbClr val="000000"/>
                </a:solidFill>
                <a:effectLst/>
              </a:rPr>
              <a:t>IE v10-11 and Edge in </a:t>
            </a:r>
            <a:r>
              <a:rPr lang="en-US" sz="1000" b="1" i="0" dirty="0">
                <a:solidFill>
                  <a:srgbClr val="000000"/>
                </a:solidFill>
                <a:effectLst/>
              </a:rPr>
              <a:t>WEB RELATED → Internet Explorer 10-11 Downloads</a:t>
            </a:r>
            <a:r>
              <a:rPr lang="en-US" sz="1000" b="0" i="0" dirty="0">
                <a:solidFill>
                  <a:srgbClr val="000000"/>
                </a:solidFill>
                <a:effectLst/>
              </a:rPr>
              <a:t>. </a:t>
            </a:r>
          </a:p>
          <a:p>
            <a:pPr algn="l" rtl="0" fontAlgn="base"/>
            <a:endParaRPr lang="en-US" sz="1000" b="0" i="0" dirty="0">
              <a:solidFill>
                <a:srgbClr val="000000"/>
              </a:solidFill>
              <a:effectLst/>
            </a:endParaRPr>
          </a:p>
          <a:p>
            <a:pPr fontAlgn="base"/>
            <a:r>
              <a:rPr lang="en-US" sz="1000" b="0" i="0" dirty="0">
                <a:solidFill>
                  <a:srgbClr val="1F3763"/>
                </a:solidFill>
                <a:effectLst/>
              </a:rPr>
              <a:t>ARTIFACT INFORMATION </a:t>
            </a:r>
            <a:endParaRPr lang="en-US" sz="1000" b="1" i="0" dirty="0">
              <a:solidFill>
                <a:srgbClr val="000000"/>
              </a:solidFill>
              <a:effectLst/>
            </a:endParaRPr>
          </a:p>
          <a:p>
            <a:pPr algn="l" rtl="0" fontAlgn="base"/>
            <a:r>
              <a:rPr lang="en-US" sz="1000" b="1" i="0" dirty="0">
                <a:solidFill>
                  <a:srgbClr val="000000"/>
                </a:solidFill>
                <a:effectLst/>
              </a:rPr>
              <a:t>URL </a:t>
            </a:r>
            <a:r>
              <a:rPr lang="en-US" sz="1000" b="0" i="0" dirty="0">
                <a:solidFill>
                  <a:srgbClr val="000000"/>
                </a:solidFill>
                <a:effectLst/>
              </a:rPr>
              <a:t>The source URL of the downloaded file. </a:t>
            </a:r>
          </a:p>
          <a:p>
            <a:pPr algn="l" rtl="0" fontAlgn="base"/>
            <a:r>
              <a:rPr lang="en-US" sz="1000" b="1" i="0" dirty="0">
                <a:solidFill>
                  <a:srgbClr val="000000"/>
                </a:solidFill>
                <a:effectLst/>
              </a:rPr>
              <a:t>Last Accessed Date/Time</a:t>
            </a:r>
            <a:r>
              <a:rPr lang="en-US" sz="1000" b="0" i="0" dirty="0">
                <a:solidFill>
                  <a:srgbClr val="000000"/>
                </a:solidFill>
                <a:effectLst/>
              </a:rPr>
              <a:t> The date and time the download URL was last accessed. </a:t>
            </a:r>
          </a:p>
          <a:p>
            <a:pPr algn="l" rtl="0" fontAlgn="base"/>
            <a:r>
              <a:rPr lang="en-US" sz="1000" b="1" i="0" dirty="0">
                <a:solidFill>
                  <a:srgbClr val="000000"/>
                </a:solidFill>
                <a:effectLst/>
              </a:rPr>
              <a:t>Redirect URL</a:t>
            </a:r>
            <a:r>
              <a:rPr lang="en-US" sz="1000" b="0" i="0" dirty="0">
                <a:solidFill>
                  <a:srgbClr val="000000"/>
                </a:solidFill>
                <a:effectLst/>
              </a:rPr>
              <a:t> The previous URL which led the user to the download URL. </a:t>
            </a:r>
          </a:p>
          <a:p>
            <a:pPr algn="l" rtl="0" fontAlgn="base"/>
            <a:r>
              <a:rPr lang="en-US" sz="1000" b="1" i="0" dirty="0">
                <a:solidFill>
                  <a:srgbClr val="000000"/>
                </a:solidFill>
                <a:effectLst/>
              </a:rPr>
              <a:t>Download Location</a:t>
            </a:r>
            <a:r>
              <a:rPr lang="en-US" sz="1000" b="0" i="0" dirty="0">
                <a:solidFill>
                  <a:srgbClr val="000000"/>
                </a:solidFill>
                <a:effectLst/>
              </a:rPr>
              <a:t> The local path and filename where the file was saved. </a:t>
            </a:r>
          </a:p>
          <a:p>
            <a:pPr algn="l" rtl="0" fontAlgn="base"/>
            <a:r>
              <a:rPr lang="en-US" sz="1000" b="1" i="0" dirty="0">
                <a:solidFill>
                  <a:srgbClr val="000000"/>
                </a:solidFill>
                <a:effectLst/>
              </a:rPr>
              <a:t>Temp Download Location</a:t>
            </a:r>
            <a:r>
              <a:rPr lang="en-US" sz="1000" b="0" i="0" dirty="0">
                <a:solidFill>
                  <a:srgbClr val="000000"/>
                </a:solidFill>
                <a:effectLst/>
              </a:rPr>
              <a:t> The local path and filename where the file was temporarily stored during download. </a:t>
            </a:r>
          </a:p>
        </p:txBody>
      </p:sp>
    </p:spTree>
    <p:extLst>
      <p:ext uri="{BB962C8B-B14F-4D97-AF65-F5344CB8AC3E}">
        <p14:creationId xmlns:p14="http://schemas.microsoft.com/office/powerpoint/2010/main" val="35113926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6CFA4AF-61D2-49FB-A834-0570B5118569}"/>
              </a:ext>
            </a:extLst>
          </p:cNvPr>
          <p:cNvSpPr txBox="1"/>
          <p:nvPr/>
        </p:nvSpPr>
        <p:spPr>
          <a:xfrm>
            <a:off x="-1523" y="446276"/>
            <a:ext cx="6096000" cy="6201698"/>
          </a:xfrm>
          <a:prstGeom prst="rect">
            <a:avLst/>
          </a:prstGeom>
          <a:noFill/>
        </p:spPr>
        <p:txBody>
          <a:bodyPr wrap="square" rtlCol="0">
            <a:spAutoFit/>
          </a:bodyPr>
          <a:lstStyle/>
          <a:p>
            <a:pPr algn="l" rtl="0" fontAlgn="base"/>
            <a:r>
              <a:rPr lang="en-US" sz="1100" b="0" i="0" dirty="0">
                <a:solidFill>
                  <a:srgbClr val="1E4E79"/>
                </a:solidFill>
                <a:effectLst/>
              </a:rPr>
              <a:t>BOOKMARKS </a:t>
            </a:r>
          </a:p>
          <a:p>
            <a:pPr algn="l" rtl="0" fontAlgn="base"/>
            <a:r>
              <a:rPr lang="en-US" sz="1100" b="0" i="0" dirty="0">
                <a:solidFill>
                  <a:srgbClr val="2E75B5"/>
                </a:solidFill>
                <a:effectLst/>
              </a:rPr>
              <a:t>CHROME BOOKMARKS </a:t>
            </a:r>
          </a:p>
          <a:p>
            <a:pPr fontAlgn="base"/>
            <a:r>
              <a:rPr lang="en-US" sz="1100" b="0" i="0" dirty="0">
                <a:solidFill>
                  <a:srgbClr val="000000"/>
                </a:solidFill>
                <a:effectLst/>
              </a:rPr>
              <a:t> </a:t>
            </a:r>
            <a:r>
              <a:rPr lang="en-US" sz="1000" dirty="0">
                <a:solidFill>
                  <a:srgbClr val="000000"/>
                </a:solidFill>
              </a:rPr>
              <a:t>Chrome stores its bookmarks in a plain text file named </a:t>
            </a:r>
            <a:r>
              <a:rPr lang="en-US" sz="1000" b="1" dirty="0">
                <a:solidFill>
                  <a:srgbClr val="000000"/>
                </a:solidFill>
              </a:rPr>
              <a:t>Bookmarks</a:t>
            </a:r>
            <a:r>
              <a:rPr lang="en-US" sz="1000" dirty="0">
                <a:solidFill>
                  <a:srgbClr val="000000"/>
                </a:solidFill>
              </a:rPr>
              <a:t>. </a:t>
            </a:r>
          </a:p>
          <a:p>
            <a:pPr fontAlgn="base"/>
            <a:r>
              <a:rPr lang="en-US" sz="1000" i="1" dirty="0">
                <a:solidFill>
                  <a:srgbClr val="000000"/>
                </a:solidFill>
              </a:rPr>
              <a:t>\Users\&lt;username&gt;\</a:t>
            </a:r>
            <a:r>
              <a:rPr lang="en-US" sz="1000" i="1" dirty="0" err="1">
                <a:solidFill>
                  <a:srgbClr val="000000"/>
                </a:solidFill>
              </a:rPr>
              <a:t>AppData</a:t>
            </a:r>
            <a:r>
              <a:rPr lang="en-US" sz="1000" i="1" dirty="0">
                <a:solidFill>
                  <a:srgbClr val="000000"/>
                </a:solidFill>
              </a:rPr>
              <a:t>\Local\Google\Chrome\User Data\Default\ </a:t>
            </a:r>
          </a:p>
          <a:p>
            <a:pPr algn="l" rtl="0" fontAlgn="base"/>
            <a:endParaRPr lang="en-US" sz="1100" b="0" i="0" dirty="0">
              <a:solidFill>
                <a:srgbClr val="000000"/>
              </a:solidFill>
              <a:effectLst/>
            </a:endParaRPr>
          </a:p>
          <a:p>
            <a:pPr algn="l" rtl="0" fontAlgn="base"/>
            <a:r>
              <a:rPr lang="en-US" sz="1100" b="0" i="0" dirty="0">
                <a:solidFill>
                  <a:srgbClr val="2E75B5"/>
                </a:solidFill>
                <a:effectLst/>
              </a:rPr>
              <a:t>FIREFOX BOOKMARKS </a:t>
            </a:r>
          </a:p>
          <a:p>
            <a:pPr algn="l" rtl="0" fontAlgn="base"/>
            <a:r>
              <a:rPr lang="en-US" sz="1000" b="0" i="0" dirty="0">
                <a:solidFill>
                  <a:srgbClr val="000000"/>
                </a:solidFill>
                <a:effectLst/>
              </a:rPr>
              <a:t>Firefox stores Bookmarks in the </a:t>
            </a:r>
            <a:r>
              <a:rPr lang="en-US" sz="1000" b="1" i="0" dirty="0">
                <a:solidFill>
                  <a:srgbClr val="000000"/>
                </a:solidFill>
                <a:effectLst/>
              </a:rPr>
              <a:t>places.sqlite </a:t>
            </a:r>
            <a:r>
              <a:rPr lang="en-US" sz="1000" b="0" i="0" dirty="0">
                <a:solidFill>
                  <a:srgbClr val="000000"/>
                </a:solidFill>
                <a:effectLst/>
              </a:rPr>
              <a:t>database file is stored in the profile folder, </a:t>
            </a:r>
            <a:r>
              <a:rPr lang="en-US" sz="1000" b="0" i="0" dirty="0" err="1">
                <a:solidFill>
                  <a:srgbClr val="000000"/>
                </a:solidFill>
                <a:effectLst/>
              </a:rPr>
              <a:t>eg</a:t>
            </a:r>
            <a:r>
              <a:rPr lang="en-US" sz="1000" b="0" i="0" dirty="0">
                <a:solidFill>
                  <a:srgbClr val="000000"/>
                </a:solidFill>
                <a:effectLst/>
              </a:rPr>
              <a:t> default: </a:t>
            </a:r>
          </a:p>
          <a:p>
            <a:pPr algn="l" rtl="0" fontAlgn="base"/>
            <a:r>
              <a:rPr lang="en-US" sz="1000" i="1" dirty="0">
                <a:solidFill>
                  <a:srgbClr val="000000"/>
                </a:solidFill>
                <a:effectLst/>
              </a:rPr>
              <a:t>\Users\&lt;username&gt;\AppData\Roaming\Mozilla\Firefox\Profiles\</a:t>
            </a:r>
            <a:r>
              <a:rPr lang="en-US" sz="1000" i="1" dirty="0" err="1">
                <a:solidFill>
                  <a:srgbClr val="000000"/>
                </a:solidFill>
                <a:effectLst/>
              </a:rPr>
              <a:t>xxxxxxxx.default</a:t>
            </a:r>
            <a:r>
              <a:rPr lang="en-US" sz="1000" i="1" dirty="0">
                <a:solidFill>
                  <a:srgbClr val="000000"/>
                </a:solidFill>
                <a:effectLst/>
              </a:rPr>
              <a:t>\ </a:t>
            </a:r>
          </a:p>
          <a:p>
            <a:pPr algn="l" rtl="0" fontAlgn="base"/>
            <a:r>
              <a:rPr lang="en-US" sz="1000" b="0" i="0" dirty="0">
                <a:solidFill>
                  <a:srgbClr val="000000"/>
                </a:solidFill>
                <a:effectLst/>
              </a:rPr>
              <a:t>Every browser can create bookmarks, and these can provide useful information from an investigative standpoint. Most browsers can also save bookmarks in a tree-like structure within the bookmark folders. </a:t>
            </a:r>
          </a:p>
          <a:p>
            <a:pPr algn="l" rtl="0" fontAlgn="base"/>
            <a:endParaRPr lang="en-US" sz="1100" b="0" i="0" dirty="0">
              <a:solidFill>
                <a:srgbClr val="2E75B5"/>
              </a:solidFill>
              <a:effectLst/>
            </a:endParaRPr>
          </a:p>
          <a:p>
            <a:pPr algn="l" rtl="0" fontAlgn="base"/>
            <a:r>
              <a:rPr lang="en-US" sz="1100" b="0" i="0" dirty="0">
                <a:solidFill>
                  <a:srgbClr val="2E75B5"/>
                </a:solidFill>
                <a:effectLst/>
              </a:rPr>
              <a:t>INTERNET EXPLORER AND EDGE BOOKMARKS </a:t>
            </a:r>
          </a:p>
          <a:p>
            <a:pPr algn="l" rtl="0" fontAlgn="base"/>
            <a:r>
              <a:rPr lang="en-US" sz="1000" b="0" i="0" dirty="0">
                <a:solidFill>
                  <a:srgbClr val="000000"/>
                </a:solidFill>
                <a:effectLst/>
              </a:rPr>
              <a:t>IE and Edge browsers refer to bookmarks as Favorites. IE stores Favorites as individual files in following location: </a:t>
            </a:r>
          </a:p>
          <a:p>
            <a:pPr algn="l" rtl="0" fontAlgn="base"/>
            <a:r>
              <a:rPr lang="en-US" sz="1000" i="1" dirty="0">
                <a:solidFill>
                  <a:srgbClr val="000000"/>
                </a:solidFill>
                <a:effectLst/>
              </a:rPr>
              <a:t>\Users\&lt;username&gt;\AppData\Favorites\ </a:t>
            </a:r>
          </a:p>
          <a:p>
            <a:pPr algn="l" rtl="0" fontAlgn="base"/>
            <a:endParaRPr lang="en-US" sz="1000" b="0" i="0" dirty="0">
              <a:solidFill>
                <a:srgbClr val="000000"/>
              </a:solidFill>
              <a:effectLst/>
            </a:endParaRPr>
          </a:p>
          <a:p>
            <a:pPr algn="l" rtl="0" fontAlgn="base"/>
            <a:r>
              <a:rPr lang="en-US" sz="1000" b="0" i="0" dirty="0">
                <a:solidFill>
                  <a:srgbClr val="000000"/>
                </a:solidFill>
                <a:effectLst/>
              </a:rPr>
              <a:t>The content of this folder and any subfolders is reflected in the Bookmarks within IE, so if the user creates a bookmark folder within IE, the folder is also created within the </a:t>
            </a:r>
            <a:r>
              <a:rPr lang="en-US" sz="1000" b="1" i="0" dirty="0">
                <a:solidFill>
                  <a:srgbClr val="000000"/>
                </a:solidFill>
                <a:effectLst/>
              </a:rPr>
              <a:t>\Favorites\</a:t>
            </a:r>
            <a:r>
              <a:rPr lang="en-US" sz="1000" b="0" i="0" dirty="0">
                <a:solidFill>
                  <a:srgbClr val="000000"/>
                </a:solidFill>
                <a:effectLst/>
              </a:rPr>
              <a:t> folder on the disk. </a:t>
            </a:r>
          </a:p>
          <a:p>
            <a:pPr algn="l" rtl="0" fontAlgn="base"/>
            <a:endParaRPr lang="en-US" sz="1000" b="0" i="0" dirty="0">
              <a:solidFill>
                <a:srgbClr val="000000"/>
              </a:solidFill>
              <a:effectLst/>
            </a:endParaRPr>
          </a:p>
          <a:p>
            <a:pPr algn="l" rtl="0" fontAlgn="base"/>
            <a:r>
              <a:rPr lang="en-US" sz="1000" b="0" i="0" dirty="0">
                <a:solidFill>
                  <a:srgbClr val="000000"/>
                </a:solidFill>
                <a:effectLst/>
              </a:rPr>
              <a:t>Edge stores Favorites in two possible locations. Early versions of the browser stored Favorites in the folder: </a:t>
            </a:r>
          </a:p>
          <a:p>
            <a:pPr algn="l" rtl="0" fontAlgn="base"/>
            <a:r>
              <a:rPr lang="en-US" sz="1000" i="1" dirty="0">
                <a:solidFill>
                  <a:srgbClr val="000000"/>
                </a:solidFill>
                <a:effectLst/>
              </a:rPr>
              <a:t>\Users\&lt;username&gt;\AppData\Local\Packages\Microsoft.MicrosoftEdge_8wekyb3d8bbwe\AC\</a:t>
            </a:r>
            <a:r>
              <a:rPr lang="en-US" sz="1000" i="1" dirty="0" err="1">
                <a:solidFill>
                  <a:srgbClr val="000000"/>
                </a:solidFill>
                <a:effectLst/>
              </a:rPr>
              <a:t>MicrosoftEdge</a:t>
            </a:r>
            <a:r>
              <a:rPr lang="en-US" sz="1000" i="1" dirty="0">
                <a:solidFill>
                  <a:srgbClr val="000000"/>
                </a:solidFill>
                <a:effectLst/>
              </a:rPr>
              <a:t>\User\Default\Favorites </a:t>
            </a:r>
            <a:endParaRPr lang="en-US" sz="1000" b="0" i="0" dirty="0">
              <a:solidFill>
                <a:srgbClr val="000000"/>
              </a:solidFill>
              <a:effectLst/>
            </a:endParaRPr>
          </a:p>
          <a:p>
            <a:pPr algn="l" rtl="0" fontAlgn="base"/>
            <a:r>
              <a:rPr lang="en-US" sz="1000" b="0" i="0" dirty="0">
                <a:solidFill>
                  <a:srgbClr val="000000"/>
                </a:solidFill>
                <a:effectLst/>
              </a:rPr>
              <a:t>Favorites that were migrated to Edge from IE upon initial installation might also be found here. </a:t>
            </a:r>
          </a:p>
          <a:p>
            <a:pPr algn="l" rtl="0" fontAlgn="base"/>
            <a:endParaRPr lang="en-US" sz="1000" b="0" i="0" dirty="0">
              <a:solidFill>
                <a:srgbClr val="000000"/>
              </a:solidFill>
              <a:effectLst/>
            </a:endParaRPr>
          </a:p>
          <a:p>
            <a:pPr algn="l" rtl="0" fontAlgn="base"/>
            <a:r>
              <a:rPr lang="en-US" sz="1000" b="0" i="0" dirty="0">
                <a:solidFill>
                  <a:srgbClr val="000000"/>
                </a:solidFill>
                <a:effectLst/>
              </a:rPr>
              <a:t>Later versions of Edge moved the Favorites to an </a:t>
            </a:r>
            <a:r>
              <a:rPr lang="en-US" sz="1000" b="1" i="0" dirty="0">
                <a:solidFill>
                  <a:srgbClr val="000000"/>
                </a:solidFill>
                <a:effectLst/>
              </a:rPr>
              <a:t>ESE database </a:t>
            </a:r>
            <a:r>
              <a:rPr lang="en-US" sz="1000" b="0" i="0" dirty="0">
                <a:solidFill>
                  <a:srgbClr val="000000"/>
                </a:solidFill>
                <a:effectLst/>
              </a:rPr>
              <a:t>named </a:t>
            </a:r>
            <a:r>
              <a:rPr lang="en-US" sz="1000" b="1" i="0" dirty="0" err="1">
                <a:solidFill>
                  <a:srgbClr val="000000"/>
                </a:solidFill>
                <a:effectLst/>
              </a:rPr>
              <a:t>spartan.edb</a:t>
            </a:r>
            <a:r>
              <a:rPr lang="en-US" sz="1000" b="1" i="0" dirty="0">
                <a:solidFill>
                  <a:srgbClr val="000000"/>
                </a:solidFill>
                <a:effectLst/>
              </a:rPr>
              <a:t> </a:t>
            </a:r>
            <a:r>
              <a:rPr lang="en-US" sz="1000" b="0" i="0" dirty="0" err="1">
                <a:solidFill>
                  <a:srgbClr val="000000"/>
                </a:solidFill>
                <a:effectLst/>
              </a:rPr>
              <a:t>storedat</a:t>
            </a:r>
            <a:r>
              <a:rPr lang="en-US" sz="1000" b="0" i="0" dirty="0">
                <a:solidFill>
                  <a:srgbClr val="000000"/>
                </a:solidFill>
                <a:effectLst/>
              </a:rPr>
              <a:t>: </a:t>
            </a:r>
          </a:p>
          <a:p>
            <a:pPr algn="l" rtl="0" fontAlgn="base"/>
            <a:r>
              <a:rPr lang="en-US" sz="1000" i="1" dirty="0">
                <a:solidFill>
                  <a:srgbClr val="000000"/>
                </a:solidFill>
                <a:effectLst/>
              </a:rPr>
              <a:t>\Users\&lt;username&gt;\AppData\Local\Packages\Microsoft.MicrosoftEdge_8wekyb3d8bbwe\AC\</a:t>
            </a:r>
            <a:r>
              <a:rPr lang="en-US" sz="1000" i="1" dirty="0" err="1">
                <a:solidFill>
                  <a:srgbClr val="000000"/>
                </a:solidFill>
                <a:effectLst/>
              </a:rPr>
              <a:t>MicrosoftEdge</a:t>
            </a:r>
            <a:r>
              <a:rPr lang="en-US" sz="1000" i="1" dirty="0">
                <a:solidFill>
                  <a:srgbClr val="000000"/>
                </a:solidFill>
                <a:effectLst/>
              </a:rPr>
              <a:t>\User\Default\</a:t>
            </a:r>
            <a:r>
              <a:rPr lang="en-US" sz="1000" i="1" dirty="0" err="1">
                <a:solidFill>
                  <a:srgbClr val="000000"/>
                </a:solidFill>
                <a:effectLst/>
              </a:rPr>
              <a:t>DataStore</a:t>
            </a:r>
            <a:r>
              <a:rPr lang="en-US" sz="1000" i="1" dirty="0">
                <a:solidFill>
                  <a:srgbClr val="000000"/>
                </a:solidFill>
                <a:effectLst/>
              </a:rPr>
              <a:t>\Data\nouser1\120712-0049\</a:t>
            </a:r>
            <a:r>
              <a:rPr lang="en-US" sz="1000" i="1" dirty="0" err="1">
                <a:solidFill>
                  <a:srgbClr val="000000"/>
                </a:solidFill>
                <a:effectLst/>
              </a:rPr>
              <a:t>DBStore</a:t>
            </a:r>
            <a:r>
              <a:rPr lang="en-US" sz="1000" i="1" dirty="0">
                <a:solidFill>
                  <a:srgbClr val="000000"/>
                </a:solidFill>
                <a:effectLst/>
              </a:rPr>
              <a:t> </a:t>
            </a:r>
          </a:p>
          <a:p>
            <a:pPr algn="l" rtl="0" fontAlgn="base"/>
            <a:endParaRPr lang="en-US" sz="1000" b="0" i="0" dirty="0">
              <a:solidFill>
                <a:srgbClr val="000000"/>
              </a:solidFill>
              <a:effectLst/>
            </a:endParaRPr>
          </a:p>
          <a:p>
            <a:pPr algn="l" rtl="0" fontAlgn="base"/>
            <a:r>
              <a:rPr lang="en-US" sz="1000" b="0" i="0" dirty="0">
                <a:solidFill>
                  <a:srgbClr val="000000"/>
                </a:solidFill>
                <a:effectLst/>
              </a:rPr>
              <a:t>The entries are stored within the database in a table named </a:t>
            </a:r>
            <a:r>
              <a:rPr lang="en-US" sz="1000" b="1" i="0" dirty="0">
                <a:solidFill>
                  <a:srgbClr val="000000"/>
                </a:solidFill>
                <a:effectLst/>
              </a:rPr>
              <a:t>Favorites</a:t>
            </a:r>
            <a:r>
              <a:rPr lang="en-US" sz="1000" b="0" i="0" dirty="0">
                <a:solidFill>
                  <a:srgbClr val="000000"/>
                </a:solidFill>
                <a:effectLst/>
              </a:rPr>
              <a:t>. </a:t>
            </a:r>
          </a:p>
          <a:p>
            <a:pPr algn="l" rtl="0" fontAlgn="base"/>
            <a:r>
              <a:rPr lang="en-US" sz="1000" b="1" i="0" dirty="0">
                <a:solidFill>
                  <a:srgbClr val="000000"/>
                </a:solidFill>
                <a:effectLst/>
              </a:rPr>
              <a:t>Favorite Name </a:t>
            </a:r>
            <a:r>
              <a:rPr lang="en-US" sz="1000" b="0" i="0" dirty="0">
                <a:solidFill>
                  <a:srgbClr val="000000"/>
                </a:solidFill>
                <a:effectLst/>
              </a:rPr>
              <a:t>The name of the favorite as it appears in Internet Explorer. </a:t>
            </a:r>
          </a:p>
          <a:p>
            <a:pPr algn="l" rtl="0" fontAlgn="base"/>
            <a:r>
              <a:rPr lang="en-US" sz="1000" b="1" i="0" dirty="0">
                <a:solidFill>
                  <a:srgbClr val="000000"/>
                </a:solidFill>
                <a:effectLst/>
              </a:rPr>
              <a:t>URL </a:t>
            </a:r>
            <a:r>
              <a:rPr lang="en-US" sz="1000" b="0" i="0" dirty="0">
                <a:solidFill>
                  <a:srgbClr val="000000"/>
                </a:solidFill>
                <a:effectLst/>
              </a:rPr>
              <a:t>The URL the favorite points to. </a:t>
            </a:r>
          </a:p>
          <a:p>
            <a:pPr algn="l" rtl="0" fontAlgn="base"/>
            <a:r>
              <a:rPr lang="en-US" sz="1000" b="1" i="0" dirty="0">
                <a:solidFill>
                  <a:srgbClr val="000000"/>
                </a:solidFill>
                <a:effectLst/>
              </a:rPr>
              <a:t>Modified Date/Time </a:t>
            </a:r>
            <a:r>
              <a:rPr lang="en-US" sz="1000" b="0" i="0" dirty="0">
                <a:solidFill>
                  <a:srgbClr val="000000"/>
                </a:solidFill>
                <a:effectLst/>
              </a:rPr>
              <a:t>The date and time the favorite was last modified. </a:t>
            </a:r>
          </a:p>
          <a:p>
            <a:pPr algn="l" rtl="0" fontAlgn="base"/>
            <a:r>
              <a:rPr lang="en-US" sz="1000" b="1" i="0" dirty="0">
                <a:solidFill>
                  <a:srgbClr val="000000"/>
                </a:solidFill>
                <a:effectLst/>
              </a:rPr>
              <a:t>User</a:t>
            </a:r>
            <a:r>
              <a:rPr lang="en-US" sz="1000" b="0" i="0" dirty="0">
                <a:solidFill>
                  <a:srgbClr val="000000"/>
                </a:solidFill>
                <a:effectLst/>
              </a:rPr>
              <a:t> The user to whom the favorite belongs. </a:t>
            </a:r>
          </a:p>
          <a:p>
            <a:pPr algn="l" rtl="0" fontAlgn="base"/>
            <a:r>
              <a:rPr lang="en-US" sz="1000" b="1" i="0" dirty="0">
                <a:solidFill>
                  <a:srgbClr val="000000"/>
                </a:solidFill>
                <a:effectLst/>
              </a:rPr>
              <a:t>Favorites Root Location</a:t>
            </a:r>
            <a:r>
              <a:rPr lang="en-US" sz="1000" b="0" i="0" dirty="0">
                <a:solidFill>
                  <a:srgbClr val="000000"/>
                </a:solidFill>
                <a:effectLst/>
              </a:rPr>
              <a:t> The local path that is the root storage point for the favorite. </a:t>
            </a:r>
          </a:p>
          <a:p>
            <a:pPr algn="l" rtl="0" fontAlgn="base"/>
            <a:r>
              <a:rPr lang="en-US" sz="1000" b="1" i="0" dirty="0">
                <a:solidFill>
                  <a:srgbClr val="000000"/>
                </a:solidFill>
                <a:effectLst/>
              </a:rPr>
              <a:t>Folder Structure </a:t>
            </a:r>
            <a:r>
              <a:rPr lang="en-US" sz="1000" b="0" i="0" dirty="0">
                <a:solidFill>
                  <a:srgbClr val="000000"/>
                </a:solidFill>
                <a:effectLst/>
              </a:rPr>
              <a:t>The folder structure under which the favorite will appear in Internet Explorer. </a:t>
            </a:r>
          </a:p>
          <a:p>
            <a:pPr algn="l" rtl="0" fontAlgn="base"/>
            <a:r>
              <a:rPr lang="en-US" sz="1000" b="1" i="0" dirty="0">
                <a:solidFill>
                  <a:srgbClr val="000000"/>
                </a:solidFill>
                <a:effectLst/>
              </a:rPr>
              <a:t>Icon URL</a:t>
            </a:r>
            <a:r>
              <a:rPr lang="en-US" sz="1000" b="0" i="0" dirty="0">
                <a:solidFill>
                  <a:srgbClr val="000000"/>
                </a:solidFill>
                <a:effectLst/>
              </a:rPr>
              <a:t> The URL of the icon displayed next to the favorite if an icon exists. </a:t>
            </a:r>
          </a:p>
          <a:p>
            <a:pPr algn="l" rtl="0" fontAlgn="base"/>
            <a:r>
              <a:rPr lang="en-US" sz="1000" b="0" i="0" dirty="0">
                <a:solidFill>
                  <a:srgbClr val="000000"/>
                </a:solidFill>
                <a:effectLst/>
              </a:rPr>
              <a:t> </a:t>
            </a:r>
          </a:p>
          <a:p>
            <a:pPr algn="l" rtl="0" fontAlgn="base"/>
            <a:r>
              <a:rPr lang="en-US" sz="1000" b="0" i="0" dirty="0">
                <a:solidFill>
                  <a:srgbClr val="000000"/>
                </a:solidFill>
                <a:effectLst/>
              </a:rPr>
              <a:t>Tor Browser uses a modified version of Firefox, but AXIOM associates a </a:t>
            </a:r>
            <a:r>
              <a:rPr lang="en-US" sz="1000" b="1" i="0" dirty="0">
                <a:solidFill>
                  <a:srgbClr val="000000"/>
                </a:solidFill>
                <a:effectLst/>
              </a:rPr>
              <a:t>places.sqlite </a:t>
            </a:r>
            <a:r>
              <a:rPr lang="en-US" sz="1000" b="0" i="0" dirty="0">
                <a:solidFill>
                  <a:srgbClr val="000000"/>
                </a:solidFill>
                <a:effectLst/>
              </a:rPr>
              <a:t>file with Firefox, so these artifacts are placed in the Firefox categories. </a:t>
            </a:r>
          </a:p>
        </p:txBody>
      </p:sp>
      <p:sp>
        <p:nvSpPr>
          <p:cNvPr id="7" name="TextBox 6">
            <a:extLst>
              <a:ext uri="{FF2B5EF4-FFF2-40B4-BE49-F238E27FC236}">
                <a16:creationId xmlns:a16="http://schemas.microsoft.com/office/drawing/2014/main" id="{47248DC2-3567-48B5-88E0-389DC3058177}"/>
              </a:ext>
            </a:extLst>
          </p:cNvPr>
          <p:cNvSpPr txBox="1"/>
          <p:nvPr/>
        </p:nvSpPr>
        <p:spPr>
          <a:xfrm>
            <a:off x="6097524" y="0"/>
            <a:ext cx="6094476" cy="6817251"/>
          </a:xfrm>
          <a:prstGeom prst="rect">
            <a:avLst/>
          </a:prstGeom>
          <a:noFill/>
        </p:spPr>
        <p:txBody>
          <a:bodyPr wrap="square">
            <a:spAutoFit/>
          </a:bodyPr>
          <a:lstStyle/>
          <a:p>
            <a:pPr algn="l" rtl="0" fontAlgn="base"/>
            <a:r>
              <a:rPr lang="en-US" sz="1100" b="0" i="0" dirty="0">
                <a:solidFill>
                  <a:srgbClr val="1E4E79"/>
                </a:solidFill>
                <a:effectLst/>
              </a:rPr>
              <a:t>COOKIES </a:t>
            </a:r>
          </a:p>
          <a:p>
            <a:pPr algn="l" rtl="0" fontAlgn="base"/>
            <a:r>
              <a:rPr lang="en-US" sz="1100" b="0" i="0" dirty="0">
                <a:solidFill>
                  <a:srgbClr val="2E75B5"/>
                </a:solidFill>
                <a:effectLst/>
              </a:rPr>
              <a:t>CHROME </a:t>
            </a:r>
            <a:r>
              <a:rPr lang="en-US" sz="1000" b="0" i="0" dirty="0">
                <a:solidFill>
                  <a:srgbClr val="000000"/>
                </a:solidFill>
                <a:effectLst/>
              </a:rPr>
              <a:t>stores its cookies in an SQLite database named Cookies stored in the profile folder. </a:t>
            </a:r>
            <a:r>
              <a:rPr lang="en-US" sz="1000" i="1" dirty="0">
                <a:solidFill>
                  <a:srgbClr val="000000"/>
                </a:solidFill>
                <a:effectLst/>
              </a:rPr>
              <a:t>\Users\&lt;username&gt;\AppData\Local\Google\Chrome\User Data\Default\ </a:t>
            </a:r>
          </a:p>
          <a:p>
            <a:pPr algn="l" rtl="0" fontAlgn="base"/>
            <a:r>
              <a:rPr lang="en-US" sz="1000" b="1" i="0" dirty="0">
                <a:solidFill>
                  <a:srgbClr val="000000"/>
                </a:solidFill>
                <a:effectLst/>
              </a:rPr>
              <a:t>Host </a:t>
            </a:r>
            <a:r>
              <a:rPr lang="en-US" sz="1000" b="0" i="0" dirty="0">
                <a:solidFill>
                  <a:srgbClr val="000000"/>
                </a:solidFill>
                <a:effectLst/>
              </a:rPr>
              <a:t>The host domain of the cookie. </a:t>
            </a:r>
          </a:p>
          <a:p>
            <a:pPr algn="l" rtl="0" fontAlgn="base"/>
            <a:r>
              <a:rPr lang="en-US" sz="1000" b="1" i="0" dirty="0">
                <a:solidFill>
                  <a:srgbClr val="000000"/>
                </a:solidFill>
                <a:effectLst/>
              </a:rPr>
              <a:t>Name</a:t>
            </a:r>
            <a:r>
              <a:rPr lang="en-US" sz="1000" b="0" i="0" dirty="0">
                <a:solidFill>
                  <a:srgbClr val="000000"/>
                </a:solidFill>
                <a:effectLst/>
              </a:rPr>
              <a:t> The name of the cookie. </a:t>
            </a:r>
          </a:p>
          <a:p>
            <a:pPr algn="l" rtl="0" fontAlgn="base"/>
            <a:r>
              <a:rPr lang="en-US" sz="1000" b="1" i="0" dirty="0">
                <a:solidFill>
                  <a:srgbClr val="000000"/>
                </a:solidFill>
                <a:effectLst/>
              </a:rPr>
              <a:t>Value</a:t>
            </a:r>
            <a:r>
              <a:rPr lang="en-US" sz="1000" b="0" i="0" dirty="0">
                <a:solidFill>
                  <a:srgbClr val="000000"/>
                </a:solidFill>
                <a:effectLst/>
              </a:rPr>
              <a:t> The value contained in the cookie. </a:t>
            </a:r>
          </a:p>
          <a:p>
            <a:pPr algn="l" rtl="0" fontAlgn="base"/>
            <a:r>
              <a:rPr lang="en-US" sz="1000" b="1" i="0" dirty="0">
                <a:solidFill>
                  <a:srgbClr val="000000"/>
                </a:solidFill>
                <a:effectLst/>
              </a:rPr>
              <a:t>Accessed Date/Time </a:t>
            </a:r>
            <a:r>
              <a:rPr lang="en-US" sz="1000" b="0" i="0" dirty="0">
                <a:solidFill>
                  <a:srgbClr val="000000"/>
                </a:solidFill>
                <a:effectLst/>
              </a:rPr>
              <a:t>The date and time the cookie was last accessed. </a:t>
            </a:r>
          </a:p>
          <a:p>
            <a:pPr algn="l" rtl="0" fontAlgn="base"/>
            <a:r>
              <a:rPr lang="en-US" sz="1000" b="1" i="0" dirty="0">
                <a:solidFill>
                  <a:srgbClr val="000000"/>
                </a:solidFill>
                <a:effectLst/>
              </a:rPr>
              <a:t>Created Date/Time</a:t>
            </a:r>
            <a:r>
              <a:rPr lang="en-US" sz="1000" b="0" i="0" dirty="0">
                <a:solidFill>
                  <a:srgbClr val="000000"/>
                </a:solidFill>
                <a:effectLst/>
              </a:rPr>
              <a:t> The date and time the cookie was created. </a:t>
            </a:r>
          </a:p>
          <a:p>
            <a:pPr algn="l" rtl="0" fontAlgn="base"/>
            <a:r>
              <a:rPr lang="en-US" sz="1000" b="1" i="0" dirty="0">
                <a:solidFill>
                  <a:srgbClr val="000000"/>
                </a:solidFill>
                <a:effectLst/>
              </a:rPr>
              <a:t>Expiration Date/Time</a:t>
            </a:r>
            <a:r>
              <a:rPr lang="en-US" sz="1000" b="0" i="0" dirty="0">
                <a:solidFill>
                  <a:srgbClr val="000000"/>
                </a:solidFill>
                <a:effectLst/>
              </a:rPr>
              <a:t> The date and time the cookie expires. </a:t>
            </a:r>
          </a:p>
          <a:p>
            <a:pPr algn="l" rtl="0" fontAlgn="base"/>
            <a:r>
              <a:rPr lang="en-US" sz="1000" b="1" i="0" dirty="0">
                <a:solidFill>
                  <a:srgbClr val="000000"/>
                </a:solidFill>
                <a:effectLst/>
              </a:rPr>
              <a:t>Path</a:t>
            </a:r>
            <a:r>
              <a:rPr lang="en-US" sz="1000" b="0" i="0" dirty="0">
                <a:solidFill>
                  <a:srgbClr val="000000"/>
                </a:solidFill>
                <a:effectLst/>
              </a:rPr>
              <a:t> The path of the cookie value. </a:t>
            </a:r>
          </a:p>
          <a:p>
            <a:pPr algn="l" rtl="0" fontAlgn="base"/>
            <a:endParaRPr lang="en-US" sz="1100" b="0" i="0" dirty="0">
              <a:solidFill>
                <a:srgbClr val="2E75B5"/>
              </a:solidFill>
              <a:effectLst/>
            </a:endParaRPr>
          </a:p>
          <a:p>
            <a:pPr algn="l" rtl="0" fontAlgn="base"/>
            <a:r>
              <a:rPr lang="en-US" sz="1100" b="0" i="0" dirty="0">
                <a:solidFill>
                  <a:srgbClr val="2E75B5"/>
                </a:solidFill>
                <a:effectLst/>
              </a:rPr>
              <a:t>FIREFOX </a:t>
            </a:r>
            <a:r>
              <a:rPr lang="en-US" sz="1000" b="0" i="0" dirty="0">
                <a:solidFill>
                  <a:srgbClr val="000000"/>
                </a:solidFill>
                <a:effectLst/>
              </a:rPr>
              <a:t>stores cookies in an SQLite database named </a:t>
            </a:r>
            <a:r>
              <a:rPr lang="en-US" sz="1000" b="1" i="0" dirty="0" err="1">
                <a:solidFill>
                  <a:srgbClr val="000000"/>
                </a:solidFill>
                <a:effectLst/>
              </a:rPr>
              <a:t>cookies.sqlite</a:t>
            </a:r>
            <a:r>
              <a:rPr lang="en-US" sz="1000" b="1" i="0" dirty="0">
                <a:solidFill>
                  <a:srgbClr val="000000"/>
                </a:solidFill>
                <a:effectLst/>
              </a:rPr>
              <a:t> </a:t>
            </a:r>
            <a:r>
              <a:rPr lang="en-US" sz="1000" b="0" i="0" dirty="0">
                <a:solidFill>
                  <a:srgbClr val="000000"/>
                </a:solidFill>
                <a:effectLst/>
              </a:rPr>
              <a:t>stored in the profile folder. Default:</a:t>
            </a:r>
          </a:p>
          <a:p>
            <a:pPr algn="l" rtl="0" fontAlgn="base"/>
            <a:r>
              <a:rPr lang="en-US" sz="1000" i="1" dirty="0">
                <a:solidFill>
                  <a:srgbClr val="000000"/>
                </a:solidFill>
                <a:effectLst/>
              </a:rPr>
              <a:t>\Users\&lt;username&gt;\AppData\Roaming\Mozilla\Firefox\Profiles\</a:t>
            </a:r>
            <a:r>
              <a:rPr lang="en-US" sz="1000" i="1" dirty="0" err="1">
                <a:solidFill>
                  <a:srgbClr val="000000"/>
                </a:solidFill>
                <a:effectLst/>
              </a:rPr>
              <a:t>xxxxxxxx.default</a:t>
            </a:r>
            <a:r>
              <a:rPr lang="en-US" sz="1000" i="1" dirty="0">
                <a:solidFill>
                  <a:srgbClr val="000000"/>
                </a:solidFill>
                <a:effectLst/>
              </a:rPr>
              <a:t>\ </a:t>
            </a:r>
          </a:p>
          <a:p>
            <a:pPr algn="l" rtl="0" fontAlgn="base"/>
            <a:r>
              <a:rPr lang="en-US" sz="1000" b="0" i="0" dirty="0">
                <a:solidFill>
                  <a:srgbClr val="000000"/>
                </a:solidFill>
                <a:effectLst/>
              </a:rPr>
              <a:t>The information is contained within the table: </a:t>
            </a:r>
            <a:r>
              <a:rPr lang="en-US" sz="1000" b="1" i="0" dirty="0" err="1">
                <a:solidFill>
                  <a:srgbClr val="000000"/>
                </a:solidFill>
                <a:effectLst/>
              </a:rPr>
              <a:t>moz_cookies</a:t>
            </a:r>
            <a:r>
              <a:rPr lang="en-US" sz="1000" b="0" i="0" dirty="0">
                <a:solidFill>
                  <a:srgbClr val="000000"/>
                </a:solidFill>
                <a:effectLst/>
              </a:rPr>
              <a:t>. </a:t>
            </a:r>
          </a:p>
          <a:p>
            <a:pPr algn="l" rtl="0" fontAlgn="base"/>
            <a:r>
              <a:rPr lang="en-US" sz="1000" b="0" i="0" dirty="0">
                <a:solidFill>
                  <a:srgbClr val="000000"/>
                </a:solidFill>
                <a:effectLst/>
              </a:rPr>
              <a:t>Artifact info same as Chrome</a:t>
            </a:r>
          </a:p>
          <a:p>
            <a:pPr algn="l" rtl="0" fontAlgn="base"/>
            <a:r>
              <a:rPr lang="en-US" sz="1100" b="0" i="0" dirty="0">
                <a:solidFill>
                  <a:srgbClr val="000000"/>
                </a:solidFill>
                <a:effectLst/>
              </a:rPr>
              <a:t> </a:t>
            </a:r>
          </a:p>
          <a:p>
            <a:pPr algn="l" rtl="0" fontAlgn="base"/>
            <a:r>
              <a:rPr lang="en-US" sz="1100" b="0" i="0" dirty="0">
                <a:solidFill>
                  <a:srgbClr val="2E75B5"/>
                </a:solidFill>
                <a:effectLst/>
              </a:rPr>
              <a:t>INTERNET EXPLORER </a:t>
            </a:r>
            <a:r>
              <a:rPr lang="en-US" sz="1000" b="0" i="0" dirty="0">
                <a:solidFill>
                  <a:srgbClr val="000000"/>
                </a:solidFill>
                <a:effectLst/>
              </a:rPr>
              <a:t>stores cookie data as individual files on local machine. Win 7 and prior stores the cookies: </a:t>
            </a:r>
          </a:p>
          <a:p>
            <a:pPr algn="l" rtl="0" fontAlgn="base"/>
            <a:r>
              <a:rPr lang="en-US" sz="1000" i="1" dirty="0">
                <a:solidFill>
                  <a:srgbClr val="000000"/>
                </a:solidFill>
                <a:effectLst/>
              </a:rPr>
              <a:t>\Users\&lt;username&gt;\AppData\Roaming\Microsoft\Windows\Cookies\ </a:t>
            </a:r>
          </a:p>
          <a:p>
            <a:pPr algn="l" rtl="0" fontAlgn="base"/>
            <a:r>
              <a:rPr lang="en-US" sz="1000" b="0" i="0" dirty="0">
                <a:solidFill>
                  <a:srgbClr val="000000"/>
                </a:solidFill>
                <a:effectLst/>
              </a:rPr>
              <a:t>In Windows 8 the Cookies moved to the folder: </a:t>
            </a:r>
          </a:p>
          <a:p>
            <a:pPr algn="l" rtl="0" fontAlgn="base"/>
            <a:r>
              <a:rPr lang="en-US" sz="1000" i="1" dirty="0">
                <a:solidFill>
                  <a:srgbClr val="000000"/>
                </a:solidFill>
                <a:effectLst/>
              </a:rPr>
              <a:t>\Users\&lt;username&gt;\AppData\Local\Microsoft\Windows\</a:t>
            </a:r>
            <a:r>
              <a:rPr lang="en-US" sz="1000" i="1" dirty="0" err="1">
                <a:solidFill>
                  <a:srgbClr val="000000"/>
                </a:solidFill>
                <a:effectLst/>
              </a:rPr>
              <a:t>INetCookies</a:t>
            </a:r>
            <a:r>
              <a:rPr lang="en-US" sz="1000" i="1" dirty="0">
                <a:solidFill>
                  <a:srgbClr val="000000"/>
                </a:solidFill>
                <a:effectLst/>
              </a:rPr>
              <a:t>\ </a:t>
            </a:r>
          </a:p>
          <a:p>
            <a:pPr algn="l" rtl="0" fontAlgn="base"/>
            <a:r>
              <a:rPr lang="en-US" sz="1000" b="0" i="0" dirty="0">
                <a:solidFill>
                  <a:srgbClr val="000000"/>
                </a:solidFill>
                <a:effectLst/>
              </a:rPr>
              <a:t>As with other Internet Explorer artifacts, there might also be a</a:t>
            </a:r>
            <a:r>
              <a:rPr lang="en-US" sz="1000" b="1" i="0" dirty="0">
                <a:solidFill>
                  <a:srgbClr val="000000"/>
                </a:solidFill>
                <a:effectLst/>
              </a:rPr>
              <a:t> \Low\</a:t>
            </a:r>
            <a:r>
              <a:rPr lang="en-US" sz="1000" b="0" i="0" dirty="0">
                <a:solidFill>
                  <a:srgbClr val="000000"/>
                </a:solidFill>
                <a:effectLst/>
              </a:rPr>
              <a:t> </a:t>
            </a:r>
            <a:r>
              <a:rPr lang="en-US" sz="1000" b="1" i="0" dirty="0">
                <a:solidFill>
                  <a:srgbClr val="000000"/>
                </a:solidFill>
                <a:effectLst/>
              </a:rPr>
              <a:t>\High\. </a:t>
            </a:r>
          </a:p>
          <a:p>
            <a:pPr algn="l" rtl="0" fontAlgn="base"/>
            <a:r>
              <a:rPr lang="en-US" sz="1000" b="0" i="0" dirty="0">
                <a:solidFill>
                  <a:srgbClr val="000000"/>
                </a:solidFill>
                <a:effectLst/>
              </a:rPr>
              <a:t>IE v10 and v11 store the info about the cookie (cookie metadata) and cookie content in two different locations. </a:t>
            </a:r>
          </a:p>
          <a:p>
            <a:pPr algn="l" rtl="0" fontAlgn="base"/>
            <a:r>
              <a:rPr lang="en-US" sz="1000" b="0" i="0" dirty="0">
                <a:solidFill>
                  <a:srgbClr val="000000"/>
                </a:solidFill>
                <a:effectLst/>
              </a:rPr>
              <a:t>The cookie metadata information is contained within the WebCacheV01.dat file located in the folder: </a:t>
            </a:r>
          </a:p>
          <a:p>
            <a:pPr algn="l" rtl="0" fontAlgn="base"/>
            <a:r>
              <a:rPr lang="en-US" sz="1000" i="1" dirty="0">
                <a:solidFill>
                  <a:srgbClr val="000000"/>
                </a:solidFill>
                <a:effectLst/>
              </a:rPr>
              <a:t>\Users\&lt;username&gt;\AppData\Local\Microsoft\Windows\WebCache\ </a:t>
            </a:r>
          </a:p>
          <a:p>
            <a:pPr algn="l" rtl="0" fontAlgn="base"/>
            <a:r>
              <a:rPr lang="en-US" sz="1000" b="0" i="0" dirty="0">
                <a:solidFill>
                  <a:srgbClr val="000000"/>
                </a:solidFill>
                <a:effectLst/>
              </a:rPr>
              <a:t>The individual cookie content file is stored in the folder: </a:t>
            </a:r>
          </a:p>
          <a:p>
            <a:pPr algn="l" rtl="0" fontAlgn="base"/>
            <a:r>
              <a:rPr lang="en-US" sz="1000" i="1" dirty="0">
                <a:solidFill>
                  <a:srgbClr val="000000"/>
                </a:solidFill>
                <a:effectLst/>
              </a:rPr>
              <a:t>\Users\&lt;username&gt;\AppData\Local\Microsoft\Windows\</a:t>
            </a:r>
            <a:r>
              <a:rPr lang="en-US" sz="1000" i="1" dirty="0" err="1">
                <a:solidFill>
                  <a:srgbClr val="000000"/>
                </a:solidFill>
                <a:effectLst/>
              </a:rPr>
              <a:t>INetCookies</a:t>
            </a:r>
            <a:r>
              <a:rPr lang="en-US" sz="1000" i="1" dirty="0">
                <a:solidFill>
                  <a:srgbClr val="000000"/>
                </a:solidFill>
                <a:effectLst/>
              </a:rPr>
              <a:t>\ </a:t>
            </a:r>
          </a:p>
          <a:p>
            <a:pPr algn="l" rtl="0" fontAlgn="base"/>
            <a:r>
              <a:rPr lang="en-US" sz="1000" b="0" i="0" dirty="0">
                <a:solidFill>
                  <a:srgbClr val="000000"/>
                </a:solidFill>
                <a:effectLst/>
              </a:rPr>
              <a:t>These cookie files named using a randomly generated 8-character alphanumeric value: a .txt or .cookie extension. </a:t>
            </a:r>
            <a:endParaRPr lang="en-US" sz="1000" b="0" i="0" dirty="0">
              <a:solidFill>
                <a:srgbClr val="1F3763"/>
              </a:solidFill>
              <a:effectLst/>
            </a:endParaRPr>
          </a:p>
          <a:p>
            <a:pPr algn="l" rtl="0" fontAlgn="base"/>
            <a:r>
              <a:rPr lang="en-US" sz="1000" b="0" i="0" dirty="0">
                <a:solidFill>
                  <a:srgbClr val="1F3763"/>
                </a:solidFill>
                <a:effectLst/>
              </a:rPr>
              <a:t>IE Cookies </a:t>
            </a:r>
            <a:r>
              <a:rPr lang="en-US" sz="1000" b="0" i="0" dirty="0">
                <a:solidFill>
                  <a:srgbClr val="000000"/>
                </a:solidFill>
                <a:effectLst/>
              </a:rPr>
              <a:t>Artifact info same as Chrome plus...</a:t>
            </a:r>
          </a:p>
          <a:p>
            <a:pPr algn="l" rtl="0" fontAlgn="base"/>
            <a:r>
              <a:rPr lang="en-US" sz="1000" b="1" i="0" dirty="0">
                <a:solidFill>
                  <a:srgbClr val="000000"/>
                </a:solidFill>
                <a:effectLst/>
              </a:rPr>
              <a:t>Flags </a:t>
            </a:r>
            <a:r>
              <a:rPr lang="en-US" sz="1000" b="0" i="0" dirty="0">
                <a:solidFill>
                  <a:srgbClr val="000000"/>
                </a:solidFill>
                <a:effectLst/>
              </a:rPr>
              <a:t>Any flags associated with the cookie. </a:t>
            </a:r>
            <a:endParaRPr lang="en-US" sz="1000" dirty="0">
              <a:solidFill>
                <a:srgbClr val="1F3763"/>
              </a:solidFill>
            </a:endParaRPr>
          </a:p>
          <a:p>
            <a:pPr algn="l" rtl="0" fontAlgn="base"/>
            <a:r>
              <a:rPr lang="en-US" sz="1000" b="1" i="0" dirty="0">
                <a:solidFill>
                  <a:srgbClr val="1F3763"/>
                </a:solidFill>
                <a:effectLst/>
              </a:rPr>
              <a:t>Internet Explorer 10-11 Cookies </a:t>
            </a:r>
          </a:p>
          <a:p>
            <a:pPr algn="l" rtl="0" fontAlgn="base"/>
            <a:r>
              <a:rPr lang="en-US" sz="1000" b="1" i="0" dirty="0">
                <a:solidFill>
                  <a:srgbClr val="000000"/>
                </a:solidFill>
                <a:effectLst/>
              </a:rPr>
              <a:t>User</a:t>
            </a:r>
            <a:r>
              <a:rPr lang="en-US" sz="1000" b="0" i="0" dirty="0">
                <a:solidFill>
                  <a:srgbClr val="000000"/>
                </a:solidFill>
                <a:effectLst/>
              </a:rPr>
              <a:t> The Windows user associated with the cookie. </a:t>
            </a:r>
          </a:p>
          <a:p>
            <a:pPr algn="l" rtl="0" fontAlgn="base"/>
            <a:r>
              <a:rPr lang="en-US" sz="1000" b="1" i="0" dirty="0">
                <a:solidFill>
                  <a:srgbClr val="000000"/>
                </a:solidFill>
                <a:effectLst/>
              </a:rPr>
              <a:t>UR</a:t>
            </a:r>
            <a:r>
              <a:rPr lang="en-US" sz="1000" b="0" i="0" dirty="0">
                <a:solidFill>
                  <a:srgbClr val="000000"/>
                </a:solidFill>
                <a:effectLst/>
              </a:rPr>
              <a:t>L The host domain of the cookie. </a:t>
            </a:r>
          </a:p>
          <a:p>
            <a:pPr algn="l" rtl="0" fontAlgn="base"/>
            <a:r>
              <a:rPr lang="en-US" sz="1000" b="1" i="0" dirty="0">
                <a:solidFill>
                  <a:srgbClr val="000000"/>
                </a:solidFill>
                <a:effectLst/>
              </a:rPr>
              <a:t>Accessed Date/Time, Updated Date/Time</a:t>
            </a:r>
            <a:r>
              <a:rPr lang="en-US" sz="1000" dirty="0">
                <a:solidFill>
                  <a:srgbClr val="000000"/>
                </a:solidFill>
              </a:rPr>
              <a:t>, </a:t>
            </a:r>
            <a:r>
              <a:rPr lang="en-US" sz="1000" b="1" i="0" dirty="0">
                <a:solidFill>
                  <a:srgbClr val="000000"/>
                </a:solidFill>
                <a:effectLst/>
              </a:rPr>
              <a:t>Created Date/Time</a:t>
            </a:r>
          </a:p>
          <a:p>
            <a:pPr algn="l" rtl="0" fontAlgn="base"/>
            <a:r>
              <a:rPr lang="en-US" sz="1000" b="1" i="0" dirty="0">
                <a:solidFill>
                  <a:srgbClr val="000000"/>
                </a:solidFill>
                <a:effectLst/>
              </a:rPr>
              <a:t>Access Count </a:t>
            </a:r>
            <a:r>
              <a:rPr lang="en-US" sz="1000" b="0" i="0" dirty="0">
                <a:solidFill>
                  <a:srgbClr val="000000"/>
                </a:solidFill>
                <a:effectLst/>
              </a:rPr>
              <a:t>unclear all the actions that trigger this counter, not necessarily the # of times </a:t>
            </a:r>
            <a:r>
              <a:rPr lang="en-US" sz="1000" b="0" i="0" dirty="0" err="1">
                <a:solidFill>
                  <a:srgbClr val="000000"/>
                </a:solidFill>
                <a:effectLst/>
              </a:rPr>
              <a:t>cookieaccessed</a:t>
            </a:r>
            <a:r>
              <a:rPr lang="en-US" sz="1000" b="0" i="0" dirty="0">
                <a:solidFill>
                  <a:srgbClr val="000000"/>
                </a:solidFill>
                <a:effectLst/>
              </a:rPr>
              <a:t>. </a:t>
            </a:r>
          </a:p>
          <a:p>
            <a:pPr algn="l" rtl="0" fontAlgn="base"/>
            <a:r>
              <a:rPr lang="en-US" sz="1000" b="1" i="0" dirty="0">
                <a:solidFill>
                  <a:srgbClr val="000000"/>
                </a:solidFill>
                <a:effectLst/>
              </a:rPr>
              <a:t>Filename</a:t>
            </a:r>
            <a:r>
              <a:rPr lang="en-US" sz="1000" b="0" i="0" dirty="0">
                <a:solidFill>
                  <a:srgbClr val="000000"/>
                </a:solidFill>
                <a:effectLst/>
              </a:rPr>
              <a:t> The name, including the full path, of the cookie content file. </a:t>
            </a:r>
          </a:p>
          <a:p>
            <a:pPr algn="l" rtl="0" fontAlgn="base"/>
            <a:r>
              <a:rPr lang="en-US" sz="1000" b="1" i="0" dirty="0">
                <a:solidFill>
                  <a:srgbClr val="000000"/>
                </a:solidFill>
                <a:effectLst/>
              </a:rPr>
              <a:t>File Size</a:t>
            </a:r>
            <a:r>
              <a:rPr lang="en-US" sz="1000" b="0" i="0" dirty="0">
                <a:solidFill>
                  <a:srgbClr val="000000"/>
                </a:solidFill>
                <a:effectLst/>
              </a:rPr>
              <a:t> The size of the cookie.</a:t>
            </a:r>
            <a:endParaRPr lang="en-US" sz="1100" b="0" i="0" dirty="0">
              <a:solidFill>
                <a:srgbClr val="2E75B5"/>
              </a:solidFill>
              <a:effectLst/>
            </a:endParaRPr>
          </a:p>
          <a:p>
            <a:pPr algn="l" rtl="0" fontAlgn="base"/>
            <a:r>
              <a:rPr lang="en-US" sz="1100" b="0" i="0" dirty="0">
                <a:solidFill>
                  <a:srgbClr val="2E75B5"/>
                </a:solidFill>
                <a:effectLst/>
              </a:rPr>
              <a:t>EDGE </a:t>
            </a:r>
            <a:r>
              <a:rPr lang="en-US" sz="1000" b="0" i="0" dirty="0">
                <a:solidFill>
                  <a:srgbClr val="000000"/>
                </a:solidFill>
                <a:effectLst/>
              </a:rPr>
              <a:t>stores cookie meta </a:t>
            </a:r>
            <a:r>
              <a:rPr lang="en-US" sz="1000" i="1" dirty="0">
                <a:solidFill>
                  <a:srgbClr val="000000"/>
                </a:solidFill>
                <a:effectLst/>
              </a:rPr>
              <a:t>\Users\&lt;username&gt;\AppData\Local\Microsoft\Windows\WebCache\ </a:t>
            </a:r>
            <a:r>
              <a:rPr lang="en-US" sz="1000" b="1" i="0" dirty="0">
                <a:solidFill>
                  <a:srgbClr val="000000"/>
                </a:solidFill>
                <a:effectLst/>
              </a:rPr>
              <a:t>WebCacheV01.dat </a:t>
            </a:r>
            <a:endParaRPr lang="en-US" sz="1000" i="1" dirty="0">
              <a:solidFill>
                <a:srgbClr val="000000"/>
              </a:solidFill>
              <a:effectLst/>
            </a:endParaRPr>
          </a:p>
          <a:p>
            <a:pPr algn="l" rtl="0" fontAlgn="base"/>
            <a:r>
              <a:rPr lang="en-US" sz="1000" b="0" i="0" dirty="0">
                <a:solidFill>
                  <a:srgbClr val="000000"/>
                </a:solidFill>
                <a:effectLst/>
              </a:rPr>
              <a:t>Name format </a:t>
            </a:r>
            <a:r>
              <a:rPr lang="en-US" sz="1000" b="1" i="0" dirty="0">
                <a:solidFill>
                  <a:srgbClr val="000000"/>
                </a:solidFill>
                <a:effectLst/>
              </a:rPr>
              <a:t>xxxxxxxx.txt</a:t>
            </a:r>
            <a:r>
              <a:rPr lang="en-US" sz="1000" b="0" i="0" dirty="0">
                <a:solidFill>
                  <a:srgbClr val="000000"/>
                </a:solidFill>
                <a:effectLst/>
              </a:rPr>
              <a:t> or </a:t>
            </a:r>
            <a:r>
              <a:rPr lang="en-US" sz="1000" b="1" i="0" dirty="0" err="1">
                <a:solidFill>
                  <a:srgbClr val="000000"/>
                </a:solidFill>
                <a:effectLst/>
              </a:rPr>
              <a:t>xxxxxxxx.cookie</a:t>
            </a:r>
            <a:r>
              <a:rPr lang="en-US" sz="1000" b="0" i="0" dirty="0">
                <a:solidFill>
                  <a:srgbClr val="000000"/>
                </a:solidFill>
                <a:effectLst/>
              </a:rPr>
              <a:t> and are either stored in: </a:t>
            </a:r>
          </a:p>
          <a:p>
            <a:pPr algn="l" rtl="0" fontAlgn="base"/>
            <a:r>
              <a:rPr lang="en-US" sz="1000" i="1" dirty="0">
                <a:solidFill>
                  <a:srgbClr val="000000"/>
                </a:solidFill>
                <a:effectLst/>
              </a:rPr>
              <a:t>&lt;username&gt;\AppData\Local\Packages\microsoft.microsoftedge_8wekyb3d8bbwe\AC\</a:t>
            </a:r>
            <a:r>
              <a:rPr lang="en-US" sz="1000" i="1" dirty="0" err="1">
                <a:solidFill>
                  <a:srgbClr val="000000"/>
                </a:solidFill>
                <a:effectLst/>
              </a:rPr>
              <a:t>MicrosoftEdge</a:t>
            </a:r>
            <a:r>
              <a:rPr lang="en-US" sz="1000" i="1" dirty="0">
                <a:solidFill>
                  <a:srgbClr val="000000"/>
                </a:solidFill>
                <a:effectLst/>
              </a:rPr>
              <a:t>\Cookies\ </a:t>
            </a:r>
          </a:p>
          <a:p>
            <a:pPr algn="l" rtl="0" fontAlgn="base"/>
            <a:r>
              <a:rPr lang="en-US" sz="1000" b="0" i="0" dirty="0">
                <a:solidFill>
                  <a:srgbClr val="000000"/>
                </a:solidFill>
                <a:effectLst/>
              </a:rPr>
              <a:t>Or subfolders within the same package, but with a number in the folder name. e.g. </a:t>
            </a:r>
          </a:p>
          <a:p>
            <a:pPr algn="l" rtl="0" fontAlgn="base"/>
            <a:r>
              <a:rPr lang="en-US" sz="1000" i="1" dirty="0" err="1">
                <a:solidFill>
                  <a:srgbClr val="000000"/>
                </a:solidFill>
                <a:effectLst/>
              </a:rPr>
              <a:t>AppData</a:t>
            </a:r>
            <a:r>
              <a:rPr lang="en-US" sz="1000" i="1" dirty="0">
                <a:solidFill>
                  <a:srgbClr val="000000"/>
                </a:solidFill>
                <a:effectLst/>
              </a:rPr>
              <a:t>\Local\Packages\microsoft.microsoftedge_8wekyb3d8bbwe\AC\#!001\MicrosoftEdge\Cookies\ </a:t>
            </a:r>
          </a:p>
          <a:p>
            <a:pPr algn="l" rtl="0" fontAlgn="base"/>
            <a:r>
              <a:rPr lang="en-US" sz="1000" b="0" i="0" dirty="0">
                <a:solidFill>
                  <a:srgbClr val="000000"/>
                </a:solidFill>
                <a:effectLst/>
              </a:rPr>
              <a:t>Other apps can also store cookies including: Windows Store, Windows Photos, Office Hub, Skype, and Cortana. </a:t>
            </a:r>
          </a:p>
          <a:p>
            <a:pPr algn="l" rtl="0" fontAlgn="base"/>
            <a:r>
              <a:rPr lang="en-US" sz="1000" b="0" i="0" dirty="0">
                <a:solidFill>
                  <a:srgbClr val="000000"/>
                </a:solidFill>
                <a:effectLst/>
              </a:rPr>
              <a:t>Edge cookies are listed under IE 10-11 cookie category. </a:t>
            </a:r>
          </a:p>
        </p:txBody>
      </p:sp>
      <p:sp>
        <p:nvSpPr>
          <p:cNvPr id="9" name="TextBox 8">
            <a:extLst>
              <a:ext uri="{FF2B5EF4-FFF2-40B4-BE49-F238E27FC236}">
                <a16:creationId xmlns:a16="http://schemas.microsoft.com/office/drawing/2014/main" id="{E3846E54-6813-4454-B04F-D44EAC246954}"/>
              </a:ext>
            </a:extLst>
          </p:cNvPr>
          <p:cNvSpPr txBox="1"/>
          <p:nvPr/>
        </p:nvSpPr>
        <p:spPr>
          <a:xfrm>
            <a:off x="0" y="0"/>
            <a:ext cx="3962495" cy="369332"/>
          </a:xfrm>
          <a:prstGeom prst="rect">
            <a:avLst/>
          </a:prstGeom>
          <a:noFill/>
        </p:spPr>
        <p:txBody>
          <a:bodyPr wrap="none" rtlCol="0">
            <a:spAutoFit/>
          </a:bodyPr>
          <a:lstStyle/>
          <a:p>
            <a:r>
              <a:rPr lang="en-US" b="1" u="sng" dirty="0"/>
              <a:t>3g Web related: BOOKMARKS/COOKIES</a:t>
            </a:r>
          </a:p>
        </p:txBody>
      </p:sp>
    </p:spTree>
    <p:extLst>
      <p:ext uri="{BB962C8B-B14F-4D97-AF65-F5344CB8AC3E}">
        <p14:creationId xmlns:p14="http://schemas.microsoft.com/office/powerpoint/2010/main" val="28121156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048EFEE-28D9-47C8-A08F-00C2B00C97A9}"/>
              </a:ext>
            </a:extLst>
          </p:cNvPr>
          <p:cNvSpPr txBox="1"/>
          <p:nvPr/>
        </p:nvSpPr>
        <p:spPr>
          <a:xfrm>
            <a:off x="0" y="0"/>
            <a:ext cx="4393960" cy="369332"/>
          </a:xfrm>
          <a:prstGeom prst="rect">
            <a:avLst/>
          </a:prstGeom>
          <a:noFill/>
        </p:spPr>
        <p:txBody>
          <a:bodyPr wrap="none" rtlCol="0">
            <a:spAutoFit/>
          </a:bodyPr>
          <a:lstStyle/>
          <a:p>
            <a:r>
              <a:rPr lang="en-US" b="1" u="sng" dirty="0"/>
              <a:t>3g Web related: GOOGLE ANALYTICS/CACHE</a:t>
            </a:r>
          </a:p>
        </p:txBody>
      </p:sp>
      <p:sp>
        <p:nvSpPr>
          <p:cNvPr id="5" name="TextBox 4">
            <a:extLst>
              <a:ext uri="{FF2B5EF4-FFF2-40B4-BE49-F238E27FC236}">
                <a16:creationId xmlns:a16="http://schemas.microsoft.com/office/drawing/2014/main" id="{C536C50C-DE15-4267-8B5C-3318EDAC9923}"/>
              </a:ext>
            </a:extLst>
          </p:cNvPr>
          <p:cNvSpPr txBox="1"/>
          <p:nvPr/>
        </p:nvSpPr>
        <p:spPr>
          <a:xfrm>
            <a:off x="0" y="369332"/>
            <a:ext cx="5939028" cy="6201698"/>
          </a:xfrm>
          <a:prstGeom prst="rect">
            <a:avLst/>
          </a:prstGeom>
          <a:noFill/>
        </p:spPr>
        <p:txBody>
          <a:bodyPr wrap="square">
            <a:spAutoFit/>
          </a:bodyPr>
          <a:lstStyle/>
          <a:p>
            <a:pPr algn="l" rtl="0" fontAlgn="base"/>
            <a:r>
              <a:rPr lang="en-US" sz="1100" b="0" i="0" dirty="0">
                <a:solidFill>
                  <a:srgbClr val="1E4E79"/>
                </a:solidFill>
                <a:effectLst/>
              </a:rPr>
              <a:t>GOOGLE ANALYTICS </a:t>
            </a:r>
          </a:p>
          <a:p>
            <a:pPr algn="l" rtl="0" fontAlgn="base"/>
            <a:r>
              <a:rPr lang="en-US" sz="1000" b="0" i="0" dirty="0">
                <a:solidFill>
                  <a:srgbClr val="000000"/>
                </a:solidFill>
                <a:effectLst/>
              </a:rPr>
              <a:t>Google Analytics provides a means for websites to track visitor activity in a more detailed manner. Tracking is accomplished using special multi-part cookies. AXIOM Process identifies cookies containing Google Analytics info, extracts the component parts </a:t>
            </a:r>
            <a:r>
              <a:rPr lang="en-US" sz="1000" dirty="0">
                <a:solidFill>
                  <a:srgbClr val="000000"/>
                </a:solidFill>
              </a:rPr>
              <a:t>&amp; </a:t>
            </a:r>
            <a:r>
              <a:rPr lang="en-US" sz="1000" b="0" i="0" dirty="0">
                <a:solidFill>
                  <a:srgbClr val="000000"/>
                </a:solidFill>
                <a:effectLst/>
              </a:rPr>
              <a:t>compiles them into </a:t>
            </a:r>
            <a:r>
              <a:rPr lang="en-US" sz="1000" dirty="0">
                <a:solidFill>
                  <a:srgbClr val="000000"/>
                </a:solidFill>
              </a:rPr>
              <a:t>3 </a:t>
            </a:r>
            <a:r>
              <a:rPr lang="en-US" sz="1000" b="0" i="0" dirty="0">
                <a:solidFill>
                  <a:srgbClr val="000000"/>
                </a:solidFill>
                <a:effectLst/>
              </a:rPr>
              <a:t>REFINED RESULTS categories:  </a:t>
            </a:r>
          </a:p>
          <a:p>
            <a:pPr marL="171450" indent="-171450" algn="l" rtl="0" fontAlgn="base">
              <a:buFont typeface="Arial" panose="020B0604020202020204" pitchFamily="34" charset="0"/>
              <a:buChar char="•"/>
            </a:pPr>
            <a:r>
              <a:rPr lang="en-US" sz="1000" b="0" i="0" dirty="0">
                <a:solidFill>
                  <a:srgbClr val="000000"/>
                </a:solidFill>
                <a:effectLst/>
              </a:rPr>
              <a:t>Google Analytics First Visit Cookies </a:t>
            </a:r>
          </a:p>
          <a:p>
            <a:pPr marL="171450" indent="-171450" algn="l" rtl="0" fontAlgn="base">
              <a:buFont typeface="Arial" panose="020B0604020202020204" pitchFamily="34" charset="0"/>
              <a:buChar char="•"/>
            </a:pPr>
            <a:r>
              <a:rPr lang="en-US" sz="1000" b="0" i="0" dirty="0">
                <a:solidFill>
                  <a:srgbClr val="000000"/>
                </a:solidFill>
                <a:effectLst/>
              </a:rPr>
              <a:t>Google Analytics Referral Cookies </a:t>
            </a:r>
          </a:p>
          <a:p>
            <a:pPr marL="171450" indent="-171450" algn="l" rtl="0" fontAlgn="base">
              <a:buFont typeface="Arial" panose="020B0604020202020204" pitchFamily="34" charset="0"/>
              <a:buChar char="•"/>
            </a:pPr>
            <a:r>
              <a:rPr lang="en-US" sz="1000" b="0" i="0" dirty="0">
                <a:solidFill>
                  <a:srgbClr val="000000"/>
                </a:solidFill>
                <a:effectLst/>
              </a:rPr>
              <a:t>Google Analytics Session Cookies </a:t>
            </a:r>
          </a:p>
          <a:p>
            <a:pPr algn="l" rtl="0" fontAlgn="base"/>
            <a:r>
              <a:rPr lang="en-US" sz="1000" b="0" i="0" dirty="0">
                <a:solidFill>
                  <a:srgbClr val="000000"/>
                </a:solidFill>
                <a:effectLst/>
              </a:rPr>
              <a:t>AXIOM Process also carves Google Analytics cookies from other areas </a:t>
            </a:r>
            <a:r>
              <a:rPr lang="en-US" sz="1000" b="0" i="0" dirty="0">
                <a:solidFill>
                  <a:srgbClr val="000000"/>
                </a:solidFill>
                <a:effectLst/>
                <a:sym typeface="Wingdings" panose="05000000000000000000" pitchFamily="2" charset="2"/>
              </a:rPr>
              <a:t> </a:t>
            </a:r>
            <a:r>
              <a:rPr lang="en-US" sz="1000" b="1" i="0" dirty="0">
                <a:solidFill>
                  <a:srgbClr val="000000"/>
                </a:solidFill>
                <a:effectLst/>
              </a:rPr>
              <a:t>WEB RELATED </a:t>
            </a:r>
            <a:r>
              <a:rPr lang="en-US" sz="1000" b="0" i="0" dirty="0">
                <a:solidFill>
                  <a:srgbClr val="000000"/>
                </a:solidFill>
                <a:effectLst/>
              </a:rPr>
              <a:t>category. </a:t>
            </a:r>
          </a:p>
          <a:p>
            <a:pPr algn="l" rtl="0" fontAlgn="base"/>
            <a:endParaRPr lang="en-US" sz="1000" b="0" i="0" dirty="0">
              <a:solidFill>
                <a:srgbClr val="000000"/>
              </a:solidFill>
              <a:effectLst/>
            </a:endParaRPr>
          </a:p>
          <a:p>
            <a:pPr algn="l" rtl="0" fontAlgn="base"/>
            <a:r>
              <a:rPr lang="en-US" sz="1000" b="0" i="0" dirty="0">
                <a:solidFill>
                  <a:srgbClr val="000000"/>
                </a:solidFill>
                <a:effectLst/>
              </a:rPr>
              <a:t>NOTE: Although separated into different categories within AXIOM Examine, the Google Analytics cookie components: First Visit, Referral, and Session, are actually part of the same cookie file. </a:t>
            </a:r>
          </a:p>
          <a:p>
            <a:pPr algn="l" rtl="0" fontAlgn="base"/>
            <a:r>
              <a:rPr lang="en-US" sz="1100" b="0" i="0" dirty="0">
                <a:solidFill>
                  <a:srgbClr val="2E75B5"/>
                </a:solidFill>
                <a:effectLst/>
              </a:rPr>
              <a:t> </a:t>
            </a:r>
          </a:p>
          <a:p>
            <a:pPr algn="l" rtl="0" fontAlgn="base"/>
            <a:r>
              <a:rPr lang="en-US" sz="1100" b="0" i="0" dirty="0">
                <a:solidFill>
                  <a:srgbClr val="2E75B5"/>
                </a:solidFill>
                <a:effectLst/>
              </a:rPr>
              <a:t>Google Analytics First Visit Cookies </a:t>
            </a:r>
          </a:p>
          <a:p>
            <a:pPr algn="l" rtl="0" fontAlgn="base"/>
            <a:r>
              <a:rPr lang="en-US" sz="1000" b="0" i="0" dirty="0">
                <a:solidFill>
                  <a:srgbClr val="000000"/>
                </a:solidFill>
                <a:effectLst/>
              </a:rPr>
              <a:t>The First Visit cookie tracks how many times the website has been visited and records the two most recent visits. </a:t>
            </a:r>
          </a:p>
          <a:p>
            <a:pPr algn="l" rtl="0" fontAlgn="base"/>
            <a:r>
              <a:rPr lang="en-US" sz="1000" b="1" i="0" dirty="0">
                <a:solidFill>
                  <a:srgbClr val="000000"/>
                </a:solidFill>
                <a:effectLst/>
              </a:rPr>
              <a:t>Host </a:t>
            </a:r>
            <a:r>
              <a:rPr lang="en-US" sz="1000" b="0" i="0" dirty="0">
                <a:solidFill>
                  <a:srgbClr val="000000"/>
                </a:solidFill>
                <a:effectLst/>
              </a:rPr>
              <a:t>The Host domain of the website. </a:t>
            </a:r>
          </a:p>
          <a:p>
            <a:pPr algn="l" rtl="0" fontAlgn="base"/>
            <a:r>
              <a:rPr lang="en-US" sz="1000" b="1" i="0" dirty="0">
                <a:solidFill>
                  <a:srgbClr val="000000"/>
                </a:solidFill>
                <a:effectLst/>
              </a:rPr>
              <a:t>Creation Date/Time </a:t>
            </a:r>
            <a:r>
              <a:rPr lang="en-US" sz="1000" b="0" i="0" dirty="0">
                <a:solidFill>
                  <a:srgbClr val="000000"/>
                </a:solidFill>
                <a:effectLst/>
              </a:rPr>
              <a:t>The date and time the cookie was created on the local machine. </a:t>
            </a:r>
          </a:p>
          <a:p>
            <a:pPr algn="l" rtl="0" fontAlgn="base"/>
            <a:r>
              <a:rPr lang="en-US" sz="1000" b="1" i="0" dirty="0">
                <a:solidFill>
                  <a:srgbClr val="000000"/>
                </a:solidFill>
                <a:effectLst/>
              </a:rPr>
              <a:t>Most Recent Visit Date/Time</a:t>
            </a:r>
            <a:r>
              <a:rPr lang="en-US" sz="1000" b="0" i="0" dirty="0">
                <a:solidFill>
                  <a:srgbClr val="000000"/>
                </a:solidFill>
                <a:effectLst/>
              </a:rPr>
              <a:t> The date and time of the most recent session. </a:t>
            </a:r>
          </a:p>
          <a:p>
            <a:pPr algn="l" rtl="0" fontAlgn="base"/>
            <a:r>
              <a:rPr lang="en-US" sz="1000" b="1" i="0" dirty="0">
                <a:solidFill>
                  <a:srgbClr val="000000"/>
                </a:solidFill>
                <a:effectLst/>
              </a:rPr>
              <a:t>2nd Most Recent Visit Date/Time</a:t>
            </a:r>
            <a:r>
              <a:rPr lang="en-US" sz="1000" b="0" i="0" dirty="0">
                <a:solidFill>
                  <a:srgbClr val="000000"/>
                </a:solidFill>
                <a:effectLst/>
              </a:rPr>
              <a:t> The date and time of the 2nd most recent session. </a:t>
            </a:r>
          </a:p>
          <a:p>
            <a:pPr algn="l" rtl="0" fontAlgn="base"/>
            <a:r>
              <a:rPr lang="en-US" sz="1000" b="1" i="0" dirty="0">
                <a:solidFill>
                  <a:srgbClr val="000000"/>
                </a:solidFill>
                <a:effectLst/>
              </a:rPr>
              <a:t>Hits </a:t>
            </a:r>
            <a:r>
              <a:rPr lang="en-US" sz="1000" b="0" i="0" dirty="0">
                <a:solidFill>
                  <a:srgbClr val="000000"/>
                </a:solidFill>
                <a:effectLst/>
              </a:rPr>
              <a:t>Number of times the website has been visited. </a:t>
            </a:r>
          </a:p>
          <a:p>
            <a:pPr algn="l" rtl="0" fontAlgn="base"/>
            <a:r>
              <a:rPr lang="en-US" sz="1000" b="1" i="0" dirty="0">
                <a:solidFill>
                  <a:srgbClr val="000000"/>
                </a:solidFill>
                <a:effectLst/>
              </a:rPr>
              <a:t>Original Artifact </a:t>
            </a:r>
            <a:r>
              <a:rPr lang="en-US" sz="1000" b="0" i="0" dirty="0">
                <a:solidFill>
                  <a:srgbClr val="000000"/>
                </a:solidFill>
                <a:effectLst/>
              </a:rPr>
              <a:t>The artifact category from which this refined result was compiled. </a:t>
            </a:r>
          </a:p>
          <a:p>
            <a:pPr algn="l" rtl="0" fontAlgn="base"/>
            <a:r>
              <a:rPr lang="en-US" sz="1100" b="0" i="0" dirty="0">
                <a:solidFill>
                  <a:srgbClr val="000000"/>
                </a:solidFill>
                <a:effectLst/>
              </a:rPr>
              <a:t> </a:t>
            </a:r>
          </a:p>
          <a:p>
            <a:pPr algn="l" rtl="0" fontAlgn="base"/>
            <a:r>
              <a:rPr lang="en-US" sz="1100" b="0" i="0" dirty="0">
                <a:solidFill>
                  <a:srgbClr val="2E75B5"/>
                </a:solidFill>
                <a:effectLst/>
              </a:rPr>
              <a:t>Google Analytics Referral Cookies </a:t>
            </a:r>
          </a:p>
          <a:p>
            <a:pPr algn="l" rtl="0" fontAlgn="base"/>
            <a:r>
              <a:rPr lang="en-US" sz="1000" b="0" i="0" dirty="0">
                <a:solidFill>
                  <a:srgbClr val="000000"/>
                </a:solidFill>
                <a:effectLst/>
              </a:rPr>
              <a:t>The Referral cookie indicates how the web browser arrived on the website. </a:t>
            </a:r>
          </a:p>
          <a:p>
            <a:pPr algn="l" rtl="0" fontAlgn="base"/>
            <a:r>
              <a:rPr lang="en-US" sz="1000" b="1" i="0" dirty="0">
                <a:solidFill>
                  <a:srgbClr val="000000"/>
                </a:solidFill>
                <a:effectLst/>
              </a:rPr>
              <a:t>Host </a:t>
            </a:r>
            <a:r>
              <a:rPr lang="en-US" sz="1000" b="0" i="0" dirty="0">
                <a:solidFill>
                  <a:srgbClr val="000000"/>
                </a:solidFill>
                <a:effectLst/>
              </a:rPr>
              <a:t>The Host domain of the website. </a:t>
            </a:r>
          </a:p>
          <a:p>
            <a:pPr algn="l" rtl="0" fontAlgn="base"/>
            <a:r>
              <a:rPr lang="en-US" sz="1000" b="1" i="0" dirty="0">
                <a:solidFill>
                  <a:srgbClr val="000000"/>
                </a:solidFill>
                <a:effectLst/>
              </a:rPr>
              <a:t>Last Update Date/Time</a:t>
            </a:r>
            <a:r>
              <a:rPr lang="en-US" sz="1000" b="0" i="0" dirty="0">
                <a:solidFill>
                  <a:srgbClr val="000000"/>
                </a:solidFill>
                <a:effectLst/>
              </a:rPr>
              <a:t> The date and time the cookie was last updated. </a:t>
            </a:r>
          </a:p>
          <a:p>
            <a:pPr algn="l" rtl="0" fontAlgn="base"/>
            <a:r>
              <a:rPr lang="en-US" sz="1000" b="1" i="0" dirty="0">
                <a:solidFill>
                  <a:srgbClr val="000000"/>
                </a:solidFill>
                <a:effectLst/>
              </a:rPr>
              <a:t>Campaign</a:t>
            </a:r>
            <a:r>
              <a:rPr lang="en-US" sz="1000" b="0" i="0" dirty="0">
                <a:solidFill>
                  <a:srgbClr val="000000"/>
                </a:solidFill>
                <a:effectLst/>
              </a:rPr>
              <a:t> How the browser arrived at the Host webpage: </a:t>
            </a:r>
          </a:p>
          <a:p>
            <a:pPr marL="171450" indent="-171450" algn="l" rtl="0" fontAlgn="base">
              <a:buFont typeface="Arial" panose="020B0604020202020204" pitchFamily="34" charset="0"/>
              <a:buChar char="•"/>
            </a:pPr>
            <a:r>
              <a:rPr lang="en-US" sz="1000" b="1" i="0" dirty="0">
                <a:solidFill>
                  <a:srgbClr val="000000"/>
                </a:solidFill>
                <a:effectLst/>
              </a:rPr>
              <a:t>Direct</a:t>
            </a:r>
            <a:r>
              <a:rPr lang="en-US" sz="1000" b="0" i="0" dirty="0">
                <a:solidFill>
                  <a:srgbClr val="000000"/>
                </a:solidFill>
                <a:effectLst/>
              </a:rPr>
              <a:t> the website was accesses directly by the user. </a:t>
            </a:r>
          </a:p>
          <a:p>
            <a:pPr marL="171450" indent="-171450" algn="l" rtl="0" fontAlgn="base">
              <a:buFont typeface="Arial" panose="020B0604020202020204" pitchFamily="34" charset="0"/>
              <a:buChar char="•"/>
            </a:pPr>
            <a:r>
              <a:rPr lang="en-US" sz="1000" b="1" i="0" dirty="0">
                <a:solidFill>
                  <a:srgbClr val="000000"/>
                </a:solidFill>
                <a:effectLst/>
              </a:rPr>
              <a:t>Organic </a:t>
            </a:r>
            <a:r>
              <a:rPr lang="en-US" sz="1000" b="0" i="0" dirty="0">
                <a:solidFill>
                  <a:srgbClr val="000000"/>
                </a:solidFill>
                <a:effectLst/>
              </a:rPr>
              <a:t>the user selected a search engine result. </a:t>
            </a:r>
          </a:p>
          <a:p>
            <a:pPr marL="171450" indent="-171450" algn="l" rtl="0" fontAlgn="base">
              <a:buFont typeface="Arial" panose="020B0604020202020204" pitchFamily="34" charset="0"/>
              <a:buChar char="•"/>
            </a:pPr>
            <a:r>
              <a:rPr lang="en-US" sz="1000" b="1" i="0" dirty="0">
                <a:solidFill>
                  <a:srgbClr val="000000"/>
                </a:solidFill>
                <a:effectLst/>
              </a:rPr>
              <a:t>Referral </a:t>
            </a:r>
            <a:r>
              <a:rPr lang="en-US" sz="1000" b="0" i="0" dirty="0">
                <a:solidFill>
                  <a:srgbClr val="000000"/>
                </a:solidFill>
                <a:effectLst/>
              </a:rPr>
              <a:t>the user selected a link from another website (not a search engine). </a:t>
            </a:r>
          </a:p>
          <a:p>
            <a:pPr algn="l" rtl="0" fontAlgn="base"/>
            <a:r>
              <a:rPr lang="en-US" sz="1000" b="1" i="0" dirty="0">
                <a:solidFill>
                  <a:srgbClr val="000000"/>
                </a:solidFill>
                <a:effectLst/>
              </a:rPr>
              <a:t>Access Method </a:t>
            </a:r>
            <a:r>
              <a:rPr lang="en-US" sz="1000" b="0" i="0" dirty="0">
                <a:solidFill>
                  <a:srgbClr val="000000"/>
                </a:solidFill>
                <a:effectLst/>
              </a:rPr>
              <a:t>How the website was accessed (usually the same as campaign) </a:t>
            </a:r>
          </a:p>
          <a:p>
            <a:pPr algn="l" rtl="0" fontAlgn="base"/>
            <a:r>
              <a:rPr lang="en-US" sz="1100" b="0" i="0" dirty="0">
                <a:solidFill>
                  <a:srgbClr val="000000"/>
                </a:solidFill>
                <a:effectLst/>
              </a:rPr>
              <a:t> </a:t>
            </a:r>
          </a:p>
          <a:p>
            <a:pPr algn="l" rtl="0" fontAlgn="base"/>
            <a:r>
              <a:rPr lang="en-US" sz="1100" b="0" i="0" dirty="0">
                <a:solidFill>
                  <a:srgbClr val="2E75B5"/>
                </a:solidFill>
                <a:effectLst/>
              </a:rPr>
              <a:t>Google Analytics Session Cookies </a:t>
            </a:r>
          </a:p>
          <a:p>
            <a:pPr algn="l" rtl="0" fontAlgn="base"/>
            <a:r>
              <a:rPr lang="en-US" sz="1000" b="0" i="0" dirty="0">
                <a:solidFill>
                  <a:srgbClr val="000000"/>
                </a:solidFill>
                <a:effectLst/>
              </a:rPr>
              <a:t>The Session cookie tracks information regarding the activity during a browsing session on the website. </a:t>
            </a:r>
          </a:p>
          <a:p>
            <a:pPr algn="l" rtl="0" fontAlgn="base"/>
            <a:r>
              <a:rPr lang="en-US" sz="1000" b="1" i="0" dirty="0">
                <a:solidFill>
                  <a:srgbClr val="000000"/>
                </a:solidFill>
                <a:effectLst/>
              </a:rPr>
              <a:t>Host </a:t>
            </a:r>
            <a:r>
              <a:rPr lang="en-US" sz="1000" b="0" i="0" dirty="0">
                <a:solidFill>
                  <a:srgbClr val="000000"/>
                </a:solidFill>
                <a:effectLst/>
              </a:rPr>
              <a:t>The Host domain of the website. </a:t>
            </a:r>
          </a:p>
          <a:p>
            <a:pPr algn="l" rtl="0" fontAlgn="base"/>
            <a:r>
              <a:rPr lang="en-US" sz="1000" b="1" i="0" dirty="0">
                <a:solidFill>
                  <a:srgbClr val="000000"/>
                </a:solidFill>
                <a:effectLst/>
              </a:rPr>
              <a:t>Page Views </a:t>
            </a:r>
            <a:r>
              <a:rPr lang="en-US" sz="1000" b="0" i="0" dirty="0">
                <a:solidFill>
                  <a:srgbClr val="000000"/>
                </a:solidFill>
                <a:effectLst/>
              </a:rPr>
              <a:t>The number of pages within the website that have been loaded. </a:t>
            </a:r>
          </a:p>
          <a:p>
            <a:pPr algn="l" rtl="0" fontAlgn="base"/>
            <a:r>
              <a:rPr lang="en-US" sz="1000" b="1" i="0" dirty="0">
                <a:solidFill>
                  <a:srgbClr val="000000"/>
                </a:solidFill>
                <a:effectLst/>
              </a:rPr>
              <a:t>Start Current Session Date/Time </a:t>
            </a:r>
            <a:r>
              <a:rPr lang="en-US" sz="1000" b="0" i="0" dirty="0">
                <a:solidFill>
                  <a:srgbClr val="000000"/>
                </a:solidFill>
                <a:effectLst/>
              </a:rPr>
              <a:t>The date and time the user started browsing the website. </a:t>
            </a:r>
          </a:p>
          <a:p>
            <a:pPr algn="l" rtl="0" fontAlgn="base"/>
            <a:r>
              <a:rPr lang="en-US" sz="1000" b="1" i="0" dirty="0">
                <a:solidFill>
                  <a:srgbClr val="000000"/>
                </a:solidFill>
                <a:effectLst/>
              </a:rPr>
              <a:t>Outbound Link Events Left</a:t>
            </a:r>
            <a:r>
              <a:rPr lang="en-US" sz="1000" b="0" i="0" dirty="0">
                <a:solidFill>
                  <a:srgbClr val="000000"/>
                </a:solidFill>
                <a:effectLst/>
              </a:rPr>
              <a:t> The # of remaining Outbound links from the website. This value usually starts at 10. </a:t>
            </a:r>
          </a:p>
          <a:p>
            <a:pPr algn="l" rtl="0" fontAlgn="base"/>
            <a:r>
              <a:rPr lang="en-US" sz="1000" b="1" i="0" dirty="0">
                <a:solidFill>
                  <a:srgbClr val="000000"/>
                </a:solidFill>
                <a:effectLst/>
              </a:rPr>
              <a:t>Original Artifact </a:t>
            </a:r>
            <a:r>
              <a:rPr lang="en-US" sz="1000" b="0" i="0" dirty="0">
                <a:solidFill>
                  <a:srgbClr val="000000"/>
                </a:solidFill>
                <a:effectLst/>
              </a:rPr>
              <a:t>The artifact category from which this refined result was compiled. </a:t>
            </a:r>
          </a:p>
        </p:txBody>
      </p:sp>
      <p:sp>
        <p:nvSpPr>
          <p:cNvPr id="7" name="TextBox 6">
            <a:extLst>
              <a:ext uri="{FF2B5EF4-FFF2-40B4-BE49-F238E27FC236}">
                <a16:creationId xmlns:a16="http://schemas.microsoft.com/office/drawing/2014/main" id="{93C98A61-963D-4D9E-A854-52562B92AD66}"/>
              </a:ext>
            </a:extLst>
          </p:cNvPr>
          <p:cNvSpPr txBox="1"/>
          <p:nvPr/>
        </p:nvSpPr>
        <p:spPr>
          <a:xfrm>
            <a:off x="5939028" y="0"/>
            <a:ext cx="6117336" cy="7094250"/>
          </a:xfrm>
          <a:prstGeom prst="rect">
            <a:avLst/>
          </a:prstGeom>
          <a:noFill/>
        </p:spPr>
        <p:txBody>
          <a:bodyPr wrap="square">
            <a:spAutoFit/>
          </a:bodyPr>
          <a:lstStyle/>
          <a:p>
            <a:pPr algn="l" rtl="0" fontAlgn="base"/>
            <a:r>
              <a:rPr lang="en-US" sz="1000" b="0" i="0" dirty="0">
                <a:effectLst/>
              </a:rPr>
              <a:t>Cache, some websites rarely load from cache (news) but </a:t>
            </a:r>
            <a:r>
              <a:rPr lang="en-US" sz="1000" dirty="0"/>
              <a:t>other site</a:t>
            </a:r>
            <a:r>
              <a:rPr lang="en-US" sz="1000" b="0" i="0" dirty="0">
                <a:effectLst/>
              </a:rPr>
              <a:t>s change less frequently (so load from cache )</a:t>
            </a:r>
          </a:p>
          <a:p>
            <a:pPr algn="l" rtl="0" fontAlgn="base"/>
            <a:r>
              <a:rPr lang="en-US" sz="1100" b="0" i="0" dirty="0">
                <a:solidFill>
                  <a:srgbClr val="2E75B5"/>
                </a:solidFill>
                <a:effectLst/>
              </a:rPr>
              <a:t>CACHE CHROME </a:t>
            </a:r>
          </a:p>
          <a:p>
            <a:pPr algn="l" rtl="0" fontAlgn="base"/>
            <a:r>
              <a:rPr lang="en-US" sz="1000" b="0" i="0" dirty="0">
                <a:solidFill>
                  <a:srgbClr val="000000"/>
                </a:solidFill>
                <a:effectLst/>
              </a:rPr>
              <a:t>Chrome stores its cache in three different folder locations, all of which are located in the user profile folder.  </a:t>
            </a:r>
          </a:p>
          <a:p>
            <a:pPr fontAlgn="base"/>
            <a:r>
              <a:rPr lang="en-US" sz="1000" i="1" dirty="0">
                <a:solidFill>
                  <a:srgbClr val="000000"/>
                </a:solidFill>
                <a:effectLst/>
              </a:rPr>
              <a:t>\Users\&lt;username&gt;\AppData\Local\Google\Chrome\User Data\Default\Cache\</a:t>
            </a:r>
            <a:r>
              <a:rPr lang="en-US" sz="1000" b="1" i="1" dirty="0">
                <a:solidFill>
                  <a:srgbClr val="000000"/>
                </a:solidFill>
                <a:effectLst/>
              </a:rPr>
              <a:t> </a:t>
            </a:r>
            <a:r>
              <a:rPr lang="en-US" sz="1000" b="1" i="0" dirty="0">
                <a:solidFill>
                  <a:srgbClr val="000000"/>
                </a:solidFill>
                <a:effectLst/>
              </a:rPr>
              <a:t>video/audio (not on my comp) </a:t>
            </a:r>
            <a:endParaRPr lang="en-US" sz="1000" b="1" i="1" dirty="0">
              <a:solidFill>
                <a:srgbClr val="000000"/>
              </a:solidFill>
              <a:effectLst/>
            </a:endParaRPr>
          </a:p>
          <a:p>
            <a:pPr fontAlgn="base"/>
            <a:r>
              <a:rPr lang="en-US" sz="1000" i="1" dirty="0">
                <a:solidFill>
                  <a:srgbClr val="000000"/>
                </a:solidFill>
                <a:effectLst/>
              </a:rPr>
              <a:t>\Users\&lt;username&gt;\AppData\Local\Google\Chrome\User Data\Default\</a:t>
            </a:r>
            <a:r>
              <a:rPr lang="en-US" sz="1000" i="1" dirty="0" err="1">
                <a:solidFill>
                  <a:srgbClr val="000000"/>
                </a:solidFill>
                <a:effectLst/>
              </a:rPr>
              <a:t>GPUCache</a:t>
            </a:r>
            <a:r>
              <a:rPr lang="en-US" sz="1000" i="1" dirty="0">
                <a:solidFill>
                  <a:srgbClr val="000000"/>
                </a:solidFill>
                <a:effectLst/>
              </a:rPr>
              <a:t>\ </a:t>
            </a:r>
            <a:r>
              <a:rPr lang="en-US" sz="1000" b="1" i="0" dirty="0">
                <a:solidFill>
                  <a:srgbClr val="000000"/>
                </a:solidFill>
                <a:effectLst/>
              </a:rPr>
              <a:t>data utilizing video card GPU </a:t>
            </a:r>
            <a:endParaRPr lang="en-US" sz="1000" b="1" i="1" dirty="0">
              <a:solidFill>
                <a:srgbClr val="000000"/>
              </a:solidFill>
              <a:effectLst/>
            </a:endParaRPr>
          </a:p>
          <a:p>
            <a:pPr fontAlgn="base"/>
            <a:r>
              <a:rPr lang="en-US" sz="1000" i="1" dirty="0">
                <a:solidFill>
                  <a:srgbClr val="000000"/>
                </a:solidFill>
                <a:effectLst/>
              </a:rPr>
              <a:t>\Users\&lt;username&gt;\AppData\Local\Google\Chrome\User Data\Default\Media Cache\ </a:t>
            </a:r>
            <a:r>
              <a:rPr lang="en-US" sz="1000" b="1" i="0" dirty="0">
                <a:solidFill>
                  <a:srgbClr val="000000"/>
                </a:solidFill>
                <a:effectLst/>
              </a:rPr>
              <a:t>html/</a:t>
            </a:r>
            <a:r>
              <a:rPr lang="en-US" sz="1000" b="1" i="0" dirty="0" err="1">
                <a:solidFill>
                  <a:srgbClr val="000000"/>
                </a:solidFill>
                <a:effectLst/>
              </a:rPr>
              <a:t>js</a:t>
            </a:r>
            <a:r>
              <a:rPr lang="en-US" sz="1000" b="1" i="0" dirty="0">
                <a:solidFill>
                  <a:srgbClr val="000000"/>
                </a:solidFill>
                <a:effectLst/>
              </a:rPr>
              <a:t>/</a:t>
            </a:r>
            <a:r>
              <a:rPr lang="en-US" sz="1000" b="1" i="0" dirty="0" err="1">
                <a:solidFill>
                  <a:srgbClr val="000000"/>
                </a:solidFill>
                <a:effectLst/>
              </a:rPr>
              <a:t>css</a:t>
            </a:r>
            <a:r>
              <a:rPr lang="en-US" sz="1000" b="1" i="0" dirty="0">
                <a:solidFill>
                  <a:srgbClr val="000000"/>
                </a:solidFill>
                <a:effectLst/>
              </a:rPr>
              <a:t>, small graphics </a:t>
            </a:r>
            <a:endParaRPr lang="en-US" sz="1000" b="1" i="1" dirty="0">
              <a:solidFill>
                <a:srgbClr val="000000"/>
              </a:solidFill>
              <a:effectLst/>
            </a:endParaRPr>
          </a:p>
          <a:p>
            <a:pPr algn="l" rtl="0" fontAlgn="base"/>
            <a:r>
              <a:rPr lang="en-US" sz="1000" b="0" i="0" dirty="0">
                <a:solidFill>
                  <a:srgbClr val="000000"/>
                </a:solidFill>
                <a:effectLst/>
              </a:rPr>
              <a:t>Each cache folder contains an index file and four block files named data_0, data_1, data_2 and data_3. The index file within the same cache folder stores the cross-ref between the cached file's content and its metadata. </a:t>
            </a:r>
          </a:p>
          <a:p>
            <a:pPr algn="l" rtl="0" fontAlgn="base"/>
            <a:r>
              <a:rPr lang="en-US" sz="1000" b="1" i="0" dirty="0">
                <a:solidFill>
                  <a:srgbClr val="000000"/>
                </a:solidFill>
                <a:effectLst/>
              </a:rPr>
              <a:t>Block File Size of file content or metadata</a:t>
            </a:r>
            <a:r>
              <a:rPr lang="en-US" sz="1000" dirty="0">
                <a:solidFill>
                  <a:srgbClr val="000000"/>
                </a:solidFill>
              </a:rPr>
              <a:t>, </a:t>
            </a:r>
            <a:r>
              <a:rPr lang="en-US" sz="1000" i="1" dirty="0">
                <a:solidFill>
                  <a:srgbClr val="000000"/>
                </a:solidFill>
                <a:effectLst/>
              </a:rPr>
              <a:t>\User Data\Default\</a:t>
            </a:r>
            <a:r>
              <a:rPr lang="en-US" sz="1000" i="1" dirty="0" err="1">
                <a:solidFill>
                  <a:srgbClr val="000000"/>
                </a:solidFill>
                <a:effectLst/>
              </a:rPr>
              <a:t>GPUCache</a:t>
            </a:r>
            <a:r>
              <a:rPr lang="en-US" sz="1000" i="1" dirty="0">
                <a:solidFill>
                  <a:srgbClr val="000000"/>
                </a:solidFill>
                <a:effectLst/>
              </a:rPr>
              <a:t>\data_0, data_1 </a:t>
            </a:r>
            <a:r>
              <a:rPr lang="en-US" sz="1000" i="1" dirty="0" err="1">
                <a:solidFill>
                  <a:srgbClr val="000000"/>
                </a:solidFill>
                <a:effectLst/>
              </a:rPr>
              <a:t>etc</a:t>
            </a:r>
            <a:r>
              <a:rPr lang="en-US" sz="1000" i="1" dirty="0">
                <a:solidFill>
                  <a:srgbClr val="000000"/>
                </a:solidFill>
                <a:effectLst/>
              </a:rPr>
              <a:t>…</a:t>
            </a:r>
            <a:endParaRPr lang="en-US" sz="1000" b="0" i="0" dirty="0">
              <a:solidFill>
                <a:srgbClr val="000000"/>
              </a:solidFill>
              <a:effectLst/>
            </a:endParaRPr>
          </a:p>
          <a:p>
            <a:pPr marL="171450" indent="-171450" algn="l" rtl="0" fontAlgn="base">
              <a:buFont typeface="Arial" panose="020B0604020202020204" pitchFamily="34" charset="0"/>
              <a:buChar char="•"/>
            </a:pPr>
            <a:r>
              <a:rPr lang="en-US" sz="1000" b="0" i="0" dirty="0">
                <a:solidFill>
                  <a:srgbClr val="000000"/>
                </a:solidFill>
                <a:effectLst/>
              </a:rPr>
              <a:t>data_0 Between 0 and 144 bytes. </a:t>
            </a:r>
          </a:p>
          <a:p>
            <a:pPr marL="171450" indent="-171450" fontAlgn="base">
              <a:buFont typeface="Arial" panose="020B0604020202020204" pitchFamily="34" charset="0"/>
              <a:buChar char="•"/>
            </a:pPr>
            <a:r>
              <a:rPr lang="en-US" sz="1000" b="0" i="0" dirty="0">
                <a:solidFill>
                  <a:srgbClr val="000000"/>
                </a:solidFill>
                <a:effectLst/>
              </a:rPr>
              <a:t>data_1 Between 144 and 1024 bytes. Metadata. Follow with LOCATION: file offset</a:t>
            </a:r>
          </a:p>
          <a:p>
            <a:pPr marL="171450" indent="-171450" algn="l" rtl="0" fontAlgn="base">
              <a:buFont typeface="Arial" panose="020B0604020202020204" pitchFamily="34" charset="0"/>
              <a:buChar char="•"/>
            </a:pPr>
            <a:r>
              <a:rPr lang="en-US" sz="1000" b="0" i="0" dirty="0">
                <a:solidFill>
                  <a:srgbClr val="000000"/>
                </a:solidFill>
                <a:effectLst/>
              </a:rPr>
              <a:t>data_2 Between 1024 and 4096 bytes. </a:t>
            </a:r>
          </a:p>
          <a:p>
            <a:pPr marL="171450" indent="-171450" algn="l" rtl="0" fontAlgn="base">
              <a:buFont typeface="Arial" panose="020B0604020202020204" pitchFamily="34" charset="0"/>
              <a:buChar char="•"/>
            </a:pPr>
            <a:r>
              <a:rPr lang="en-US" sz="1000" b="0" i="0" dirty="0">
                <a:solidFill>
                  <a:srgbClr val="000000"/>
                </a:solidFill>
                <a:effectLst/>
              </a:rPr>
              <a:t>data_3 Between 4096 and 16384 bytes. </a:t>
            </a:r>
          </a:p>
          <a:p>
            <a:pPr algn="l" rtl="0" fontAlgn="base"/>
            <a:r>
              <a:rPr lang="en-US" sz="1000" b="0" i="0" dirty="0">
                <a:solidFill>
                  <a:srgbClr val="000000"/>
                </a:solidFill>
                <a:effectLst/>
              </a:rPr>
              <a:t>If data to be saved &gt; 16384 bytes it is saved into an individual file named </a:t>
            </a:r>
            <a:r>
              <a:rPr lang="en-US" sz="1000" b="1" i="0" dirty="0">
                <a:solidFill>
                  <a:srgbClr val="000000"/>
                </a:solidFill>
                <a:effectLst/>
              </a:rPr>
              <a:t>f_0000xx</a:t>
            </a:r>
            <a:r>
              <a:rPr lang="en-US" sz="1000" b="0" i="0" dirty="0">
                <a:solidFill>
                  <a:srgbClr val="000000"/>
                </a:solidFill>
                <a:effectLst/>
              </a:rPr>
              <a:t> where xx is a hex value that simply increases by 1 for each new file written to the cache folder. The index file within the same cache folder stores the cross and its metadata. Because the file content and metadata are tracked independently AXIOM Examine displays </a:t>
            </a:r>
            <a:r>
              <a:rPr lang="en-US" sz="1000" b="1" i="0" u="sng" dirty="0">
                <a:solidFill>
                  <a:srgbClr val="000000"/>
                </a:solidFill>
                <a:effectLst/>
              </a:rPr>
              <a:t>two EVIDENCE INFORMATION</a:t>
            </a:r>
            <a:r>
              <a:rPr lang="en-US" sz="1000" b="1" i="0" dirty="0">
                <a:solidFill>
                  <a:srgbClr val="000000"/>
                </a:solidFill>
                <a:effectLst/>
              </a:rPr>
              <a:t> </a:t>
            </a:r>
            <a:r>
              <a:rPr lang="en-US" sz="1000" b="0" i="0" dirty="0">
                <a:solidFill>
                  <a:srgbClr val="000000"/>
                </a:solidFill>
                <a:effectLst/>
              </a:rPr>
              <a:t>sections.  </a:t>
            </a:r>
          </a:p>
          <a:p>
            <a:pPr algn="l" rtl="0" fontAlgn="base"/>
            <a:r>
              <a:rPr lang="en-US" sz="1000" b="0" i="0" dirty="0">
                <a:solidFill>
                  <a:srgbClr val="000000"/>
                </a:solidFill>
                <a:effectLst/>
              </a:rPr>
              <a:t>1: Source &amp; Location info of the metadata component. 2: Source &amp; Location for data content of cached file. </a:t>
            </a:r>
          </a:p>
          <a:p>
            <a:pPr algn="l" rtl="0" fontAlgn="base"/>
            <a:r>
              <a:rPr lang="en-US" sz="1000" b="0" i="0" dirty="0">
                <a:solidFill>
                  <a:srgbClr val="1F3763"/>
                </a:solidFill>
                <a:effectLst/>
              </a:rPr>
              <a:t>ARTIFACT INFORMATION </a:t>
            </a:r>
          </a:p>
          <a:p>
            <a:pPr algn="l" rtl="0" fontAlgn="base"/>
            <a:r>
              <a:rPr lang="en-US" sz="1000" b="1" i="0" dirty="0">
                <a:solidFill>
                  <a:srgbClr val="000000"/>
                </a:solidFill>
                <a:effectLst/>
              </a:rPr>
              <a:t>URL </a:t>
            </a:r>
            <a:r>
              <a:rPr lang="en-US" sz="1000" b="0" i="0" dirty="0">
                <a:solidFill>
                  <a:srgbClr val="000000"/>
                </a:solidFill>
                <a:effectLst/>
              </a:rPr>
              <a:t>The URL of the cached item. </a:t>
            </a:r>
          </a:p>
          <a:p>
            <a:pPr algn="l" rtl="0" fontAlgn="base"/>
            <a:r>
              <a:rPr lang="en-US" sz="1000" b="1" i="0" dirty="0">
                <a:solidFill>
                  <a:srgbClr val="000000"/>
                </a:solidFill>
                <a:effectLst/>
              </a:rPr>
              <a:t>First Visited Date/Time</a:t>
            </a:r>
            <a:r>
              <a:rPr lang="en-US" sz="1000" b="0" i="0" dirty="0">
                <a:solidFill>
                  <a:srgbClr val="000000"/>
                </a:solidFill>
                <a:effectLst/>
              </a:rPr>
              <a:t> The date and time the URL was first visited. </a:t>
            </a:r>
          </a:p>
          <a:p>
            <a:pPr algn="l" rtl="0" fontAlgn="base"/>
            <a:r>
              <a:rPr lang="en-US" sz="1000" b="1" i="0" dirty="0">
                <a:solidFill>
                  <a:srgbClr val="000000"/>
                </a:solidFill>
                <a:effectLst/>
              </a:rPr>
              <a:t>Last Visited Date/Time</a:t>
            </a:r>
            <a:r>
              <a:rPr lang="en-US" sz="1000" b="0" i="0" dirty="0">
                <a:solidFill>
                  <a:srgbClr val="000000"/>
                </a:solidFill>
                <a:effectLst/>
              </a:rPr>
              <a:t> The date and time the URL was last visited. </a:t>
            </a:r>
          </a:p>
          <a:p>
            <a:pPr algn="l" rtl="0" fontAlgn="base"/>
            <a:r>
              <a:rPr lang="en-US" sz="1000" b="1" i="0" dirty="0">
                <a:solidFill>
                  <a:srgbClr val="000000"/>
                </a:solidFill>
                <a:effectLst/>
              </a:rPr>
              <a:t>Last Synced Date/Time</a:t>
            </a:r>
            <a:r>
              <a:rPr lang="en-US" sz="1000" b="0" i="0" dirty="0">
                <a:solidFill>
                  <a:srgbClr val="000000"/>
                </a:solidFill>
                <a:effectLst/>
              </a:rPr>
              <a:t> The date and time the cached item was last synced with the website. </a:t>
            </a:r>
          </a:p>
          <a:p>
            <a:pPr algn="l" rtl="0" fontAlgn="base"/>
            <a:r>
              <a:rPr lang="en-US" sz="1000" b="1" i="0" dirty="0">
                <a:solidFill>
                  <a:srgbClr val="000000"/>
                </a:solidFill>
                <a:effectLst/>
              </a:rPr>
              <a:t>File Type</a:t>
            </a:r>
            <a:r>
              <a:rPr lang="en-US" sz="1000" b="0" i="0" dirty="0">
                <a:solidFill>
                  <a:srgbClr val="000000"/>
                </a:solidFill>
                <a:effectLst/>
              </a:rPr>
              <a:t> The type of file that was cached. </a:t>
            </a:r>
          </a:p>
          <a:p>
            <a:pPr algn="l" rtl="0" fontAlgn="base"/>
            <a:r>
              <a:rPr lang="en-US" sz="1000" b="1" i="0" dirty="0">
                <a:solidFill>
                  <a:srgbClr val="000000"/>
                </a:solidFill>
                <a:effectLst/>
              </a:rPr>
              <a:t>Content Size (Bytes)</a:t>
            </a:r>
            <a:r>
              <a:rPr lang="en-US" sz="1000" b="0" i="0" dirty="0">
                <a:solidFill>
                  <a:srgbClr val="000000"/>
                </a:solidFill>
                <a:effectLst/>
              </a:rPr>
              <a:t> The size of the cached item in bytes. </a:t>
            </a:r>
          </a:p>
          <a:p>
            <a:pPr algn="l" rtl="0" fontAlgn="base"/>
            <a:r>
              <a:rPr lang="en-US" sz="1100" b="0" i="0" dirty="0">
                <a:solidFill>
                  <a:srgbClr val="000000"/>
                </a:solidFill>
                <a:effectLst/>
              </a:rPr>
              <a:t> </a:t>
            </a:r>
            <a:endParaRPr lang="en-US" sz="1100" b="0" i="0" dirty="0">
              <a:solidFill>
                <a:srgbClr val="2E75B5"/>
              </a:solidFill>
              <a:effectLst/>
            </a:endParaRPr>
          </a:p>
          <a:p>
            <a:pPr algn="l" rtl="0" fontAlgn="base"/>
            <a:r>
              <a:rPr lang="en-US" sz="1100" b="0" i="0" dirty="0">
                <a:solidFill>
                  <a:srgbClr val="2E75B5"/>
                </a:solidFill>
                <a:effectLst/>
              </a:rPr>
              <a:t>CACHE INTERNET EXPLORER </a:t>
            </a:r>
          </a:p>
          <a:p>
            <a:pPr algn="l" rtl="0" fontAlgn="base"/>
            <a:r>
              <a:rPr lang="en-US" sz="1000" b="0" i="0" dirty="0">
                <a:solidFill>
                  <a:srgbClr val="000000"/>
                </a:solidFill>
                <a:effectLst/>
              </a:rPr>
              <a:t>Edge stores the metadata information and a cross reference to the cached file itself in the WebCacheV01.dat file : </a:t>
            </a:r>
          </a:p>
          <a:p>
            <a:pPr algn="l" rtl="0" fontAlgn="base"/>
            <a:r>
              <a:rPr lang="en-US" sz="1000" i="1" dirty="0">
                <a:solidFill>
                  <a:srgbClr val="000000"/>
                </a:solidFill>
                <a:effectLst/>
              </a:rPr>
              <a:t>\Users\&lt;username&gt;\</a:t>
            </a:r>
            <a:r>
              <a:rPr lang="en-US" sz="1000" i="1" dirty="0" err="1">
                <a:solidFill>
                  <a:srgbClr val="000000"/>
                </a:solidFill>
                <a:effectLst/>
              </a:rPr>
              <a:t>AppData</a:t>
            </a:r>
            <a:r>
              <a:rPr lang="en-US" sz="1000" i="1" dirty="0">
                <a:solidFill>
                  <a:srgbClr val="000000"/>
                </a:solidFill>
                <a:effectLst/>
              </a:rPr>
              <a:t>\Local\Microsoft\Windows\WebCache </a:t>
            </a:r>
          </a:p>
          <a:p>
            <a:pPr algn="l" rtl="0" fontAlgn="base"/>
            <a:r>
              <a:rPr lang="en-US" sz="1000" b="0" i="0" dirty="0">
                <a:solidFill>
                  <a:srgbClr val="000000"/>
                </a:solidFill>
                <a:effectLst/>
              </a:rPr>
              <a:t>The cached files themselves stored in following folder location, where</a:t>
            </a:r>
            <a:r>
              <a:rPr lang="en-US" sz="1000" b="1" i="0" dirty="0">
                <a:solidFill>
                  <a:srgbClr val="000000"/>
                </a:solidFill>
                <a:effectLst/>
              </a:rPr>
              <a:t> </a:t>
            </a:r>
            <a:r>
              <a:rPr lang="en-US" sz="1000" b="1" i="0" dirty="0" err="1">
                <a:solidFill>
                  <a:srgbClr val="000000"/>
                </a:solidFill>
                <a:effectLst/>
              </a:rPr>
              <a:t>xxxxxxxx</a:t>
            </a:r>
            <a:r>
              <a:rPr lang="en-US" sz="1000" b="1" i="0" dirty="0">
                <a:solidFill>
                  <a:srgbClr val="000000"/>
                </a:solidFill>
                <a:effectLst/>
              </a:rPr>
              <a:t> </a:t>
            </a:r>
            <a:r>
              <a:rPr lang="en-US" sz="1000" b="0" i="0" dirty="0">
                <a:solidFill>
                  <a:srgbClr val="000000"/>
                </a:solidFill>
                <a:effectLst/>
              </a:rPr>
              <a:t>is a randomly named subfolder: </a:t>
            </a:r>
          </a:p>
          <a:p>
            <a:pPr algn="l" rtl="0" fontAlgn="base"/>
            <a:r>
              <a:rPr lang="en-US" sz="1000" i="1" dirty="0">
                <a:solidFill>
                  <a:srgbClr val="000000"/>
                </a:solidFill>
                <a:effectLst/>
              </a:rPr>
              <a:t>\Users\&lt;username&gt;\</a:t>
            </a:r>
            <a:r>
              <a:rPr lang="en-US" sz="1000" i="1" dirty="0" err="1">
                <a:solidFill>
                  <a:srgbClr val="000000"/>
                </a:solidFill>
                <a:effectLst/>
              </a:rPr>
              <a:t>AppData</a:t>
            </a:r>
            <a:r>
              <a:rPr lang="en-US" sz="1000" i="1" dirty="0">
                <a:solidFill>
                  <a:srgbClr val="000000"/>
                </a:solidFill>
                <a:effectLst/>
              </a:rPr>
              <a:t>\Local\Packages\Microsoft.MicrosoftEdge_8wekyb3d8bbwe\AC\</a:t>
            </a:r>
            <a:r>
              <a:rPr lang="en-US" sz="1000" i="1" dirty="0" err="1">
                <a:solidFill>
                  <a:srgbClr val="000000"/>
                </a:solidFill>
                <a:effectLst/>
              </a:rPr>
              <a:t>MicrosoftEdge</a:t>
            </a:r>
            <a:r>
              <a:rPr lang="en-US" sz="1000" i="1" dirty="0">
                <a:solidFill>
                  <a:srgbClr val="000000"/>
                </a:solidFill>
                <a:effectLst/>
              </a:rPr>
              <a:t>\Cache\XXXXXXXX\ </a:t>
            </a:r>
          </a:p>
          <a:p>
            <a:pPr algn="l" rtl="0" fontAlgn="base"/>
            <a:r>
              <a:rPr lang="en-US" sz="1000" b="0" i="0" dirty="0">
                <a:solidFill>
                  <a:srgbClr val="000000"/>
                </a:solidFill>
                <a:effectLst/>
              </a:rPr>
              <a:t>Or subfolders within the same package, but with a number in the folder name. e.g. </a:t>
            </a:r>
          </a:p>
          <a:p>
            <a:pPr algn="l" rtl="0" fontAlgn="base"/>
            <a:r>
              <a:rPr lang="en-US" sz="1000" i="1" dirty="0">
                <a:solidFill>
                  <a:srgbClr val="000000"/>
                </a:solidFill>
                <a:effectLst/>
              </a:rPr>
              <a:t>\Users\&lt;username&gt;\</a:t>
            </a:r>
            <a:r>
              <a:rPr lang="en-US" sz="1000" i="1" dirty="0" err="1">
                <a:solidFill>
                  <a:srgbClr val="000000"/>
                </a:solidFill>
                <a:effectLst/>
              </a:rPr>
              <a:t>AppData</a:t>
            </a:r>
            <a:r>
              <a:rPr lang="en-US" sz="1000" i="1" dirty="0">
                <a:solidFill>
                  <a:srgbClr val="000000"/>
                </a:solidFill>
                <a:effectLst/>
              </a:rPr>
              <a:t>\Local\Packages\Microsoft.MicrosoftEdge_8wekyb3d8bbwe\AC\#!001\MicrosoftEdge\Cache\XXXXXXXX\ </a:t>
            </a:r>
          </a:p>
          <a:p>
            <a:pPr algn="l" rtl="0" fontAlgn="base"/>
            <a:r>
              <a:rPr lang="en-US" sz="1000" b="0" i="0" dirty="0">
                <a:solidFill>
                  <a:srgbClr val="1F3763"/>
                </a:solidFill>
                <a:effectLst/>
              </a:rPr>
              <a:t>ARTIFACT INFORMATION </a:t>
            </a:r>
          </a:p>
          <a:p>
            <a:pPr algn="l" rtl="0" fontAlgn="base"/>
            <a:r>
              <a:rPr lang="en-US" sz="1000" b="1" i="0" dirty="0">
                <a:solidFill>
                  <a:srgbClr val="000000"/>
                </a:solidFill>
                <a:effectLst/>
              </a:rPr>
              <a:t>URL</a:t>
            </a:r>
            <a:r>
              <a:rPr lang="en-US" sz="1000" b="0" i="0" dirty="0">
                <a:solidFill>
                  <a:srgbClr val="000000"/>
                </a:solidFill>
                <a:effectLst/>
              </a:rPr>
              <a:t> The URL of the cached item. </a:t>
            </a:r>
          </a:p>
          <a:p>
            <a:pPr algn="l" rtl="0" fontAlgn="base"/>
            <a:r>
              <a:rPr lang="en-US" sz="1000" b="1" i="0" dirty="0">
                <a:solidFill>
                  <a:srgbClr val="000000"/>
                </a:solidFill>
                <a:effectLst/>
              </a:rPr>
              <a:t>Creation Date/Time</a:t>
            </a:r>
            <a:r>
              <a:rPr lang="en-US" sz="1000" b="0" i="0" dirty="0">
                <a:solidFill>
                  <a:srgbClr val="000000"/>
                </a:solidFill>
                <a:effectLst/>
              </a:rPr>
              <a:t> The date and time the cached data was saved to the local machine. </a:t>
            </a:r>
          </a:p>
          <a:p>
            <a:pPr algn="l" rtl="0" fontAlgn="base"/>
            <a:r>
              <a:rPr lang="en-US" sz="1000" b="1" i="0" dirty="0">
                <a:solidFill>
                  <a:srgbClr val="000000"/>
                </a:solidFill>
                <a:effectLst/>
              </a:rPr>
              <a:t>Last Modified Date/Time</a:t>
            </a:r>
            <a:r>
              <a:rPr lang="en-US" sz="1000" b="0" i="0" dirty="0">
                <a:solidFill>
                  <a:srgbClr val="000000"/>
                </a:solidFill>
                <a:effectLst/>
              </a:rPr>
              <a:t> The date and time the cached item was last modified on the source side. </a:t>
            </a:r>
          </a:p>
          <a:p>
            <a:pPr algn="l" rtl="0" fontAlgn="base"/>
            <a:r>
              <a:rPr lang="en-US" sz="1000" b="1" i="0" dirty="0">
                <a:solidFill>
                  <a:srgbClr val="000000"/>
                </a:solidFill>
                <a:effectLst/>
              </a:rPr>
              <a:t>File Type</a:t>
            </a:r>
            <a:r>
              <a:rPr lang="en-US" sz="1000" b="0" i="0" dirty="0">
                <a:solidFill>
                  <a:srgbClr val="000000"/>
                </a:solidFill>
                <a:effectLst/>
              </a:rPr>
              <a:t> The file type of the cached item. </a:t>
            </a:r>
          </a:p>
          <a:p>
            <a:pPr algn="l" rtl="0" fontAlgn="base"/>
            <a:r>
              <a:rPr lang="en-US" sz="1000" b="1" i="0" dirty="0">
                <a:solidFill>
                  <a:srgbClr val="000000"/>
                </a:solidFill>
                <a:effectLst/>
              </a:rPr>
              <a:t>Visit Count </a:t>
            </a:r>
            <a:r>
              <a:rPr lang="en-US" sz="1000" b="0" i="0" dirty="0">
                <a:solidFill>
                  <a:srgbClr val="000000"/>
                </a:solidFill>
                <a:effectLst/>
              </a:rPr>
              <a:t>The number of times the cached file has been accessed. </a:t>
            </a:r>
          </a:p>
          <a:p>
            <a:pPr algn="l" rtl="0" fontAlgn="base"/>
            <a:r>
              <a:rPr lang="en-US" sz="1000" b="1" i="0" dirty="0">
                <a:solidFill>
                  <a:srgbClr val="000000"/>
                </a:solidFill>
                <a:effectLst/>
              </a:rPr>
              <a:t>Content Size (Bytes)</a:t>
            </a:r>
            <a:r>
              <a:rPr lang="en-US" sz="1000" b="0" i="0" dirty="0">
                <a:solidFill>
                  <a:srgbClr val="000000"/>
                </a:solidFill>
                <a:effectLst/>
              </a:rPr>
              <a:t> The size of the cached file in bytes. </a:t>
            </a:r>
          </a:p>
          <a:p>
            <a:pPr algn="l" rtl="0" fontAlgn="base"/>
            <a:r>
              <a:rPr lang="en-US" sz="1000" b="1" i="0" dirty="0">
                <a:solidFill>
                  <a:srgbClr val="000000"/>
                </a:solidFill>
                <a:effectLst/>
              </a:rPr>
              <a:t>Original Path</a:t>
            </a:r>
            <a:r>
              <a:rPr lang="en-US" sz="1000" b="0" i="0" dirty="0">
                <a:solidFill>
                  <a:srgbClr val="000000"/>
                </a:solidFill>
                <a:effectLst/>
              </a:rPr>
              <a:t> The original absolute path to the cached file. </a:t>
            </a:r>
          </a:p>
          <a:p>
            <a:pPr algn="l" rtl="0" fontAlgn="base"/>
            <a:r>
              <a:rPr lang="en-US" sz="1000" b="1" i="0" dirty="0">
                <a:solidFill>
                  <a:srgbClr val="000000"/>
                </a:solidFill>
                <a:effectLst/>
              </a:rPr>
              <a:t>Relative Path</a:t>
            </a:r>
            <a:r>
              <a:rPr lang="en-US" sz="1000" b="0" i="0" dirty="0">
                <a:solidFill>
                  <a:srgbClr val="000000"/>
                </a:solidFill>
                <a:effectLst/>
              </a:rPr>
              <a:t> The relative path to the file based on the location of the WebCacheV01.dat database file. </a:t>
            </a:r>
            <a:endParaRPr lang="en-US" sz="1100" b="0" i="0" dirty="0">
              <a:solidFill>
                <a:srgbClr val="1E4E79"/>
              </a:solidFill>
              <a:effectLst/>
            </a:endParaRPr>
          </a:p>
        </p:txBody>
      </p:sp>
    </p:spTree>
    <p:extLst>
      <p:ext uri="{BB962C8B-B14F-4D97-AF65-F5344CB8AC3E}">
        <p14:creationId xmlns:p14="http://schemas.microsoft.com/office/powerpoint/2010/main" val="40041168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EA06518-5ECD-4095-9AF0-39276524E434}"/>
              </a:ext>
            </a:extLst>
          </p:cNvPr>
          <p:cNvSpPr txBox="1"/>
          <p:nvPr/>
        </p:nvSpPr>
        <p:spPr>
          <a:xfrm>
            <a:off x="1524" y="335845"/>
            <a:ext cx="6094476" cy="6355586"/>
          </a:xfrm>
          <a:prstGeom prst="rect">
            <a:avLst/>
          </a:prstGeom>
          <a:noFill/>
        </p:spPr>
        <p:txBody>
          <a:bodyPr wrap="square">
            <a:spAutoFit/>
          </a:bodyPr>
          <a:lstStyle/>
          <a:p>
            <a:pPr algn="l" rtl="0" fontAlgn="base"/>
            <a:r>
              <a:rPr lang="en-US" sz="1100" b="0" i="0" dirty="0">
                <a:solidFill>
                  <a:srgbClr val="2E75B5"/>
                </a:solidFill>
                <a:effectLst/>
              </a:rPr>
              <a:t>CACHE FIREFOX </a:t>
            </a:r>
          </a:p>
          <a:p>
            <a:pPr algn="l" rtl="0" fontAlgn="base"/>
            <a:r>
              <a:rPr lang="en-US" sz="1000" b="0" i="0" dirty="0">
                <a:solidFill>
                  <a:srgbClr val="000000"/>
                </a:solidFill>
                <a:effectLst/>
              </a:rPr>
              <a:t>Most Firefox artifacts extracted from the files stored in Roaming Profile, but cache is located in Local profile. </a:t>
            </a:r>
          </a:p>
          <a:p>
            <a:pPr algn="l" rtl="0" fontAlgn="base"/>
            <a:r>
              <a:rPr lang="en-US" sz="1000" i="1" dirty="0">
                <a:solidFill>
                  <a:srgbClr val="000000"/>
                </a:solidFill>
                <a:effectLst/>
              </a:rPr>
              <a:t>\Users\&lt;username&gt;\</a:t>
            </a:r>
            <a:r>
              <a:rPr lang="en-US" sz="1000" i="1" dirty="0" err="1">
                <a:solidFill>
                  <a:srgbClr val="000000"/>
                </a:solidFill>
                <a:effectLst/>
              </a:rPr>
              <a:t>AppData</a:t>
            </a:r>
            <a:r>
              <a:rPr lang="en-US" sz="1000" i="1" dirty="0">
                <a:solidFill>
                  <a:srgbClr val="000000"/>
                </a:solidFill>
                <a:effectLst/>
              </a:rPr>
              <a:t>\Local\Mozilla\Firefox\Profiles\</a:t>
            </a:r>
            <a:r>
              <a:rPr lang="en-US" sz="1000" i="1" dirty="0" err="1">
                <a:solidFill>
                  <a:srgbClr val="000000"/>
                </a:solidFill>
                <a:effectLst/>
              </a:rPr>
              <a:t>xxxxxxxx.default</a:t>
            </a:r>
            <a:r>
              <a:rPr lang="en-US" sz="1000" i="1" dirty="0">
                <a:solidFill>
                  <a:srgbClr val="000000"/>
                </a:solidFill>
                <a:effectLst/>
              </a:rPr>
              <a:t>\cache2\</a:t>
            </a:r>
            <a:r>
              <a:rPr lang="en-US" sz="1000" b="0" i="0" dirty="0">
                <a:solidFill>
                  <a:srgbClr val="000000"/>
                </a:solidFill>
                <a:effectLst/>
              </a:rPr>
              <a:t> contains</a:t>
            </a:r>
          </a:p>
          <a:p>
            <a:pPr marL="171450" indent="-171450" algn="l" rtl="0" fontAlgn="base">
              <a:buFont typeface="Arial" panose="020B0604020202020204" pitchFamily="34" charset="0"/>
              <a:buChar char="•"/>
            </a:pPr>
            <a:r>
              <a:rPr lang="en-US" sz="1000" b="0" i="0" dirty="0">
                <a:solidFill>
                  <a:srgbClr val="000000"/>
                </a:solidFill>
                <a:effectLst/>
              </a:rPr>
              <a:t>a file </a:t>
            </a:r>
            <a:r>
              <a:rPr lang="en-US" sz="1000" b="1" i="0" dirty="0">
                <a:solidFill>
                  <a:srgbClr val="000000"/>
                </a:solidFill>
                <a:effectLst/>
              </a:rPr>
              <a:t>index</a:t>
            </a:r>
            <a:r>
              <a:rPr lang="en-US" sz="1000" dirty="0">
                <a:solidFill>
                  <a:srgbClr val="000000"/>
                </a:solidFill>
              </a:rPr>
              <a:t>:</a:t>
            </a:r>
            <a:r>
              <a:rPr lang="en-US" sz="1000" b="0" i="0" dirty="0">
                <a:solidFill>
                  <a:srgbClr val="000000"/>
                </a:solidFill>
                <a:effectLst/>
              </a:rPr>
              <a:t> includes info such as: when each cached file was written into the cache, and when it will expire. </a:t>
            </a:r>
          </a:p>
          <a:p>
            <a:pPr marL="171450" indent="-171450" algn="l" rtl="0" fontAlgn="base">
              <a:buFont typeface="Arial" panose="020B0604020202020204" pitchFamily="34" charset="0"/>
              <a:buChar char="•"/>
            </a:pPr>
            <a:r>
              <a:rPr lang="en-US" sz="1000" b="0" i="0" dirty="0">
                <a:solidFill>
                  <a:srgbClr val="000000"/>
                </a:solidFill>
                <a:effectLst/>
              </a:rPr>
              <a:t>The </a:t>
            </a:r>
            <a:r>
              <a:rPr lang="en-US" sz="1000" b="1" i="0" dirty="0">
                <a:solidFill>
                  <a:srgbClr val="000000"/>
                </a:solidFill>
                <a:effectLst/>
              </a:rPr>
              <a:t>\entries\</a:t>
            </a:r>
            <a:r>
              <a:rPr lang="en-US" sz="1000" b="0" i="0" dirty="0">
                <a:solidFill>
                  <a:srgbClr val="000000"/>
                </a:solidFill>
                <a:effectLst/>
              </a:rPr>
              <a:t> folder contains the cached files themselves, file stored as SHA1 of the URL</a:t>
            </a:r>
          </a:p>
          <a:p>
            <a:pPr marL="171450" indent="-171450" algn="l" rtl="0" fontAlgn="base">
              <a:buFont typeface="Arial" panose="020B0604020202020204" pitchFamily="34" charset="0"/>
              <a:buChar char="•"/>
            </a:pPr>
            <a:r>
              <a:rPr lang="en-US" sz="1000" b="0" i="0" dirty="0">
                <a:solidFill>
                  <a:srgbClr val="000000"/>
                </a:solidFill>
                <a:effectLst/>
              </a:rPr>
              <a:t>The </a:t>
            </a:r>
            <a:r>
              <a:rPr lang="en-US" sz="1000" b="1" i="0" dirty="0">
                <a:solidFill>
                  <a:srgbClr val="000000"/>
                </a:solidFill>
                <a:effectLst/>
              </a:rPr>
              <a:t>\doomed\</a:t>
            </a:r>
            <a:r>
              <a:rPr lang="en-US" sz="1000" b="0" i="0" dirty="0">
                <a:solidFill>
                  <a:srgbClr val="000000"/>
                </a:solidFill>
                <a:effectLst/>
              </a:rPr>
              <a:t> folder contains expired cached content usually deleted when the Firefox closes/restarts. </a:t>
            </a:r>
          </a:p>
          <a:p>
            <a:pPr algn="l" rtl="0" fontAlgn="base"/>
            <a:r>
              <a:rPr lang="en-US" sz="1000" b="0" i="0" dirty="0">
                <a:solidFill>
                  <a:srgbClr val="000000"/>
                </a:solidFill>
                <a:effectLst/>
              </a:rPr>
              <a:t>Firefox appends the metadata information to the end of the cached file. </a:t>
            </a:r>
          </a:p>
          <a:p>
            <a:pPr algn="l" rtl="0" fontAlgn="base"/>
            <a:r>
              <a:rPr lang="en-US" sz="1000" b="0" i="0" dirty="0">
                <a:solidFill>
                  <a:srgbClr val="000000"/>
                </a:solidFill>
                <a:effectLst/>
              </a:rPr>
              <a:t>In the Artifact explorer, the Content Size (Bytes) field details the size of the cached content only. It is NOT the size of the file stored in the Firefox cache folder on the disk/device. The logical file in the cache as displayed in the File system explorer also contains the metadata information so will always be larger. </a:t>
            </a:r>
          </a:p>
          <a:p>
            <a:pPr algn="l" rtl="0" fontAlgn="base"/>
            <a:endParaRPr lang="en-US" sz="1100" b="0" i="0" dirty="0">
              <a:solidFill>
                <a:srgbClr val="1E4E79"/>
              </a:solidFill>
              <a:effectLst/>
            </a:endParaRPr>
          </a:p>
          <a:p>
            <a:pPr algn="l" rtl="0" fontAlgn="base"/>
            <a:r>
              <a:rPr lang="en-US" sz="1100" b="0" i="0" dirty="0">
                <a:solidFill>
                  <a:srgbClr val="1E4E79"/>
                </a:solidFill>
                <a:effectLst/>
              </a:rPr>
              <a:t>TYPED URLS </a:t>
            </a:r>
          </a:p>
          <a:p>
            <a:pPr algn="l" rtl="0" fontAlgn="base"/>
            <a:r>
              <a:rPr lang="en-US" sz="1000" dirty="0"/>
              <a:t>Indicates typed (also incl accepted suggestions) vs copy n pasted</a:t>
            </a:r>
            <a:endParaRPr lang="en-US" sz="1000" b="0" i="0" dirty="0">
              <a:effectLst/>
            </a:endParaRPr>
          </a:p>
          <a:p>
            <a:pPr algn="l" rtl="0" fontAlgn="base"/>
            <a:r>
              <a:rPr lang="en-US" sz="1100" b="0" i="0" dirty="0">
                <a:solidFill>
                  <a:srgbClr val="2E75B5"/>
                </a:solidFill>
                <a:effectLst/>
              </a:rPr>
              <a:t>CHROME &amp; FIREFOX </a:t>
            </a:r>
          </a:p>
          <a:p>
            <a:pPr algn="l" rtl="0" fontAlgn="base"/>
            <a:r>
              <a:rPr lang="en-US" sz="1000" b="0" i="0" dirty="0">
                <a:solidFill>
                  <a:srgbClr val="000000"/>
                </a:solidFill>
                <a:effectLst/>
              </a:rPr>
              <a:t> If the user starts typing into the address bar, whether that be a URL or simply a search string, the browser will often provide autosuggestions for the user. If the user accepts one of these autosuggestions</a:t>
            </a:r>
            <a:r>
              <a:rPr lang="en-US" sz="1000" b="0" i="0" dirty="0">
                <a:solidFill>
                  <a:srgbClr val="000000"/>
                </a:solidFill>
                <a:effectLst/>
                <a:sym typeface="Wingdings" panose="05000000000000000000" pitchFamily="2" charset="2"/>
              </a:rPr>
              <a:t></a:t>
            </a:r>
            <a:r>
              <a:rPr lang="en-US" sz="1000" b="0" i="0" dirty="0">
                <a:solidFill>
                  <a:srgbClr val="000000"/>
                </a:solidFill>
                <a:effectLst/>
              </a:rPr>
              <a:t> Typed URL. This field does not mean the user has typed the URL directly into address bar, but the user typed “something”. </a:t>
            </a:r>
          </a:p>
          <a:p>
            <a:pPr algn="l" rtl="0" fontAlgn="base"/>
            <a:r>
              <a:rPr lang="en-US" sz="1000" b="0" i="0" dirty="0">
                <a:solidFill>
                  <a:srgbClr val="000000"/>
                </a:solidFill>
                <a:effectLst/>
              </a:rPr>
              <a:t>Chrome stores Typed URLs in the </a:t>
            </a:r>
            <a:r>
              <a:rPr lang="en-US" sz="1000" b="1" i="0" dirty="0">
                <a:solidFill>
                  <a:srgbClr val="000000"/>
                </a:solidFill>
                <a:effectLst/>
              </a:rPr>
              <a:t>History </a:t>
            </a:r>
            <a:r>
              <a:rPr lang="en-US" sz="1000" b="0" i="0" dirty="0">
                <a:solidFill>
                  <a:srgbClr val="000000"/>
                </a:solidFill>
                <a:effectLst/>
              </a:rPr>
              <a:t>database, which for the default profile is located at: </a:t>
            </a:r>
          </a:p>
          <a:p>
            <a:pPr algn="l" rtl="0" fontAlgn="base"/>
            <a:r>
              <a:rPr lang="en-US" sz="1000" b="1" i="0" dirty="0">
                <a:solidFill>
                  <a:srgbClr val="000000"/>
                </a:solidFill>
                <a:effectLst/>
              </a:rPr>
              <a:t>\Users\&lt;username&gt;\AppData\Local\Google\Chrome\User Data\Default\</a:t>
            </a:r>
            <a:r>
              <a:rPr lang="en-US" sz="1000" b="0" i="0" dirty="0">
                <a:solidFill>
                  <a:srgbClr val="000000"/>
                </a:solidFill>
                <a:effectLst/>
              </a:rPr>
              <a:t> </a:t>
            </a:r>
          </a:p>
          <a:p>
            <a:pPr algn="l" rtl="0" fontAlgn="base"/>
            <a:r>
              <a:rPr lang="en-US" sz="1000" b="0" i="0" dirty="0">
                <a:solidFill>
                  <a:srgbClr val="000000"/>
                </a:solidFill>
                <a:effectLst/>
              </a:rPr>
              <a:t>Firefox stored Typed URLs in the </a:t>
            </a:r>
            <a:r>
              <a:rPr lang="en-US" sz="1000" b="1" i="0" dirty="0" err="1">
                <a:solidFill>
                  <a:srgbClr val="000000"/>
                </a:solidFill>
                <a:effectLst/>
              </a:rPr>
              <a:t>places.sqlite</a:t>
            </a:r>
            <a:r>
              <a:rPr lang="en-US" sz="1000" b="1" i="0" dirty="0">
                <a:solidFill>
                  <a:srgbClr val="000000"/>
                </a:solidFill>
                <a:effectLst/>
              </a:rPr>
              <a:t> </a:t>
            </a:r>
            <a:r>
              <a:rPr lang="en-US" sz="1000" b="0" i="0" dirty="0">
                <a:solidFill>
                  <a:srgbClr val="000000"/>
                </a:solidFill>
                <a:effectLst/>
              </a:rPr>
              <a:t>database, which for the default profile is located at: </a:t>
            </a:r>
          </a:p>
          <a:p>
            <a:pPr algn="l" rtl="0" fontAlgn="base"/>
            <a:r>
              <a:rPr lang="en-US" sz="1000" b="1" i="0" dirty="0">
                <a:solidFill>
                  <a:srgbClr val="000000"/>
                </a:solidFill>
                <a:effectLst/>
              </a:rPr>
              <a:t>\Users\&lt;username&gt;\AppData\Local\Mozilla\Firefox\Profiles\</a:t>
            </a:r>
            <a:r>
              <a:rPr lang="en-US" sz="1000" b="1" i="0" dirty="0" err="1">
                <a:solidFill>
                  <a:srgbClr val="000000"/>
                </a:solidFill>
                <a:effectLst/>
              </a:rPr>
              <a:t>xxxxxxxx.default</a:t>
            </a:r>
            <a:r>
              <a:rPr lang="en-US" sz="1000" b="1" i="0" dirty="0">
                <a:solidFill>
                  <a:srgbClr val="000000"/>
                </a:solidFill>
                <a:effectLst/>
              </a:rPr>
              <a:t>\</a:t>
            </a:r>
            <a:r>
              <a:rPr lang="en-US" sz="1000" b="0" i="0" dirty="0">
                <a:solidFill>
                  <a:srgbClr val="000000"/>
                </a:solidFill>
                <a:effectLst/>
              </a:rPr>
              <a:t> </a:t>
            </a:r>
          </a:p>
          <a:p>
            <a:pPr algn="l" rtl="0" fontAlgn="base"/>
            <a:r>
              <a:rPr lang="en-US" sz="1000" b="0" i="0" dirty="0">
                <a:solidFill>
                  <a:srgbClr val="000000"/>
                </a:solidFill>
                <a:effectLst/>
              </a:rPr>
              <a:t>AXIOM Examine displays this information in the respective Web History and Web Visits categories. </a:t>
            </a:r>
          </a:p>
          <a:p>
            <a:pPr marL="171450" indent="-171450" algn="l" rtl="0" fontAlgn="base">
              <a:buFont typeface="Arial" panose="020B0604020202020204" pitchFamily="34" charset="0"/>
              <a:buChar char="•"/>
            </a:pPr>
            <a:r>
              <a:rPr lang="en-US" sz="1000" b="0" i="0" dirty="0">
                <a:solidFill>
                  <a:srgbClr val="000000"/>
                </a:solidFill>
                <a:effectLst/>
              </a:rPr>
              <a:t>Chrome stores a numerical counter of how many times Chrome deems the URL was typed </a:t>
            </a:r>
          </a:p>
          <a:p>
            <a:pPr marL="171450" indent="-171450" algn="l" rtl="0" fontAlgn="base">
              <a:buFont typeface="Arial" panose="020B0604020202020204" pitchFamily="34" charset="0"/>
              <a:buChar char="•"/>
            </a:pPr>
            <a:r>
              <a:rPr lang="en-US" sz="1000" b="0" i="0" dirty="0">
                <a:solidFill>
                  <a:srgbClr val="000000"/>
                </a:solidFill>
                <a:effectLst/>
              </a:rPr>
              <a:t>Firefox stores a Boolean Yes/No value detailing whether Firefox deems the URL has ever been typed </a:t>
            </a:r>
            <a:r>
              <a:rPr lang="en-US" sz="1000" b="1" i="0" dirty="0">
                <a:solidFill>
                  <a:srgbClr val="000000"/>
                </a:solidFill>
                <a:effectLst/>
              </a:rPr>
              <a:t>Is Typed</a:t>
            </a:r>
          </a:p>
          <a:p>
            <a:pPr algn="l" rtl="0" fontAlgn="base"/>
            <a:r>
              <a:rPr lang="en-US" sz="1100" b="0" i="0" dirty="0">
                <a:solidFill>
                  <a:srgbClr val="000000"/>
                </a:solidFill>
                <a:effectLst/>
              </a:rPr>
              <a:t> </a:t>
            </a:r>
          </a:p>
          <a:p>
            <a:pPr algn="l" rtl="0" fontAlgn="base"/>
            <a:r>
              <a:rPr lang="en-US" sz="1100" b="0" i="0" dirty="0">
                <a:solidFill>
                  <a:srgbClr val="2E75B5"/>
                </a:solidFill>
                <a:effectLst/>
              </a:rPr>
              <a:t>INTERNET EXPLORER &amp; EDGE </a:t>
            </a:r>
          </a:p>
          <a:p>
            <a:pPr fontAlgn="base"/>
            <a:r>
              <a:rPr lang="en-US" sz="1000" b="0" i="0" dirty="0">
                <a:solidFill>
                  <a:srgbClr val="000000"/>
                </a:solidFill>
                <a:effectLst/>
              </a:rPr>
              <a:t>IE tracks Typed URLs in main user registry hive \Users\&lt;username&gt;\ NTUSER.dat, Info stored in 2 registry keys: </a:t>
            </a:r>
          </a:p>
          <a:p>
            <a:pPr algn="l" rtl="0" fontAlgn="base"/>
            <a:r>
              <a:rPr lang="en-US" sz="1000" i="1" dirty="0">
                <a:solidFill>
                  <a:srgbClr val="000000"/>
                </a:solidFill>
                <a:effectLst/>
              </a:rPr>
              <a:t>SOFTWARE\Microsoft\Internet Explorer\</a:t>
            </a:r>
            <a:r>
              <a:rPr lang="en-US" sz="1000" i="1" dirty="0" err="1">
                <a:solidFill>
                  <a:srgbClr val="000000"/>
                </a:solidFill>
                <a:effectLst/>
              </a:rPr>
              <a:t>TypedURLs</a:t>
            </a:r>
            <a:r>
              <a:rPr lang="en-US" sz="1000" i="1" dirty="0">
                <a:solidFill>
                  <a:srgbClr val="000000"/>
                </a:solidFill>
                <a:effectLst/>
              </a:rPr>
              <a:t>\ </a:t>
            </a:r>
          </a:p>
          <a:p>
            <a:pPr algn="l" rtl="0" fontAlgn="base"/>
            <a:r>
              <a:rPr lang="en-US" sz="1000" i="1" dirty="0">
                <a:solidFill>
                  <a:srgbClr val="000000"/>
                </a:solidFill>
                <a:effectLst/>
              </a:rPr>
              <a:t>SOFTWARE\Microsoft\Internet Explorer\</a:t>
            </a:r>
            <a:r>
              <a:rPr lang="en-US" sz="1000" i="1" dirty="0" err="1">
                <a:solidFill>
                  <a:srgbClr val="000000"/>
                </a:solidFill>
                <a:effectLst/>
              </a:rPr>
              <a:t>TypedURLsTime</a:t>
            </a:r>
            <a:r>
              <a:rPr lang="en-US" sz="1000" i="1" dirty="0">
                <a:solidFill>
                  <a:srgbClr val="000000"/>
                </a:solidFill>
                <a:effectLst/>
              </a:rPr>
              <a:t>\ </a:t>
            </a:r>
          </a:p>
          <a:p>
            <a:pPr algn="l" rtl="0" fontAlgn="base"/>
            <a:r>
              <a:rPr lang="en-US" sz="1000" b="0" i="0" dirty="0">
                <a:solidFill>
                  <a:srgbClr val="000000"/>
                </a:solidFill>
                <a:effectLst/>
              </a:rPr>
              <a:t>Edge tracks Typed URLs in the supplementary user registry hive UsrClass.dat, stored in the following location: </a:t>
            </a:r>
          </a:p>
          <a:p>
            <a:pPr algn="l" rtl="0" fontAlgn="base"/>
            <a:r>
              <a:rPr lang="en-US" sz="1000" dirty="0">
                <a:solidFill>
                  <a:srgbClr val="000000"/>
                </a:solidFill>
                <a:effectLst/>
              </a:rPr>
              <a:t>\Users\&lt;username&gt;\AppData\Local\Microsoft\Windows\ </a:t>
            </a:r>
          </a:p>
          <a:p>
            <a:pPr algn="l" rtl="0" fontAlgn="base"/>
            <a:r>
              <a:rPr lang="en-US" sz="1000" b="0" i="0" dirty="0">
                <a:solidFill>
                  <a:srgbClr val="000000"/>
                </a:solidFill>
                <a:effectLst/>
              </a:rPr>
              <a:t>The information is stored in the following 3 registry keys: </a:t>
            </a:r>
          </a:p>
          <a:p>
            <a:pPr algn="l" rtl="0" fontAlgn="base"/>
            <a:r>
              <a:rPr lang="en-US" sz="1000" b="1" i="0" dirty="0" err="1">
                <a:solidFill>
                  <a:srgbClr val="000000"/>
                </a:solidFill>
                <a:effectLst/>
              </a:rPr>
              <a:t>LocalSettings</a:t>
            </a:r>
            <a:r>
              <a:rPr lang="en-US" sz="1000" b="1" i="0" dirty="0">
                <a:solidFill>
                  <a:srgbClr val="000000"/>
                </a:solidFill>
                <a:effectLst/>
              </a:rPr>
              <a:t>\Software\Microsoft\Windows\CurrentVersion\</a:t>
            </a:r>
            <a:r>
              <a:rPr lang="en-US" sz="1000" b="1" i="0" dirty="0" err="1">
                <a:solidFill>
                  <a:srgbClr val="000000"/>
                </a:solidFill>
                <a:effectLst/>
              </a:rPr>
              <a:t>AppContainer</a:t>
            </a:r>
            <a:r>
              <a:rPr lang="en-US" sz="1000" b="1" i="0" dirty="0">
                <a:solidFill>
                  <a:srgbClr val="000000"/>
                </a:solidFill>
                <a:effectLst/>
              </a:rPr>
              <a:t>\Storage\microsoft.microsoftedge_8wekyb3d8bbwe\</a:t>
            </a:r>
            <a:r>
              <a:rPr lang="en-US" sz="1000" b="1" i="0" dirty="0" err="1">
                <a:solidFill>
                  <a:srgbClr val="000000"/>
                </a:solidFill>
                <a:effectLst/>
              </a:rPr>
              <a:t>MicrosoftEdge</a:t>
            </a:r>
            <a:r>
              <a:rPr lang="en-US" sz="1000" b="1" i="0" dirty="0">
                <a:solidFill>
                  <a:srgbClr val="000000"/>
                </a:solidFill>
                <a:effectLst/>
              </a:rPr>
              <a:t>\</a:t>
            </a:r>
            <a:r>
              <a:rPr lang="en-US" sz="1000" b="1" i="0" dirty="0" err="1">
                <a:solidFill>
                  <a:srgbClr val="000000"/>
                </a:solidFill>
                <a:effectLst/>
              </a:rPr>
              <a:t>TypedURLs</a:t>
            </a:r>
            <a:r>
              <a:rPr lang="en-US" sz="1000" b="0" i="0" dirty="0">
                <a:solidFill>
                  <a:srgbClr val="000000"/>
                </a:solidFill>
                <a:effectLst/>
              </a:rPr>
              <a:t> </a:t>
            </a:r>
          </a:p>
          <a:p>
            <a:pPr algn="l" rtl="0" fontAlgn="base"/>
            <a:r>
              <a:rPr lang="en-US" sz="1000" b="1" i="0" dirty="0" err="1">
                <a:solidFill>
                  <a:srgbClr val="000000"/>
                </a:solidFill>
                <a:effectLst/>
              </a:rPr>
              <a:t>LocalSettings</a:t>
            </a:r>
            <a:r>
              <a:rPr lang="en-US" sz="1000" b="1" i="0" dirty="0">
                <a:solidFill>
                  <a:srgbClr val="000000"/>
                </a:solidFill>
                <a:effectLst/>
              </a:rPr>
              <a:t>\Software\Microsoft\Windows\CurrentVersion\</a:t>
            </a:r>
            <a:r>
              <a:rPr lang="en-US" sz="1000" b="1" i="0" dirty="0" err="1">
                <a:solidFill>
                  <a:srgbClr val="000000"/>
                </a:solidFill>
                <a:effectLst/>
              </a:rPr>
              <a:t>AppContainer</a:t>
            </a:r>
            <a:r>
              <a:rPr lang="en-US" sz="1000" b="1" i="0" dirty="0">
                <a:solidFill>
                  <a:srgbClr val="000000"/>
                </a:solidFill>
                <a:effectLst/>
              </a:rPr>
              <a:t>\Storage\microsoft.microsoftedge_8wekyb3d8bbwe\</a:t>
            </a:r>
            <a:r>
              <a:rPr lang="en-US" sz="1000" b="1" i="0" dirty="0" err="1">
                <a:solidFill>
                  <a:srgbClr val="000000"/>
                </a:solidFill>
                <a:effectLst/>
              </a:rPr>
              <a:t>MicrosoftEdge</a:t>
            </a:r>
            <a:r>
              <a:rPr lang="en-US" sz="1000" b="1" i="0" dirty="0">
                <a:solidFill>
                  <a:srgbClr val="000000"/>
                </a:solidFill>
                <a:effectLst/>
              </a:rPr>
              <a:t>\</a:t>
            </a:r>
            <a:r>
              <a:rPr lang="en-US" sz="1000" b="1" i="0" dirty="0" err="1">
                <a:solidFill>
                  <a:srgbClr val="000000"/>
                </a:solidFill>
                <a:effectLst/>
              </a:rPr>
              <a:t>TypedURLsTime</a:t>
            </a:r>
            <a:r>
              <a:rPr lang="en-US" sz="1000" b="0" i="0" dirty="0">
                <a:solidFill>
                  <a:srgbClr val="000000"/>
                </a:solidFill>
                <a:effectLst/>
              </a:rPr>
              <a:t> </a:t>
            </a:r>
          </a:p>
          <a:p>
            <a:pPr algn="l" rtl="0" fontAlgn="base"/>
            <a:r>
              <a:rPr lang="en-US" sz="1000" b="1" i="0" dirty="0" err="1">
                <a:solidFill>
                  <a:srgbClr val="000000"/>
                </a:solidFill>
                <a:effectLst/>
              </a:rPr>
              <a:t>LocalSettings</a:t>
            </a:r>
            <a:r>
              <a:rPr lang="en-US" sz="1000" b="1" i="0" dirty="0">
                <a:solidFill>
                  <a:srgbClr val="000000"/>
                </a:solidFill>
                <a:effectLst/>
              </a:rPr>
              <a:t>\Software\Microsoft\Windows\CurrentVersion\</a:t>
            </a:r>
            <a:r>
              <a:rPr lang="en-US" sz="1000" b="1" i="0" dirty="0" err="1">
                <a:solidFill>
                  <a:srgbClr val="000000"/>
                </a:solidFill>
                <a:effectLst/>
              </a:rPr>
              <a:t>AppContainer</a:t>
            </a:r>
            <a:r>
              <a:rPr lang="en-US" sz="1000" b="1" i="0" dirty="0">
                <a:solidFill>
                  <a:srgbClr val="000000"/>
                </a:solidFill>
                <a:effectLst/>
              </a:rPr>
              <a:t>\Storage\microsoft.microsoftedge_8wekyb3d8bbwe\</a:t>
            </a:r>
            <a:r>
              <a:rPr lang="en-US" sz="1000" b="1" i="0" dirty="0" err="1">
                <a:solidFill>
                  <a:srgbClr val="000000"/>
                </a:solidFill>
                <a:effectLst/>
              </a:rPr>
              <a:t>MicrosoftEdge</a:t>
            </a:r>
            <a:r>
              <a:rPr lang="en-US" sz="1000" b="1" i="0" dirty="0">
                <a:solidFill>
                  <a:srgbClr val="000000"/>
                </a:solidFill>
                <a:effectLst/>
              </a:rPr>
              <a:t>\</a:t>
            </a:r>
            <a:r>
              <a:rPr lang="en-US" sz="1000" b="1" i="0" dirty="0" err="1">
                <a:solidFill>
                  <a:srgbClr val="000000"/>
                </a:solidFill>
                <a:effectLst/>
              </a:rPr>
              <a:t>TypedURLsVisitCount</a:t>
            </a:r>
            <a:r>
              <a:rPr lang="en-US" sz="1000" b="0" i="0" dirty="0">
                <a:solidFill>
                  <a:srgbClr val="000000"/>
                </a:solidFill>
                <a:effectLst/>
              </a:rPr>
              <a:t> </a:t>
            </a:r>
          </a:p>
          <a:p>
            <a:pPr algn="l" rtl="0" fontAlgn="base"/>
            <a:r>
              <a:rPr lang="en-US" sz="1000" b="1" i="0" dirty="0">
                <a:solidFill>
                  <a:srgbClr val="000000"/>
                </a:solidFill>
                <a:effectLst/>
              </a:rPr>
              <a:t>Transition Type </a:t>
            </a:r>
            <a:r>
              <a:rPr lang="en-US" sz="1000" b="0" i="0" dirty="0">
                <a:solidFill>
                  <a:srgbClr val="000000"/>
                </a:solidFill>
                <a:effectLst/>
              </a:rPr>
              <a:t>of </a:t>
            </a:r>
            <a:r>
              <a:rPr lang="en-US" sz="1000" b="1" i="0" dirty="0">
                <a:solidFill>
                  <a:srgbClr val="000000"/>
                </a:solidFill>
                <a:effectLst/>
              </a:rPr>
              <a:t>AUTO_BOOKMARK </a:t>
            </a:r>
            <a:r>
              <a:rPr lang="en-US" sz="1000" b="0" i="0" dirty="0">
                <a:solidFill>
                  <a:srgbClr val="000000"/>
                </a:solidFill>
                <a:effectLst/>
              </a:rPr>
              <a:t>= user selected entry from user interface. </a:t>
            </a:r>
          </a:p>
          <a:p>
            <a:pPr algn="l" rtl="0" fontAlgn="base"/>
            <a:r>
              <a:rPr lang="en-US" sz="1000" b="1" i="0" dirty="0">
                <a:solidFill>
                  <a:srgbClr val="000000"/>
                </a:solidFill>
                <a:effectLst/>
              </a:rPr>
              <a:t>Typed count </a:t>
            </a:r>
            <a:r>
              <a:rPr lang="en-US" sz="1000" b="0" i="0" dirty="0">
                <a:solidFill>
                  <a:srgbClr val="000000"/>
                </a:solidFill>
                <a:effectLst/>
              </a:rPr>
              <a:t>is not running total but the TOTAL </a:t>
            </a:r>
          </a:p>
        </p:txBody>
      </p:sp>
      <p:sp>
        <p:nvSpPr>
          <p:cNvPr id="5" name="TextBox 4">
            <a:extLst>
              <a:ext uri="{FF2B5EF4-FFF2-40B4-BE49-F238E27FC236}">
                <a16:creationId xmlns:a16="http://schemas.microsoft.com/office/drawing/2014/main" id="{CAFE5C90-69DC-4C33-896F-A486D941443C}"/>
              </a:ext>
            </a:extLst>
          </p:cNvPr>
          <p:cNvSpPr txBox="1"/>
          <p:nvPr/>
        </p:nvSpPr>
        <p:spPr>
          <a:xfrm>
            <a:off x="6028182" y="113443"/>
            <a:ext cx="6094476" cy="6078587"/>
          </a:xfrm>
          <a:prstGeom prst="rect">
            <a:avLst/>
          </a:prstGeom>
          <a:noFill/>
        </p:spPr>
        <p:txBody>
          <a:bodyPr wrap="square">
            <a:spAutoFit/>
          </a:bodyPr>
          <a:lstStyle/>
          <a:p>
            <a:pPr algn="l" rtl="0" fontAlgn="base"/>
            <a:r>
              <a:rPr lang="en-US" sz="1100" b="0" i="0" dirty="0">
                <a:solidFill>
                  <a:srgbClr val="1E4E79"/>
                </a:solidFill>
                <a:effectLst/>
              </a:rPr>
              <a:t>FORM FILL INFORMATION AND SEARCH DATA </a:t>
            </a:r>
          </a:p>
          <a:p>
            <a:pPr algn="l" rtl="0" fontAlgn="base"/>
            <a:r>
              <a:rPr lang="en-US" sz="1000" b="0" i="0" dirty="0">
                <a:solidFill>
                  <a:srgbClr val="000000"/>
                </a:solidFill>
                <a:effectLst/>
              </a:rPr>
              <a:t>Most browsers provide a means to store form information that would commonly be used to fill in basic information on multiple websites, such as name, phone number, address, etc. </a:t>
            </a:r>
          </a:p>
          <a:p>
            <a:pPr algn="l" rtl="0" fontAlgn="base"/>
            <a:r>
              <a:rPr lang="en-US" sz="1000" b="0" i="0" dirty="0">
                <a:solidFill>
                  <a:srgbClr val="000000"/>
                </a:solidFill>
                <a:effectLst/>
              </a:rPr>
              <a:t>Additionally, searches executed using the browser search box, or a search function on a website, will sometimes be stored as form information. </a:t>
            </a:r>
          </a:p>
          <a:p>
            <a:pPr algn="l" rtl="0" fontAlgn="base"/>
            <a:r>
              <a:rPr lang="en-US" sz="1100" b="0" i="0" dirty="0">
                <a:solidFill>
                  <a:srgbClr val="000000"/>
                </a:solidFill>
                <a:effectLst/>
              </a:rPr>
              <a:t> </a:t>
            </a:r>
          </a:p>
          <a:p>
            <a:pPr algn="l" rtl="0" fontAlgn="base"/>
            <a:r>
              <a:rPr lang="en-US" sz="1100" b="0" i="0" dirty="0">
                <a:solidFill>
                  <a:srgbClr val="2E75B5"/>
                </a:solidFill>
                <a:effectLst/>
              </a:rPr>
              <a:t>CHROME </a:t>
            </a:r>
          </a:p>
          <a:p>
            <a:pPr algn="l" rtl="0" fontAlgn="base"/>
            <a:r>
              <a:rPr lang="en-US" sz="1000" b="0" i="0" dirty="0">
                <a:solidFill>
                  <a:srgbClr val="000000"/>
                </a:solidFill>
                <a:effectLst/>
              </a:rPr>
              <a:t>Chrome refers to form data as </a:t>
            </a:r>
            <a:r>
              <a:rPr lang="en-US" sz="1000" b="1" i="0" dirty="0">
                <a:solidFill>
                  <a:srgbClr val="000000"/>
                </a:solidFill>
                <a:effectLst/>
              </a:rPr>
              <a:t>Autofill</a:t>
            </a:r>
            <a:r>
              <a:rPr lang="en-US" sz="1000" b="0" i="0" dirty="0">
                <a:solidFill>
                  <a:srgbClr val="000000"/>
                </a:solidFill>
                <a:effectLst/>
              </a:rPr>
              <a:t> values and saves them in an SQLite database named </a:t>
            </a:r>
            <a:r>
              <a:rPr lang="en-US" sz="1000" b="1" i="0" dirty="0">
                <a:solidFill>
                  <a:srgbClr val="000000"/>
                </a:solidFill>
                <a:effectLst/>
              </a:rPr>
              <a:t>Web Data </a:t>
            </a:r>
            <a:r>
              <a:rPr lang="en-US" sz="1000" b="0" i="0" dirty="0">
                <a:solidFill>
                  <a:srgbClr val="000000"/>
                </a:solidFill>
                <a:effectLst/>
              </a:rPr>
              <a:t>stored in the profile folder table </a:t>
            </a:r>
            <a:r>
              <a:rPr lang="en-US" sz="1000" b="1" i="0" dirty="0">
                <a:solidFill>
                  <a:srgbClr val="000000"/>
                </a:solidFill>
                <a:effectLst/>
              </a:rPr>
              <a:t>Autofill</a:t>
            </a:r>
            <a:r>
              <a:rPr lang="en-US" sz="1000" b="0" i="0" dirty="0">
                <a:solidFill>
                  <a:srgbClr val="000000"/>
                </a:solidFill>
                <a:effectLst/>
              </a:rPr>
              <a:t>. Therefore, for the default profile this file will be found in the following location: </a:t>
            </a:r>
          </a:p>
          <a:p>
            <a:pPr algn="l" rtl="0" fontAlgn="base"/>
            <a:r>
              <a:rPr lang="en-US" sz="1000" b="1" i="0" dirty="0">
                <a:solidFill>
                  <a:srgbClr val="000000"/>
                </a:solidFill>
                <a:effectLst/>
              </a:rPr>
              <a:t>\Users\&lt;username&gt;\AppData\Local\Google\Chrome\User Data\Default\</a:t>
            </a:r>
            <a:r>
              <a:rPr lang="en-US" sz="1000" b="0" i="0" dirty="0">
                <a:solidFill>
                  <a:srgbClr val="000000"/>
                </a:solidFill>
                <a:effectLst/>
              </a:rPr>
              <a:t> </a:t>
            </a:r>
          </a:p>
          <a:p>
            <a:pPr algn="l" rtl="0" fontAlgn="base"/>
            <a:r>
              <a:rPr lang="en-US" sz="1000" b="0" i="0" dirty="0">
                <a:solidFill>
                  <a:srgbClr val="000000"/>
                </a:solidFill>
                <a:effectLst/>
              </a:rPr>
              <a:t> </a:t>
            </a:r>
          </a:p>
          <a:p>
            <a:pPr algn="l" rtl="0" fontAlgn="base"/>
            <a:r>
              <a:rPr lang="en-US" sz="1000" b="0" i="0" dirty="0">
                <a:solidFill>
                  <a:srgbClr val="000000"/>
                </a:solidFill>
                <a:effectLst/>
              </a:rPr>
              <a:t>The information is contained within the table: autofill. </a:t>
            </a:r>
          </a:p>
          <a:p>
            <a:pPr algn="l" rtl="0" fontAlgn="base"/>
            <a:r>
              <a:rPr lang="en-US" sz="1000" b="1" i="0" dirty="0">
                <a:solidFill>
                  <a:srgbClr val="000000"/>
                </a:solidFill>
                <a:effectLst/>
              </a:rPr>
              <a:t>Name</a:t>
            </a:r>
            <a:r>
              <a:rPr lang="en-US" sz="1000" b="0" i="0" dirty="0">
                <a:solidFill>
                  <a:srgbClr val="000000"/>
                </a:solidFill>
                <a:effectLst/>
              </a:rPr>
              <a:t> </a:t>
            </a:r>
            <a:r>
              <a:rPr lang="en-US" sz="1000" b="0" i="0" dirty="0" err="1">
                <a:solidFill>
                  <a:srgbClr val="000000"/>
                </a:solidFill>
                <a:effectLst/>
              </a:rPr>
              <a:t>Name</a:t>
            </a:r>
            <a:r>
              <a:rPr lang="en-US" sz="1000" b="0" i="0" dirty="0">
                <a:solidFill>
                  <a:srgbClr val="000000"/>
                </a:solidFill>
                <a:effectLst/>
              </a:rPr>
              <a:t> of the autofill field (email, address, etc.). </a:t>
            </a:r>
          </a:p>
          <a:p>
            <a:pPr algn="l" rtl="0" fontAlgn="base"/>
            <a:r>
              <a:rPr lang="en-US" sz="1000" b="1" i="0" dirty="0">
                <a:solidFill>
                  <a:srgbClr val="000000"/>
                </a:solidFill>
                <a:effectLst/>
              </a:rPr>
              <a:t>Date Created Date/Time </a:t>
            </a:r>
            <a:r>
              <a:rPr lang="en-US" sz="1000" b="0" i="0" dirty="0">
                <a:solidFill>
                  <a:srgbClr val="000000"/>
                </a:solidFill>
                <a:effectLst/>
              </a:rPr>
              <a:t>The date and time the autofill value was created. </a:t>
            </a:r>
          </a:p>
          <a:p>
            <a:pPr algn="l" rtl="0" fontAlgn="base"/>
            <a:r>
              <a:rPr lang="en-US" sz="1000" b="1" i="0" dirty="0">
                <a:solidFill>
                  <a:srgbClr val="000000"/>
                </a:solidFill>
                <a:effectLst/>
              </a:rPr>
              <a:t>Value </a:t>
            </a:r>
            <a:r>
              <a:rPr lang="en-US" sz="1000" b="0" i="0" dirty="0">
                <a:solidFill>
                  <a:srgbClr val="000000"/>
                </a:solidFill>
                <a:effectLst/>
              </a:rPr>
              <a:t>The autofill value stored in the database. </a:t>
            </a:r>
          </a:p>
          <a:p>
            <a:pPr algn="l" rtl="0" fontAlgn="base"/>
            <a:r>
              <a:rPr lang="en-US" sz="1000" b="1" i="0" dirty="0">
                <a:solidFill>
                  <a:srgbClr val="000000"/>
                </a:solidFill>
                <a:effectLst/>
              </a:rPr>
              <a:t>Count</a:t>
            </a:r>
            <a:r>
              <a:rPr lang="en-US" sz="1000" b="0" i="0" dirty="0">
                <a:solidFill>
                  <a:srgbClr val="000000"/>
                </a:solidFill>
                <a:effectLst/>
              </a:rPr>
              <a:t> The number of times the autofill value has been used/accessed. </a:t>
            </a:r>
          </a:p>
          <a:p>
            <a:pPr algn="l" rtl="0" fontAlgn="base"/>
            <a:r>
              <a:rPr lang="en-US" sz="1100" b="0" i="0" dirty="0">
                <a:solidFill>
                  <a:srgbClr val="000000"/>
                </a:solidFill>
                <a:effectLst/>
              </a:rPr>
              <a:t> </a:t>
            </a:r>
          </a:p>
          <a:p>
            <a:pPr algn="l" rtl="0" fontAlgn="base"/>
            <a:r>
              <a:rPr lang="en-US" sz="1100" b="0" i="0" dirty="0">
                <a:solidFill>
                  <a:srgbClr val="2E75B5"/>
                </a:solidFill>
                <a:effectLst/>
              </a:rPr>
              <a:t>FIREFOX </a:t>
            </a:r>
          </a:p>
          <a:p>
            <a:pPr algn="l" rtl="0" fontAlgn="base"/>
            <a:r>
              <a:rPr lang="en-US" sz="1000" b="0" i="0" dirty="0">
                <a:solidFill>
                  <a:srgbClr val="000000"/>
                </a:solidFill>
                <a:effectLst/>
              </a:rPr>
              <a:t>Firefox stores form data in an SQLite database named </a:t>
            </a:r>
            <a:r>
              <a:rPr lang="en-US" sz="1000" b="1" i="0" dirty="0" err="1">
                <a:solidFill>
                  <a:srgbClr val="000000"/>
                </a:solidFill>
                <a:effectLst/>
              </a:rPr>
              <a:t>formhistory.sqlite</a:t>
            </a:r>
            <a:r>
              <a:rPr lang="en-US" sz="1000" b="0" i="0" dirty="0">
                <a:solidFill>
                  <a:srgbClr val="000000"/>
                </a:solidFill>
                <a:effectLst/>
              </a:rPr>
              <a:t> stored in the profile folder. Therefore, for the default profile the file is stored in the following location: </a:t>
            </a:r>
          </a:p>
          <a:p>
            <a:pPr algn="l" rtl="0" fontAlgn="base"/>
            <a:r>
              <a:rPr lang="en-US" sz="1000" b="1" i="0" dirty="0">
                <a:solidFill>
                  <a:srgbClr val="000000"/>
                </a:solidFill>
                <a:effectLst/>
              </a:rPr>
              <a:t>\Users\&lt;username&gt;\AppData\Roaming\Mozilla\Firefox\Profiles\</a:t>
            </a:r>
            <a:r>
              <a:rPr lang="en-US" sz="1000" b="1" i="0" dirty="0" err="1">
                <a:solidFill>
                  <a:srgbClr val="000000"/>
                </a:solidFill>
                <a:effectLst/>
              </a:rPr>
              <a:t>xxxxxxxx.default</a:t>
            </a:r>
            <a:r>
              <a:rPr lang="en-US" sz="1000" b="1" i="0" dirty="0">
                <a:solidFill>
                  <a:srgbClr val="000000"/>
                </a:solidFill>
                <a:effectLst/>
              </a:rPr>
              <a:t>\</a:t>
            </a:r>
            <a:r>
              <a:rPr lang="en-US" sz="1000" b="0" i="0" dirty="0">
                <a:solidFill>
                  <a:srgbClr val="000000"/>
                </a:solidFill>
                <a:effectLst/>
              </a:rPr>
              <a:t> </a:t>
            </a:r>
          </a:p>
          <a:p>
            <a:pPr algn="l" rtl="0" fontAlgn="base"/>
            <a:r>
              <a:rPr lang="en-US" sz="1000" b="0" i="0" dirty="0">
                <a:solidFill>
                  <a:srgbClr val="000000"/>
                </a:solidFill>
                <a:effectLst/>
              </a:rPr>
              <a:t>The information is contained within the table: </a:t>
            </a:r>
            <a:r>
              <a:rPr lang="en-US" sz="1000" b="1" i="0" dirty="0" err="1">
                <a:solidFill>
                  <a:srgbClr val="000000"/>
                </a:solidFill>
                <a:effectLst/>
              </a:rPr>
              <a:t>moz_formhistory</a:t>
            </a:r>
            <a:r>
              <a:rPr lang="en-US" sz="1000" b="0" i="0" dirty="0">
                <a:solidFill>
                  <a:srgbClr val="000000"/>
                </a:solidFill>
                <a:effectLst/>
              </a:rPr>
              <a:t>. </a:t>
            </a:r>
          </a:p>
          <a:p>
            <a:pPr algn="l" rtl="0" fontAlgn="base"/>
            <a:r>
              <a:rPr lang="en-US" sz="1100" b="0" i="0" dirty="0">
                <a:solidFill>
                  <a:srgbClr val="1F3763"/>
                </a:solidFill>
                <a:effectLst/>
              </a:rPr>
              <a:t> </a:t>
            </a:r>
          </a:p>
          <a:p>
            <a:pPr algn="l" rtl="0" fontAlgn="base"/>
            <a:r>
              <a:rPr lang="en-US" sz="1100" b="0" i="0" dirty="0">
                <a:solidFill>
                  <a:srgbClr val="1F3763"/>
                </a:solidFill>
                <a:effectLst/>
              </a:rPr>
              <a:t>ARTIFACT INFORMATION </a:t>
            </a:r>
          </a:p>
          <a:p>
            <a:pPr algn="l" rtl="0" fontAlgn="base"/>
            <a:r>
              <a:rPr lang="en-US" sz="1000" b="1" i="0" dirty="0">
                <a:solidFill>
                  <a:srgbClr val="000000"/>
                </a:solidFill>
                <a:effectLst/>
              </a:rPr>
              <a:t>Field Name</a:t>
            </a:r>
            <a:r>
              <a:rPr lang="en-US" sz="1000" b="0" i="0" dirty="0">
                <a:solidFill>
                  <a:srgbClr val="000000"/>
                </a:solidFill>
                <a:effectLst/>
              </a:rPr>
              <a:t> The name of the form field. </a:t>
            </a:r>
          </a:p>
          <a:p>
            <a:pPr algn="l" rtl="0" fontAlgn="base"/>
            <a:r>
              <a:rPr lang="en-US" sz="1000" b="1" i="0" dirty="0">
                <a:solidFill>
                  <a:srgbClr val="000000"/>
                </a:solidFill>
                <a:effectLst/>
              </a:rPr>
              <a:t>Value</a:t>
            </a:r>
            <a:r>
              <a:rPr lang="en-US" sz="1000" b="0" i="0" dirty="0">
                <a:solidFill>
                  <a:srgbClr val="000000"/>
                </a:solidFill>
                <a:effectLst/>
              </a:rPr>
              <a:t> The form value stored in the database. </a:t>
            </a:r>
          </a:p>
          <a:p>
            <a:pPr algn="l" rtl="0" fontAlgn="base"/>
            <a:r>
              <a:rPr lang="en-US" sz="1000" b="1" i="0" dirty="0">
                <a:solidFill>
                  <a:srgbClr val="000000"/>
                </a:solidFill>
                <a:effectLst/>
              </a:rPr>
              <a:t>First Used Date/Time</a:t>
            </a:r>
            <a:r>
              <a:rPr lang="en-US" sz="1000" b="0" i="0" dirty="0">
                <a:solidFill>
                  <a:srgbClr val="000000"/>
                </a:solidFill>
                <a:effectLst/>
              </a:rPr>
              <a:t> The date and time the field was first used. </a:t>
            </a:r>
          </a:p>
          <a:p>
            <a:pPr algn="l" rtl="0" fontAlgn="base"/>
            <a:r>
              <a:rPr lang="en-US" sz="1000" b="1" i="0" dirty="0">
                <a:solidFill>
                  <a:srgbClr val="000000"/>
                </a:solidFill>
                <a:effectLst/>
              </a:rPr>
              <a:t>Last Used Date/Time</a:t>
            </a:r>
            <a:r>
              <a:rPr lang="en-US" sz="1000" b="0" i="0" dirty="0">
                <a:solidFill>
                  <a:srgbClr val="000000"/>
                </a:solidFill>
                <a:effectLst/>
              </a:rPr>
              <a:t> The date and time the field was last used. </a:t>
            </a:r>
          </a:p>
          <a:p>
            <a:pPr algn="l" rtl="0" fontAlgn="base"/>
            <a:r>
              <a:rPr lang="en-US" sz="1000" b="1" i="0" dirty="0">
                <a:solidFill>
                  <a:srgbClr val="000000"/>
                </a:solidFill>
                <a:effectLst/>
              </a:rPr>
              <a:t>Times Used </a:t>
            </a:r>
            <a:r>
              <a:rPr lang="en-US" sz="1000" b="0" i="0" dirty="0">
                <a:solidFill>
                  <a:srgbClr val="000000"/>
                </a:solidFill>
                <a:effectLst/>
              </a:rPr>
              <a:t>The number of times the field has been used. </a:t>
            </a:r>
          </a:p>
          <a:p>
            <a:pPr algn="l" rtl="0" fontAlgn="base"/>
            <a:r>
              <a:rPr lang="en-US" sz="1000" b="1" i="0" dirty="0">
                <a:solidFill>
                  <a:srgbClr val="000000"/>
                </a:solidFill>
                <a:effectLst/>
              </a:rPr>
              <a:t>ID </a:t>
            </a:r>
            <a:r>
              <a:rPr lang="en-US" sz="1000" b="0" i="0" dirty="0">
                <a:solidFill>
                  <a:srgbClr val="000000"/>
                </a:solidFill>
                <a:effectLst/>
              </a:rPr>
              <a:t>The unique ID of the field. This is essentially a number identifying the order in which the field values were written into the database. </a:t>
            </a:r>
          </a:p>
          <a:p>
            <a:pPr algn="l" rtl="0" fontAlgn="base"/>
            <a:r>
              <a:rPr lang="en-US" sz="1100" b="0" i="0" dirty="0">
                <a:solidFill>
                  <a:srgbClr val="000000"/>
                </a:solidFill>
                <a:effectLst/>
              </a:rPr>
              <a:t> </a:t>
            </a:r>
          </a:p>
          <a:p>
            <a:pPr algn="l" rtl="0" fontAlgn="base"/>
            <a:r>
              <a:rPr lang="en-US" sz="1100" b="0" i="0" dirty="0">
                <a:solidFill>
                  <a:srgbClr val="2E75B5"/>
                </a:solidFill>
                <a:effectLst/>
              </a:rPr>
              <a:t>INTERNET EXPLORER &amp; EDGE </a:t>
            </a:r>
          </a:p>
          <a:p>
            <a:pPr algn="l" rtl="0" fontAlgn="base"/>
            <a:r>
              <a:rPr lang="en-US" sz="1000" b="0" i="0" dirty="0">
                <a:solidFill>
                  <a:srgbClr val="000000"/>
                </a:solidFill>
                <a:effectLst/>
              </a:rPr>
              <a:t>Internet Explorer and Edge both store form data in the user registry hive NTUSER.DAT. The information is stored in the registry key: </a:t>
            </a:r>
          </a:p>
          <a:p>
            <a:pPr algn="l" rtl="0" fontAlgn="base"/>
            <a:r>
              <a:rPr lang="en-US" sz="1000" b="1" i="0" dirty="0">
                <a:solidFill>
                  <a:srgbClr val="000000"/>
                </a:solidFill>
                <a:effectLst/>
              </a:rPr>
              <a:t>\SOFTWARE\Microsoft\Internet Explorer\</a:t>
            </a:r>
            <a:r>
              <a:rPr lang="en-US" sz="1000" b="1" i="0" dirty="0" err="1">
                <a:solidFill>
                  <a:srgbClr val="000000"/>
                </a:solidFill>
                <a:effectLst/>
              </a:rPr>
              <a:t>Intelliforms</a:t>
            </a:r>
            <a:r>
              <a:rPr lang="en-US" sz="1000" b="1" i="0" dirty="0">
                <a:solidFill>
                  <a:srgbClr val="000000"/>
                </a:solidFill>
                <a:effectLst/>
              </a:rPr>
              <a:t>\</a:t>
            </a:r>
            <a:r>
              <a:rPr lang="en-US" sz="1000" b="1" i="0" dirty="0" err="1">
                <a:solidFill>
                  <a:srgbClr val="000000"/>
                </a:solidFill>
                <a:effectLst/>
              </a:rPr>
              <a:t>FormData</a:t>
            </a:r>
            <a:r>
              <a:rPr lang="en-US" sz="1000" b="0" i="0" dirty="0">
                <a:solidFill>
                  <a:srgbClr val="000000"/>
                </a:solidFill>
                <a:effectLst/>
              </a:rPr>
              <a:t> </a:t>
            </a:r>
          </a:p>
          <a:p>
            <a:pPr algn="l" rtl="0" fontAlgn="base"/>
            <a:r>
              <a:rPr lang="en-US" sz="1000" b="0" i="0" dirty="0">
                <a:solidFill>
                  <a:srgbClr val="000000"/>
                </a:solidFill>
                <a:effectLst/>
              </a:rPr>
              <a:t>However, the information is encrypted using the Windows Data Protection API, which incorporates the Windows user password. Therefore, the content is not parsed by AXIOM. </a:t>
            </a:r>
          </a:p>
        </p:txBody>
      </p:sp>
      <p:sp>
        <p:nvSpPr>
          <p:cNvPr id="7" name="TextBox 6">
            <a:extLst>
              <a:ext uri="{FF2B5EF4-FFF2-40B4-BE49-F238E27FC236}">
                <a16:creationId xmlns:a16="http://schemas.microsoft.com/office/drawing/2014/main" id="{67122229-00A5-4188-A8AC-7AFE56B56E51}"/>
              </a:ext>
            </a:extLst>
          </p:cNvPr>
          <p:cNvSpPr txBox="1"/>
          <p:nvPr/>
        </p:nvSpPr>
        <p:spPr>
          <a:xfrm>
            <a:off x="0" y="0"/>
            <a:ext cx="4987456" cy="369332"/>
          </a:xfrm>
          <a:prstGeom prst="rect">
            <a:avLst/>
          </a:prstGeom>
          <a:noFill/>
        </p:spPr>
        <p:txBody>
          <a:bodyPr wrap="none" rtlCol="0">
            <a:spAutoFit/>
          </a:bodyPr>
          <a:lstStyle/>
          <a:p>
            <a:r>
              <a:rPr lang="en-US" b="1" u="sng" dirty="0"/>
              <a:t>3g Web related: Cache cont... TYPED URLS/FORMS</a:t>
            </a:r>
          </a:p>
        </p:txBody>
      </p:sp>
    </p:spTree>
    <p:extLst>
      <p:ext uri="{BB962C8B-B14F-4D97-AF65-F5344CB8AC3E}">
        <p14:creationId xmlns:p14="http://schemas.microsoft.com/office/powerpoint/2010/main" val="9636140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4050BED-9EAD-4C71-9CF2-055A4139E1D9}"/>
              </a:ext>
            </a:extLst>
          </p:cNvPr>
          <p:cNvSpPr txBox="1"/>
          <p:nvPr/>
        </p:nvSpPr>
        <p:spPr>
          <a:xfrm>
            <a:off x="3442313" y="3044312"/>
            <a:ext cx="4971040" cy="461665"/>
          </a:xfrm>
          <a:prstGeom prst="rect">
            <a:avLst/>
          </a:prstGeom>
          <a:solidFill>
            <a:srgbClr val="FFFF00"/>
          </a:solidFill>
          <a:ln>
            <a:solidFill>
              <a:schemeClr val="tx1"/>
            </a:solidFill>
          </a:ln>
        </p:spPr>
        <p:txBody>
          <a:bodyPr wrap="square">
            <a:spAutoFit/>
          </a:bodyPr>
          <a:lstStyle/>
          <a:p>
            <a:r>
              <a:rPr lang="en-US" sz="1200" i="1" dirty="0">
                <a:solidFill>
                  <a:srgbClr val="000000"/>
                </a:solidFill>
                <a:effectLst/>
              </a:rPr>
              <a:t>\Users\&lt;username&gt;\</a:t>
            </a:r>
            <a:r>
              <a:rPr lang="en-US" sz="1200" i="1" dirty="0" err="1">
                <a:solidFill>
                  <a:srgbClr val="000000"/>
                </a:solidFill>
                <a:effectLst/>
              </a:rPr>
              <a:t>AppData</a:t>
            </a:r>
            <a:r>
              <a:rPr lang="en-US" sz="1200" i="1" dirty="0">
                <a:solidFill>
                  <a:srgbClr val="000000"/>
                </a:solidFill>
                <a:effectLst/>
              </a:rPr>
              <a:t>\Local\Google\Chrome\User Data\Default\ </a:t>
            </a:r>
          </a:p>
          <a:p>
            <a:r>
              <a:rPr lang="en-US" sz="1200" i="1" dirty="0">
                <a:solidFill>
                  <a:srgbClr val="000000"/>
                </a:solidFill>
                <a:effectLst/>
              </a:rPr>
              <a:t>\Users\&lt;username&gt;\</a:t>
            </a:r>
            <a:r>
              <a:rPr lang="en-US" sz="1200" i="1" dirty="0" err="1">
                <a:solidFill>
                  <a:srgbClr val="000000"/>
                </a:solidFill>
                <a:effectLst/>
              </a:rPr>
              <a:t>AppData</a:t>
            </a:r>
            <a:r>
              <a:rPr lang="en-US" sz="1200" i="1" dirty="0">
                <a:solidFill>
                  <a:srgbClr val="000000"/>
                </a:solidFill>
                <a:effectLst/>
              </a:rPr>
              <a:t>\Local\Google\Chrome\User Data\&lt;Profile1&gt;\</a:t>
            </a:r>
            <a:endParaRPr lang="en-US" sz="1200" dirty="0"/>
          </a:p>
        </p:txBody>
      </p:sp>
      <p:sp>
        <p:nvSpPr>
          <p:cNvPr id="6" name="TextBox 5">
            <a:extLst>
              <a:ext uri="{FF2B5EF4-FFF2-40B4-BE49-F238E27FC236}">
                <a16:creationId xmlns:a16="http://schemas.microsoft.com/office/drawing/2014/main" id="{13F05A94-1DF9-4CDD-9F13-F0CBB583F6ED}"/>
              </a:ext>
            </a:extLst>
          </p:cNvPr>
          <p:cNvSpPr txBox="1"/>
          <p:nvPr/>
        </p:nvSpPr>
        <p:spPr>
          <a:xfrm>
            <a:off x="7099076" y="3787455"/>
            <a:ext cx="2049780" cy="1138773"/>
          </a:xfrm>
          <a:prstGeom prst="rect">
            <a:avLst/>
          </a:prstGeom>
          <a:solidFill>
            <a:srgbClr val="00B0F0"/>
          </a:solidFill>
          <a:ln>
            <a:solidFill>
              <a:schemeClr val="tx1"/>
            </a:solidFill>
          </a:ln>
        </p:spPr>
        <p:txBody>
          <a:bodyPr wrap="square">
            <a:spAutoFit/>
          </a:bodyPr>
          <a:lstStyle/>
          <a:p>
            <a:pPr algn="ctr"/>
            <a:r>
              <a:rPr lang="en-US" b="1" i="0" u="sng" dirty="0">
                <a:solidFill>
                  <a:srgbClr val="000000"/>
                </a:solidFill>
                <a:effectLst/>
              </a:rPr>
              <a:t>HISTORY</a:t>
            </a:r>
          </a:p>
          <a:p>
            <a:r>
              <a:rPr lang="en-US" sz="1000" b="1" i="0" dirty="0">
                <a:solidFill>
                  <a:srgbClr val="000000"/>
                </a:solidFill>
                <a:effectLst/>
              </a:rPr>
              <a:t>SQLite database “History”</a:t>
            </a:r>
            <a:r>
              <a:rPr lang="en-US" sz="1000" b="0" i="0" dirty="0">
                <a:solidFill>
                  <a:srgbClr val="000000"/>
                </a:solidFill>
                <a:effectLst/>
              </a:rPr>
              <a:t> </a:t>
            </a:r>
          </a:p>
          <a:p>
            <a:r>
              <a:rPr lang="en-US" sz="1000" b="1" i="0" dirty="0">
                <a:solidFill>
                  <a:srgbClr val="000000"/>
                </a:solidFill>
                <a:effectLst/>
              </a:rPr>
              <a:t>Tables</a:t>
            </a:r>
          </a:p>
          <a:p>
            <a:pPr marL="285750" indent="-285750">
              <a:buFont typeface="Arial" panose="020B0604020202020204" pitchFamily="34" charset="0"/>
              <a:buChar char="•"/>
            </a:pPr>
            <a:r>
              <a:rPr lang="en-US" sz="1000" i="0" dirty="0" err="1">
                <a:solidFill>
                  <a:srgbClr val="000000"/>
                </a:solidFill>
                <a:effectLst/>
              </a:rPr>
              <a:t>urls</a:t>
            </a:r>
            <a:endParaRPr lang="en-US" sz="1000" i="0" dirty="0">
              <a:solidFill>
                <a:srgbClr val="000000"/>
              </a:solidFill>
              <a:effectLst/>
            </a:endParaRPr>
          </a:p>
          <a:p>
            <a:pPr marL="285750" indent="-285750">
              <a:buFont typeface="Arial" panose="020B0604020202020204" pitchFamily="34" charset="0"/>
              <a:buChar char="•"/>
            </a:pPr>
            <a:r>
              <a:rPr lang="en-US" sz="1000" i="0" dirty="0">
                <a:solidFill>
                  <a:srgbClr val="000000"/>
                </a:solidFill>
                <a:effectLst/>
              </a:rPr>
              <a:t>visits</a:t>
            </a:r>
          </a:p>
          <a:p>
            <a:pPr marL="285750" indent="-285750">
              <a:buFont typeface="Arial" panose="020B0604020202020204" pitchFamily="34" charset="0"/>
              <a:buChar char="•"/>
            </a:pPr>
            <a:r>
              <a:rPr lang="en-US" sz="1000" i="0" dirty="0" err="1">
                <a:solidFill>
                  <a:srgbClr val="000000"/>
                </a:solidFill>
                <a:effectLst/>
              </a:rPr>
              <a:t>visit_source</a:t>
            </a:r>
            <a:endParaRPr lang="en-US" sz="1000" i="0" dirty="0">
              <a:solidFill>
                <a:srgbClr val="000000"/>
              </a:solidFill>
              <a:effectLst/>
            </a:endParaRPr>
          </a:p>
        </p:txBody>
      </p:sp>
      <p:sp>
        <p:nvSpPr>
          <p:cNvPr id="8" name="TextBox 7">
            <a:extLst>
              <a:ext uri="{FF2B5EF4-FFF2-40B4-BE49-F238E27FC236}">
                <a16:creationId xmlns:a16="http://schemas.microsoft.com/office/drawing/2014/main" id="{66D16B22-454D-45D6-B593-34DEADEAAEB6}"/>
              </a:ext>
            </a:extLst>
          </p:cNvPr>
          <p:cNvSpPr txBox="1"/>
          <p:nvPr/>
        </p:nvSpPr>
        <p:spPr>
          <a:xfrm>
            <a:off x="9414073" y="3253254"/>
            <a:ext cx="2722464" cy="3570208"/>
          </a:xfrm>
          <a:prstGeom prst="rect">
            <a:avLst/>
          </a:prstGeom>
          <a:solidFill>
            <a:srgbClr val="FFCCFF"/>
          </a:solidFill>
          <a:ln>
            <a:solidFill>
              <a:schemeClr val="tx1"/>
            </a:solidFill>
          </a:ln>
        </p:spPr>
        <p:txBody>
          <a:bodyPr wrap="square">
            <a:spAutoFit/>
          </a:bodyPr>
          <a:lstStyle/>
          <a:p>
            <a:r>
              <a:rPr lang="en-US" b="1" i="0" u="sng" dirty="0">
                <a:solidFill>
                  <a:srgbClr val="000000"/>
                </a:solidFill>
                <a:effectLst/>
              </a:rPr>
              <a:t>Chrome Web History</a:t>
            </a:r>
          </a:p>
          <a:p>
            <a:r>
              <a:rPr lang="en-US" b="1" i="0" u="sng" dirty="0">
                <a:solidFill>
                  <a:srgbClr val="000000"/>
                </a:solidFill>
                <a:effectLst/>
              </a:rPr>
              <a:t>Chrome </a:t>
            </a:r>
            <a:r>
              <a:rPr lang="en-US" b="1" u="sng" dirty="0">
                <a:solidFill>
                  <a:srgbClr val="000000"/>
                </a:solidFill>
              </a:rPr>
              <a:t>We</a:t>
            </a:r>
            <a:r>
              <a:rPr lang="en-US" b="1" i="0" u="sng" dirty="0">
                <a:solidFill>
                  <a:srgbClr val="000000"/>
                </a:solidFill>
                <a:effectLst/>
              </a:rPr>
              <a:t>b Visits</a:t>
            </a:r>
          </a:p>
          <a:p>
            <a:pPr algn="l" rtl="0" fontAlgn="base"/>
            <a:r>
              <a:rPr lang="en-US" sz="1000" b="1" i="0" dirty="0">
                <a:solidFill>
                  <a:srgbClr val="000000"/>
                </a:solidFill>
                <a:effectLst/>
              </a:rPr>
              <a:t>Transition Type:</a:t>
            </a:r>
          </a:p>
          <a:p>
            <a:pPr algn="l" rtl="0" fontAlgn="base"/>
            <a:r>
              <a:rPr lang="en-US" sz="1000" b="1" i="0" dirty="0">
                <a:solidFill>
                  <a:srgbClr val="000000"/>
                </a:solidFill>
                <a:effectLst/>
              </a:rPr>
              <a:t>AUTO_TOPLEVE</a:t>
            </a:r>
            <a:r>
              <a:rPr lang="en-US" sz="1000" b="0" i="0" dirty="0">
                <a:solidFill>
                  <a:srgbClr val="000000"/>
                </a:solidFill>
                <a:effectLst/>
              </a:rPr>
              <a:t>L </a:t>
            </a:r>
          </a:p>
          <a:p>
            <a:pPr algn="l" rtl="0" fontAlgn="base"/>
            <a:r>
              <a:rPr lang="en-US" sz="1000" b="1" i="0" dirty="0">
                <a:solidFill>
                  <a:srgbClr val="000000"/>
                </a:solidFill>
                <a:effectLst/>
              </a:rPr>
              <a:t>AUTO_SUBFRAME</a:t>
            </a:r>
            <a:r>
              <a:rPr lang="en-US" sz="1000" b="0" i="0" dirty="0">
                <a:solidFill>
                  <a:srgbClr val="000000"/>
                </a:solidFill>
                <a:effectLst/>
              </a:rPr>
              <a:t> </a:t>
            </a:r>
          </a:p>
          <a:p>
            <a:pPr algn="l" rtl="0" fontAlgn="base"/>
            <a:r>
              <a:rPr lang="en-US" sz="1000" b="1" i="0" dirty="0">
                <a:solidFill>
                  <a:srgbClr val="000000"/>
                </a:solidFill>
                <a:effectLst/>
              </a:rPr>
              <a:t>MANUAL_SUBFRAME </a:t>
            </a:r>
          </a:p>
          <a:p>
            <a:pPr algn="l" rtl="0" fontAlgn="base"/>
            <a:r>
              <a:rPr lang="en-US" sz="1000" b="1" i="0" dirty="0">
                <a:solidFill>
                  <a:srgbClr val="000000"/>
                </a:solidFill>
                <a:effectLst/>
              </a:rPr>
              <a:t>GENERATED </a:t>
            </a:r>
            <a:endParaRPr lang="en-US" sz="1000" b="0" i="0" dirty="0">
              <a:solidFill>
                <a:srgbClr val="000000"/>
              </a:solidFill>
              <a:effectLst/>
            </a:endParaRPr>
          </a:p>
          <a:p>
            <a:pPr algn="l" rtl="0" fontAlgn="base"/>
            <a:r>
              <a:rPr lang="en-US" sz="1000" b="1" i="0" dirty="0">
                <a:solidFill>
                  <a:srgbClr val="000000"/>
                </a:solidFill>
                <a:effectLst/>
              </a:rPr>
              <a:t>KEYWORD</a:t>
            </a:r>
          </a:p>
          <a:p>
            <a:pPr algn="l" rtl="0" fontAlgn="base"/>
            <a:r>
              <a:rPr lang="en-US" sz="1000" b="1" i="0" dirty="0">
                <a:solidFill>
                  <a:srgbClr val="000000"/>
                </a:solidFill>
                <a:effectLst/>
              </a:rPr>
              <a:t>KEYWORD_GENERATED</a:t>
            </a:r>
            <a:r>
              <a:rPr lang="en-US" sz="1000" b="0" i="0" dirty="0">
                <a:solidFill>
                  <a:srgbClr val="000000"/>
                </a:solidFill>
                <a:effectLst/>
              </a:rPr>
              <a:t>  </a:t>
            </a:r>
          </a:p>
          <a:p>
            <a:pPr algn="l" rtl="0" fontAlgn="base"/>
            <a:r>
              <a:rPr lang="en-US" sz="1000" b="1" i="0" dirty="0">
                <a:solidFill>
                  <a:srgbClr val="000000"/>
                </a:solidFill>
                <a:effectLst/>
              </a:rPr>
              <a:t>FORM_SUBMIT</a:t>
            </a:r>
            <a:r>
              <a:rPr lang="en-US" sz="1000" b="0" i="0" dirty="0">
                <a:solidFill>
                  <a:srgbClr val="000000"/>
                </a:solidFill>
                <a:effectLst/>
              </a:rPr>
              <a:t> </a:t>
            </a:r>
          </a:p>
          <a:p>
            <a:pPr algn="l" rtl="0" fontAlgn="base"/>
            <a:r>
              <a:rPr lang="en-US" sz="1000" b="1" i="0" dirty="0">
                <a:solidFill>
                  <a:srgbClr val="000000"/>
                </a:solidFill>
                <a:effectLst/>
              </a:rPr>
              <a:t>RELOAD</a:t>
            </a:r>
            <a:r>
              <a:rPr lang="en-US" sz="1000" b="0" i="0" dirty="0">
                <a:solidFill>
                  <a:srgbClr val="000000"/>
                </a:solidFill>
                <a:effectLst/>
              </a:rPr>
              <a:t> </a:t>
            </a:r>
          </a:p>
          <a:p>
            <a:pPr algn="l" rtl="0" fontAlgn="base"/>
            <a:r>
              <a:rPr lang="en-US" sz="1000" b="1" i="0" dirty="0">
                <a:solidFill>
                  <a:srgbClr val="000000"/>
                </a:solidFill>
                <a:effectLst/>
              </a:rPr>
              <a:t>TYPED</a:t>
            </a:r>
            <a:endParaRPr lang="en-US" sz="1000" dirty="0">
              <a:solidFill>
                <a:srgbClr val="000000"/>
              </a:solidFill>
            </a:endParaRPr>
          </a:p>
          <a:p>
            <a:pPr algn="l" rtl="0" fontAlgn="base"/>
            <a:r>
              <a:rPr lang="en-US" sz="1000" b="1" i="0" dirty="0">
                <a:solidFill>
                  <a:srgbClr val="000000"/>
                </a:solidFill>
                <a:effectLst/>
              </a:rPr>
              <a:t>AUTO_BOOKMARK</a:t>
            </a:r>
            <a:r>
              <a:rPr lang="en-US" sz="1000" b="0" i="0" dirty="0">
                <a:solidFill>
                  <a:srgbClr val="000000"/>
                </a:solidFill>
                <a:effectLst/>
              </a:rPr>
              <a:t> </a:t>
            </a:r>
          </a:p>
          <a:p>
            <a:pPr algn="l" rtl="0" fontAlgn="base"/>
            <a:endParaRPr lang="en-US" sz="1000" b="0" i="0" dirty="0">
              <a:solidFill>
                <a:srgbClr val="000000"/>
              </a:solidFill>
              <a:effectLst/>
            </a:endParaRPr>
          </a:p>
          <a:p>
            <a:pPr algn="l" rtl="0" fontAlgn="base"/>
            <a:r>
              <a:rPr lang="en-US" sz="1000" b="1" i="0" dirty="0">
                <a:solidFill>
                  <a:srgbClr val="000000"/>
                </a:solidFill>
                <a:effectLst/>
              </a:rPr>
              <a:t>Visit Source</a:t>
            </a:r>
            <a:r>
              <a:rPr lang="en-US" sz="1000" b="0" i="0" dirty="0">
                <a:solidFill>
                  <a:srgbClr val="000000"/>
                </a:solidFill>
                <a:effectLst/>
              </a:rPr>
              <a:t>: </a:t>
            </a:r>
          </a:p>
          <a:p>
            <a:pPr marL="171450" indent="-171450" algn="l" rtl="0" fontAlgn="base">
              <a:buFont typeface="Arial" panose="020B0604020202020204" pitchFamily="34" charset="0"/>
              <a:buChar char="•"/>
            </a:pPr>
            <a:r>
              <a:rPr lang="en-US" sz="1000" b="1" i="0" dirty="0">
                <a:solidFill>
                  <a:srgbClr val="000000"/>
                </a:solidFill>
                <a:effectLst/>
              </a:rPr>
              <a:t>Synced</a:t>
            </a:r>
            <a:r>
              <a:rPr lang="en-US" sz="1000" b="0" i="0" dirty="0">
                <a:solidFill>
                  <a:srgbClr val="000000"/>
                </a:solidFill>
                <a:effectLst/>
              </a:rPr>
              <a:t> Synchronized from somewhere else. </a:t>
            </a:r>
          </a:p>
          <a:p>
            <a:pPr marL="171450" indent="-171450" algn="l" rtl="0" fontAlgn="base">
              <a:buFont typeface="Arial" panose="020B0604020202020204" pitchFamily="34" charset="0"/>
              <a:buChar char="•"/>
            </a:pPr>
            <a:r>
              <a:rPr lang="en-US" sz="1000" b="1" i="0" dirty="0">
                <a:solidFill>
                  <a:srgbClr val="000000"/>
                </a:solidFill>
                <a:effectLst/>
              </a:rPr>
              <a:t>User</a:t>
            </a:r>
            <a:r>
              <a:rPr lang="en-US" sz="1000" i="0" dirty="0">
                <a:solidFill>
                  <a:srgbClr val="000000"/>
                </a:solidFill>
                <a:effectLst/>
              </a:rPr>
              <a:t> </a:t>
            </a:r>
            <a:r>
              <a:rPr lang="en-US" sz="1000" b="1" i="0" dirty="0">
                <a:solidFill>
                  <a:srgbClr val="000000"/>
                </a:solidFill>
                <a:effectLst/>
              </a:rPr>
              <a:t>Browsed</a:t>
            </a:r>
            <a:r>
              <a:rPr lang="en-US" sz="1000" i="0" dirty="0">
                <a:solidFill>
                  <a:srgbClr val="000000"/>
                </a:solidFill>
                <a:effectLst/>
              </a:rPr>
              <a:t> </a:t>
            </a:r>
            <a:r>
              <a:rPr lang="en-US" sz="1000" b="0" i="0" dirty="0">
                <a:solidFill>
                  <a:srgbClr val="000000"/>
                </a:solidFill>
                <a:effectLst/>
              </a:rPr>
              <a:t>User browsed </a:t>
            </a:r>
          </a:p>
          <a:p>
            <a:pPr marL="171450" indent="-171450" algn="l" rtl="0" fontAlgn="base">
              <a:buFont typeface="Arial" panose="020B0604020202020204" pitchFamily="34" charset="0"/>
              <a:buChar char="•"/>
            </a:pPr>
            <a:r>
              <a:rPr lang="en-US" sz="1000" b="1" i="0" dirty="0">
                <a:solidFill>
                  <a:srgbClr val="000000"/>
                </a:solidFill>
                <a:effectLst/>
              </a:rPr>
              <a:t>Extension</a:t>
            </a:r>
            <a:r>
              <a:rPr lang="en-US" sz="1000" b="0" i="0" dirty="0">
                <a:solidFill>
                  <a:srgbClr val="000000"/>
                </a:solidFill>
                <a:effectLst/>
              </a:rPr>
              <a:t> Added by an extension. </a:t>
            </a:r>
          </a:p>
          <a:p>
            <a:pPr marL="171450" indent="-171450" algn="l" rtl="0" fontAlgn="base">
              <a:buFont typeface="Arial" panose="020B0604020202020204" pitchFamily="34" charset="0"/>
              <a:buChar char="•"/>
            </a:pPr>
            <a:r>
              <a:rPr lang="en-US" sz="1000" b="1" i="0" dirty="0">
                <a:solidFill>
                  <a:srgbClr val="000000"/>
                </a:solidFill>
                <a:effectLst/>
              </a:rPr>
              <a:t>Firefox Import </a:t>
            </a:r>
            <a:r>
              <a:rPr lang="en-US" sz="1000" b="0" i="0" dirty="0">
                <a:solidFill>
                  <a:srgbClr val="000000"/>
                </a:solidFill>
                <a:effectLst/>
              </a:rPr>
              <a:t>Imported from Firefox. </a:t>
            </a:r>
          </a:p>
          <a:p>
            <a:pPr marL="171450" indent="-171450" algn="l" rtl="0" fontAlgn="base">
              <a:buFont typeface="Arial" panose="020B0604020202020204" pitchFamily="34" charset="0"/>
              <a:buChar char="•"/>
            </a:pPr>
            <a:r>
              <a:rPr lang="en-US" sz="1000" b="1" i="0" dirty="0">
                <a:solidFill>
                  <a:srgbClr val="000000"/>
                </a:solidFill>
                <a:effectLst/>
              </a:rPr>
              <a:t>IE Import </a:t>
            </a:r>
            <a:r>
              <a:rPr lang="en-US" sz="1000" b="0" i="0" dirty="0">
                <a:solidFill>
                  <a:srgbClr val="000000"/>
                </a:solidFill>
                <a:effectLst/>
              </a:rPr>
              <a:t>Imported from Internet Explorer. </a:t>
            </a:r>
          </a:p>
          <a:p>
            <a:pPr marL="171450" indent="-171450" algn="l" rtl="0" fontAlgn="base">
              <a:buFont typeface="Arial" panose="020B0604020202020204" pitchFamily="34" charset="0"/>
              <a:buChar char="•"/>
            </a:pPr>
            <a:r>
              <a:rPr lang="en-US" sz="1000" b="1" i="0" dirty="0">
                <a:solidFill>
                  <a:srgbClr val="000000"/>
                </a:solidFill>
                <a:effectLst/>
              </a:rPr>
              <a:t>Safari Import </a:t>
            </a:r>
            <a:r>
              <a:rPr lang="en-US" sz="1000" b="0" i="0" dirty="0">
                <a:solidFill>
                  <a:srgbClr val="000000"/>
                </a:solidFill>
                <a:effectLst/>
              </a:rPr>
              <a:t>Imported from Safari. </a:t>
            </a:r>
          </a:p>
        </p:txBody>
      </p:sp>
      <p:sp>
        <p:nvSpPr>
          <p:cNvPr id="12" name="TextBox 11">
            <a:extLst>
              <a:ext uri="{FF2B5EF4-FFF2-40B4-BE49-F238E27FC236}">
                <a16:creationId xmlns:a16="http://schemas.microsoft.com/office/drawing/2014/main" id="{9AE08DCC-AE15-448E-8FE3-1C7DE23C28F2}"/>
              </a:ext>
            </a:extLst>
          </p:cNvPr>
          <p:cNvSpPr txBox="1"/>
          <p:nvPr/>
        </p:nvSpPr>
        <p:spPr>
          <a:xfrm>
            <a:off x="9335460" y="1400197"/>
            <a:ext cx="1286635" cy="1138773"/>
          </a:xfrm>
          <a:prstGeom prst="rect">
            <a:avLst/>
          </a:prstGeom>
          <a:noFill/>
          <a:ln>
            <a:solidFill>
              <a:schemeClr val="tx1"/>
            </a:solidFill>
          </a:ln>
        </p:spPr>
        <p:txBody>
          <a:bodyPr wrap="square">
            <a:spAutoFit/>
          </a:bodyPr>
          <a:lstStyle/>
          <a:p>
            <a:pPr algn="ctr" rtl="0" fontAlgn="base"/>
            <a:r>
              <a:rPr lang="en-US" sz="1800" b="1" i="0" u="sng" dirty="0">
                <a:solidFill>
                  <a:srgbClr val="000000"/>
                </a:solidFill>
                <a:effectLst/>
              </a:rPr>
              <a:t>RECOVERY</a:t>
            </a:r>
          </a:p>
          <a:p>
            <a:pPr algn="l" rtl="0" fontAlgn="base"/>
            <a:r>
              <a:rPr lang="en-US" sz="1000" b="1" i="0" dirty="0">
                <a:solidFill>
                  <a:srgbClr val="000000"/>
                </a:solidFill>
                <a:effectLst/>
              </a:rPr>
              <a:t>Files</a:t>
            </a:r>
          </a:p>
          <a:p>
            <a:pPr marL="171450" indent="-171450" algn="l" rtl="0" fontAlgn="base">
              <a:buFont typeface="Arial" panose="020B0604020202020204" pitchFamily="34" charset="0"/>
              <a:buChar char="•"/>
            </a:pPr>
            <a:r>
              <a:rPr lang="en-US" sz="1000" b="0" i="0" dirty="0">
                <a:solidFill>
                  <a:srgbClr val="000000"/>
                </a:solidFill>
                <a:effectLst/>
              </a:rPr>
              <a:t>Current Session </a:t>
            </a:r>
          </a:p>
          <a:p>
            <a:pPr marL="171450" indent="-171450" algn="l" rtl="0" fontAlgn="base">
              <a:buFont typeface="Arial" panose="020B0604020202020204" pitchFamily="34" charset="0"/>
              <a:buChar char="•"/>
            </a:pPr>
            <a:r>
              <a:rPr lang="en-US" sz="1000" b="0" i="0" dirty="0" err="1">
                <a:solidFill>
                  <a:srgbClr val="000000"/>
                </a:solidFill>
                <a:effectLst/>
              </a:rPr>
              <a:t>CurrentTabs</a:t>
            </a:r>
            <a:endParaRPr lang="en-US" sz="1000" b="0" i="0" dirty="0">
              <a:solidFill>
                <a:srgbClr val="000000"/>
              </a:solidFill>
              <a:effectLst/>
            </a:endParaRPr>
          </a:p>
          <a:p>
            <a:pPr marL="171450" indent="-171450" algn="l" rtl="0" fontAlgn="base">
              <a:buFont typeface="Arial" panose="020B0604020202020204" pitchFamily="34" charset="0"/>
              <a:buChar char="•"/>
            </a:pPr>
            <a:r>
              <a:rPr lang="en-US" sz="1000" b="0" i="0" dirty="0">
                <a:solidFill>
                  <a:srgbClr val="000000"/>
                </a:solidFill>
                <a:effectLst/>
              </a:rPr>
              <a:t>Last Session</a:t>
            </a:r>
          </a:p>
          <a:p>
            <a:pPr marL="171450" indent="-171450" algn="l" rtl="0" fontAlgn="base">
              <a:buFont typeface="Arial" panose="020B0604020202020204" pitchFamily="34" charset="0"/>
              <a:buChar char="•"/>
            </a:pPr>
            <a:r>
              <a:rPr lang="en-US" sz="1000" b="0" i="0" dirty="0">
                <a:solidFill>
                  <a:srgbClr val="000000"/>
                </a:solidFill>
                <a:effectLst/>
              </a:rPr>
              <a:t>Last Tabs</a:t>
            </a:r>
          </a:p>
        </p:txBody>
      </p:sp>
      <p:sp>
        <p:nvSpPr>
          <p:cNvPr id="14" name="TextBox 13">
            <a:extLst>
              <a:ext uri="{FF2B5EF4-FFF2-40B4-BE49-F238E27FC236}">
                <a16:creationId xmlns:a16="http://schemas.microsoft.com/office/drawing/2014/main" id="{7833106B-07A0-4CC8-AC87-A3F781A377C0}"/>
              </a:ext>
            </a:extLst>
          </p:cNvPr>
          <p:cNvSpPr txBox="1"/>
          <p:nvPr/>
        </p:nvSpPr>
        <p:spPr>
          <a:xfrm>
            <a:off x="9867936" y="161356"/>
            <a:ext cx="2189988" cy="923330"/>
          </a:xfrm>
          <a:prstGeom prst="rect">
            <a:avLst/>
          </a:prstGeom>
          <a:solidFill>
            <a:srgbClr val="FFCCFF"/>
          </a:solidFill>
          <a:ln>
            <a:solidFill>
              <a:schemeClr val="tx1"/>
            </a:solidFill>
          </a:ln>
        </p:spPr>
        <p:txBody>
          <a:bodyPr wrap="square">
            <a:spAutoFit/>
          </a:bodyPr>
          <a:lstStyle/>
          <a:p>
            <a:pPr algn="l" rtl="0" fontAlgn="base"/>
            <a:r>
              <a:rPr lang="en-US" sz="1800" b="1" i="0" u="sng" dirty="0">
                <a:solidFill>
                  <a:srgbClr val="000000"/>
                </a:solidFill>
                <a:effectLst/>
              </a:rPr>
              <a:t>Chrome Current Tabs</a:t>
            </a:r>
          </a:p>
          <a:p>
            <a:pPr algn="l" rtl="0" fontAlgn="base"/>
            <a:r>
              <a:rPr lang="en-US" sz="1800" b="1" i="0" u="sng" dirty="0">
                <a:solidFill>
                  <a:srgbClr val="000000"/>
                </a:solidFill>
                <a:effectLst/>
              </a:rPr>
              <a:t>Chrome Last Session</a:t>
            </a:r>
          </a:p>
          <a:p>
            <a:pPr algn="l" rtl="0" fontAlgn="base"/>
            <a:r>
              <a:rPr lang="en-US" sz="1800" b="1" i="0" u="sng" dirty="0">
                <a:solidFill>
                  <a:srgbClr val="000000"/>
                </a:solidFill>
                <a:effectLst/>
              </a:rPr>
              <a:t>Chrome Last Tabs </a:t>
            </a:r>
          </a:p>
        </p:txBody>
      </p:sp>
      <p:sp>
        <p:nvSpPr>
          <p:cNvPr id="16" name="TextBox 15">
            <a:extLst>
              <a:ext uri="{FF2B5EF4-FFF2-40B4-BE49-F238E27FC236}">
                <a16:creationId xmlns:a16="http://schemas.microsoft.com/office/drawing/2014/main" id="{7367949C-C6B9-4B98-8579-F47EC05AC013}"/>
              </a:ext>
            </a:extLst>
          </p:cNvPr>
          <p:cNvSpPr txBox="1"/>
          <p:nvPr/>
        </p:nvSpPr>
        <p:spPr>
          <a:xfrm>
            <a:off x="4584458" y="3787455"/>
            <a:ext cx="2049780" cy="984885"/>
          </a:xfrm>
          <a:prstGeom prst="rect">
            <a:avLst/>
          </a:prstGeom>
          <a:solidFill>
            <a:srgbClr val="00B0F0"/>
          </a:solidFill>
          <a:ln>
            <a:solidFill>
              <a:schemeClr val="tx1"/>
            </a:solidFill>
          </a:ln>
        </p:spPr>
        <p:txBody>
          <a:bodyPr wrap="square">
            <a:spAutoFit/>
          </a:bodyPr>
          <a:lstStyle/>
          <a:p>
            <a:pPr algn="ctr"/>
            <a:r>
              <a:rPr lang="en-US" b="1" i="0" u="sng" dirty="0">
                <a:solidFill>
                  <a:srgbClr val="000000"/>
                </a:solidFill>
                <a:effectLst/>
              </a:rPr>
              <a:t>DOWNLOADS</a:t>
            </a:r>
          </a:p>
          <a:p>
            <a:r>
              <a:rPr lang="en-US" sz="1000" b="1" i="0" dirty="0">
                <a:solidFill>
                  <a:srgbClr val="000000"/>
                </a:solidFill>
                <a:effectLst/>
              </a:rPr>
              <a:t>SQLite database “History”</a:t>
            </a:r>
            <a:r>
              <a:rPr lang="en-US" sz="1000" b="0" i="0" dirty="0">
                <a:solidFill>
                  <a:srgbClr val="000000"/>
                </a:solidFill>
                <a:effectLst/>
              </a:rPr>
              <a:t> </a:t>
            </a:r>
          </a:p>
          <a:p>
            <a:r>
              <a:rPr lang="en-US" sz="1000" b="1" i="0" dirty="0">
                <a:solidFill>
                  <a:srgbClr val="000000"/>
                </a:solidFill>
                <a:effectLst/>
              </a:rPr>
              <a:t>Tables</a:t>
            </a:r>
          </a:p>
          <a:p>
            <a:pPr marL="285750" indent="-285750">
              <a:buFont typeface="Arial" panose="020B0604020202020204" pitchFamily="34" charset="0"/>
              <a:buChar char="•"/>
            </a:pPr>
            <a:r>
              <a:rPr lang="en-US" sz="1000" i="0" dirty="0">
                <a:solidFill>
                  <a:srgbClr val="000000"/>
                </a:solidFill>
                <a:effectLst/>
              </a:rPr>
              <a:t>downloads</a:t>
            </a:r>
          </a:p>
          <a:p>
            <a:pPr marL="285750" indent="-285750">
              <a:buFont typeface="Arial" panose="020B0604020202020204" pitchFamily="34" charset="0"/>
              <a:buChar char="•"/>
            </a:pPr>
            <a:r>
              <a:rPr lang="en-US" sz="1000" dirty="0" err="1">
                <a:solidFill>
                  <a:srgbClr val="000000"/>
                </a:solidFill>
              </a:rPr>
              <a:t>downloads_url_chains</a:t>
            </a:r>
            <a:endParaRPr lang="en-US" sz="1000" i="0" dirty="0">
              <a:solidFill>
                <a:srgbClr val="000000"/>
              </a:solidFill>
              <a:effectLst/>
            </a:endParaRPr>
          </a:p>
        </p:txBody>
      </p:sp>
      <p:sp>
        <p:nvSpPr>
          <p:cNvPr id="18" name="TextBox 17">
            <a:extLst>
              <a:ext uri="{FF2B5EF4-FFF2-40B4-BE49-F238E27FC236}">
                <a16:creationId xmlns:a16="http://schemas.microsoft.com/office/drawing/2014/main" id="{B1F44E34-7F3F-4688-8FDF-E86282AFCA21}"/>
              </a:ext>
            </a:extLst>
          </p:cNvPr>
          <p:cNvSpPr txBox="1"/>
          <p:nvPr/>
        </p:nvSpPr>
        <p:spPr>
          <a:xfrm>
            <a:off x="4638795" y="5057178"/>
            <a:ext cx="2427732" cy="1754326"/>
          </a:xfrm>
          <a:prstGeom prst="rect">
            <a:avLst/>
          </a:prstGeom>
          <a:solidFill>
            <a:srgbClr val="FFCCFF"/>
          </a:solidFill>
          <a:ln>
            <a:solidFill>
              <a:schemeClr val="tx1"/>
            </a:solidFill>
          </a:ln>
        </p:spPr>
        <p:txBody>
          <a:bodyPr wrap="square">
            <a:spAutoFit/>
          </a:bodyPr>
          <a:lstStyle/>
          <a:p>
            <a:pPr algn="ctr"/>
            <a:r>
              <a:rPr lang="en-US" b="1" i="0" u="sng" dirty="0">
                <a:solidFill>
                  <a:srgbClr val="000000"/>
                </a:solidFill>
                <a:effectLst/>
              </a:rPr>
              <a:t>Chrome Downloads</a:t>
            </a:r>
          </a:p>
          <a:p>
            <a:pPr marL="171450" indent="-171450" algn="l" rtl="0" fontAlgn="base">
              <a:buFont typeface="Arial" panose="020B0604020202020204" pitchFamily="34" charset="0"/>
              <a:buChar char="•"/>
            </a:pPr>
            <a:r>
              <a:rPr lang="en-US" sz="1000" b="1" i="0" dirty="0">
                <a:solidFill>
                  <a:srgbClr val="000000"/>
                </a:solidFill>
                <a:effectLst/>
              </a:rPr>
              <a:t>Download Source </a:t>
            </a:r>
            <a:endParaRPr lang="en-US" sz="1000" b="0" i="0" dirty="0">
              <a:solidFill>
                <a:srgbClr val="000000"/>
              </a:solidFill>
              <a:effectLst/>
            </a:endParaRPr>
          </a:p>
          <a:p>
            <a:pPr marL="171450" indent="-171450" algn="l" rtl="0" fontAlgn="base">
              <a:buFont typeface="Arial" panose="020B0604020202020204" pitchFamily="34" charset="0"/>
              <a:buChar char="•"/>
            </a:pPr>
            <a:r>
              <a:rPr lang="en-US" sz="1000" b="1" i="0" dirty="0">
                <a:solidFill>
                  <a:srgbClr val="000000"/>
                </a:solidFill>
                <a:effectLst/>
              </a:rPr>
              <a:t>File Name</a:t>
            </a:r>
            <a:r>
              <a:rPr lang="en-US" sz="1000" b="0" i="0" dirty="0">
                <a:solidFill>
                  <a:srgbClr val="000000"/>
                </a:solidFill>
                <a:effectLst/>
              </a:rPr>
              <a:t> </a:t>
            </a:r>
          </a:p>
          <a:p>
            <a:pPr marL="171450" indent="-171450" algn="l" rtl="0" fontAlgn="base">
              <a:buFont typeface="Arial" panose="020B0604020202020204" pitchFamily="34" charset="0"/>
              <a:buChar char="•"/>
            </a:pPr>
            <a:r>
              <a:rPr lang="en-US" sz="1000" b="1" i="0" dirty="0">
                <a:solidFill>
                  <a:srgbClr val="000000"/>
                </a:solidFill>
                <a:effectLst/>
              </a:rPr>
              <a:t>Start Time Date/Time</a:t>
            </a:r>
            <a:r>
              <a:rPr lang="en-US" sz="1000" b="0" i="0" dirty="0">
                <a:solidFill>
                  <a:srgbClr val="000000"/>
                </a:solidFill>
                <a:effectLst/>
              </a:rPr>
              <a:t>  </a:t>
            </a:r>
          </a:p>
          <a:p>
            <a:pPr marL="171450" indent="-171450" algn="l" rtl="0" fontAlgn="base">
              <a:buFont typeface="Arial" panose="020B0604020202020204" pitchFamily="34" charset="0"/>
              <a:buChar char="•"/>
            </a:pPr>
            <a:r>
              <a:rPr lang="en-US" sz="1000" b="1" i="0" dirty="0">
                <a:solidFill>
                  <a:srgbClr val="000000"/>
                </a:solidFill>
                <a:effectLst/>
              </a:rPr>
              <a:t>End Time Date/Time</a:t>
            </a:r>
            <a:r>
              <a:rPr lang="en-US" sz="1000" b="0" i="0" dirty="0">
                <a:solidFill>
                  <a:srgbClr val="000000"/>
                </a:solidFill>
                <a:effectLst/>
              </a:rPr>
              <a:t> </a:t>
            </a:r>
          </a:p>
          <a:p>
            <a:pPr marL="171450" indent="-171450" algn="l" rtl="0" fontAlgn="base">
              <a:buFont typeface="Arial" panose="020B0604020202020204" pitchFamily="34" charset="0"/>
              <a:buChar char="•"/>
            </a:pPr>
            <a:r>
              <a:rPr lang="en-US" sz="1000" b="1" i="0" dirty="0">
                <a:solidFill>
                  <a:srgbClr val="000000"/>
                </a:solidFill>
                <a:effectLst/>
              </a:rPr>
              <a:t>Saved To</a:t>
            </a:r>
            <a:r>
              <a:rPr lang="en-US" sz="1000" b="0" i="0" dirty="0">
                <a:solidFill>
                  <a:srgbClr val="000000"/>
                </a:solidFill>
                <a:effectLst/>
              </a:rPr>
              <a:t> </a:t>
            </a:r>
          </a:p>
          <a:p>
            <a:pPr marL="171450" indent="-171450" algn="l" rtl="0" fontAlgn="base">
              <a:buFont typeface="Arial" panose="020B0604020202020204" pitchFamily="34" charset="0"/>
              <a:buChar char="•"/>
            </a:pPr>
            <a:r>
              <a:rPr lang="en-US" sz="1000" b="1" i="0" dirty="0">
                <a:solidFill>
                  <a:srgbClr val="000000"/>
                </a:solidFill>
                <a:effectLst/>
              </a:rPr>
              <a:t>State </a:t>
            </a:r>
            <a:r>
              <a:rPr lang="en-US" sz="1000" i="0" dirty="0">
                <a:solidFill>
                  <a:srgbClr val="000000"/>
                </a:solidFill>
                <a:effectLst/>
              </a:rPr>
              <a:t>(download successful?)</a:t>
            </a:r>
          </a:p>
          <a:p>
            <a:pPr marL="171450" indent="-171450" algn="l" rtl="0" fontAlgn="base">
              <a:buFont typeface="Arial" panose="020B0604020202020204" pitchFamily="34" charset="0"/>
              <a:buChar char="•"/>
            </a:pPr>
            <a:r>
              <a:rPr lang="en-US" sz="1000" b="1" i="0" dirty="0">
                <a:solidFill>
                  <a:srgbClr val="000000"/>
                </a:solidFill>
                <a:effectLst/>
              </a:rPr>
              <a:t>Opened by User </a:t>
            </a:r>
            <a:endParaRPr lang="en-US" sz="1000" b="0" i="0" dirty="0">
              <a:solidFill>
                <a:srgbClr val="000000"/>
              </a:solidFill>
              <a:effectLst/>
            </a:endParaRPr>
          </a:p>
          <a:p>
            <a:pPr marL="171450" indent="-171450" algn="l" rtl="0" fontAlgn="base">
              <a:buFont typeface="Arial" panose="020B0604020202020204" pitchFamily="34" charset="0"/>
              <a:buChar char="•"/>
            </a:pPr>
            <a:r>
              <a:rPr lang="en-US" sz="1000" b="1" i="0" dirty="0">
                <a:solidFill>
                  <a:srgbClr val="000000"/>
                </a:solidFill>
                <a:effectLst/>
              </a:rPr>
              <a:t>Bytes Downloaded</a:t>
            </a:r>
          </a:p>
          <a:p>
            <a:pPr marL="171450" indent="-171450" algn="l" rtl="0" fontAlgn="base">
              <a:buFont typeface="Arial" panose="020B0604020202020204" pitchFamily="34" charset="0"/>
              <a:buChar char="•"/>
            </a:pPr>
            <a:r>
              <a:rPr lang="en-US" sz="1000" b="1" i="0" dirty="0">
                <a:solidFill>
                  <a:srgbClr val="000000"/>
                </a:solidFill>
                <a:effectLst/>
              </a:rPr>
              <a:t>File Size (Bytes) </a:t>
            </a:r>
            <a:endParaRPr lang="en-US" sz="1000" b="0" i="0" dirty="0">
              <a:solidFill>
                <a:srgbClr val="000000"/>
              </a:solidFill>
              <a:effectLst/>
            </a:endParaRPr>
          </a:p>
        </p:txBody>
      </p:sp>
      <p:sp>
        <p:nvSpPr>
          <p:cNvPr id="24" name="TextBox 23">
            <a:extLst>
              <a:ext uri="{FF2B5EF4-FFF2-40B4-BE49-F238E27FC236}">
                <a16:creationId xmlns:a16="http://schemas.microsoft.com/office/drawing/2014/main" id="{5A307A40-B699-44D8-B51A-9B9D6AA99CAC}"/>
              </a:ext>
            </a:extLst>
          </p:cNvPr>
          <p:cNvSpPr txBox="1"/>
          <p:nvPr/>
        </p:nvSpPr>
        <p:spPr>
          <a:xfrm>
            <a:off x="4700922" y="757248"/>
            <a:ext cx="2907393" cy="2000548"/>
          </a:xfrm>
          <a:prstGeom prst="rect">
            <a:avLst/>
          </a:prstGeom>
          <a:noFill/>
          <a:ln>
            <a:solidFill>
              <a:schemeClr val="tx1"/>
            </a:solidFill>
          </a:ln>
        </p:spPr>
        <p:txBody>
          <a:bodyPr wrap="square">
            <a:spAutoFit/>
          </a:bodyPr>
          <a:lstStyle/>
          <a:p>
            <a:pPr algn="ctr" rtl="0" fontAlgn="base"/>
            <a:r>
              <a:rPr lang="en-US" sz="1800" b="1" i="0" u="sng" dirty="0">
                <a:solidFill>
                  <a:srgbClr val="000000"/>
                </a:solidFill>
                <a:effectLst/>
              </a:rPr>
              <a:t>Bookmarks</a:t>
            </a:r>
          </a:p>
          <a:p>
            <a:pPr algn="l" rtl="0" fontAlgn="base"/>
            <a:r>
              <a:rPr lang="en-US" sz="1000" b="1" i="0" dirty="0">
                <a:solidFill>
                  <a:srgbClr val="000000"/>
                </a:solidFill>
                <a:effectLst/>
              </a:rPr>
              <a:t>Plain text file “Bookmarks”</a:t>
            </a:r>
          </a:p>
          <a:p>
            <a:pPr algn="l" rtl="0" fontAlgn="base"/>
            <a:r>
              <a:rPr lang="en-US" sz="800" b="0" i="0" dirty="0">
                <a:solidFill>
                  <a:srgbClr val="000000"/>
                </a:solidFill>
                <a:effectLst/>
              </a:rPr>
              <a:t>{</a:t>
            </a:r>
          </a:p>
          <a:p>
            <a:pPr algn="l" rtl="0" fontAlgn="base"/>
            <a:r>
              <a:rPr lang="en-US" sz="800" b="0" i="0" dirty="0">
                <a:solidFill>
                  <a:srgbClr val="000000"/>
                </a:solidFill>
                <a:effectLst/>
              </a:rPr>
              <a:t>   "checksum": "7d5c7fc44bbcd580475fa2473b1e3ddf",</a:t>
            </a:r>
          </a:p>
          <a:p>
            <a:pPr algn="l" rtl="0" fontAlgn="base"/>
            <a:r>
              <a:rPr lang="en-US" sz="800" b="0" i="0" dirty="0">
                <a:solidFill>
                  <a:srgbClr val="000000"/>
                </a:solidFill>
                <a:effectLst/>
              </a:rPr>
              <a:t>   "roots": {</a:t>
            </a:r>
          </a:p>
          <a:p>
            <a:pPr algn="l" rtl="0" fontAlgn="base"/>
            <a:r>
              <a:rPr lang="en-US" sz="800" b="0" i="0" dirty="0">
                <a:solidFill>
                  <a:srgbClr val="000000"/>
                </a:solidFill>
                <a:effectLst/>
              </a:rPr>
              <a:t>      "</a:t>
            </a:r>
            <a:r>
              <a:rPr lang="en-US" sz="800" b="0" i="0" dirty="0" err="1">
                <a:solidFill>
                  <a:srgbClr val="000000"/>
                </a:solidFill>
                <a:effectLst/>
              </a:rPr>
              <a:t>bookmark_bar</a:t>
            </a:r>
            <a:r>
              <a:rPr lang="en-US" sz="800" b="0" i="0" dirty="0">
                <a:solidFill>
                  <a:srgbClr val="000000"/>
                </a:solidFill>
                <a:effectLst/>
              </a:rPr>
              <a:t>": {</a:t>
            </a:r>
          </a:p>
          <a:p>
            <a:pPr algn="l" rtl="0" fontAlgn="base"/>
            <a:r>
              <a:rPr lang="en-US" sz="800" b="0" i="0" dirty="0">
                <a:solidFill>
                  <a:srgbClr val="000000"/>
                </a:solidFill>
                <a:effectLst/>
              </a:rPr>
              <a:t>         "children": [ {</a:t>
            </a:r>
          </a:p>
          <a:p>
            <a:pPr algn="l" rtl="0" fontAlgn="base"/>
            <a:r>
              <a:rPr lang="en-US" sz="800" b="0" i="0" dirty="0">
                <a:solidFill>
                  <a:srgbClr val="000000"/>
                </a:solidFill>
                <a:effectLst/>
              </a:rPr>
              <a:t>            "</a:t>
            </a:r>
            <a:r>
              <a:rPr lang="en-US" sz="800" b="0" i="0" dirty="0" err="1">
                <a:solidFill>
                  <a:srgbClr val="000000"/>
                </a:solidFill>
                <a:effectLst/>
              </a:rPr>
              <a:t>date_added</a:t>
            </a:r>
            <a:r>
              <a:rPr lang="en-US" sz="800" b="0" i="0" dirty="0">
                <a:solidFill>
                  <a:srgbClr val="000000"/>
                </a:solidFill>
                <a:effectLst/>
              </a:rPr>
              <a:t>": "13224093459120971",</a:t>
            </a:r>
          </a:p>
          <a:p>
            <a:pPr algn="l" rtl="0" fontAlgn="base"/>
            <a:r>
              <a:rPr lang="en-US" sz="800" b="0" i="0" dirty="0">
                <a:solidFill>
                  <a:srgbClr val="000000"/>
                </a:solidFill>
                <a:effectLst/>
              </a:rPr>
              <a:t>            "</a:t>
            </a:r>
            <a:r>
              <a:rPr lang="en-US" sz="800" b="0" i="0" dirty="0" err="1">
                <a:solidFill>
                  <a:srgbClr val="000000"/>
                </a:solidFill>
                <a:effectLst/>
              </a:rPr>
              <a:t>guid</a:t>
            </a:r>
            <a:r>
              <a:rPr lang="en-US" sz="800" b="0" i="0" dirty="0">
                <a:solidFill>
                  <a:srgbClr val="000000"/>
                </a:solidFill>
                <a:effectLst/>
              </a:rPr>
              <a:t>": "a164ec3e-bac0-49de-8132-592521fd28ce",</a:t>
            </a:r>
          </a:p>
          <a:p>
            <a:pPr algn="l" rtl="0" fontAlgn="base"/>
            <a:r>
              <a:rPr lang="en-US" sz="800" b="0" i="0" dirty="0">
                <a:solidFill>
                  <a:srgbClr val="000000"/>
                </a:solidFill>
                <a:effectLst/>
              </a:rPr>
              <a:t>            "id": "8",</a:t>
            </a:r>
          </a:p>
          <a:p>
            <a:pPr algn="l" rtl="0" fontAlgn="base"/>
            <a:r>
              <a:rPr lang="en-US" sz="800" b="0" i="0" dirty="0">
                <a:solidFill>
                  <a:srgbClr val="000000"/>
                </a:solidFill>
                <a:effectLst/>
              </a:rPr>
              <a:t>            "name": "",</a:t>
            </a:r>
          </a:p>
          <a:p>
            <a:pPr algn="l" rtl="0" fontAlgn="base"/>
            <a:r>
              <a:rPr lang="en-US" sz="800" b="0" i="0" dirty="0">
                <a:solidFill>
                  <a:srgbClr val="000000"/>
                </a:solidFill>
                <a:effectLst/>
              </a:rPr>
              <a:t>            "type": "</a:t>
            </a:r>
            <a:r>
              <a:rPr lang="en-US" sz="800" b="0" i="0" dirty="0" err="1">
                <a:solidFill>
                  <a:srgbClr val="000000"/>
                </a:solidFill>
                <a:effectLst/>
              </a:rPr>
              <a:t>url</a:t>
            </a:r>
            <a:r>
              <a:rPr lang="en-US" sz="800" b="0" i="0" dirty="0">
                <a:solidFill>
                  <a:srgbClr val="000000"/>
                </a:solidFill>
                <a:effectLst/>
              </a:rPr>
              <a:t>",</a:t>
            </a:r>
          </a:p>
          <a:p>
            <a:pPr algn="l" rtl="0" fontAlgn="base"/>
            <a:r>
              <a:rPr lang="en-US" sz="800" b="0" i="0" dirty="0">
                <a:solidFill>
                  <a:srgbClr val="000000"/>
                </a:solidFill>
                <a:effectLst/>
              </a:rPr>
              <a:t>            "</a:t>
            </a:r>
            <a:r>
              <a:rPr lang="en-US" sz="800" b="0" i="0" dirty="0" err="1">
                <a:solidFill>
                  <a:srgbClr val="000000"/>
                </a:solidFill>
                <a:effectLst/>
              </a:rPr>
              <a:t>url</a:t>
            </a:r>
            <a:r>
              <a:rPr lang="en-US" sz="800" b="0" i="0" dirty="0">
                <a:solidFill>
                  <a:srgbClr val="000000"/>
                </a:solidFill>
                <a:effectLst/>
              </a:rPr>
              <a:t>": "https://github.com/"</a:t>
            </a:r>
          </a:p>
          <a:p>
            <a:pPr algn="l" rtl="0" fontAlgn="base"/>
            <a:r>
              <a:rPr lang="en-US" sz="800" b="0" i="0" dirty="0">
                <a:solidFill>
                  <a:srgbClr val="000000"/>
                </a:solidFill>
                <a:effectLst/>
              </a:rPr>
              <a:t>         },</a:t>
            </a:r>
          </a:p>
        </p:txBody>
      </p:sp>
      <p:sp>
        <p:nvSpPr>
          <p:cNvPr id="26" name="TextBox 25">
            <a:extLst>
              <a:ext uri="{FF2B5EF4-FFF2-40B4-BE49-F238E27FC236}">
                <a16:creationId xmlns:a16="http://schemas.microsoft.com/office/drawing/2014/main" id="{D4FFC3C9-7540-4AC2-B2CA-D5E48F594614}"/>
              </a:ext>
            </a:extLst>
          </p:cNvPr>
          <p:cNvSpPr txBox="1"/>
          <p:nvPr/>
        </p:nvSpPr>
        <p:spPr>
          <a:xfrm>
            <a:off x="1217598" y="2063336"/>
            <a:ext cx="1674876" cy="830997"/>
          </a:xfrm>
          <a:prstGeom prst="rect">
            <a:avLst/>
          </a:prstGeom>
          <a:solidFill>
            <a:srgbClr val="00B0F0"/>
          </a:solidFill>
          <a:ln>
            <a:solidFill>
              <a:schemeClr val="tx1"/>
            </a:solidFill>
          </a:ln>
        </p:spPr>
        <p:txBody>
          <a:bodyPr wrap="square">
            <a:spAutoFit/>
          </a:bodyPr>
          <a:lstStyle/>
          <a:p>
            <a:pPr algn="ctr"/>
            <a:r>
              <a:rPr lang="en-US" b="1" i="0" u="sng" dirty="0">
                <a:solidFill>
                  <a:srgbClr val="000000"/>
                </a:solidFill>
                <a:effectLst/>
              </a:rPr>
              <a:t>COOKIES</a:t>
            </a:r>
          </a:p>
          <a:p>
            <a:r>
              <a:rPr lang="en-US" sz="1000" b="1" i="0" dirty="0">
                <a:solidFill>
                  <a:srgbClr val="000000"/>
                </a:solidFill>
                <a:effectLst/>
              </a:rPr>
              <a:t>SQLite database “Cookies”</a:t>
            </a:r>
            <a:r>
              <a:rPr lang="en-US" sz="1000" b="0" i="0" dirty="0">
                <a:solidFill>
                  <a:srgbClr val="000000"/>
                </a:solidFill>
                <a:effectLst/>
              </a:rPr>
              <a:t> </a:t>
            </a:r>
          </a:p>
          <a:p>
            <a:r>
              <a:rPr lang="en-US" sz="1000" b="1" i="0" dirty="0">
                <a:solidFill>
                  <a:srgbClr val="000000"/>
                </a:solidFill>
                <a:effectLst/>
              </a:rPr>
              <a:t>Tables</a:t>
            </a:r>
          </a:p>
          <a:p>
            <a:pPr marL="285750" indent="-285750">
              <a:buFont typeface="Arial" panose="020B0604020202020204" pitchFamily="34" charset="0"/>
              <a:buChar char="•"/>
            </a:pPr>
            <a:r>
              <a:rPr lang="en-US" sz="1000" i="0" dirty="0">
                <a:solidFill>
                  <a:srgbClr val="000000"/>
                </a:solidFill>
                <a:effectLst/>
              </a:rPr>
              <a:t>Cookies</a:t>
            </a:r>
          </a:p>
        </p:txBody>
      </p:sp>
      <p:sp>
        <p:nvSpPr>
          <p:cNvPr id="28" name="TextBox 27">
            <a:extLst>
              <a:ext uri="{FF2B5EF4-FFF2-40B4-BE49-F238E27FC236}">
                <a16:creationId xmlns:a16="http://schemas.microsoft.com/office/drawing/2014/main" id="{497CAB8E-331B-4733-A0F9-2259341DE51D}"/>
              </a:ext>
            </a:extLst>
          </p:cNvPr>
          <p:cNvSpPr txBox="1"/>
          <p:nvPr/>
        </p:nvSpPr>
        <p:spPr>
          <a:xfrm>
            <a:off x="951842" y="4010162"/>
            <a:ext cx="2840736" cy="984885"/>
          </a:xfrm>
          <a:prstGeom prst="rect">
            <a:avLst/>
          </a:prstGeom>
          <a:noFill/>
          <a:ln>
            <a:solidFill>
              <a:schemeClr val="tx1"/>
            </a:solidFill>
          </a:ln>
        </p:spPr>
        <p:txBody>
          <a:bodyPr wrap="square">
            <a:spAutoFit/>
          </a:bodyPr>
          <a:lstStyle/>
          <a:p>
            <a:pPr algn="ctr"/>
            <a:r>
              <a:rPr lang="en-US" b="1" i="0" u="sng" dirty="0">
                <a:solidFill>
                  <a:srgbClr val="000000"/>
                </a:solidFill>
                <a:effectLst/>
              </a:rPr>
              <a:t>CACHE</a:t>
            </a:r>
          </a:p>
          <a:p>
            <a:r>
              <a:rPr lang="en-US" sz="1000" b="1" i="0" dirty="0">
                <a:solidFill>
                  <a:srgbClr val="000000"/>
                </a:solidFill>
                <a:effectLst/>
              </a:rPr>
              <a:t>Subfolders</a:t>
            </a:r>
            <a:endParaRPr lang="en-US" sz="1000" b="0" i="0" dirty="0">
              <a:solidFill>
                <a:srgbClr val="000000"/>
              </a:solidFill>
              <a:effectLst/>
            </a:endParaRPr>
          </a:p>
          <a:p>
            <a:pPr marL="285750" indent="-285750">
              <a:buFont typeface="Arial" panose="020B0604020202020204" pitchFamily="34" charset="0"/>
              <a:buChar char="•"/>
            </a:pPr>
            <a:r>
              <a:rPr lang="en-US" sz="1000" dirty="0">
                <a:solidFill>
                  <a:srgbClr val="000000"/>
                </a:solidFill>
              </a:rPr>
              <a:t>\Cache\ </a:t>
            </a:r>
            <a:r>
              <a:rPr lang="en-US" sz="1000" b="1" i="0" dirty="0">
                <a:solidFill>
                  <a:srgbClr val="000000"/>
                </a:solidFill>
                <a:effectLst/>
              </a:rPr>
              <a:t>video/audio </a:t>
            </a:r>
            <a:endParaRPr lang="en-US" sz="1000" i="0" dirty="0">
              <a:solidFill>
                <a:srgbClr val="000000"/>
              </a:solidFill>
              <a:effectLst/>
            </a:endParaRPr>
          </a:p>
          <a:p>
            <a:pPr marL="285750" indent="-285750">
              <a:buFont typeface="Arial" panose="020B0604020202020204" pitchFamily="34" charset="0"/>
              <a:buChar char="•"/>
            </a:pPr>
            <a:r>
              <a:rPr lang="en-US" sz="1000" i="0" dirty="0">
                <a:solidFill>
                  <a:srgbClr val="000000"/>
                </a:solidFill>
                <a:effectLst/>
              </a:rPr>
              <a:t>\</a:t>
            </a:r>
            <a:r>
              <a:rPr lang="en-US" sz="1000" i="0" dirty="0" err="1">
                <a:solidFill>
                  <a:srgbClr val="000000"/>
                </a:solidFill>
                <a:effectLst/>
              </a:rPr>
              <a:t>GPUCache</a:t>
            </a:r>
            <a:r>
              <a:rPr lang="en-US" sz="1000" i="0" dirty="0">
                <a:solidFill>
                  <a:srgbClr val="000000"/>
                </a:solidFill>
                <a:effectLst/>
              </a:rPr>
              <a:t>\ </a:t>
            </a:r>
            <a:r>
              <a:rPr lang="en-US" sz="1000" b="1" i="0" dirty="0">
                <a:solidFill>
                  <a:srgbClr val="000000"/>
                </a:solidFill>
                <a:effectLst/>
              </a:rPr>
              <a:t>data utilizing video card GPU </a:t>
            </a:r>
            <a:endParaRPr lang="en-US" sz="1000" i="0" dirty="0">
              <a:solidFill>
                <a:srgbClr val="000000"/>
              </a:solidFill>
              <a:effectLst/>
            </a:endParaRPr>
          </a:p>
          <a:p>
            <a:pPr marL="285750" indent="-285750">
              <a:buFont typeface="Arial" panose="020B0604020202020204" pitchFamily="34" charset="0"/>
              <a:buChar char="•"/>
            </a:pPr>
            <a:r>
              <a:rPr lang="en-US" sz="1000" i="0" dirty="0">
                <a:solidFill>
                  <a:srgbClr val="000000"/>
                </a:solidFill>
                <a:effectLst/>
              </a:rPr>
              <a:t>\Media Cache\ </a:t>
            </a:r>
            <a:r>
              <a:rPr lang="en-US" sz="1000" b="1" i="0" dirty="0">
                <a:solidFill>
                  <a:srgbClr val="000000"/>
                </a:solidFill>
                <a:effectLst/>
              </a:rPr>
              <a:t>html/</a:t>
            </a:r>
            <a:r>
              <a:rPr lang="en-US" sz="1000" b="1" i="0" dirty="0" err="1">
                <a:solidFill>
                  <a:srgbClr val="000000"/>
                </a:solidFill>
                <a:effectLst/>
              </a:rPr>
              <a:t>js</a:t>
            </a:r>
            <a:r>
              <a:rPr lang="en-US" sz="1000" b="1" i="0" dirty="0">
                <a:solidFill>
                  <a:srgbClr val="000000"/>
                </a:solidFill>
                <a:effectLst/>
              </a:rPr>
              <a:t>/</a:t>
            </a:r>
            <a:r>
              <a:rPr lang="en-US" sz="1000" b="1" i="0" dirty="0" err="1">
                <a:solidFill>
                  <a:srgbClr val="000000"/>
                </a:solidFill>
                <a:effectLst/>
              </a:rPr>
              <a:t>css</a:t>
            </a:r>
            <a:r>
              <a:rPr lang="en-US" sz="1000" b="1" i="0" dirty="0">
                <a:solidFill>
                  <a:srgbClr val="000000"/>
                </a:solidFill>
                <a:effectLst/>
              </a:rPr>
              <a:t>, small graphics </a:t>
            </a:r>
            <a:endParaRPr lang="en-US" sz="1000" i="0" dirty="0">
              <a:solidFill>
                <a:srgbClr val="000000"/>
              </a:solidFill>
              <a:effectLst/>
            </a:endParaRPr>
          </a:p>
        </p:txBody>
      </p:sp>
      <p:sp>
        <p:nvSpPr>
          <p:cNvPr id="30" name="TextBox 29">
            <a:extLst>
              <a:ext uri="{FF2B5EF4-FFF2-40B4-BE49-F238E27FC236}">
                <a16:creationId xmlns:a16="http://schemas.microsoft.com/office/drawing/2014/main" id="{DEBB2206-2E9C-40E2-9174-2C49B2EEE821}"/>
              </a:ext>
            </a:extLst>
          </p:cNvPr>
          <p:cNvSpPr txBox="1"/>
          <p:nvPr/>
        </p:nvSpPr>
        <p:spPr>
          <a:xfrm>
            <a:off x="98108" y="112601"/>
            <a:ext cx="3632644" cy="1446550"/>
          </a:xfrm>
          <a:prstGeom prst="rect">
            <a:avLst/>
          </a:prstGeom>
          <a:solidFill>
            <a:srgbClr val="FFCCFF"/>
          </a:solidFill>
          <a:ln>
            <a:solidFill>
              <a:schemeClr val="tx1"/>
            </a:solidFill>
          </a:ln>
        </p:spPr>
        <p:txBody>
          <a:bodyPr wrap="square">
            <a:spAutoFit/>
          </a:bodyPr>
          <a:lstStyle/>
          <a:p>
            <a:pPr algn="l" rtl="0" fontAlgn="base"/>
            <a:r>
              <a:rPr lang="en-US" b="1" i="0" u="sng" dirty="0">
                <a:solidFill>
                  <a:srgbClr val="000000"/>
                </a:solidFill>
                <a:effectLst/>
              </a:rPr>
              <a:t>Cookies</a:t>
            </a:r>
          </a:p>
          <a:p>
            <a:pPr algn="l" rtl="0" fontAlgn="base"/>
            <a:r>
              <a:rPr lang="en-US" sz="1000" b="1" i="0" dirty="0">
                <a:solidFill>
                  <a:srgbClr val="000000"/>
                </a:solidFill>
                <a:effectLst/>
              </a:rPr>
              <a:t>Host </a:t>
            </a:r>
            <a:r>
              <a:rPr lang="en-US" sz="1000" b="0" i="0" dirty="0">
                <a:solidFill>
                  <a:srgbClr val="000000"/>
                </a:solidFill>
                <a:effectLst/>
              </a:rPr>
              <a:t>The host domain of the cookie. </a:t>
            </a:r>
          </a:p>
          <a:p>
            <a:pPr algn="l" rtl="0" fontAlgn="base"/>
            <a:r>
              <a:rPr lang="en-US" sz="1000" b="1" i="0" dirty="0">
                <a:solidFill>
                  <a:srgbClr val="000000"/>
                </a:solidFill>
                <a:effectLst/>
              </a:rPr>
              <a:t>Name</a:t>
            </a:r>
            <a:r>
              <a:rPr lang="en-US" sz="1000" b="0" i="0" dirty="0">
                <a:solidFill>
                  <a:srgbClr val="000000"/>
                </a:solidFill>
                <a:effectLst/>
              </a:rPr>
              <a:t> The name of the cookie. </a:t>
            </a:r>
          </a:p>
          <a:p>
            <a:pPr algn="l" rtl="0" fontAlgn="base"/>
            <a:r>
              <a:rPr lang="en-US" sz="1000" b="1" i="0" dirty="0">
                <a:solidFill>
                  <a:srgbClr val="000000"/>
                </a:solidFill>
                <a:effectLst/>
              </a:rPr>
              <a:t>Value</a:t>
            </a:r>
            <a:r>
              <a:rPr lang="en-US" sz="1000" b="0" i="0" dirty="0">
                <a:solidFill>
                  <a:srgbClr val="000000"/>
                </a:solidFill>
                <a:effectLst/>
              </a:rPr>
              <a:t> The value contained in cookie. </a:t>
            </a:r>
          </a:p>
          <a:p>
            <a:pPr algn="l" rtl="0" fontAlgn="base"/>
            <a:r>
              <a:rPr lang="en-US" sz="1000" b="1" i="0" dirty="0">
                <a:solidFill>
                  <a:srgbClr val="000000"/>
                </a:solidFill>
                <a:effectLst/>
              </a:rPr>
              <a:t>Accessed Date/Time </a:t>
            </a:r>
            <a:r>
              <a:rPr lang="en-US" sz="1000" b="0" i="0" dirty="0">
                <a:solidFill>
                  <a:srgbClr val="000000"/>
                </a:solidFill>
                <a:effectLst/>
              </a:rPr>
              <a:t>date/time the cookie was last accessed. </a:t>
            </a:r>
          </a:p>
          <a:p>
            <a:pPr algn="l" rtl="0" fontAlgn="base"/>
            <a:r>
              <a:rPr lang="en-US" sz="1000" b="1" i="0" dirty="0">
                <a:solidFill>
                  <a:srgbClr val="000000"/>
                </a:solidFill>
                <a:effectLst/>
              </a:rPr>
              <a:t>Created Date/Time</a:t>
            </a:r>
            <a:r>
              <a:rPr lang="en-US" sz="1000" b="0" i="0" dirty="0">
                <a:solidFill>
                  <a:srgbClr val="000000"/>
                </a:solidFill>
                <a:effectLst/>
              </a:rPr>
              <a:t>  date/time cookie was created. </a:t>
            </a:r>
          </a:p>
          <a:p>
            <a:pPr algn="l" rtl="0" fontAlgn="base"/>
            <a:r>
              <a:rPr lang="en-US" sz="1000" b="1" i="0" dirty="0">
                <a:solidFill>
                  <a:srgbClr val="000000"/>
                </a:solidFill>
                <a:effectLst/>
              </a:rPr>
              <a:t>Expiration Date/Time</a:t>
            </a:r>
            <a:r>
              <a:rPr lang="en-US" sz="1000" b="0" i="0" dirty="0">
                <a:solidFill>
                  <a:srgbClr val="000000"/>
                </a:solidFill>
                <a:effectLst/>
              </a:rPr>
              <a:t>  date/time cookie expires. </a:t>
            </a:r>
          </a:p>
          <a:p>
            <a:pPr algn="l" rtl="0" fontAlgn="base"/>
            <a:r>
              <a:rPr lang="en-US" sz="1000" b="1" i="0" dirty="0">
                <a:solidFill>
                  <a:srgbClr val="000000"/>
                </a:solidFill>
                <a:effectLst/>
              </a:rPr>
              <a:t>Path</a:t>
            </a:r>
            <a:r>
              <a:rPr lang="en-US" sz="1000" b="0" i="0" dirty="0">
                <a:solidFill>
                  <a:srgbClr val="000000"/>
                </a:solidFill>
                <a:effectLst/>
              </a:rPr>
              <a:t> The path of the cookie value. </a:t>
            </a:r>
          </a:p>
        </p:txBody>
      </p:sp>
      <p:sp>
        <p:nvSpPr>
          <p:cNvPr id="32" name="TextBox 31">
            <a:extLst>
              <a:ext uri="{FF2B5EF4-FFF2-40B4-BE49-F238E27FC236}">
                <a16:creationId xmlns:a16="http://schemas.microsoft.com/office/drawing/2014/main" id="{7DBF36A1-54CA-4673-9FA3-C61D0F5B7598}"/>
              </a:ext>
            </a:extLst>
          </p:cNvPr>
          <p:cNvSpPr txBox="1"/>
          <p:nvPr/>
        </p:nvSpPr>
        <p:spPr>
          <a:xfrm>
            <a:off x="50137" y="5452805"/>
            <a:ext cx="4009799" cy="1292662"/>
          </a:xfrm>
          <a:prstGeom prst="rect">
            <a:avLst/>
          </a:prstGeom>
          <a:solidFill>
            <a:srgbClr val="FFCCFF"/>
          </a:solidFill>
          <a:ln>
            <a:solidFill>
              <a:schemeClr val="tx1"/>
            </a:solidFill>
          </a:ln>
        </p:spPr>
        <p:txBody>
          <a:bodyPr wrap="square">
            <a:spAutoFit/>
          </a:bodyPr>
          <a:lstStyle/>
          <a:p>
            <a:pPr algn="l" rtl="0" fontAlgn="base"/>
            <a:r>
              <a:rPr lang="en-US" b="1" i="0" u="sng" dirty="0">
                <a:solidFill>
                  <a:srgbClr val="000000"/>
                </a:solidFill>
                <a:effectLst/>
              </a:rPr>
              <a:t>Cache</a:t>
            </a:r>
          </a:p>
          <a:p>
            <a:pPr algn="l" rtl="0" fontAlgn="base"/>
            <a:r>
              <a:rPr lang="en-US" sz="1000" b="1" i="0" dirty="0">
                <a:solidFill>
                  <a:srgbClr val="000000"/>
                </a:solidFill>
                <a:effectLst/>
              </a:rPr>
              <a:t>URL </a:t>
            </a:r>
            <a:r>
              <a:rPr lang="en-US" sz="1000" b="0" i="0" dirty="0">
                <a:solidFill>
                  <a:srgbClr val="000000"/>
                </a:solidFill>
                <a:effectLst/>
              </a:rPr>
              <a:t>The URL of the cached item. </a:t>
            </a:r>
          </a:p>
          <a:p>
            <a:pPr algn="l" rtl="0" fontAlgn="base"/>
            <a:r>
              <a:rPr lang="en-US" sz="1000" b="1" i="0" dirty="0">
                <a:solidFill>
                  <a:srgbClr val="000000"/>
                </a:solidFill>
                <a:effectLst/>
              </a:rPr>
              <a:t>First Visited Date/Time</a:t>
            </a:r>
            <a:r>
              <a:rPr lang="en-US" sz="1000" b="0" i="0" dirty="0">
                <a:solidFill>
                  <a:srgbClr val="000000"/>
                </a:solidFill>
                <a:effectLst/>
              </a:rPr>
              <a:t>  date/time the URL was first visited. </a:t>
            </a:r>
          </a:p>
          <a:p>
            <a:pPr algn="l" rtl="0" fontAlgn="base"/>
            <a:r>
              <a:rPr lang="en-US" sz="1000" b="1" i="0" dirty="0">
                <a:solidFill>
                  <a:srgbClr val="000000"/>
                </a:solidFill>
                <a:effectLst/>
              </a:rPr>
              <a:t>Last Visited Date/Time</a:t>
            </a:r>
            <a:r>
              <a:rPr lang="en-US" sz="1000" b="0" i="0" dirty="0">
                <a:solidFill>
                  <a:srgbClr val="000000"/>
                </a:solidFill>
                <a:effectLst/>
              </a:rPr>
              <a:t> date/time the URL last visited. </a:t>
            </a:r>
          </a:p>
          <a:p>
            <a:pPr algn="l" rtl="0" fontAlgn="base"/>
            <a:r>
              <a:rPr lang="en-US" sz="1000" b="1" i="0" dirty="0">
                <a:solidFill>
                  <a:srgbClr val="000000"/>
                </a:solidFill>
                <a:effectLst/>
              </a:rPr>
              <a:t>Last Synced Date/Time</a:t>
            </a:r>
            <a:r>
              <a:rPr lang="en-US" sz="1000" b="0" i="0" dirty="0">
                <a:solidFill>
                  <a:srgbClr val="000000"/>
                </a:solidFill>
                <a:effectLst/>
              </a:rPr>
              <a:t>  date/time cached item last synced with website </a:t>
            </a:r>
          </a:p>
          <a:p>
            <a:pPr algn="l" rtl="0" fontAlgn="base"/>
            <a:r>
              <a:rPr lang="en-US" sz="1000" b="1" i="0" dirty="0">
                <a:solidFill>
                  <a:srgbClr val="000000"/>
                </a:solidFill>
                <a:effectLst/>
              </a:rPr>
              <a:t>File Type</a:t>
            </a:r>
            <a:r>
              <a:rPr lang="en-US" sz="1000" b="0" i="0" dirty="0">
                <a:solidFill>
                  <a:srgbClr val="000000"/>
                </a:solidFill>
                <a:effectLst/>
              </a:rPr>
              <a:t> The type of file that was cached. </a:t>
            </a:r>
          </a:p>
          <a:p>
            <a:pPr algn="l" rtl="0" fontAlgn="base"/>
            <a:r>
              <a:rPr lang="en-US" sz="1000" b="1" i="0" dirty="0">
                <a:solidFill>
                  <a:srgbClr val="000000"/>
                </a:solidFill>
                <a:effectLst/>
              </a:rPr>
              <a:t>Content Size (Bytes)</a:t>
            </a:r>
            <a:r>
              <a:rPr lang="en-US" sz="1000" b="0" i="0" dirty="0">
                <a:solidFill>
                  <a:srgbClr val="000000"/>
                </a:solidFill>
                <a:effectLst/>
              </a:rPr>
              <a:t> The size of the cached item in bytes. </a:t>
            </a:r>
          </a:p>
        </p:txBody>
      </p:sp>
      <p:sp>
        <p:nvSpPr>
          <p:cNvPr id="34" name="TextBox 33">
            <a:extLst>
              <a:ext uri="{FF2B5EF4-FFF2-40B4-BE49-F238E27FC236}">
                <a16:creationId xmlns:a16="http://schemas.microsoft.com/office/drawing/2014/main" id="{996DE52B-6031-44BD-B8AB-42B4F9AC5B14}"/>
              </a:ext>
            </a:extLst>
          </p:cNvPr>
          <p:cNvSpPr txBox="1"/>
          <p:nvPr/>
        </p:nvSpPr>
        <p:spPr>
          <a:xfrm>
            <a:off x="5180609" y="27698"/>
            <a:ext cx="1251662" cy="369332"/>
          </a:xfrm>
          <a:prstGeom prst="rect">
            <a:avLst/>
          </a:prstGeom>
          <a:solidFill>
            <a:srgbClr val="FFCCFF"/>
          </a:solidFill>
          <a:ln>
            <a:solidFill>
              <a:schemeClr val="tx1"/>
            </a:solidFill>
          </a:ln>
        </p:spPr>
        <p:txBody>
          <a:bodyPr wrap="square">
            <a:spAutoFit/>
          </a:bodyPr>
          <a:lstStyle/>
          <a:p>
            <a:pPr algn="l" rtl="0" fontAlgn="base"/>
            <a:r>
              <a:rPr lang="en-US" b="1" i="0" u="sng" dirty="0">
                <a:solidFill>
                  <a:srgbClr val="000000"/>
                </a:solidFill>
                <a:effectLst/>
              </a:rPr>
              <a:t>Bookmarks</a:t>
            </a:r>
          </a:p>
        </p:txBody>
      </p:sp>
      <p:sp>
        <p:nvSpPr>
          <p:cNvPr id="35" name="Rectangle 34">
            <a:extLst>
              <a:ext uri="{FF2B5EF4-FFF2-40B4-BE49-F238E27FC236}">
                <a16:creationId xmlns:a16="http://schemas.microsoft.com/office/drawing/2014/main" id="{5B1BE844-D4CE-4F1C-A899-35DA5B140C64}"/>
              </a:ext>
            </a:extLst>
          </p:cNvPr>
          <p:cNvSpPr/>
          <p:nvPr/>
        </p:nvSpPr>
        <p:spPr>
          <a:xfrm>
            <a:off x="6634238" y="4122393"/>
            <a:ext cx="464838" cy="438912"/>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9" name="Straight Arrow Connector 38">
            <a:extLst>
              <a:ext uri="{FF2B5EF4-FFF2-40B4-BE49-F238E27FC236}">
                <a16:creationId xmlns:a16="http://schemas.microsoft.com/office/drawing/2014/main" id="{5D2A2563-99C6-4C52-9D3F-77EBCD051E70}"/>
              </a:ext>
            </a:extLst>
          </p:cNvPr>
          <p:cNvCxnSpPr/>
          <p:nvPr/>
        </p:nvCxnSpPr>
        <p:spPr>
          <a:xfrm flipH="1">
            <a:off x="3282696" y="3541043"/>
            <a:ext cx="448056" cy="4340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52024BA2-54A4-4B52-9840-21DDD6A6E432}"/>
              </a:ext>
            </a:extLst>
          </p:cNvPr>
          <p:cNvCxnSpPr/>
          <p:nvPr/>
        </p:nvCxnSpPr>
        <p:spPr>
          <a:xfrm flipH="1">
            <a:off x="1990344" y="5030113"/>
            <a:ext cx="448056" cy="4340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804CF933-FA16-4E86-B8E0-B67D1BE05803}"/>
              </a:ext>
            </a:extLst>
          </p:cNvPr>
          <p:cNvCxnSpPr>
            <a:cxnSpLocks/>
          </p:cNvCxnSpPr>
          <p:nvPr/>
        </p:nvCxnSpPr>
        <p:spPr>
          <a:xfrm flipH="1" flipV="1">
            <a:off x="2971800" y="2749054"/>
            <a:ext cx="470513" cy="3016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A53A1751-1106-4B56-B7BB-1923B7525CF8}"/>
              </a:ext>
            </a:extLst>
          </p:cNvPr>
          <p:cNvCxnSpPr>
            <a:cxnSpLocks/>
          </p:cNvCxnSpPr>
          <p:nvPr/>
        </p:nvCxnSpPr>
        <p:spPr>
          <a:xfrm flipH="1" flipV="1">
            <a:off x="951843" y="1625220"/>
            <a:ext cx="776373" cy="3916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3C7E141E-B7F4-4233-A1AD-B000A835BECC}"/>
              </a:ext>
            </a:extLst>
          </p:cNvPr>
          <p:cNvCxnSpPr>
            <a:cxnSpLocks/>
          </p:cNvCxnSpPr>
          <p:nvPr/>
        </p:nvCxnSpPr>
        <p:spPr>
          <a:xfrm flipV="1">
            <a:off x="5796769" y="2762422"/>
            <a:ext cx="0" cy="2638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31A464DF-AF7A-45F3-9D51-411428A2C7D4}"/>
              </a:ext>
            </a:extLst>
          </p:cNvPr>
          <p:cNvCxnSpPr>
            <a:cxnSpLocks/>
          </p:cNvCxnSpPr>
          <p:nvPr/>
        </p:nvCxnSpPr>
        <p:spPr>
          <a:xfrm flipV="1">
            <a:off x="5806440" y="408378"/>
            <a:ext cx="0" cy="3488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8C452BA5-BF6F-4108-8BDA-1D2A994E158B}"/>
              </a:ext>
            </a:extLst>
          </p:cNvPr>
          <p:cNvCxnSpPr>
            <a:cxnSpLocks/>
          </p:cNvCxnSpPr>
          <p:nvPr/>
        </p:nvCxnSpPr>
        <p:spPr>
          <a:xfrm>
            <a:off x="5796769" y="3527833"/>
            <a:ext cx="0" cy="2302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D7CBDB92-76C4-420C-A589-FECFC7DE7B93}"/>
              </a:ext>
            </a:extLst>
          </p:cNvPr>
          <p:cNvCxnSpPr>
            <a:cxnSpLocks/>
          </p:cNvCxnSpPr>
          <p:nvPr/>
        </p:nvCxnSpPr>
        <p:spPr>
          <a:xfrm>
            <a:off x="7924273" y="3527833"/>
            <a:ext cx="0" cy="2302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18CDBC67-9BC8-4BFD-80B1-735E132C3143}"/>
              </a:ext>
            </a:extLst>
          </p:cNvPr>
          <p:cNvCxnSpPr>
            <a:cxnSpLocks/>
          </p:cNvCxnSpPr>
          <p:nvPr/>
        </p:nvCxnSpPr>
        <p:spPr>
          <a:xfrm>
            <a:off x="5837922" y="4796164"/>
            <a:ext cx="0" cy="2302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E3C38CAD-20A1-4D43-916F-4CBE0ABA3DDD}"/>
              </a:ext>
            </a:extLst>
          </p:cNvPr>
          <p:cNvCxnSpPr>
            <a:cxnSpLocks/>
          </p:cNvCxnSpPr>
          <p:nvPr/>
        </p:nvCxnSpPr>
        <p:spPr>
          <a:xfrm>
            <a:off x="9203869" y="4352056"/>
            <a:ext cx="19969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BEEBEE41-F192-4A7B-A9B0-B85D44608FFB}"/>
              </a:ext>
            </a:extLst>
          </p:cNvPr>
          <p:cNvCxnSpPr>
            <a:cxnSpLocks/>
          </p:cNvCxnSpPr>
          <p:nvPr/>
        </p:nvCxnSpPr>
        <p:spPr>
          <a:xfrm flipV="1">
            <a:off x="8413353" y="2600176"/>
            <a:ext cx="890362" cy="4214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1E49A5CD-DA66-4F17-99FF-A2883890D002}"/>
              </a:ext>
            </a:extLst>
          </p:cNvPr>
          <p:cNvCxnSpPr>
            <a:cxnSpLocks/>
          </p:cNvCxnSpPr>
          <p:nvPr/>
        </p:nvCxnSpPr>
        <p:spPr>
          <a:xfrm flipV="1">
            <a:off x="10622095" y="1143083"/>
            <a:ext cx="460775" cy="3532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7" name="TextBox 66">
            <a:extLst>
              <a:ext uri="{FF2B5EF4-FFF2-40B4-BE49-F238E27FC236}">
                <a16:creationId xmlns:a16="http://schemas.microsoft.com/office/drawing/2014/main" id="{535C669A-4F36-46FC-952D-FC5B6DB168FA}"/>
              </a:ext>
            </a:extLst>
          </p:cNvPr>
          <p:cNvSpPr txBox="1"/>
          <p:nvPr/>
        </p:nvSpPr>
        <p:spPr>
          <a:xfrm>
            <a:off x="161907" y="3134952"/>
            <a:ext cx="1122423" cy="646331"/>
          </a:xfrm>
          <a:prstGeom prst="rect">
            <a:avLst/>
          </a:prstGeom>
          <a:noFill/>
        </p:spPr>
        <p:txBody>
          <a:bodyPr wrap="none" rtlCol="0">
            <a:spAutoFit/>
          </a:bodyPr>
          <a:lstStyle/>
          <a:p>
            <a:r>
              <a:rPr lang="en-US" dirty="0"/>
              <a:t>typed </a:t>
            </a:r>
            <a:r>
              <a:rPr lang="en-US" dirty="0" err="1"/>
              <a:t>urls</a:t>
            </a:r>
            <a:endParaRPr lang="en-US" dirty="0"/>
          </a:p>
          <a:p>
            <a:r>
              <a:rPr lang="en-US" dirty="0"/>
              <a:t>forms</a:t>
            </a:r>
          </a:p>
        </p:txBody>
      </p:sp>
    </p:spTree>
    <p:extLst>
      <p:ext uri="{BB962C8B-B14F-4D97-AF65-F5344CB8AC3E}">
        <p14:creationId xmlns:p14="http://schemas.microsoft.com/office/powerpoint/2010/main" val="1179768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9948CDC-FD37-4362-B2F5-74CDE2A37802}"/>
              </a:ext>
            </a:extLst>
          </p:cNvPr>
          <p:cNvSpPr txBox="1"/>
          <p:nvPr/>
        </p:nvSpPr>
        <p:spPr>
          <a:xfrm>
            <a:off x="4367433" y="2798195"/>
            <a:ext cx="5335524" cy="276999"/>
          </a:xfrm>
          <a:prstGeom prst="rect">
            <a:avLst/>
          </a:prstGeom>
          <a:solidFill>
            <a:srgbClr val="FFFF00"/>
          </a:solidFill>
          <a:ln>
            <a:solidFill>
              <a:schemeClr val="tx1"/>
            </a:solidFill>
          </a:ln>
        </p:spPr>
        <p:txBody>
          <a:bodyPr wrap="square">
            <a:spAutoFit/>
          </a:bodyPr>
          <a:lstStyle/>
          <a:p>
            <a:pPr algn="l" rtl="0" fontAlgn="base"/>
            <a:r>
              <a:rPr lang="en-US" sz="1200" i="1" dirty="0">
                <a:solidFill>
                  <a:srgbClr val="000000"/>
                </a:solidFill>
                <a:effectLst/>
                <a:highlight>
                  <a:srgbClr val="FFFF00"/>
                </a:highlight>
              </a:rPr>
              <a:t>\Users\&lt;username&gt;\</a:t>
            </a:r>
            <a:r>
              <a:rPr lang="en-US" sz="1200" i="1" dirty="0" err="1">
                <a:solidFill>
                  <a:srgbClr val="000000"/>
                </a:solidFill>
                <a:effectLst/>
                <a:highlight>
                  <a:srgbClr val="FFFF00"/>
                </a:highlight>
              </a:rPr>
              <a:t>AppData</a:t>
            </a:r>
            <a:r>
              <a:rPr lang="en-US" sz="1200" i="1" dirty="0">
                <a:solidFill>
                  <a:srgbClr val="000000"/>
                </a:solidFill>
                <a:effectLst/>
                <a:highlight>
                  <a:srgbClr val="FFFF00"/>
                </a:highlight>
              </a:rPr>
              <a:t>\Roaming\Mozilla\Firefox\Profiles\</a:t>
            </a:r>
            <a:r>
              <a:rPr lang="en-US" sz="1200" i="1" dirty="0" err="1">
                <a:solidFill>
                  <a:srgbClr val="000000"/>
                </a:solidFill>
                <a:effectLst/>
                <a:highlight>
                  <a:srgbClr val="FFFF00"/>
                </a:highlight>
              </a:rPr>
              <a:t>xxxxxxxx.deault</a:t>
            </a:r>
            <a:r>
              <a:rPr lang="en-US" sz="1200" i="1" dirty="0">
                <a:solidFill>
                  <a:srgbClr val="000000"/>
                </a:solidFill>
                <a:effectLst/>
                <a:highlight>
                  <a:srgbClr val="FFFF00"/>
                </a:highlight>
              </a:rPr>
              <a:t>\ </a:t>
            </a:r>
          </a:p>
        </p:txBody>
      </p:sp>
      <p:sp>
        <p:nvSpPr>
          <p:cNvPr id="5" name="TextBox 4">
            <a:extLst>
              <a:ext uri="{FF2B5EF4-FFF2-40B4-BE49-F238E27FC236}">
                <a16:creationId xmlns:a16="http://schemas.microsoft.com/office/drawing/2014/main" id="{95016C42-47B9-413F-9C42-2E356E9A0D39}"/>
              </a:ext>
            </a:extLst>
          </p:cNvPr>
          <p:cNvSpPr txBox="1"/>
          <p:nvPr/>
        </p:nvSpPr>
        <p:spPr>
          <a:xfrm>
            <a:off x="6822362" y="3329834"/>
            <a:ext cx="2049780" cy="984885"/>
          </a:xfrm>
          <a:prstGeom prst="rect">
            <a:avLst/>
          </a:prstGeom>
          <a:solidFill>
            <a:srgbClr val="00B0F0"/>
          </a:solidFill>
          <a:ln>
            <a:solidFill>
              <a:schemeClr val="tx1"/>
            </a:solidFill>
          </a:ln>
        </p:spPr>
        <p:txBody>
          <a:bodyPr wrap="square">
            <a:spAutoFit/>
          </a:bodyPr>
          <a:lstStyle/>
          <a:p>
            <a:pPr algn="ctr"/>
            <a:r>
              <a:rPr lang="en-US" b="1" i="0" u="sng" dirty="0">
                <a:solidFill>
                  <a:srgbClr val="000000"/>
                </a:solidFill>
                <a:effectLst/>
              </a:rPr>
              <a:t>HISTORY</a:t>
            </a:r>
          </a:p>
          <a:p>
            <a:r>
              <a:rPr lang="en-US" sz="1000" b="1" i="0" dirty="0">
                <a:solidFill>
                  <a:srgbClr val="000000"/>
                </a:solidFill>
                <a:effectLst/>
              </a:rPr>
              <a:t>SQLite database “</a:t>
            </a:r>
            <a:r>
              <a:rPr lang="en-US" sz="1000" b="1" i="0" dirty="0" err="1">
                <a:solidFill>
                  <a:srgbClr val="000000"/>
                </a:solidFill>
                <a:effectLst/>
              </a:rPr>
              <a:t>places.sqlite</a:t>
            </a:r>
            <a:r>
              <a:rPr lang="en-US" sz="1000" b="1" i="0" dirty="0">
                <a:solidFill>
                  <a:srgbClr val="000000"/>
                </a:solidFill>
                <a:effectLst/>
              </a:rPr>
              <a:t>”</a:t>
            </a:r>
            <a:r>
              <a:rPr lang="en-US" sz="1000" b="0" i="0" dirty="0">
                <a:solidFill>
                  <a:srgbClr val="000000"/>
                </a:solidFill>
                <a:effectLst/>
              </a:rPr>
              <a:t> </a:t>
            </a:r>
          </a:p>
          <a:p>
            <a:r>
              <a:rPr lang="en-US" sz="1000" b="1" i="0" dirty="0">
                <a:solidFill>
                  <a:srgbClr val="000000"/>
                </a:solidFill>
                <a:effectLst/>
              </a:rPr>
              <a:t>Tables</a:t>
            </a:r>
          </a:p>
          <a:p>
            <a:pPr marL="285750" indent="-285750">
              <a:buFont typeface="Arial" panose="020B0604020202020204" pitchFamily="34" charset="0"/>
              <a:buChar char="•"/>
            </a:pPr>
            <a:r>
              <a:rPr lang="en-US" sz="1000" i="0" dirty="0" err="1">
                <a:solidFill>
                  <a:srgbClr val="000000"/>
                </a:solidFill>
                <a:effectLst/>
              </a:rPr>
              <a:t>moz_places</a:t>
            </a:r>
            <a:endParaRPr lang="en-US" sz="1000" i="0" dirty="0">
              <a:solidFill>
                <a:srgbClr val="000000"/>
              </a:solidFill>
              <a:effectLst/>
            </a:endParaRPr>
          </a:p>
          <a:p>
            <a:pPr marL="285750" indent="-285750">
              <a:buFont typeface="Arial" panose="020B0604020202020204" pitchFamily="34" charset="0"/>
              <a:buChar char="•"/>
            </a:pPr>
            <a:r>
              <a:rPr lang="en-US" sz="1000" i="0" dirty="0" err="1">
                <a:solidFill>
                  <a:srgbClr val="000000"/>
                </a:solidFill>
                <a:effectLst/>
              </a:rPr>
              <a:t>moz_historyvisits</a:t>
            </a:r>
            <a:endParaRPr lang="en-US" sz="1000" i="0" dirty="0">
              <a:solidFill>
                <a:srgbClr val="000000"/>
              </a:solidFill>
              <a:effectLst/>
            </a:endParaRPr>
          </a:p>
        </p:txBody>
      </p:sp>
      <p:sp>
        <p:nvSpPr>
          <p:cNvPr id="6" name="TextBox 5">
            <a:extLst>
              <a:ext uri="{FF2B5EF4-FFF2-40B4-BE49-F238E27FC236}">
                <a16:creationId xmlns:a16="http://schemas.microsoft.com/office/drawing/2014/main" id="{D21E7B97-9381-40FD-8707-D94AFF074116}"/>
              </a:ext>
            </a:extLst>
          </p:cNvPr>
          <p:cNvSpPr txBox="1"/>
          <p:nvPr/>
        </p:nvSpPr>
        <p:spPr>
          <a:xfrm>
            <a:off x="4307744" y="3329834"/>
            <a:ext cx="2049780" cy="984885"/>
          </a:xfrm>
          <a:prstGeom prst="rect">
            <a:avLst/>
          </a:prstGeom>
          <a:solidFill>
            <a:srgbClr val="00B0F0"/>
          </a:solidFill>
          <a:ln>
            <a:solidFill>
              <a:schemeClr val="tx1"/>
            </a:solidFill>
          </a:ln>
        </p:spPr>
        <p:txBody>
          <a:bodyPr wrap="square">
            <a:spAutoFit/>
          </a:bodyPr>
          <a:lstStyle/>
          <a:p>
            <a:pPr algn="ctr"/>
            <a:r>
              <a:rPr lang="en-US" b="1" i="0" u="sng" dirty="0">
                <a:solidFill>
                  <a:srgbClr val="000000"/>
                </a:solidFill>
                <a:effectLst/>
              </a:rPr>
              <a:t>DOWNLOADS</a:t>
            </a:r>
          </a:p>
          <a:p>
            <a:r>
              <a:rPr lang="en-US" sz="1000" b="1" i="0" dirty="0">
                <a:solidFill>
                  <a:srgbClr val="000000"/>
                </a:solidFill>
                <a:effectLst/>
              </a:rPr>
              <a:t>SQLite database “</a:t>
            </a:r>
            <a:r>
              <a:rPr lang="en-US" sz="1000" b="1" i="0" dirty="0" err="1">
                <a:solidFill>
                  <a:srgbClr val="000000"/>
                </a:solidFill>
                <a:effectLst/>
              </a:rPr>
              <a:t>places.sqlite</a:t>
            </a:r>
            <a:r>
              <a:rPr lang="en-US" sz="1000" b="1" i="0" dirty="0">
                <a:solidFill>
                  <a:srgbClr val="000000"/>
                </a:solidFill>
                <a:effectLst/>
              </a:rPr>
              <a:t>”</a:t>
            </a:r>
            <a:r>
              <a:rPr lang="en-US" sz="1000" b="0" i="0" dirty="0">
                <a:solidFill>
                  <a:srgbClr val="000000"/>
                </a:solidFill>
                <a:effectLst/>
              </a:rPr>
              <a:t> </a:t>
            </a:r>
          </a:p>
          <a:p>
            <a:r>
              <a:rPr lang="en-US" sz="1000" b="1" i="0" dirty="0">
                <a:solidFill>
                  <a:srgbClr val="000000"/>
                </a:solidFill>
                <a:effectLst/>
              </a:rPr>
              <a:t>Tables</a:t>
            </a:r>
          </a:p>
          <a:p>
            <a:pPr marL="285750" indent="-285750">
              <a:buFont typeface="Arial" panose="020B0604020202020204" pitchFamily="34" charset="0"/>
              <a:buChar char="•"/>
            </a:pPr>
            <a:r>
              <a:rPr lang="en-US" sz="1000" i="0" dirty="0" err="1">
                <a:solidFill>
                  <a:srgbClr val="000000"/>
                </a:solidFill>
                <a:effectLst/>
              </a:rPr>
              <a:t>moz_places</a:t>
            </a:r>
            <a:r>
              <a:rPr lang="en-US" sz="1000" i="0" dirty="0">
                <a:solidFill>
                  <a:srgbClr val="000000"/>
                </a:solidFill>
                <a:effectLst/>
              </a:rPr>
              <a:t> </a:t>
            </a:r>
          </a:p>
          <a:p>
            <a:pPr marL="285750" indent="-285750">
              <a:buFont typeface="Arial" panose="020B0604020202020204" pitchFamily="34" charset="0"/>
              <a:buChar char="•"/>
            </a:pPr>
            <a:r>
              <a:rPr lang="en-US" sz="1000" i="0" dirty="0" err="1">
                <a:solidFill>
                  <a:srgbClr val="000000"/>
                </a:solidFill>
                <a:effectLst/>
              </a:rPr>
              <a:t>moz_annos</a:t>
            </a:r>
            <a:endParaRPr lang="en-US" sz="1000" i="0" dirty="0">
              <a:solidFill>
                <a:srgbClr val="000000"/>
              </a:solidFill>
              <a:effectLst/>
            </a:endParaRPr>
          </a:p>
        </p:txBody>
      </p:sp>
      <p:sp>
        <p:nvSpPr>
          <p:cNvPr id="7" name="TextBox 6">
            <a:extLst>
              <a:ext uri="{FF2B5EF4-FFF2-40B4-BE49-F238E27FC236}">
                <a16:creationId xmlns:a16="http://schemas.microsoft.com/office/drawing/2014/main" id="{CB268665-C4F6-48F7-B10F-4FC746261E20}"/>
              </a:ext>
            </a:extLst>
          </p:cNvPr>
          <p:cNvSpPr txBox="1"/>
          <p:nvPr/>
        </p:nvSpPr>
        <p:spPr>
          <a:xfrm>
            <a:off x="3020343" y="4658096"/>
            <a:ext cx="5089850" cy="1908215"/>
          </a:xfrm>
          <a:prstGeom prst="rect">
            <a:avLst/>
          </a:prstGeom>
          <a:solidFill>
            <a:srgbClr val="FFCCFF"/>
          </a:solidFill>
          <a:ln>
            <a:solidFill>
              <a:schemeClr val="tx1"/>
            </a:solidFill>
          </a:ln>
        </p:spPr>
        <p:txBody>
          <a:bodyPr wrap="square">
            <a:spAutoFit/>
          </a:bodyPr>
          <a:lstStyle/>
          <a:p>
            <a:pPr algn="ctr"/>
            <a:r>
              <a:rPr lang="en-US" b="1" i="0" u="sng" dirty="0">
                <a:solidFill>
                  <a:srgbClr val="000000"/>
                </a:solidFill>
                <a:effectLst/>
              </a:rPr>
              <a:t>Downloads</a:t>
            </a:r>
          </a:p>
          <a:p>
            <a:pPr algn="l" rtl="0" fontAlgn="base"/>
            <a:r>
              <a:rPr lang="en-US" sz="1000" b="1" i="0" dirty="0">
                <a:solidFill>
                  <a:srgbClr val="000000"/>
                </a:solidFill>
                <a:effectLst/>
              </a:rPr>
              <a:t>File Name </a:t>
            </a:r>
            <a:r>
              <a:rPr lang="en-US" sz="1000" b="0" i="0" dirty="0">
                <a:solidFill>
                  <a:srgbClr val="000000"/>
                </a:solidFill>
                <a:effectLst/>
              </a:rPr>
              <a:t>The name given to the file when it was saved to the local machine. </a:t>
            </a:r>
          </a:p>
          <a:p>
            <a:pPr algn="l" rtl="0" fontAlgn="base"/>
            <a:r>
              <a:rPr lang="en-US" sz="1000" b="1" i="0" dirty="0">
                <a:solidFill>
                  <a:srgbClr val="000000"/>
                </a:solidFill>
                <a:effectLst/>
              </a:rPr>
              <a:t>Download Source</a:t>
            </a:r>
            <a:r>
              <a:rPr lang="en-US" sz="1000" b="0" i="0" dirty="0">
                <a:solidFill>
                  <a:srgbClr val="000000"/>
                </a:solidFill>
                <a:effectLst/>
              </a:rPr>
              <a:t> The source URL of the downloaded file. </a:t>
            </a:r>
          </a:p>
          <a:p>
            <a:pPr algn="l" rtl="0" fontAlgn="base"/>
            <a:r>
              <a:rPr lang="en-US" sz="1000" b="1" i="0" dirty="0">
                <a:solidFill>
                  <a:srgbClr val="000000"/>
                </a:solidFill>
                <a:effectLst/>
              </a:rPr>
              <a:t>Start Date/Time</a:t>
            </a:r>
            <a:r>
              <a:rPr lang="en-US" sz="1000" b="0" i="0" dirty="0">
                <a:solidFill>
                  <a:srgbClr val="000000"/>
                </a:solidFill>
                <a:effectLst/>
              </a:rPr>
              <a:t> The date and time the download was started. </a:t>
            </a:r>
          </a:p>
          <a:p>
            <a:pPr algn="l" rtl="0" fontAlgn="base"/>
            <a:r>
              <a:rPr lang="en-US" sz="1000" b="1" i="0" dirty="0">
                <a:solidFill>
                  <a:srgbClr val="000000"/>
                </a:solidFill>
                <a:effectLst/>
              </a:rPr>
              <a:t>End Date/Time</a:t>
            </a:r>
            <a:r>
              <a:rPr lang="en-US" sz="1000" b="0" i="0" dirty="0">
                <a:solidFill>
                  <a:srgbClr val="000000"/>
                </a:solidFill>
                <a:effectLst/>
              </a:rPr>
              <a:t> The date and time the download completed or stopped. </a:t>
            </a:r>
          </a:p>
          <a:p>
            <a:pPr algn="l" rtl="0" fontAlgn="base"/>
            <a:r>
              <a:rPr lang="en-US" sz="1000" b="1" i="0" dirty="0">
                <a:solidFill>
                  <a:srgbClr val="000000"/>
                </a:solidFill>
                <a:effectLst/>
              </a:rPr>
              <a:t>Saved To</a:t>
            </a:r>
            <a:r>
              <a:rPr lang="en-US" sz="1000" b="0" i="0" dirty="0">
                <a:solidFill>
                  <a:srgbClr val="000000"/>
                </a:solidFill>
                <a:effectLst/>
              </a:rPr>
              <a:t> The local path and filename where the file was saved. </a:t>
            </a:r>
          </a:p>
          <a:p>
            <a:pPr algn="l" rtl="0" fontAlgn="base"/>
            <a:r>
              <a:rPr lang="en-US" sz="1000" b="1" i="0" dirty="0">
                <a:solidFill>
                  <a:srgbClr val="000000"/>
                </a:solidFill>
                <a:effectLst/>
              </a:rPr>
              <a:t>Temp Path</a:t>
            </a:r>
            <a:r>
              <a:rPr lang="en-US" sz="1000" b="0" i="0" dirty="0">
                <a:solidFill>
                  <a:srgbClr val="000000"/>
                </a:solidFill>
                <a:effectLst/>
              </a:rPr>
              <a:t> local path and filename where file was temporarily stored during download </a:t>
            </a:r>
          </a:p>
          <a:p>
            <a:pPr algn="l" rtl="0" fontAlgn="base"/>
            <a:r>
              <a:rPr lang="en-US" sz="1000" b="1" i="0" dirty="0">
                <a:solidFill>
                  <a:srgbClr val="000000"/>
                </a:solidFill>
                <a:effectLst/>
              </a:rPr>
              <a:t>State</a:t>
            </a:r>
            <a:r>
              <a:rPr lang="en-US" sz="1000" b="0" i="0" dirty="0">
                <a:solidFill>
                  <a:srgbClr val="000000"/>
                </a:solidFill>
                <a:effectLst/>
              </a:rPr>
              <a:t>: Download Complete, Download In Progress, Download Stopped, Download Paused. </a:t>
            </a:r>
          </a:p>
          <a:p>
            <a:pPr algn="l" rtl="0" fontAlgn="base"/>
            <a:r>
              <a:rPr lang="en-US" sz="1000" b="1" i="0" dirty="0">
                <a:solidFill>
                  <a:srgbClr val="000000"/>
                </a:solidFill>
                <a:effectLst/>
              </a:rPr>
              <a:t>Referrer</a:t>
            </a:r>
            <a:r>
              <a:rPr lang="en-US" sz="1000" b="0" i="0" dirty="0">
                <a:solidFill>
                  <a:srgbClr val="000000"/>
                </a:solidFill>
                <a:effectLst/>
              </a:rPr>
              <a:t> If the webpage used a mirror for downloading, the path to original download URL. </a:t>
            </a:r>
          </a:p>
          <a:p>
            <a:pPr algn="l" rtl="0" fontAlgn="base"/>
            <a:r>
              <a:rPr lang="en-US" sz="1000" b="1" i="0" dirty="0">
                <a:solidFill>
                  <a:srgbClr val="000000"/>
                </a:solidFill>
                <a:effectLst/>
              </a:rPr>
              <a:t>Bytes Downloaded</a:t>
            </a:r>
            <a:r>
              <a:rPr lang="en-US" sz="1000" b="0" i="0" dirty="0">
                <a:solidFill>
                  <a:srgbClr val="000000"/>
                </a:solidFill>
                <a:effectLst/>
              </a:rPr>
              <a:t> The number of bytes of the file downloaded. </a:t>
            </a:r>
          </a:p>
          <a:p>
            <a:pPr algn="l" rtl="0" fontAlgn="base"/>
            <a:r>
              <a:rPr lang="en-US" sz="1000" b="1" i="0" dirty="0">
                <a:solidFill>
                  <a:srgbClr val="000000"/>
                </a:solidFill>
                <a:effectLst/>
              </a:rPr>
              <a:t>File Size (Bytes) T</a:t>
            </a:r>
            <a:r>
              <a:rPr lang="en-US" sz="1000" b="0" i="0" dirty="0">
                <a:solidFill>
                  <a:srgbClr val="000000"/>
                </a:solidFill>
                <a:effectLst/>
              </a:rPr>
              <a:t>he size of the fully downloaded file. </a:t>
            </a:r>
          </a:p>
        </p:txBody>
      </p:sp>
      <p:sp>
        <p:nvSpPr>
          <p:cNvPr id="8" name="Rectangle 7">
            <a:extLst>
              <a:ext uri="{FF2B5EF4-FFF2-40B4-BE49-F238E27FC236}">
                <a16:creationId xmlns:a16="http://schemas.microsoft.com/office/drawing/2014/main" id="{9905E643-9CCB-4FEF-BA74-12CF8247D271}"/>
              </a:ext>
            </a:extLst>
          </p:cNvPr>
          <p:cNvSpPr/>
          <p:nvPr/>
        </p:nvSpPr>
        <p:spPr>
          <a:xfrm>
            <a:off x="6357524" y="3664772"/>
            <a:ext cx="464838" cy="438912"/>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Arrow Connector 8">
            <a:extLst>
              <a:ext uri="{FF2B5EF4-FFF2-40B4-BE49-F238E27FC236}">
                <a16:creationId xmlns:a16="http://schemas.microsoft.com/office/drawing/2014/main" id="{02DBA845-36CD-4691-B743-EA6DD462171B}"/>
              </a:ext>
            </a:extLst>
          </p:cNvPr>
          <p:cNvCxnSpPr>
            <a:cxnSpLocks/>
          </p:cNvCxnSpPr>
          <p:nvPr/>
        </p:nvCxnSpPr>
        <p:spPr>
          <a:xfrm>
            <a:off x="5813875" y="3089833"/>
            <a:ext cx="0" cy="2302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7E74CCAF-92E9-4FC7-AF2F-9EEE81F5B232}"/>
              </a:ext>
            </a:extLst>
          </p:cNvPr>
          <p:cNvCxnSpPr>
            <a:cxnSpLocks/>
          </p:cNvCxnSpPr>
          <p:nvPr/>
        </p:nvCxnSpPr>
        <p:spPr>
          <a:xfrm>
            <a:off x="7941379" y="3089833"/>
            <a:ext cx="0" cy="2302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A774CA2D-3F87-4249-AF64-9152B03669BF}"/>
              </a:ext>
            </a:extLst>
          </p:cNvPr>
          <p:cNvCxnSpPr>
            <a:cxnSpLocks/>
          </p:cNvCxnSpPr>
          <p:nvPr/>
        </p:nvCxnSpPr>
        <p:spPr>
          <a:xfrm>
            <a:off x="5855028" y="4358164"/>
            <a:ext cx="0" cy="2302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2D8F82D-2CF2-41C6-871C-57B7D94ADE53}"/>
              </a:ext>
            </a:extLst>
          </p:cNvPr>
          <p:cNvSpPr txBox="1"/>
          <p:nvPr/>
        </p:nvSpPr>
        <p:spPr>
          <a:xfrm>
            <a:off x="8360718" y="4670660"/>
            <a:ext cx="3659524" cy="1877437"/>
          </a:xfrm>
          <a:prstGeom prst="rect">
            <a:avLst/>
          </a:prstGeom>
          <a:solidFill>
            <a:srgbClr val="FFCCFF"/>
          </a:solidFill>
          <a:ln>
            <a:solidFill>
              <a:schemeClr val="tx1"/>
            </a:solidFill>
          </a:ln>
        </p:spPr>
        <p:txBody>
          <a:bodyPr wrap="square">
            <a:spAutoFit/>
          </a:bodyPr>
          <a:lstStyle/>
          <a:p>
            <a:pPr algn="ctr"/>
            <a:r>
              <a:rPr lang="en-US" b="1" i="0" u="sng" dirty="0">
                <a:solidFill>
                  <a:srgbClr val="000000"/>
                </a:solidFill>
                <a:effectLst/>
              </a:rPr>
              <a:t>Web Visits</a:t>
            </a:r>
          </a:p>
          <a:p>
            <a:pPr algn="ctr"/>
            <a:r>
              <a:rPr lang="en-US" b="1" i="0" u="sng" dirty="0">
                <a:solidFill>
                  <a:srgbClr val="000000"/>
                </a:solidFill>
                <a:effectLst/>
              </a:rPr>
              <a:t>Web History</a:t>
            </a:r>
          </a:p>
          <a:p>
            <a:pPr algn="l" rtl="0" fontAlgn="base"/>
            <a:r>
              <a:rPr lang="en-US" sz="1000" b="1" i="0" dirty="0">
                <a:solidFill>
                  <a:srgbClr val="000000"/>
                </a:solidFill>
                <a:effectLst/>
              </a:rPr>
              <a:t>Transition Type</a:t>
            </a:r>
            <a:r>
              <a:rPr lang="en-US" sz="1000" b="0" i="0" dirty="0">
                <a:solidFill>
                  <a:srgbClr val="000000"/>
                </a:solidFill>
                <a:effectLst/>
              </a:rPr>
              <a:t>: </a:t>
            </a:r>
          </a:p>
          <a:p>
            <a:pPr algn="l" rtl="0" fontAlgn="base"/>
            <a:r>
              <a:rPr lang="en-US" sz="1000" b="1" i="0" dirty="0">
                <a:solidFill>
                  <a:srgbClr val="000000"/>
                </a:solidFill>
                <a:effectLst/>
              </a:rPr>
              <a:t>TRANSITION_LINK</a:t>
            </a:r>
            <a:r>
              <a:rPr lang="en-US" sz="1000" b="0" i="0" dirty="0">
                <a:solidFill>
                  <a:srgbClr val="000000"/>
                </a:solidFill>
                <a:effectLst/>
              </a:rPr>
              <a:t> User clicked on a link </a:t>
            </a:r>
          </a:p>
          <a:p>
            <a:pPr algn="l" rtl="0" fontAlgn="base"/>
            <a:r>
              <a:rPr lang="en-US" sz="1000" b="1" i="0" dirty="0">
                <a:solidFill>
                  <a:srgbClr val="000000"/>
                </a:solidFill>
                <a:effectLst/>
              </a:rPr>
              <a:t>TRANSITION_TYPED</a:t>
            </a:r>
            <a:r>
              <a:rPr lang="en-US" sz="1000" b="0" i="0" dirty="0">
                <a:solidFill>
                  <a:srgbClr val="000000"/>
                </a:solidFill>
                <a:effectLst/>
              </a:rPr>
              <a:t> typed URL into address bar </a:t>
            </a:r>
          </a:p>
          <a:p>
            <a:pPr algn="l" rtl="0" fontAlgn="base"/>
            <a:r>
              <a:rPr lang="en-US" sz="1000" b="1" i="0" dirty="0">
                <a:solidFill>
                  <a:srgbClr val="000000"/>
                </a:solidFill>
                <a:effectLst/>
              </a:rPr>
              <a:t>TRANSITION_BOOKMARK </a:t>
            </a:r>
            <a:r>
              <a:rPr lang="en-US" sz="1000" b="0" i="0" dirty="0">
                <a:solidFill>
                  <a:srgbClr val="000000"/>
                </a:solidFill>
                <a:effectLst/>
              </a:rPr>
              <a:t>User clicked a bookmark</a:t>
            </a:r>
          </a:p>
          <a:p>
            <a:pPr algn="l" rtl="0" fontAlgn="base"/>
            <a:r>
              <a:rPr lang="en-US" sz="1000" b="1" i="0" dirty="0">
                <a:solidFill>
                  <a:srgbClr val="000000"/>
                </a:solidFill>
                <a:effectLst/>
              </a:rPr>
              <a:t>TRANSITION_EMBED</a:t>
            </a:r>
            <a:r>
              <a:rPr lang="en-US" sz="1000" b="0" i="0" dirty="0">
                <a:solidFill>
                  <a:srgbClr val="000000"/>
                </a:solidFill>
                <a:effectLst/>
              </a:rPr>
              <a:t> Content in webpage incl. embedded images</a:t>
            </a:r>
          </a:p>
          <a:p>
            <a:pPr algn="l" rtl="0" fontAlgn="base"/>
            <a:r>
              <a:rPr lang="en-US" sz="1000" b="1" i="0" dirty="0">
                <a:solidFill>
                  <a:srgbClr val="000000"/>
                </a:solidFill>
                <a:effectLst/>
              </a:rPr>
              <a:t>TRANSITION_REDIRECT_PERMANENT </a:t>
            </a:r>
          </a:p>
          <a:p>
            <a:pPr algn="l" rtl="0" fontAlgn="base"/>
            <a:r>
              <a:rPr lang="en-US" sz="1000" b="1" i="0" dirty="0">
                <a:solidFill>
                  <a:srgbClr val="000000"/>
                </a:solidFill>
                <a:effectLst/>
              </a:rPr>
              <a:t>TRANSITION_REDIRECT_TEMPORARY</a:t>
            </a:r>
            <a:r>
              <a:rPr lang="en-US" sz="1000" b="0" i="0" dirty="0">
                <a:solidFill>
                  <a:srgbClr val="000000"/>
                </a:solidFill>
                <a:effectLst/>
              </a:rPr>
              <a:t> </a:t>
            </a:r>
          </a:p>
          <a:p>
            <a:pPr algn="l" rtl="0" fontAlgn="base"/>
            <a:r>
              <a:rPr lang="en-US" sz="1000" b="1" i="0" dirty="0">
                <a:solidFill>
                  <a:srgbClr val="000000"/>
                </a:solidFill>
                <a:effectLst/>
              </a:rPr>
              <a:t>TRANSITION_DOWNLOAD</a:t>
            </a:r>
            <a:r>
              <a:rPr lang="en-US" sz="1000" b="0" i="0" dirty="0">
                <a:solidFill>
                  <a:srgbClr val="000000"/>
                </a:solidFill>
                <a:effectLst/>
              </a:rPr>
              <a:t> </a:t>
            </a:r>
            <a:r>
              <a:rPr lang="en-US" sz="1000" dirty="0">
                <a:solidFill>
                  <a:srgbClr val="000000"/>
                </a:solidFill>
              </a:rPr>
              <a:t>d</a:t>
            </a:r>
            <a:r>
              <a:rPr lang="en-US" sz="1000" b="0" i="0" dirty="0">
                <a:solidFill>
                  <a:srgbClr val="000000"/>
                </a:solidFill>
                <a:effectLst/>
              </a:rPr>
              <a:t>ownload link clicked</a:t>
            </a:r>
          </a:p>
        </p:txBody>
      </p:sp>
      <p:cxnSp>
        <p:nvCxnSpPr>
          <p:cNvPr id="15" name="Straight Arrow Connector 14">
            <a:extLst>
              <a:ext uri="{FF2B5EF4-FFF2-40B4-BE49-F238E27FC236}">
                <a16:creationId xmlns:a16="http://schemas.microsoft.com/office/drawing/2014/main" id="{9D921F05-C2A2-46D0-83E4-99FF691A3D80}"/>
              </a:ext>
            </a:extLst>
          </p:cNvPr>
          <p:cNvCxnSpPr>
            <a:cxnSpLocks/>
          </p:cNvCxnSpPr>
          <p:nvPr/>
        </p:nvCxnSpPr>
        <p:spPr>
          <a:xfrm>
            <a:off x="8872142" y="4332578"/>
            <a:ext cx="299516" cy="3329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51D5E3C2-5A53-4B92-9599-2D30EF821AC4}"/>
              </a:ext>
            </a:extLst>
          </p:cNvPr>
          <p:cNvSpPr txBox="1"/>
          <p:nvPr/>
        </p:nvSpPr>
        <p:spPr>
          <a:xfrm>
            <a:off x="4148450" y="1117504"/>
            <a:ext cx="2969816" cy="1138773"/>
          </a:xfrm>
          <a:prstGeom prst="rect">
            <a:avLst/>
          </a:prstGeom>
          <a:noFill/>
          <a:ln>
            <a:solidFill>
              <a:schemeClr val="tx1"/>
            </a:solidFill>
          </a:ln>
        </p:spPr>
        <p:txBody>
          <a:bodyPr wrap="square">
            <a:spAutoFit/>
          </a:bodyPr>
          <a:lstStyle/>
          <a:p>
            <a:pPr algn="ctr" rtl="0" fontAlgn="base"/>
            <a:r>
              <a:rPr lang="en-US" b="1" u="sng" dirty="0">
                <a:solidFill>
                  <a:srgbClr val="000000"/>
                </a:solidFill>
                <a:effectLst/>
              </a:rPr>
              <a:t>RECOVERY</a:t>
            </a:r>
          </a:p>
          <a:p>
            <a:pPr algn="l" rtl="0" fontAlgn="base"/>
            <a:r>
              <a:rPr lang="en-US" sz="1000" i="1" dirty="0">
                <a:solidFill>
                  <a:srgbClr val="000000"/>
                </a:solidFill>
                <a:effectLst/>
              </a:rPr>
              <a:t>\Users\&lt;username&gt;\</a:t>
            </a:r>
            <a:r>
              <a:rPr lang="en-US" sz="1000" i="1" dirty="0" err="1">
                <a:solidFill>
                  <a:srgbClr val="000000"/>
                </a:solidFill>
                <a:effectLst/>
              </a:rPr>
              <a:t>AppData</a:t>
            </a:r>
            <a:r>
              <a:rPr lang="en-US" sz="1000" i="1" dirty="0">
                <a:solidFill>
                  <a:srgbClr val="000000"/>
                </a:solidFill>
                <a:effectLst/>
              </a:rPr>
              <a:t>\Roaming\Mozilla\Firefox\Profiles\</a:t>
            </a:r>
            <a:r>
              <a:rPr lang="en-US" sz="1000" i="1" dirty="0" err="1">
                <a:solidFill>
                  <a:srgbClr val="000000"/>
                </a:solidFill>
                <a:effectLst/>
              </a:rPr>
              <a:t>xxxxxxxx.default</a:t>
            </a:r>
            <a:r>
              <a:rPr lang="en-US" sz="1000" i="1" dirty="0">
                <a:solidFill>
                  <a:srgbClr val="000000"/>
                </a:solidFill>
                <a:effectLst/>
              </a:rPr>
              <a:t>\</a:t>
            </a:r>
            <a:r>
              <a:rPr lang="en-US" sz="1000" b="0" i="1" dirty="0" err="1">
                <a:solidFill>
                  <a:srgbClr val="000000"/>
                </a:solidFill>
                <a:effectLst/>
              </a:rPr>
              <a:t>sessionstore</a:t>
            </a:r>
            <a:r>
              <a:rPr lang="en-US" sz="1000" b="0" i="1" dirty="0">
                <a:solidFill>
                  <a:srgbClr val="000000"/>
                </a:solidFill>
                <a:effectLst/>
              </a:rPr>
              <a:t>-backups\ </a:t>
            </a:r>
          </a:p>
          <a:p>
            <a:pPr algn="l" rtl="0" fontAlgn="base"/>
            <a:r>
              <a:rPr lang="en-US" sz="1000" dirty="0">
                <a:solidFill>
                  <a:srgbClr val="000000"/>
                </a:solidFill>
              </a:rPr>
              <a:t>Files:</a:t>
            </a:r>
          </a:p>
          <a:p>
            <a:pPr marL="171450" indent="-171450" algn="l" rtl="0" fontAlgn="base">
              <a:buFont typeface="Arial" panose="020B0604020202020204" pitchFamily="34" charset="0"/>
              <a:buChar char="•"/>
            </a:pPr>
            <a:r>
              <a:rPr lang="en-US" sz="1000" b="1" dirty="0">
                <a:solidFill>
                  <a:srgbClr val="000000"/>
                </a:solidFill>
              </a:rPr>
              <a:t>sessionstore.js </a:t>
            </a:r>
          </a:p>
          <a:p>
            <a:pPr marL="171450" indent="-171450" algn="l" rtl="0" fontAlgn="base">
              <a:buFont typeface="Arial" panose="020B0604020202020204" pitchFamily="34" charset="0"/>
              <a:buChar char="•"/>
            </a:pPr>
            <a:r>
              <a:rPr lang="en-US" sz="1000" b="1" dirty="0">
                <a:solidFill>
                  <a:srgbClr val="000000"/>
                </a:solidFill>
              </a:rPr>
              <a:t>previous.js </a:t>
            </a:r>
          </a:p>
        </p:txBody>
      </p:sp>
      <p:sp>
        <p:nvSpPr>
          <p:cNvPr id="19" name="TextBox 18">
            <a:extLst>
              <a:ext uri="{FF2B5EF4-FFF2-40B4-BE49-F238E27FC236}">
                <a16:creationId xmlns:a16="http://schemas.microsoft.com/office/drawing/2014/main" id="{4CDD4525-957A-4C4D-8251-00C4B0025CC5}"/>
              </a:ext>
            </a:extLst>
          </p:cNvPr>
          <p:cNvSpPr txBox="1"/>
          <p:nvPr/>
        </p:nvSpPr>
        <p:spPr>
          <a:xfrm>
            <a:off x="1112096" y="1143061"/>
            <a:ext cx="2427732" cy="369332"/>
          </a:xfrm>
          <a:prstGeom prst="rect">
            <a:avLst/>
          </a:prstGeom>
          <a:solidFill>
            <a:srgbClr val="FFCCFF"/>
          </a:solidFill>
          <a:ln>
            <a:solidFill>
              <a:schemeClr val="tx1"/>
            </a:solidFill>
          </a:ln>
        </p:spPr>
        <p:txBody>
          <a:bodyPr wrap="square">
            <a:spAutoFit/>
          </a:bodyPr>
          <a:lstStyle/>
          <a:p>
            <a:pPr algn="ctr"/>
            <a:r>
              <a:rPr lang="en-US" b="1" i="0" u="sng" dirty="0">
                <a:solidFill>
                  <a:srgbClr val="000000"/>
                </a:solidFill>
                <a:effectLst/>
              </a:rPr>
              <a:t>Firefox </a:t>
            </a:r>
            <a:r>
              <a:rPr lang="en-US" b="1" i="0" u="sng" dirty="0" err="1">
                <a:solidFill>
                  <a:srgbClr val="000000"/>
                </a:solidFill>
                <a:effectLst/>
              </a:rPr>
              <a:t>SessionStore</a:t>
            </a:r>
            <a:endParaRPr lang="en-US" b="1" i="0" u="sng" dirty="0">
              <a:solidFill>
                <a:srgbClr val="000000"/>
              </a:solidFill>
              <a:effectLst/>
            </a:endParaRPr>
          </a:p>
        </p:txBody>
      </p:sp>
      <p:sp>
        <p:nvSpPr>
          <p:cNvPr id="21" name="TextBox 20">
            <a:extLst>
              <a:ext uri="{FF2B5EF4-FFF2-40B4-BE49-F238E27FC236}">
                <a16:creationId xmlns:a16="http://schemas.microsoft.com/office/drawing/2014/main" id="{683578F6-27AD-4566-BAB5-2742725AD7C1}"/>
              </a:ext>
            </a:extLst>
          </p:cNvPr>
          <p:cNvSpPr txBox="1"/>
          <p:nvPr/>
        </p:nvSpPr>
        <p:spPr>
          <a:xfrm>
            <a:off x="1785654" y="3328050"/>
            <a:ext cx="2049780" cy="984885"/>
          </a:xfrm>
          <a:prstGeom prst="rect">
            <a:avLst/>
          </a:prstGeom>
          <a:solidFill>
            <a:srgbClr val="00B0F0"/>
          </a:solidFill>
          <a:ln>
            <a:solidFill>
              <a:schemeClr val="tx1"/>
            </a:solidFill>
          </a:ln>
        </p:spPr>
        <p:txBody>
          <a:bodyPr wrap="square">
            <a:spAutoFit/>
          </a:bodyPr>
          <a:lstStyle/>
          <a:p>
            <a:pPr algn="ctr"/>
            <a:r>
              <a:rPr lang="en-US" b="1" i="0" u="sng" dirty="0">
                <a:solidFill>
                  <a:srgbClr val="000000"/>
                </a:solidFill>
                <a:effectLst/>
              </a:rPr>
              <a:t>BOOKMARKS</a:t>
            </a:r>
          </a:p>
          <a:p>
            <a:r>
              <a:rPr lang="en-US" sz="1000" b="1" i="0" dirty="0">
                <a:solidFill>
                  <a:srgbClr val="000000"/>
                </a:solidFill>
                <a:effectLst/>
              </a:rPr>
              <a:t>SQLite database “</a:t>
            </a:r>
            <a:r>
              <a:rPr lang="en-US" sz="1000" b="1" i="0" dirty="0" err="1">
                <a:solidFill>
                  <a:srgbClr val="000000"/>
                </a:solidFill>
                <a:effectLst/>
              </a:rPr>
              <a:t>places.sqlite</a:t>
            </a:r>
            <a:r>
              <a:rPr lang="en-US" sz="1000" b="1" i="0" dirty="0">
                <a:solidFill>
                  <a:srgbClr val="000000"/>
                </a:solidFill>
                <a:effectLst/>
              </a:rPr>
              <a:t>”</a:t>
            </a:r>
            <a:r>
              <a:rPr lang="en-US" sz="1000" b="0" i="0" dirty="0">
                <a:solidFill>
                  <a:srgbClr val="000000"/>
                </a:solidFill>
                <a:effectLst/>
              </a:rPr>
              <a:t> </a:t>
            </a:r>
          </a:p>
          <a:p>
            <a:r>
              <a:rPr lang="en-US" sz="1000" b="1" i="0" dirty="0">
                <a:solidFill>
                  <a:srgbClr val="000000"/>
                </a:solidFill>
                <a:effectLst/>
              </a:rPr>
              <a:t>Tables</a:t>
            </a:r>
          </a:p>
          <a:p>
            <a:pPr marL="285750" indent="-285750">
              <a:buFont typeface="Arial" panose="020B0604020202020204" pitchFamily="34" charset="0"/>
              <a:buChar char="•"/>
            </a:pPr>
            <a:r>
              <a:rPr lang="en-US" sz="1000" b="0" i="0" u="none" strike="noStrike" baseline="0" dirty="0" err="1"/>
              <a:t>moz_places</a:t>
            </a:r>
            <a:endParaRPr lang="en-US" sz="1000" dirty="0"/>
          </a:p>
          <a:p>
            <a:pPr marL="285750" indent="-285750">
              <a:buFont typeface="Arial" panose="020B0604020202020204" pitchFamily="34" charset="0"/>
              <a:buChar char="•"/>
            </a:pPr>
            <a:r>
              <a:rPr lang="en-US" sz="1000" b="0" i="0" u="none" strike="noStrike" baseline="0" dirty="0" err="1"/>
              <a:t>moz_bookmarks</a:t>
            </a:r>
            <a:endParaRPr lang="en-US" sz="1000" i="0" dirty="0">
              <a:solidFill>
                <a:srgbClr val="000000"/>
              </a:solidFill>
              <a:effectLst/>
            </a:endParaRPr>
          </a:p>
        </p:txBody>
      </p:sp>
      <p:sp>
        <p:nvSpPr>
          <p:cNvPr id="23" name="Rectangle 22">
            <a:extLst>
              <a:ext uri="{FF2B5EF4-FFF2-40B4-BE49-F238E27FC236}">
                <a16:creationId xmlns:a16="http://schemas.microsoft.com/office/drawing/2014/main" id="{0452B5D8-5511-4C4B-B2DF-E4543DAB579B}"/>
              </a:ext>
            </a:extLst>
          </p:cNvPr>
          <p:cNvSpPr/>
          <p:nvPr/>
        </p:nvSpPr>
        <p:spPr>
          <a:xfrm>
            <a:off x="3841194" y="3669848"/>
            <a:ext cx="464838" cy="438912"/>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D35B9C67-3152-4084-B62B-C6326CEE3328}"/>
              </a:ext>
            </a:extLst>
          </p:cNvPr>
          <p:cNvSpPr txBox="1"/>
          <p:nvPr/>
        </p:nvSpPr>
        <p:spPr>
          <a:xfrm>
            <a:off x="221316" y="4718378"/>
            <a:ext cx="2427732" cy="369332"/>
          </a:xfrm>
          <a:prstGeom prst="rect">
            <a:avLst/>
          </a:prstGeom>
          <a:solidFill>
            <a:srgbClr val="FFCCFF"/>
          </a:solidFill>
          <a:ln>
            <a:solidFill>
              <a:schemeClr val="tx1"/>
            </a:solidFill>
          </a:ln>
        </p:spPr>
        <p:txBody>
          <a:bodyPr wrap="square">
            <a:spAutoFit/>
          </a:bodyPr>
          <a:lstStyle/>
          <a:p>
            <a:pPr algn="ctr"/>
            <a:r>
              <a:rPr lang="en-US" b="1" u="sng" dirty="0">
                <a:solidFill>
                  <a:srgbClr val="000000"/>
                </a:solidFill>
              </a:rPr>
              <a:t>Firefox Bookmarks</a:t>
            </a:r>
            <a:endParaRPr lang="en-US" b="1" i="0" u="sng" dirty="0">
              <a:solidFill>
                <a:srgbClr val="000000"/>
              </a:solidFill>
              <a:effectLst/>
            </a:endParaRPr>
          </a:p>
        </p:txBody>
      </p:sp>
      <p:cxnSp>
        <p:nvCxnSpPr>
          <p:cNvPr id="27" name="Straight Arrow Connector 26">
            <a:extLst>
              <a:ext uri="{FF2B5EF4-FFF2-40B4-BE49-F238E27FC236}">
                <a16:creationId xmlns:a16="http://schemas.microsoft.com/office/drawing/2014/main" id="{604FDB85-123D-44A4-8A15-122A21922AFF}"/>
              </a:ext>
            </a:extLst>
          </p:cNvPr>
          <p:cNvCxnSpPr>
            <a:cxnSpLocks/>
          </p:cNvCxnSpPr>
          <p:nvPr/>
        </p:nvCxnSpPr>
        <p:spPr>
          <a:xfrm flipH="1">
            <a:off x="3885019" y="3089833"/>
            <a:ext cx="482414" cy="2302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1081F948-CA83-4DFE-A644-FDF854FDE88C}"/>
              </a:ext>
            </a:extLst>
          </p:cNvPr>
          <p:cNvCxnSpPr/>
          <p:nvPr/>
        </p:nvCxnSpPr>
        <p:spPr>
          <a:xfrm flipH="1">
            <a:off x="1900317" y="4385444"/>
            <a:ext cx="357879" cy="2800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64C17C83-D047-4E2E-A0ED-58C0FC902DF5}"/>
              </a:ext>
            </a:extLst>
          </p:cNvPr>
          <p:cNvSpPr txBox="1"/>
          <p:nvPr/>
        </p:nvSpPr>
        <p:spPr>
          <a:xfrm>
            <a:off x="1822280" y="2207638"/>
            <a:ext cx="2049780" cy="830997"/>
          </a:xfrm>
          <a:prstGeom prst="rect">
            <a:avLst/>
          </a:prstGeom>
          <a:solidFill>
            <a:srgbClr val="00B0F0"/>
          </a:solidFill>
          <a:ln>
            <a:solidFill>
              <a:schemeClr val="tx1"/>
            </a:solidFill>
          </a:ln>
        </p:spPr>
        <p:txBody>
          <a:bodyPr wrap="square">
            <a:spAutoFit/>
          </a:bodyPr>
          <a:lstStyle/>
          <a:p>
            <a:pPr algn="ctr"/>
            <a:r>
              <a:rPr lang="en-US" b="1" i="0" u="sng" dirty="0">
                <a:solidFill>
                  <a:srgbClr val="000000"/>
                </a:solidFill>
                <a:effectLst/>
              </a:rPr>
              <a:t>COOKIES</a:t>
            </a:r>
          </a:p>
          <a:p>
            <a:r>
              <a:rPr lang="en-US" sz="1000" b="1" i="0" dirty="0">
                <a:solidFill>
                  <a:srgbClr val="000000"/>
                </a:solidFill>
                <a:effectLst/>
              </a:rPr>
              <a:t>SQLite database “</a:t>
            </a:r>
            <a:r>
              <a:rPr lang="en-US" sz="1000" b="1" dirty="0" err="1">
                <a:solidFill>
                  <a:srgbClr val="000000"/>
                </a:solidFill>
              </a:rPr>
              <a:t>cookies</a:t>
            </a:r>
            <a:r>
              <a:rPr lang="en-US" sz="1000" b="1" i="0" dirty="0" err="1">
                <a:solidFill>
                  <a:srgbClr val="000000"/>
                </a:solidFill>
                <a:effectLst/>
              </a:rPr>
              <a:t>.sqlite</a:t>
            </a:r>
            <a:r>
              <a:rPr lang="en-US" sz="1000" b="1" i="0" dirty="0">
                <a:solidFill>
                  <a:srgbClr val="000000"/>
                </a:solidFill>
                <a:effectLst/>
              </a:rPr>
              <a:t>”</a:t>
            </a:r>
            <a:r>
              <a:rPr lang="en-US" sz="1000" b="0" i="0" dirty="0">
                <a:solidFill>
                  <a:srgbClr val="000000"/>
                </a:solidFill>
                <a:effectLst/>
              </a:rPr>
              <a:t> </a:t>
            </a:r>
          </a:p>
          <a:p>
            <a:r>
              <a:rPr lang="en-US" sz="1000" b="1" i="0" dirty="0">
                <a:solidFill>
                  <a:srgbClr val="000000"/>
                </a:solidFill>
                <a:effectLst/>
              </a:rPr>
              <a:t>Tables</a:t>
            </a:r>
          </a:p>
          <a:p>
            <a:pPr marL="285750" indent="-285750">
              <a:buFont typeface="Arial" panose="020B0604020202020204" pitchFamily="34" charset="0"/>
              <a:buChar char="•"/>
            </a:pPr>
            <a:r>
              <a:rPr lang="en-US" sz="1000" b="1" i="0" dirty="0" err="1">
                <a:solidFill>
                  <a:srgbClr val="000000"/>
                </a:solidFill>
                <a:effectLst/>
              </a:rPr>
              <a:t>moz_cookies</a:t>
            </a:r>
            <a:endParaRPr lang="en-US" sz="1000" i="0" dirty="0">
              <a:solidFill>
                <a:srgbClr val="000000"/>
              </a:solidFill>
              <a:effectLst/>
            </a:endParaRPr>
          </a:p>
        </p:txBody>
      </p:sp>
      <p:cxnSp>
        <p:nvCxnSpPr>
          <p:cNvPr id="31" name="Straight Arrow Connector 30">
            <a:extLst>
              <a:ext uri="{FF2B5EF4-FFF2-40B4-BE49-F238E27FC236}">
                <a16:creationId xmlns:a16="http://schemas.microsoft.com/office/drawing/2014/main" id="{6B51C1C4-FDB1-4315-A82C-70E68E5D721E}"/>
              </a:ext>
            </a:extLst>
          </p:cNvPr>
          <p:cNvCxnSpPr>
            <a:cxnSpLocks/>
          </p:cNvCxnSpPr>
          <p:nvPr/>
        </p:nvCxnSpPr>
        <p:spPr>
          <a:xfrm flipH="1">
            <a:off x="3885019" y="2936694"/>
            <a:ext cx="46945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591CF4F1-3CFA-42CD-8A46-FD3FA5A1EBC9}"/>
              </a:ext>
            </a:extLst>
          </p:cNvPr>
          <p:cNvSpPr txBox="1"/>
          <p:nvPr/>
        </p:nvSpPr>
        <p:spPr>
          <a:xfrm>
            <a:off x="20082" y="2428863"/>
            <a:ext cx="1698450" cy="369332"/>
          </a:xfrm>
          <a:prstGeom prst="rect">
            <a:avLst/>
          </a:prstGeom>
          <a:solidFill>
            <a:srgbClr val="FFCCFF"/>
          </a:solidFill>
          <a:ln>
            <a:solidFill>
              <a:schemeClr val="tx1"/>
            </a:solidFill>
          </a:ln>
        </p:spPr>
        <p:txBody>
          <a:bodyPr wrap="square">
            <a:spAutoFit/>
          </a:bodyPr>
          <a:lstStyle/>
          <a:p>
            <a:pPr algn="ctr"/>
            <a:r>
              <a:rPr lang="en-US" b="1" u="sng" dirty="0">
                <a:solidFill>
                  <a:srgbClr val="000000"/>
                </a:solidFill>
              </a:rPr>
              <a:t>Firefox Cookies</a:t>
            </a:r>
            <a:endParaRPr lang="en-US" b="1" i="0" u="sng" dirty="0">
              <a:solidFill>
                <a:srgbClr val="000000"/>
              </a:solidFill>
              <a:effectLst/>
            </a:endParaRPr>
          </a:p>
        </p:txBody>
      </p:sp>
      <p:sp>
        <p:nvSpPr>
          <p:cNvPr id="40" name="TextBox 39">
            <a:extLst>
              <a:ext uri="{FF2B5EF4-FFF2-40B4-BE49-F238E27FC236}">
                <a16:creationId xmlns:a16="http://schemas.microsoft.com/office/drawing/2014/main" id="{13DD448E-A650-43B4-87D7-760B36D38E7F}"/>
              </a:ext>
            </a:extLst>
          </p:cNvPr>
          <p:cNvSpPr txBox="1"/>
          <p:nvPr/>
        </p:nvSpPr>
        <p:spPr>
          <a:xfrm>
            <a:off x="38500" y="262070"/>
            <a:ext cx="5562360" cy="276999"/>
          </a:xfrm>
          <a:prstGeom prst="rect">
            <a:avLst/>
          </a:prstGeom>
          <a:solidFill>
            <a:srgbClr val="FFC000"/>
          </a:solidFill>
          <a:ln>
            <a:solidFill>
              <a:schemeClr val="tx1"/>
            </a:solidFill>
          </a:ln>
        </p:spPr>
        <p:txBody>
          <a:bodyPr wrap="square">
            <a:spAutoFit/>
          </a:bodyPr>
          <a:lstStyle/>
          <a:p>
            <a:pPr algn="l" rtl="0" fontAlgn="base"/>
            <a:r>
              <a:rPr lang="en-US" sz="1200" i="1" dirty="0">
                <a:solidFill>
                  <a:srgbClr val="000000"/>
                </a:solidFill>
                <a:effectLst/>
              </a:rPr>
              <a:t>\Users\&lt;username&gt;\</a:t>
            </a:r>
            <a:r>
              <a:rPr lang="en-US" sz="1200" i="1" dirty="0" err="1">
                <a:solidFill>
                  <a:srgbClr val="000000"/>
                </a:solidFill>
                <a:effectLst/>
              </a:rPr>
              <a:t>AppData</a:t>
            </a:r>
            <a:r>
              <a:rPr lang="en-US" sz="1200" i="1" dirty="0">
                <a:solidFill>
                  <a:srgbClr val="000000"/>
                </a:solidFill>
                <a:effectLst/>
              </a:rPr>
              <a:t>\Local\Mozilla\Firefox\Profiles\</a:t>
            </a:r>
            <a:r>
              <a:rPr lang="en-US" sz="1200" i="1" dirty="0" err="1">
                <a:solidFill>
                  <a:srgbClr val="000000"/>
                </a:solidFill>
                <a:effectLst/>
              </a:rPr>
              <a:t>xxxxxxxx.deault</a:t>
            </a:r>
            <a:r>
              <a:rPr lang="en-US" sz="1200" i="1" dirty="0">
                <a:solidFill>
                  <a:srgbClr val="000000"/>
                </a:solidFill>
                <a:effectLst/>
              </a:rPr>
              <a:t>\cache2</a:t>
            </a:r>
          </a:p>
        </p:txBody>
      </p:sp>
      <p:sp>
        <p:nvSpPr>
          <p:cNvPr id="42" name="TextBox 41">
            <a:extLst>
              <a:ext uri="{FF2B5EF4-FFF2-40B4-BE49-F238E27FC236}">
                <a16:creationId xmlns:a16="http://schemas.microsoft.com/office/drawing/2014/main" id="{5C96C0E6-C9AE-48AF-9DCA-065A0958FEE9}"/>
              </a:ext>
            </a:extLst>
          </p:cNvPr>
          <p:cNvSpPr txBox="1"/>
          <p:nvPr/>
        </p:nvSpPr>
        <p:spPr>
          <a:xfrm>
            <a:off x="5813875" y="73314"/>
            <a:ext cx="3737205" cy="830997"/>
          </a:xfrm>
          <a:prstGeom prst="rect">
            <a:avLst/>
          </a:prstGeom>
          <a:noFill/>
          <a:ln>
            <a:solidFill>
              <a:schemeClr val="tx1"/>
            </a:solidFill>
          </a:ln>
        </p:spPr>
        <p:txBody>
          <a:bodyPr wrap="square">
            <a:spAutoFit/>
          </a:bodyPr>
          <a:lstStyle/>
          <a:p>
            <a:pPr algn="ctr" fontAlgn="base"/>
            <a:r>
              <a:rPr lang="en-US" b="1" u="sng" dirty="0">
                <a:solidFill>
                  <a:srgbClr val="000000"/>
                </a:solidFill>
                <a:effectLst/>
              </a:rPr>
              <a:t>CACHE</a:t>
            </a:r>
            <a:endParaRPr lang="en-US" b="1" u="sng" dirty="0">
              <a:solidFill>
                <a:srgbClr val="000000"/>
              </a:solidFill>
            </a:endParaRPr>
          </a:p>
          <a:p>
            <a:pPr marL="228600" indent="-228600" algn="l" rtl="0" fontAlgn="base">
              <a:buFont typeface="+mj-lt"/>
              <a:buAutoNum type="arabicPeriod"/>
            </a:pPr>
            <a:r>
              <a:rPr lang="en-US" sz="1000" dirty="0">
                <a:solidFill>
                  <a:srgbClr val="000000"/>
                </a:solidFill>
              </a:rPr>
              <a:t>F</a:t>
            </a:r>
            <a:r>
              <a:rPr lang="en-US" sz="1000" b="0" i="0" dirty="0">
                <a:solidFill>
                  <a:srgbClr val="000000"/>
                </a:solidFill>
                <a:effectLst/>
              </a:rPr>
              <a:t>ile </a:t>
            </a:r>
            <a:r>
              <a:rPr lang="en-US" sz="1000" b="1" i="0" dirty="0">
                <a:solidFill>
                  <a:srgbClr val="000000"/>
                </a:solidFill>
                <a:effectLst/>
              </a:rPr>
              <a:t>index</a:t>
            </a:r>
            <a:r>
              <a:rPr lang="en-US" sz="1000" dirty="0">
                <a:solidFill>
                  <a:srgbClr val="000000"/>
                </a:solidFill>
              </a:rPr>
              <a:t>:</a:t>
            </a:r>
            <a:r>
              <a:rPr lang="en-US" sz="1000" b="0" i="0" dirty="0">
                <a:solidFill>
                  <a:srgbClr val="000000"/>
                </a:solidFill>
                <a:effectLst/>
              </a:rPr>
              <a:t> when each file written into the cache, </a:t>
            </a:r>
            <a:r>
              <a:rPr lang="en-US" sz="1000" dirty="0">
                <a:solidFill>
                  <a:srgbClr val="000000"/>
                </a:solidFill>
              </a:rPr>
              <a:t>expiry</a:t>
            </a:r>
            <a:r>
              <a:rPr lang="en-US" sz="1000" b="0" i="0" dirty="0">
                <a:solidFill>
                  <a:srgbClr val="000000"/>
                </a:solidFill>
                <a:effectLst/>
              </a:rPr>
              <a:t>.</a:t>
            </a:r>
          </a:p>
          <a:p>
            <a:pPr marL="228600" indent="-228600" algn="l" rtl="0" fontAlgn="base">
              <a:buFont typeface="+mj-lt"/>
              <a:buAutoNum type="arabicPeriod"/>
            </a:pPr>
            <a:r>
              <a:rPr lang="en-US" sz="1000" b="1" i="0" dirty="0">
                <a:solidFill>
                  <a:srgbClr val="000000"/>
                </a:solidFill>
                <a:effectLst/>
              </a:rPr>
              <a:t>\entries\</a:t>
            </a:r>
            <a:r>
              <a:rPr lang="en-US" sz="1000" b="0" i="0" dirty="0">
                <a:solidFill>
                  <a:srgbClr val="000000"/>
                </a:solidFill>
                <a:effectLst/>
              </a:rPr>
              <a:t> contains the cached files themselves </a:t>
            </a:r>
          </a:p>
          <a:p>
            <a:pPr marL="228600" indent="-228600" algn="l" rtl="0" fontAlgn="base">
              <a:buFont typeface="+mj-lt"/>
              <a:buAutoNum type="arabicPeriod"/>
            </a:pPr>
            <a:r>
              <a:rPr lang="en-US" sz="1000" b="1" i="0" dirty="0">
                <a:solidFill>
                  <a:srgbClr val="000000"/>
                </a:solidFill>
                <a:effectLst/>
              </a:rPr>
              <a:t>\doomed\</a:t>
            </a:r>
            <a:r>
              <a:rPr lang="en-US" sz="1000" b="0" i="0" dirty="0">
                <a:solidFill>
                  <a:srgbClr val="000000"/>
                </a:solidFill>
                <a:effectLst/>
              </a:rPr>
              <a:t> expired cache content: deleted Firefox close/restart</a:t>
            </a:r>
          </a:p>
        </p:txBody>
      </p:sp>
      <p:sp>
        <p:nvSpPr>
          <p:cNvPr id="44" name="TextBox 43">
            <a:extLst>
              <a:ext uri="{FF2B5EF4-FFF2-40B4-BE49-F238E27FC236}">
                <a16:creationId xmlns:a16="http://schemas.microsoft.com/office/drawing/2014/main" id="{2CF1EF37-2DC8-4D01-8863-CDB86820DDA0}"/>
              </a:ext>
            </a:extLst>
          </p:cNvPr>
          <p:cNvSpPr txBox="1"/>
          <p:nvPr/>
        </p:nvSpPr>
        <p:spPr>
          <a:xfrm>
            <a:off x="9816204" y="181767"/>
            <a:ext cx="2306959" cy="369332"/>
          </a:xfrm>
          <a:prstGeom prst="rect">
            <a:avLst/>
          </a:prstGeom>
          <a:solidFill>
            <a:srgbClr val="FFCCFF"/>
          </a:solidFill>
          <a:ln>
            <a:solidFill>
              <a:schemeClr val="tx1"/>
            </a:solidFill>
          </a:ln>
        </p:spPr>
        <p:txBody>
          <a:bodyPr wrap="square">
            <a:spAutoFit/>
          </a:bodyPr>
          <a:lstStyle/>
          <a:p>
            <a:pPr algn="ctr"/>
            <a:r>
              <a:rPr lang="en-US" b="1" i="0" u="sng" dirty="0">
                <a:solidFill>
                  <a:srgbClr val="000000"/>
                </a:solidFill>
                <a:effectLst/>
              </a:rPr>
              <a:t>Firefox Cache Records</a:t>
            </a:r>
          </a:p>
        </p:txBody>
      </p:sp>
      <p:sp>
        <p:nvSpPr>
          <p:cNvPr id="46" name="TextBox 45">
            <a:extLst>
              <a:ext uri="{FF2B5EF4-FFF2-40B4-BE49-F238E27FC236}">
                <a16:creationId xmlns:a16="http://schemas.microsoft.com/office/drawing/2014/main" id="{CCB85E9D-7733-4C37-9671-63CF5DBD0CAE}"/>
              </a:ext>
            </a:extLst>
          </p:cNvPr>
          <p:cNvSpPr txBox="1"/>
          <p:nvPr/>
        </p:nvSpPr>
        <p:spPr>
          <a:xfrm>
            <a:off x="9337782" y="3367308"/>
            <a:ext cx="2049780" cy="830997"/>
          </a:xfrm>
          <a:prstGeom prst="rect">
            <a:avLst/>
          </a:prstGeom>
          <a:solidFill>
            <a:srgbClr val="00B0F0"/>
          </a:solidFill>
          <a:ln>
            <a:solidFill>
              <a:schemeClr val="tx1"/>
            </a:solidFill>
          </a:ln>
        </p:spPr>
        <p:txBody>
          <a:bodyPr wrap="square">
            <a:spAutoFit/>
          </a:bodyPr>
          <a:lstStyle/>
          <a:p>
            <a:pPr algn="ctr"/>
            <a:r>
              <a:rPr lang="en-US" b="1" i="0" u="sng" dirty="0">
                <a:solidFill>
                  <a:srgbClr val="000000"/>
                </a:solidFill>
                <a:effectLst/>
              </a:rPr>
              <a:t>TYPED URLS</a:t>
            </a:r>
          </a:p>
          <a:p>
            <a:r>
              <a:rPr lang="en-US" sz="1000" b="1" i="0" dirty="0">
                <a:solidFill>
                  <a:srgbClr val="000000"/>
                </a:solidFill>
                <a:effectLst/>
              </a:rPr>
              <a:t>SQLite database “</a:t>
            </a:r>
            <a:r>
              <a:rPr lang="en-US" sz="1000" b="1" i="0" dirty="0" err="1">
                <a:solidFill>
                  <a:srgbClr val="000000"/>
                </a:solidFill>
                <a:effectLst/>
              </a:rPr>
              <a:t>places.sqlite</a:t>
            </a:r>
            <a:r>
              <a:rPr lang="en-US" sz="1000" b="1" i="0" dirty="0">
                <a:solidFill>
                  <a:srgbClr val="000000"/>
                </a:solidFill>
                <a:effectLst/>
              </a:rPr>
              <a:t>”</a:t>
            </a:r>
            <a:r>
              <a:rPr lang="en-US" sz="1000" b="0" i="0" dirty="0">
                <a:solidFill>
                  <a:srgbClr val="000000"/>
                </a:solidFill>
                <a:effectLst/>
              </a:rPr>
              <a:t> </a:t>
            </a:r>
          </a:p>
          <a:p>
            <a:r>
              <a:rPr lang="en-US" sz="1000" b="1" i="0" dirty="0">
                <a:solidFill>
                  <a:srgbClr val="000000"/>
                </a:solidFill>
                <a:effectLst/>
              </a:rPr>
              <a:t>Tables</a:t>
            </a:r>
          </a:p>
          <a:p>
            <a:pPr marL="285750" indent="-285750">
              <a:buFont typeface="Arial" panose="020B0604020202020204" pitchFamily="34" charset="0"/>
              <a:buChar char="•"/>
            </a:pPr>
            <a:r>
              <a:rPr lang="en-US" sz="1000" b="0" i="0" u="none" strike="noStrike" baseline="0" dirty="0"/>
              <a:t>tab</a:t>
            </a:r>
            <a:endParaRPr lang="en-US" sz="1000" i="0" dirty="0">
              <a:solidFill>
                <a:srgbClr val="000000"/>
              </a:solidFill>
              <a:effectLst/>
            </a:endParaRPr>
          </a:p>
        </p:txBody>
      </p:sp>
      <p:cxnSp>
        <p:nvCxnSpPr>
          <p:cNvPr id="49" name="Straight Arrow Connector 48">
            <a:extLst>
              <a:ext uri="{FF2B5EF4-FFF2-40B4-BE49-F238E27FC236}">
                <a16:creationId xmlns:a16="http://schemas.microsoft.com/office/drawing/2014/main" id="{2314EFB6-D037-4895-82BB-F57383EC49F4}"/>
              </a:ext>
            </a:extLst>
          </p:cNvPr>
          <p:cNvCxnSpPr>
            <a:cxnSpLocks/>
          </p:cNvCxnSpPr>
          <p:nvPr/>
        </p:nvCxnSpPr>
        <p:spPr>
          <a:xfrm flipV="1">
            <a:off x="5201819" y="2335396"/>
            <a:ext cx="0" cy="4145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157A62EE-6FF8-4824-9F39-DF9F431D63E4}"/>
              </a:ext>
            </a:extLst>
          </p:cNvPr>
          <p:cNvCxnSpPr>
            <a:cxnSpLocks/>
          </p:cNvCxnSpPr>
          <p:nvPr/>
        </p:nvCxnSpPr>
        <p:spPr>
          <a:xfrm flipH="1">
            <a:off x="3611173" y="1327727"/>
            <a:ext cx="46945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C710602E-0F67-4635-B63D-24BB182262F8}"/>
              </a:ext>
            </a:extLst>
          </p:cNvPr>
          <p:cNvCxnSpPr>
            <a:cxnSpLocks/>
          </p:cNvCxnSpPr>
          <p:nvPr/>
        </p:nvCxnSpPr>
        <p:spPr>
          <a:xfrm>
            <a:off x="10326096" y="4198305"/>
            <a:ext cx="0" cy="4671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EDF97533-F11E-4D31-8421-3B5E1328B905}"/>
              </a:ext>
            </a:extLst>
          </p:cNvPr>
          <p:cNvCxnSpPr>
            <a:cxnSpLocks/>
          </p:cNvCxnSpPr>
          <p:nvPr/>
        </p:nvCxnSpPr>
        <p:spPr>
          <a:xfrm>
            <a:off x="9563525" y="3085729"/>
            <a:ext cx="505358" cy="2423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9" name="Rectangle 58">
            <a:extLst>
              <a:ext uri="{FF2B5EF4-FFF2-40B4-BE49-F238E27FC236}">
                <a16:creationId xmlns:a16="http://schemas.microsoft.com/office/drawing/2014/main" id="{203C2C67-0704-435F-9C1B-69B6FC24E8FB}"/>
              </a:ext>
            </a:extLst>
          </p:cNvPr>
          <p:cNvSpPr/>
          <p:nvPr/>
        </p:nvSpPr>
        <p:spPr>
          <a:xfrm>
            <a:off x="8874162" y="3664772"/>
            <a:ext cx="464838" cy="438912"/>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TextBox 60">
            <a:extLst>
              <a:ext uri="{FF2B5EF4-FFF2-40B4-BE49-F238E27FC236}">
                <a16:creationId xmlns:a16="http://schemas.microsoft.com/office/drawing/2014/main" id="{8932FD20-A519-47E6-8A7E-9B9966BBEADD}"/>
              </a:ext>
            </a:extLst>
          </p:cNvPr>
          <p:cNvSpPr txBox="1"/>
          <p:nvPr/>
        </p:nvSpPr>
        <p:spPr>
          <a:xfrm>
            <a:off x="9433033" y="1833151"/>
            <a:ext cx="2577477" cy="830997"/>
          </a:xfrm>
          <a:prstGeom prst="rect">
            <a:avLst/>
          </a:prstGeom>
          <a:solidFill>
            <a:srgbClr val="00B0F0"/>
          </a:solidFill>
          <a:ln>
            <a:solidFill>
              <a:schemeClr val="tx1"/>
            </a:solidFill>
          </a:ln>
        </p:spPr>
        <p:txBody>
          <a:bodyPr wrap="square">
            <a:spAutoFit/>
          </a:bodyPr>
          <a:lstStyle/>
          <a:p>
            <a:pPr algn="ctr"/>
            <a:r>
              <a:rPr lang="en-US" b="1" i="0" u="sng" dirty="0">
                <a:solidFill>
                  <a:srgbClr val="000000"/>
                </a:solidFill>
                <a:effectLst/>
              </a:rPr>
              <a:t>FORM FILL/SEARCH DATA</a:t>
            </a:r>
          </a:p>
          <a:p>
            <a:r>
              <a:rPr lang="en-US" sz="1000" b="1" i="0" dirty="0">
                <a:solidFill>
                  <a:srgbClr val="000000"/>
                </a:solidFill>
                <a:effectLst/>
              </a:rPr>
              <a:t>SQLite database “</a:t>
            </a:r>
            <a:r>
              <a:rPr lang="en-US" sz="1000" b="1" dirty="0" err="1">
                <a:solidFill>
                  <a:srgbClr val="000000"/>
                </a:solidFill>
              </a:rPr>
              <a:t>formhistory</a:t>
            </a:r>
            <a:r>
              <a:rPr lang="en-US" sz="1000" b="1" i="0" dirty="0" err="1">
                <a:solidFill>
                  <a:srgbClr val="000000"/>
                </a:solidFill>
                <a:effectLst/>
              </a:rPr>
              <a:t>.sqlite</a:t>
            </a:r>
            <a:r>
              <a:rPr lang="en-US" sz="1000" b="1" i="0" dirty="0">
                <a:solidFill>
                  <a:srgbClr val="000000"/>
                </a:solidFill>
                <a:effectLst/>
              </a:rPr>
              <a:t>”</a:t>
            </a:r>
            <a:r>
              <a:rPr lang="en-US" sz="1000" b="0" i="0" dirty="0">
                <a:solidFill>
                  <a:srgbClr val="000000"/>
                </a:solidFill>
                <a:effectLst/>
              </a:rPr>
              <a:t> </a:t>
            </a:r>
          </a:p>
          <a:p>
            <a:r>
              <a:rPr lang="en-US" sz="1000" b="1" i="0" dirty="0">
                <a:solidFill>
                  <a:srgbClr val="000000"/>
                </a:solidFill>
                <a:effectLst/>
              </a:rPr>
              <a:t>Tables</a:t>
            </a:r>
          </a:p>
          <a:p>
            <a:pPr marL="285750" indent="-285750">
              <a:buFont typeface="Arial" panose="020B0604020202020204" pitchFamily="34" charset="0"/>
              <a:buChar char="•"/>
            </a:pPr>
            <a:r>
              <a:rPr lang="en-US" sz="1000" dirty="0" err="1">
                <a:solidFill>
                  <a:srgbClr val="000000"/>
                </a:solidFill>
                <a:effectLst/>
              </a:rPr>
              <a:t>moz_formhistory</a:t>
            </a:r>
            <a:endParaRPr lang="en-US" sz="1000" i="0" dirty="0">
              <a:solidFill>
                <a:srgbClr val="000000"/>
              </a:solidFill>
              <a:effectLst/>
            </a:endParaRPr>
          </a:p>
        </p:txBody>
      </p:sp>
      <p:sp>
        <p:nvSpPr>
          <p:cNvPr id="63" name="TextBox 62">
            <a:extLst>
              <a:ext uri="{FF2B5EF4-FFF2-40B4-BE49-F238E27FC236}">
                <a16:creationId xmlns:a16="http://schemas.microsoft.com/office/drawing/2014/main" id="{E8207D49-ED5C-4E3C-B341-21D6548DE2A9}"/>
              </a:ext>
            </a:extLst>
          </p:cNvPr>
          <p:cNvSpPr txBox="1"/>
          <p:nvPr/>
        </p:nvSpPr>
        <p:spPr>
          <a:xfrm>
            <a:off x="9579496" y="1181301"/>
            <a:ext cx="2427732" cy="369332"/>
          </a:xfrm>
          <a:prstGeom prst="rect">
            <a:avLst/>
          </a:prstGeom>
          <a:solidFill>
            <a:srgbClr val="FFCCFF"/>
          </a:solidFill>
          <a:ln>
            <a:solidFill>
              <a:schemeClr val="tx1"/>
            </a:solidFill>
          </a:ln>
        </p:spPr>
        <p:txBody>
          <a:bodyPr wrap="square">
            <a:spAutoFit/>
          </a:bodyPr>
          <a:lstStyle/>
          <a:p>
            <a:pPr algn="ctr"/>
            <a:r>
              <a:rPr lang="en-US" b="1" i="0" u="sng" dirty="0">
                <a:solidFill>
                  <a:srgbClr val="000000"/>
                </a:solidFill>
                <a:effectLst/>
              </a:rPr>
              <a:t>Firefox Form History</a:t>
            </a:r>
          </a:p>
        </p:txBody>
      </p:sp>
      <p:cxnSp>
        <p:nvCxnSpPr>
          <p:cNvPr id="66" name="Straight Arrow Connector 65">
            <a:extLst>
              <a:ext uri="{FF2B5EF4-FFF2-40B4-BE49-F238E27FC236}">
                <a16:creationId xmlns:a16="http://schemas.microsoft.com/office/drawing/2014/main" id="{1A6332EF-3CA8-44ED-B3D9-4D83821593F6}"/>
              </a:ext>
            </a:extLst>
          </p:cNvPr>
          <p:cNvCxnSpPr>
            <a:cxnSpLocks/>
          </p:cNvCxnSpPr>
          <p:nvPr/>
        </p:nvCxnSpPr>
        <p:spPr>
          <a:xfrm flipV="1">
            <a:off x="8746643" y="2506081"/>
            <a:ext cx="686390" cy="2598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5E95F21F-6805-4EA6-9265-2288B306BFD3}"/>
              </a:ext>
            </a:extLst>
          </p:cNvPr>
          <p:cNvCxnSpPr>
            <a:cxnSpLocks/>
          </p:cNvCxnSpPr>
          <p:nvPr/>
        </p:nvCxnSpPr>
        <p:spPr>
          <a:xfrm flipV="1">
            <a:off x="10780053" y="1550633"/>
            <a:ext cx="0" cy="2299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3ED58AEC-9D55-41A9-A42C-3FCAAD6ED7E8}"/>
              </a:ext>
            </a:extLst>
          </p:cNvPr>
          <p:cNvCxnSpPr>
            <a:cxnSpLocks/>
          </p:cNvCxnSpPr>
          <p:nvPr/>
        </p:nvCxnSpPr>
        <p:spPr>
          <a:xfrm flipV="1">
            <a:off x="5615889" y="402416"/>
            <a:ext cx="202206" cy="39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056B7E0A-91CD-4FF5-A237-250AB2521E10}"/>
              </a:ext>
            </a:extLst>
          </p:cNvPr>
          <p:cNvCxnSpPr>
            <a:cxnSpLocks/>
          </p:cNvCxnSpPr>
          <p:nvPr/>
        </p:nvCxnSpPr>
        <p:spPr>
          <a:xfrm>
            <a:off x="9570330" y="347010"/>
            <a:ext cx="241891"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83912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2EAEB26-ABE6-4027-A2F9-401F6FDD245A}"/>
              </a:ext>
            </a:extLst>
          </p:cNvPr>
          <p:cNvSpPr txBox="1"/>
          <p:nvPr/>
        </p:nvSpPr>
        <p:spPr>
          <a:xfrm>
            <a:off x="50001" y="203970"/>
            <a:ext cx="5980455" cy="400110"/>
          </a:xfrm>
          <a:prstGeom prst="rect">
            <a:avLst/>
          </a:prstGeom>
          <a:solidFill>
            <a:srgbClr val="FFFF00"/>
          </a:solidFill>
          <a:ln>
            <a:solidFill>
              <a:schemeClr val="tx1"/>
            </a:solidFill>
          </a:ln>
        </p:spPr>
        <p:txBody>
          <a:bodyPr wrap="square">
            <a:spAutoFit/>
          </a:bodyPr>
          <a:lstStyle/>
          <a:p>
            <a:pPr algn="l" rtl="0" fontAlgn="base"/>
            <a:r>
              <a:rPr lang="en-US" sz="1000" b="1" dirty="0">
                <a:solidFill>
                  <a:srgbClr val="000000"/>
                </a:solidFill>
                <a:effectLst/>
              </a:rPr>
              <a:t>&lt; IE v9: </a:t>
            </a:r>
            <a:r>
              <a:rPr lang="en-US" sz="1000" b="0" i="1" dirty="0">
                <a:solidFill>
                  <a:srgbClr val="000000"/>
                </a:solidFill>
                <a:effectLst/>
              </a:rPr>
              <a:t>\Users\&lt;user&gt;\</a:t>
            </a:r>
            <a:r>
              <a:rPr lang="en-US" sz="1000" b="0" i="1" dirty="0" err="1">
                <a:solidFill>
                  <a:srgbClr val="000000"/>
                </a:solidFill>
                <a:effectLst/>
              </a:rPr>
              <a:t>AppData</a:t>
            </a:r>
            <a:r>
              <a:rPr lang="en-US" sz="1000" b="0" i="1" dirty="0">
                <a:solidFill>
                  <a:srgbClr val="000000"/>
                </a:solidFill>
                <a:effectLst/>
              </a:rPr>
              <a:t>\Local\Microsoft\History\History.IE5\ </a:t>
            </a:r>
          </a:p>
          <a:p>
            <a:pPr fontAlgn="base"/>
            <a:r>
              <a:rPr lang="en-US" sz="1000" b="1" dirty="0">
                <a:solidFill>
                  <a:srgbClr val="000000"/>
                </a:solidFill>
                <a:effectLst/>
              </a:rPr>
              <a:t>IE v10/11/Edge: </a:t>
            </a:r>
            <a:r>
              <a:rPr lang="en-US" sz="1000" b="0" i="1" dirty="0">
                <a:solidFill>
                  <a:srgbClr val="000000"/>
                </a:solidFill>
                <a:effectLst/>
              </a:rPr>
              <a:t>\Users\&lt;user&gt;\</a:t>
            </a:r>
            <a:r>
              <a:rPr lang="en-US" sz="1000" b="0" i="1" dirty="0" err="1">
                <a:solidFill>
                  <a:srgbClr val="000000"/>
                </a:solidFill>
                <a:effectLst/>
              </a:rPr>
              <a:t>AppData</a:t>
            </a:r>
            <a:r>
              <a:rPr lang="en-US" sz="1000" b="0" i="1" dirty="0">
                <a:solidFill>
                  <a:srgbClr val="000000"/>
                </a:solidFill>
                <a:effectLst/>
              </a:rPr>
              <a:t>\Local\Microsoft\Windows\</a:t>
            </a:r>
            <a:r>
              <a:rPr lang="en-US" sz="1000" b="0" i="1" dirty="0" err="1">
                <a:solidFill>
                  <a:srgbClr val="000000"/>
                </a:solidFill>
                <a:effectLst/>
              </a:rPr>
              <a:t>WebCache</a:t>
            </a:r>
            <a:r>
              <a:rPr lang="en-US" sz="1000" b="0" i="1" dirty="0">
                <a:solidFill>
                  <a:srgbClr val="000000"/>
                </a:solidFill>
                <a:effectLst/>
              </a:rPr>
              <a:t>\ </a:t>
            </a:r>
          </a:p>
        </p:txBody>
      </p:sp>
      <p:sp>
        <p:nvSpPr>
          <p:cNvPr id="7" name="TextBox 6">
            <a:extLst>
              <a:ext uri="{FF2B5EF4-FFF2-40B4-BE49-F238E27FC236}">
                <a16:creationId xmlns:a16="http://schemas.microsoft.com/office/drawing/2014/main" id="{278D9ED8-E1DF-4476-8CA9-948DE56DDE37}"/>
              </a:ext>
            </a:extLst>
          </p:cNvPr>
          <p:cNvSpPr txBox="1"/>
          <p:nvPr/>
        </p:nvSpPr>
        <p:spPr>
          <a:xfrm>
            <a:off x="6161544" y="203970"/>
            <a:ext cx="2969816" cy="923330"/>
          </a:xfrm>
          <a:prstGeom prst="rect">
            <a:avLst/>
          </a:prstGeom>
          <a:noFill/>
          <a:ln>
            <a:solidFill>
              <a:schemeClr val="tx1"/>
            </a:solidFill>
          </a:ln>
        </p:spPr>
        <p:txBody>
          <a:bodyPr wrap="square">
            <a:spAutoFit/>
          </a:bodyPr>
          <a:lstStyle/>
          <a:p>
            <a:pPr algn="ctr" rtl="0" fontAlgn="base"/>
            <a:r>
              <a:rPr lang="en-US" sz="1400" b="1" u="sng" dirty="0">
                <a:solidFill>
                  <a:srgbClr val="000000"/>
                </a:solidFill>
                <a:effectLst/>
              </a:rPr>
              <a:t>HISTORY/DOWNLOADS</a:t>
            </a:r>
          </a:p>
          <a:p>
            <a:pPr marL="171450" indent="-171450" algn="l" rtl="0" fontAlgn="base">
              <a:buFont typeface="Arial" panose="020B0604020202020204" pitchFamily="34" charset="0"/>
              <a:buChar char="•"/>
            </a:pPr>
            <a:r>
              <a:rPr lang="en-US" sz="1000" b="1" dirty="0">
                <a:solidFill>
                  <a:srgbClr val="000000"/>
                </a:solidFill>
                <a:effectLst/>
              </a:rPr>
              <a:t>IE v9: </a:t>
            </a:r>
            <a:r>
              <a:rPr lang="en-US" sz="1000" dirty="0">
                <a:solidFill>
                  <a:srgbClr val="000000"/>
                </a:solidFill>
              </a:rPr>
              <a:t>index.dat</a:t>
            </a:r>
          </a:p>
          <a:p>
            <a:pPr marL="171450" indent="-171450" algn="l" rtl="0" fontAlgn="base">
              <a:buFont typeface="Arial" panose="020B0604020202020204" pitchFamily="34" charset="0"/>
              <a:buChar char="•"/>
            </a:pPr>
            <a:r>
              <a:rPr lang="en-US" sz="1000" b="1" dirty="0">
                <a:solidFill>
                  <a:srgbClr val="000000"/>
                </a:solidFill>
                <a:effectLst/>
              </a:rPr>
              <a:t>IE v10/11/Edge: </a:t>
            </a:r>
          </a:p>
          <a:p>
            <a:pPr marL="628650" lvl="1" indent="-171450" fontAlgn="base">
              <a:buFont typeface="Arial" panose="020B0604020202020204" pitchFamily="34" charset="0"/>
              <a:buChar char="•"/>
            </a:pPr>
            <a:r>
              <a:rPr lang="en-US" sz="1000" dirty="0">
                <a:solidFill>
                  <a:srgbClr val="000000"/>
                </a:solidFill>
              </a:rPr>
              <a:t>WebCacheV01.dat </a:t>
            </a:r>
          </a:p>
          <a:p>
            <a:pPr marL="628650" lvl="1" indent="-171450" fontAlgn="base">
              <a:buFont typeface="Arial" panose="020B0604020202020204" pitchFamily="34" charset="0"/>
              <a:buChar char="•"/>
            </a:pPr>
            <a:r>
              <a:rPr lang="en-US" sz="1000" dirty="0">
                <a:solidFill>
                  <a:srgbClr val="000000"/>
                </a:solidFill>
              </a:rPr>
              <a:t>(ESE database/Jet Blue)</a:t>
            </a:r>
          </a:p>
        </p:txBody>
      </p:sp>
      <p:sp>
        <p:nvSpPr>
          <p:cNvPr id="10" name="TextBox 9">
            <a:extLst>
              <a:ext uri="{FF2B5EF4-FFF2-40B4-BE49-F238E27FC236}">
                <a16:creationId xmlns:a16="http://schemas.microsoft.com/office/drawing/2014/main" id="{4D8E57C0-EDC6-48FE-B50B-DEE4F4B401FF}"/>
              </a:ext>
            </a:extLst>
          </p:cNvPr>
          <p:cNvSpPr txBox="1"/>
          <p:nvPr/>
        </p:nvSpPr>
        <p:spPr>
          <a:xfrm>
            <a:off x="9521958" y="69612"/>
            <a:ext cx="2593842" cy="954107"/>
          </a:xfrm>
          <a:prstGeom prst="rect">
            <a:avLst/>
          </a:prstGeom>
          <a:solidFill>
            <a:srgbClr val="FFCCFF"/>
          </a:solidFill>
          <a:ln>
            <a:solidFill>
              <a:schemeClr val="tx1"/>
            </a:solidFill>
          </a:ln>
        </p:spPr>
        <p:txBody>
          <a:bodyPr wrap="square">
            <a:spAutoFit/>
          </a:bodyPr>
          <a:lstStyle/>
          <a:p>
            <a:pPr algn="l" rtl="0" fontAlgn="base"/>
            <a:r>
              <a:rPr lang="en-US" sz="1400" b="1" i="0" u="sng" dirty="0">
                <a:solidFill>
                  <a:srgbClr val="000000"/>
                </a:solidFill>
                <a:effectLst/>
              </a:rPr>
              <a:t>IE v10-11 Main History</a:t>
            </a:r>
            <a:endParaRPr lang="en-US" sz="1400" u="sng" dirty="0">
              <a:solidFill>
                <a:srgbClr val="000000"/>
              </a:solidFill>
            </a:endParaRPr>
          </a:p>
          <a:p>
            <a:pPr algn="l" rtl="0" fontAlgn="base"/>
            <a:r>
              <a:rPr lang="en-US" sz="1400" b="1" i="0" u="sng" dirty="0">
                <a:solidFill>
                  <a:srgbClr val="000000"/>
                </a:solidFill>
                <a:effectLst/>
              </a:rPr>
              <a:t>IE v10-11 Daily/Weekly History</a:t>
            </a:r>
            <a:r>
              <a:rPr lang="en-US" sz="1400" b="0" i="0" u="sng" dirty="0">
                <a:solidFill>
                  <a:srgbClr val="000000"/>
                </a:solidFill>
                <a:effectLst/>
              </a:rPr>
              <a:t> </a:t>
            </a:r>
          </a:p>
          <a:p>
            <a:pPr algn="l" rtl="0" fontAlgn="base"/>
            <a:r>
              <a:rPr lang="en-US" sz="1400" b="1" i="0" u="sng" dirty="0">
                <a:solidFill>
                  <a:srgbClr val="000000"/>
                </a:solidFill>
                <a:effectLst/>
              </a:rPr>
              <a:t>IE Main History</a:t>
            </a:r>
            <a:endParaRPr lang="en-US" sz="1400" u="sng" dirty="0">
              <a:solidFill>
                <a:srgbClr val="000000"/>
              </a:solidFill>
            </a:endParaRPr>
          </a:p>
          <a:p>
            <a:pPr algn="l" rtl="0" fontAlgn="base"/>
            <a:r>
              <a:rPr lang="en-US" sz="1400" b="1" i="0" u="sng" dirty="0">
                <a:solidFill>
                  <a:srgbClr val="000000"/>
                </a:solidFill>
                <a:effectLst/>
              </a:rPr>
              <a:t>IE Weekly History</a:t>
            </a:r>
            <a:r>
              <a:rPr lang="en-US" sz="1400" b="0" i="0" u="sng" dirty="0">
                <a:solidFill>
                  <a:srgbClr val="000000"/>
                </a:solidFill>
                <a:effectLst/>
              </a:rPr>
              <a:t> </a:t>
            </a:r>
          </a:p>
        </p:txBody>
      </p:sp>
      <p:sp>
        <p:nvSpPr>
          <p:cNvPr id="13" name="TextBox 12">
            <a:extLst>
              <a:ext uri="{FF2B5EF4-FFF2-40B4-BE49-F238E27FC236}">
                <a16:creationId xmlns:a16="http://schemas.microsoft.com/office/drawing/2014/main" id="{8D6D4E26-A767-4DA4-9B8E-ACB12E07F01F}"/>
              </a:ext>
            </a:extLst>
          </p:cNvPr>
          <p:cNvSpPr txBox="1"/>
          <p:nvPr/>
        </p:nvSpPr>
        <p:spPr>
          <a:xfrm>
            <a:off x="50001" y="1709093"/>
            <a:ext cx="5980455" cy="707886"/>
          </a:xfrm>
          <a:prstGeom prst="rect">
            <a:avLst/>
          </a:prstGeom>
          <a:solidFill>
            <a:srgbClr val="FFFF00"/>
          </a:solidFill>
          <a:ln>
            <a:solidFill>
              <a:schemeClr val="tx1"/>
            </a:solidFill>
          </a:ln>
        </p:spPr>
        <p:txBody>
          <a:bodyPr wrap="square">
            <a:spAutoFit/>
          </a:bodyPr>
          <a:lstStyle/>
          <a:p>
            <a:pPr algn="l" rtl="0" fontAlgn="base"/>
            <a:r>
              <a:rPr lang="en-US" sz="1000" b="1" i="0" dirty="0">
                <a:solidFill>
                  <a:srgbClr val="000000"/>
                </a:solidFill>
                <a:effectLst/>
              </a:rPr>
              <a:t>IE</a:t>
            </a:r>
            <a:r>
              <a:rPr lang="en-US" sz="1000" b="1" dirty="0">
                <a:solidFill>
                  <a:srgbClr val="000000"/>
                </a:solidFill>
              </a:rPr>
              <a:t>: </a:t>
            </a:r>
            <a:r>
              <a:rPr lang="en-US" sz="1000" i="1" dirty="0">
                <a:solidFill>
                  <a:srgbClr val="000000"/>
                </a:solidFill>
                <a:effectLst/>
              </a:rPr>
              <a:t>\Users\&lt;user&gt;\</a:t>
            </a:r>
            <a:r>
              <a:rPr lang="en-US" sz="1000" i="1" dirty="0" err="1">
                <a:solidFill>
                  <a:srgbClr val="000000"/>
                </a:solidFill>
                <a:effectLst/>
              </a:rPr>
              <a:t>AppData</a:t>
            </a:r>
            <a:r>
              <a:rPr lang="en-US" sz="1000" i="1" dirty="0">
                <a:solidFill>
                  <a:srgbClr val="000000"/>
                </a:solidFill>
                <a:effectLst/>
              </a:rPr>
              <a:t>\Local\Microsoft\Internet Explorer\Recovery\ </a:t>
            </a:r>
            <a:endParaRPr lang="en-US" sz="1000" b="0" i="0" dirty="0">
              <a:solidFill>
                <a:srgbClr val="000000"/>
              </a:solidFill>
              <a:effectLst/>
            </a:endParaRPr>
          </a:p>
          <a:p>
            <a:pPr algn="l" rtl="0" fontAlgn="base"/>
            <a:r>
              <a:rPr lang="en-US" sz="1000" b="1" i="0" dirty="0">
                <a:solidFill>
                  <a:srgbClr val="000000"/>
                </a:solidFill>
                <a:effectLst/>
              </a:rPr>
              <a:t>EDGE</a:t>
            </a:r>
            <a:r>
              <a:rPr lang="en-US" sz="1000" b="1" dirty="0">
                <a:solidFill>
                  <a:srgbClr val="000000"/>
                </a:solidFill>
              </a:rPr>
              <a:t>: </a:t>
            </a:r>
            <a:r>
              <a:rPr lang="en-US" sz="1000" i="1" dirty="0">
                <a:solidFill>
                  <a:srgbClr val="000000"/>
                </a:solidFill>
                <a:effectLst/>
              </a:rPr>
              <a:t>\Users\&lt;user&gt;\</a:t>
            </a:r>
            <a:r>
              <a:rPr lang="en-US" sz="1000" i="1" dirty="0" err="1">
                <a:solidFill>
                  <a:srgbClr val="000000"/>
                </a:solidFill>
                <a:effectLst/>
              </a:rPr>
              <a:t>AppData</a:t>
            </a:r>
            <a:r>
              <a:rPr lang="en-US" sz="1000" i="1" dirty="0">
                <a:solidFill>
                  <a:srgbClr val="000000"/>
                </a:solidFill>
                <a:effectLst/>
              </a:rPr>
              <a:t>\Local\Packages\Microsoft.MicrosoftEdge_8wekyb 3d8bbwe\AC\</a:t>
            </a:r>
            <a:r>
              <a:rPr lang="en-US" sz="1000" i="1" dirty="0" err="1">
                <a:solidFill>
                  <a:srgbClr val="000000"/>
                </a:solidFill>
                <a:effectLst/>
              </a:rPr>
              <a:t>MicrosoftEdge</a:t>
            </a:r>
            <a:r>
              <a:rPr lang="en-US" sz="1000" i="1" dirty="0">
                <a:solidFill>
                  <a:srgbClr val="000000"/>
                </a:solidFill>
                <a:effectLst/>
              </a:rPr>
              <a:t>\User\Default\Recovery </a:t>
            </a:r>
          </a:p>
        </p:txBody>
      </p:sp>
      <p:sp>
        <p:nvSpPr>
          <p:cNvPr id="15" name="TextBox 14">
            <a:extLst>
              <a:ext uri="{FF2B5EF4-FFF2-40B4-BE49-F238E27FC236}">
                <a16:creationId xmlns:a16="http://schemas.microsoft.com/office/drawing/2014/main" id="{6644822D-D96C-4104-8929-526BBEB65919}"/>
              </a:ext>
            </a:extLst>
          </p:cNvPr>
          <p:cNvSpPr txBox="1"/>
          <p:nvPr/>
        </p:nvSpPr>
        <p:spPr>
          <a:xfrm>
            <a:off x="6161544" y="1721100"/>
            <a:ext cx="2969816" cy="769441"/>
          </a:xfrm>
          <a:prstGeom prst="rect">
            <a:avLst/>
          </a:prstGeom>
          <a:noFill/>
          <a:ln>
            <a:solidFill>
              <a:schemeClr val="tx1"/>
            </a:solidFill>
          </a:ln>
        </p:spPr>
        <p:txBody>
          <a:bodyPr wrap="square">
            <a:spAutoFit/>
          </a:bodyPr>
          <a:lstStyle/>
          <a:p>
            <a:pPr algn="ctr" rtl="0" fontAlgn="base"/>
            <a:r>
              <a:rPr lang="en-US" sz="1400" b="1" u="sng" dirty="0">
                <a:solidFill>
                  <a:srgbClr val="000000"/>
                </a:solidFill>
                <a:effectLst/>
              </a:rPr>
              <a:t>SESSION</a:t>
            </a:r>
          </a:p>
          <a:p>
            <a:pPr marL="171450" indent="-171450" algn="l" rtl="0" fontAlgn="base">
              <a:buFont typeface="Arial" panose="020B0604020202020204" pitchFamily="34" charset="0"/>
              <a:buChar char="•"/>
            </a:pPr>
            <a:r>
              <a:rPr lang="en-US" sz="1000" b="1" i="0" dirty="0">
                <a:solidFill>
                  <a:srgbClr val="000000"/>
                </a:solidFill>
                <a:effectLst/>
              </a:rPr>
              <a:t>{GUID}.dat </a:t>
            </a:r>
            <a:r>
              <a:rPr lang="en-US" sz="1000" i="0" dirty="0">
                <a:solidFill>
                  <a:srgbClr val="000000"/>
                </a:solidFill>
                <a:effectLst/>
              </a:rPr>
              <a:t>file located in…</a:t>
            </a:r>
          </a:p>
          <a:p>
            <a:pPr marL="171450" indent="-171450" algn="l" rtl="0" fontAlgn="base">
              <a:buFont typeface="Arial" panose="020B0604020202020204" pitchFamily="34" charset="0"/>
              <a:buChar char="•"/>
            </a:pPr>
            <a:r>
              <a:rPr lang="en-US" sz="1000" b="1" dirty="0">
                <a:solidFill>
                  <a:srgbClr val="000000"/>
                </a:solidFill>
              </a:rPr>
              <a:t>\Active\ </a:t>
            </a:r>
            <a:r>
              <a:rPr lang="en-US" sz="1000" b="1" dirty="0">
                <a:solidFill>
                  <a:srgbClr val="000000"/>
                </a:solidFill>
                <a:sym typeface="Wingdings" panose="05000000000000000000" pitchFamily="2" charset="2"/>
              </a:rPr>
              <a:t> </a:t>
            </a:r>
            <a:r>
              <a:rPr lang="en-US" sz="1000" b="1" dirty="0">
                <a:solidFill>
                  <a:srgbClr val="000000"/>
                </a:solidFill>
              </a:rPr>
              <a:t>\High\, \Low</a:t>
            </a:r>
          </a:p>
          <a:p>
            <a:pPr marL="171450" indent="-171450" algn="l" rtl="0" fontAlgn="base">
              <a:buFont typeface="Arial" panose="020B0604020202020204" pitchFamily="34" charset="0"/>
              <a:buChar char="•"/>
            </a:pPr>
            <a:r>
              <a:rPr lang="en-US" sz="1000" b="1" dirty="0">
                <a:solidFill>
                  <a:srgbClr val="000000"/>
                </a:solidFill>
              </a:rPr>
              <a:t>\Last Active\ </a:t>
            </a:r>
            <a:r>
              <a:rPr lang="en-US" sz="1000" b="1" dirty="0">
                <a:solidFill>
                  <a:srgbClr val="000000"/>
                </a:solidFill>
                <a:sym typeface="Wingdings" panose="05000000000000000000" pitchFamily="2" charset="2"/>
              </a:rPr>
              <a:t>  </a:t>
            </a:r>
            <a:r>
              <a:rPr lang="en-US" sz="1000" b="1" dirty="0">
                <a:solidFill>
                  <a:srgbClr val="000000"/>
                </a:solidFill>
              </a:rPr>
              <a:t>\High\, \Low</a:t>
            </a:r>
          </a:p>
        </p:txBody>
      </p:sp>
      <p:sp>
        <p:nvSpPr>
          <p:cNvPr id="17" name="TextBox 16">
            <a:extLst>
              <a:ext uri="{FF2B5EF4-FFF2-40B4-BE49-F238E27FC236}">
                <a16:creationId xmlns:a16="http://schemas.microsoft.com/office/drawing/2014/main" id="{4AFE49E5-415B-47FC-8C82-5EF4927C2404}"/>
              </a:ext>
            </a:extLst>
          </p:cNvPr>
          <p:cNvSpPr txBox="1"/>
          <p:nvPr/>
        </p:nvSpPr>
        <p:spPr>
          <a:xfrm>
            <a:off x="9521958" y="1709093"/>
            <a:ext cx="1959637" cy="307777"/>
          </a:xfrm>
          <a:prstGeom prst="rect">
            <a:avLst/>
          </a:prstGeom>
          <a:solidFill>
            <a:srgbClr val="FFCCFF"/>
          </a:solidFill>
          <a:ln>
            <a:solidFill>
              <a:schemeClr val="tx1"/>
            </a:solidFill>
          </a:ln>
        </p:spPr>
        <p:txBody>
          <a:bodyPr wrap="square">
            <a:spAutoFit/>
          </a:bodyPr>
          <a:lstStyle/>
          <a:p>
            <a:pPr algn="l" rtl="0" fontAlgn="base"/>
            <a:r>
              <a:rPr lang="en-US" sz="1400" b="1" i="0" dirty="0">
                <a:solidFill>
                  <a:srgbClr val="000000"/>
                </a:solidFill>
                <a:effectLst/>
              </a:rPr>
              <a:t>Edge Last Session</a:t>
            </a:r>
            <a:endParaRPr lang="en-US" sz="1400" b="0" i="0" dirty="0">
              <a:solidFill>
                <a:srgbClr val="000000"/>
              </a:solidFill>
              <a:effectLst/>
            </a:endParaRPr>
          </a:p>
        </p:txBody>
      </p:sp>
      <p:cxnSp>
        <p:nvCxnSpPr>
          <p:cNvPr id="19" name="Straight Arrow Connector 18">
            <a:extLst>
              <a:ext uri="{FF2B5EF4-FFF2-40B4-BE49-F238E27FC236}">
                <a16:creationId xmlns:a16="http://schemas.microsoft.com/office/drawing/2014/main" id="{A49C310F-22BA-4D13-9A70-E8ECDD6D0765}"/>
              </a:ext>
            </a:extLst>
          </p:cNvPr>
          <p:cNvCxnSpPr>
            <a:cxnSpLocks/>
          </p:cNvCxnSpPr>
          <p:nvPr/>
        </p:nvCxnSpPr>
        <p:spPr>
          <a:xfrm>
            <a:off x="7955280" y="774916"/>
            <a:ext cx="1566678" cy="310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9F5D11A5-CA7C-48D1-8D4B-8BC4653ACF72}"/>
              </a:ext>
            </a:extLst>
          </p:cNvPr>
          <p:cNvSpPr txBox="1"/>
          <p:nvPr/>
        </p:nvSpPr>
        <p:spPr>
          <a:xfrm>
            <a:off x="9521958" y="1103874"/>
            <a:ext cx="2398892" cy="523220"/>
          </a:xfrm>
          <a:prstGeom prst="rect">
            <a:avLst/>
          </a:prstGeom>
          <a:solidFill>
            <a:srgbClr val="FFCCFF"/>
          </a:solidFill>
          <a:ln>
            <a:solidFill>
              <a:schemeClr val="tx1"/>
            </a:solidFill>
          </a:ln>
        </p:spPr>
        <p:txBody>
          <a:bodyPr wrap="square">
            <a:spAutoFit/>
          </a:bodyPr>
          <a:lstStyle/>
          <a:p>
            <a:pPr algn="l" rtl="0" fontAlgn="base"/>
            <a:r>
              <a:rPr lang="en-US" sz="1400" b="1" i="0" dirty="0">
                <a:solidFill>
                  <a:srgbClr val="000000"/>
                </a:solidFill>
                <a:effectLst/>
              </a:rPr>
              <a:t>IE v10-11 Downloads</a:t>
            </a:r>
            <a:endParaRPr lang="en-US" sz="1400" dirty="0">
              <a:solidFill>
                <a:srgbClr val="000000"/>
              </a:solidFill>
            </a:endParaRPr>
          </a:p>
          <a:p>
            <a:pPr algn="l" rtl="0" fontAlgn="base"/>
            <a:r>
              <a:rPr lang="en-US" sz="1400" i="0" dirty="0">
                <a:solidFill>
                  <a:srgbClr val="000000"/>
                </a:solidFill>
                <a:effectLst/>
              </a:rPr>
              <a:t>IE, 10, 11 and Edge downloads</a:t>
            </a:r>
          </a:p>
        </p:txBody>
      </p:sp>
      <p:cxnSp>
        <p:nvCxnSpPr>
          <p:cNvPr id="23" name="Straight Arrow Connector 22">
            <a:extLst>
              <a:ext uri="{FF2B5EF4-FFF2-40B4-BE49-F238E27FC236}">
                <a16:creationId xmlns:a16="http://schemas.microsoft.com/office/drawing/2014/main" id="{1B40D0EE-EEA0-4891-8AC4-2429A975156D}"/>
              </a:ext>
            </a:extLst>
          </p:cNvPr>
          <p:cNvCxnSpPr>
            <a:cxnSpLocks/>
            <a:endCxn id="22" idx="1"/>
          </p:cNvCxnSpPr>
          <p:nvPr/>
        </p:nvCxnSpPr>
        <p:spPr>
          <a:xfrm>
            <a:off x="7955280" y="774916"/>
            <a:ext cx="1566678" cy="5905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073ABB62-A9AE-4D1C-9253-B5150FC84203}"/>
              </a:ext>
            </a:extLst>
          </p:cNvPr>
          <p:cNvSpPr txBox="1"/>
          <p:nvPr/>
        </p:nvSpPr>
        <p:spPr>
          <a:xfrm>
            <a:off x="6161544" y="2536318"/>
            <a:ext cx="2969816" cy="461665"/>
          </a:xfrm>
          <a:prstGeom prst="rect">
            <a:avLst/>
          </a:prstGeom>
          <a:noFill/>
          <a:ln>
            <a:solidFill>
              <a:schemeClr val="tx1"/>
            </a:solidFill>
          </a:ln>
        </p:spPr>
        <p:txBody>
          <a:bodyPr wrap="square">
            <a:spAutoFit/>
          </a:bodyPr>
          <a:lstStyle/>
          <a:p>
            <a:pPr algn="ctr" rtl="0" fontAlgn="base"/>
            <a:r>
              <a:rPr lang="en-US" sz="1400" b="1" u="sng" dirty="0">
                <a:solidFill>
                  <a:srgbClr val="000000"/>
                </a:solidFill>
                <a:effectLst/>
              </a:rPr>
              <a:t>FAVORITES</a:t>
            </a:r>
          </a:p>
          <a:p>
            <a:pPr marL="171450" indent="-171450" algn="l" rtl="0" fontAlgn="base">
              <a:buFont typeface="Arial" panose="020B0604020202020204" pitchFamily="34" charset="0"/>
              <a:buChar char="•"/>
            </a:pPr>
            <a:r>
              <a:rPr lang="en-US" sz="1000" b="1" i="0" dirty="0">
                <a:solidFill>
                  <a:srgbClr val="000000"/>
                </a:solidFill>
                <a:effectLst/>
              </a:rPr>
              <a:t>ESE database </a:t>
            </a:r>
            <a:r>
              <a:rPr lang="en-US" sz="1000" b="0" i="0" dirty="0">
                <a:solidFill>
                  <a:srgbClr val="000000"/>
                </a:solidFill>
                <a:effectLst/>
              </a:rPr>
              <a:t>named </a:t>
            </a:r>
            <a:r>
              <a:rPr lang="en-US" sz="1000" b="1" i="0" dirty="0" err="1">
                <a:solidFill>
                  <a:srgbClr val="000000"/>
                </a:solidFill>
                <a:effectLst/>
              </a:rPr>
              <a:t>spartan.edb</a:t>
            </a:r>
            <a:r>
              <a:rPr lang="en-US" sz="1000" b="1" i="0" dirty="0">
                <a:solidFill>
                  <a:srgbClr val="000000"/>
                </a:solidFill>
                <a:effectLst/>
              </a:rPr>
              <a:t> </a:t>
            </a:r>
            <a:r>
              <a:rPr lang="en-US" sz="1000" b="0" i="0" dirty="0" err="1">
                <a:solidFill>
                  <a:srgbClr val="000000"/>
                </a:solidFill>
                <a:effectLst/>
              </a:rPr>
              <a:t>storedat</a:t>
            </a:r>
            <a:endParaRPr lang="en-US" sz="1000" b="1" dirty="0">
              <a:solidFill>
                <a:srgbClr val="000000"/>
              </a:solidFill>
            </a:endParaRPr>
          </a:p>
        </p:txBody>
      </p:sp>
      <p:sp>
        <p:nvSpPr>
          <p:cNvPr id="28" name="TextBox 27">
            <a:extLst>
              <a:ext uri="{FF2B5EF4-FFF2-40B4-BE49-F238E27FC236}">
                <a16:creationId xmlns:a16="http://schemas.microsoft.com/office/drawing/2014/main" id="{86FB136F-2F3A-444A-8E6B-F8ED3931455D}"/>
              </a:ext>
            </a:extLst>
          </p:cNvPr>
          <p:cNvSpPr txBox="1"/>
          <p:nvPr/>
        </p:nvSpPr>
        <p:spPr>
          <a:xfrm>
            <a:off x="50001" y="2536318"/>
            <a:ext cx="5980455" cy="861774"/>
          </a:xfrm>
          <a:prstGeom prst="rect">
            <a:avLst/>
          </a:prstGeom>
          <a:solidFill>
            <a:srgbClr val="FFFF00"/>
          </a:solidFill>
          <a:ln>
            <a:solidFill>
              <a:schemeClr val="tx1"/>
            </a:solidFill>
          </a:ln>
        </p:spPr>
        <p:txBody>
          <a:bodyPr wrap="square">
            <a:spAutoFit/>
          </a:bodyPr>
          <a:lstStyle/>
          <a:p>
            <a:pPr algn="l" rtl="0" fontAlgn="base"/>
            <a:r>
              <a:rPr lang="en-US" sz="1000" b="1" dirty="0">
                <a:solidFill>
                  <a:srgbClr val="000000"/>
                </a:solidFill>
                <a:effectLst/>
              </a:rPr>
              <a:t>IE: </a:t>
            </a:r>
            <a:r>
              <a:rPr lang="en-US" sz="1000" i="1" dirty="0">
                <a:solidFill>
                  <a:srgbClr val="000000"/>
                </a:solidFill>
                <a:effectLst/>
              </a:rPr>
              <a:t>\Users\&lt;user&gt;\</a:t>
            </a:r>
            <a:r>
              <a:rPr lang="en-US" sz="1000" i="1" dirty="0" err="1">
                <a:solidFill>
                  <a:srgbClr val="000000"/>
                </a:solidFill>
                <a:effectLst/>
              </a:rPr>
              <a:t>AppData</a:t>
            </a:r>
            <a:r>
              <a:rPr lang="en-US" sz="1000" i="1" dirty="0">
                <a:solidFill>
                  <a:srgbClr val="000000"/>
                </a:solidFill>
                <a:effectLst/>
              </a:rPr>
              <a:t>\Favorites\ </a:t>
            </a:r>
          </a:p>
          <a:p>
            <a:pPr algn="l" rtl="0" fontAlgn="base"/>
            <a:r>
              <a:rPr lang="en-US" sz="1000" b="1" dirty="0">
                <a:solidFill>
                  <a:srgbClr val="000000"/>
                </a:solidFill>
              </a:rPr>
              <a:t>Edge Old: </a:t>
            </a:r>
            <a:r>
              <a:rPr lang="en-US" sz="1000" i="1" dirty="0">
                <a:solidFill>
                  <a:srgbClr val="000000"/>
                </a:solidFill>
                <a:effectLst/>
              </a:rPr>
              <a:t>\Users\&lt;username&gt;\</a:t>
            </a:r>
            <a:r>
              <a:rPr lang="en-US" sz="1000" i="1" dirty="0" err="1">
                <a:solidFill>
                  <a:srgbClr val="000000"/>
                </a:solidFill>
                <a:effectLst/>
              </a:rPr>
              <a:t>AppData</a:t>
            </a:r>
            <a:r>
              <a:rPr lang="en-US" sz="1000" i="1" dirty="0">
                <a:solidFill>
                  <a:srgbClr val="000000"/>
                </a:solidFill>
                <a:effectLst/>
              </a:rPr>
              <a:t>\Local\Packages\Microsoft. MicrosoftEdge_8wekyb3d8bbwe\AC\</a:t>
            </a:r>
            <a:r>
              <a:rPr lang="en-US" sz="1000" i="1" dirty="0" err="1">
                <a:solidFill>
                  <a:srgbClr val="000000"/>
                </a:solidFill>
                <a:effectLst/>
              </a:rPr>
              <a:t>MicrosoftEdge</a:t>
            </a:r>
            <a:r>
              <a:rPr lang="en-US" sz="1000" i="1" dirty="0">
                <a:solidFill>
                  <a:srgbClr val="000000"/>
                </a:solidFill>
                <a:effectLst/>
              </a:rPr>
              <a:t>\User\Default\Favorites </a:t>
            </a:r>
            <a:endParaRPr lang="en-US" sz="1000" b="0" i="0" dirty="0">
              <a:solidFill>
                <a:srgbClr val="000000"/>
              </a:solidFill>
              <a:effectLst/>
            </a:endParaRPr>
          </a:p>
          <a:p>
            <a:pPr algn="l" rtl="0" fontAlgn="base"/>
            <a:r>
              <a:rPr lang="en-US" sz="1000" b="1" i="0" dirty="0">
                <a:solidFill>
                  <a:srgbClr val="000000"/>
                </a:solidFill>
                <a:effectLst/>
              </a:rPr>
              <a:t>Edge New:</a:t>
            </a:r>
            <a:r>
              <a:rPr lang="en-US" sz="1000" i="1" dirty="0">
                <a:solidFill>
                  <a:srgbClr val="000000"/>
                </a:solidFill>
                <a:effectLst/>
              </a:rPr>
              <a:t>\Users\&lt;user&gt;\</a:t>
            </a:r>
            <a:r>
              <a:rPr lang="en-US" sz="1000" i="1" dirty="0" err="1">
                <a:solidFill>
                  <a:srgbClr val="000000"/>
                </a:solidFill>
                <a:effectLst/>
              </a:rPr>
              <a:t>AppData</a:t>
            </a:r>
            <a:r>
              <a:rPr lang="en-US" sz="1000" i="1" dirty="0">
                <a:solidFill>
                  <a:srgbClr val="000000"/>
                </a:solidFill>
                <a:effectLst/>
              </a:rPr>
              <a:t>\Local\Packages\Microsoft.MicrosoftEdge_8wekyb3d8bbwe\ AC\</a:t>
            </a:r>
            <a:r>
              <a:rPr lang="en-US" sz="1000" i="1" dirty="0" err="1">
                <a:solidFill>
                  <a:srgbClr val="000000"/>
                </a:solidFill>
                <a:effectLst/>
              </a:rPr>
              <a:t>MicrosoftEdge</a:t>
            </a:r>
            <a:r>
              <a:rPr lang="en-US" sz="1000" i="1" dirty="0">
                <a:solidFill>
                  <a:srgbClr val="000000"/>
                </a:solidFill>
                <a:effectLst/>
              </a:rPr>
              <a:t>\User\Default\</a:t>
            </a:r>
            <a:r>
              <a:rPr lang="en-US" sz="1000" i="1" dirty="0" err="1">
                <a:solidFill>
                  <a:srgbClr val="000000"/>
                </a:solidFill>
                <a:effectLst/>
              </a:rPr>
              <a:t>DataStore</a:t>
            </a:r>
            <a:r>
              <a:rPr lang="en-US" sz="1000" i="1" dirty="0">
                <a:solidFill>
                  <a:srgbClr val="000000"/>
                </a:solidFill>
                <a:effectLst/>
              </a:rPr>
              <a:t>\Data\nouser1\120712-0049\</a:t>
            </a:r>
            <a:r>
              <a:rPr lang="en-US" sz="1000" i="1" dirty="0" err="1">
                <a:solidFill>
                  <a:srgbClr val="000000"/>
                </a:solidFill>
                <a:effectLst/>
              </a:rPr>
              <a:t>DBStore</a:t>
            </a:r>
            <a:r>
              <a:rPr lang="en-US" sz="1000" i="1" dirty="0">
                <a:solidFill>
                  <a:srgbClr val="000000"/>
                </a:solidFill>
                <a:effectLst/>
              </a:rPr>
              <a:t> </a:t>
            </a:r>
          </a:p>
        </p:txBody>
      </p:sp>
      <p:sp>
        <p:nvSpPr>
          <p:cNvPr id="30" name="TextBox 29">
            <a:extLst>
              <a:ext uri="{FF2B5EF4-FFF2-40B4-BE49-F238E27FC236}">
                <a16:creationId xmlns:a16="http://schemas.microsoft.com/office/drawing/2014/main" id="{C04FAA6A-C8D8-48C4-9B4D-CD70A7C4BDDA}"/>
              </a:ext>
            </a:extLst>
          </p:cNvPr>
          <p:cNvSpPr txBox="1"/>
          <p:nvPr/>
        </p:nvSpPr>
        <p:spPr>
          <a:xfrm>
            <a:off x="9521958" y="2536318"/>
            <a:ext cx="2398892" cy="523220"/>
          </a:xfrm>
          <a:prstGeom prst="rect">
            <a:avLst/>
          </a:prstGeom>
          <a:solidFill>
            <a:srgbClr val="FFCCFF"/>
          </a:solidFill>
          <a:ln>
            <a:solidFill>
              <a:schemeClr val="tx1"/>
            </a:solidFill>
          </a:ln>
        </p:spPr>
        <p:txBody>
          <a:bodyPr wrap="square">
            <a:spAutoFit/>
          </a:bodyPr>
          <a:lstStyle/>
          <a:p>
            <a:pPr algn="l" rtl="0" fontAlgn="base"/>
            <a:r>
              <a:rPr lang="en-US" sz="1400" b="1" i="0" dirty="0">
                <a:solidFill>
                  <a:srgbClr val="000000"/>
                </a:solidFill>
                <a:effectLst/>
              </a:rPr>
              <a:t>IE Favorites</a:t>
            </a:r>
            <a:endParaRPr lang="en-US" sz="1400" dirty="0">
              <a:solidFill>
                <a:srgbClr val="000000"/>
              </a:solidFill>
            </a:endParaRPr>
          </a:p>
          <a:p>
            <a:pPr algn="l" rtl="0" fontAlgn="base"/>
            <a:r>
              <a:rPr lang="en-US" sz="1400" i="0" dirty="0">
                <a:solidFill>
                  <a:srgbClr val="000000"/>
                </a:solidFill>
                <a:effectLst/>
              </a:rPr>
              <a:t>IE, 10, 11 and Edge downloads</a:t>
            </a:r>
          </a:p>
        </p:txBody>
      </p:sp>
      <p:sp>
        <p:nvSpPr>
          <p:cNvPr id="34" name="TextBox 33">
            <a:extLst>
              <a:ext uri="{FF2B5EF4-FFF2-40B4-BE49-F238E27FC236}">
                <a16:creationId xmlns:a16="http://schemas.microsoft.com/office/drawing/2014/main" id="{182089A4-3707-4BB5-9C42-EB6D899E57FD}"/>
              </a:ext>
            </a:extLst>
          </p:cNvPr>
          <p:cNvSpPr txBox="1"/>
          <p:nvPr/>
        </p:nvSpPr>
        <p:spPr>
          <a:xfrm>
            <a:off x="50001" y="3484456"/>
            <a:ext cx="6041555" cy="1323439"/>
          </a:xfrm>
          <a:prstGeom prst="rect">
            <a:avLst/>
          </a:prstGeom>
          <a:solidFill>
            <a:srgbClr val="FFFF00"/>
          </a:solidFill>
          <a:ln>
            <a:solidFill>
              <a:schemeClr val="tx1"/>
            </a:solidFill>
          </a:ln>
        </p:spPr>
        <p:txBody>
          <a:bodyPr wrap="square">
            <a:spAutoFit/>
          </a:bodyPr>
          <a:lstStyle/>
          <a:p>
            <a:pPr fontAlgn="base"/>
            <a:r>
              <a:rPr lang="en-US" sz="1000" b="1" dirty="0">
                <a:solidFill>
                  <a:srgbClr val="000000"/>
                </a:solidFill>
                <a:effectLst/>
              </a:rPr>
              <a:t>Win7: </a:t>
            </a:r>
            <a:r>
              <a:rPr lang="en-US" sz="1000" i="1" dirty="0">
                <a:solidFill>
                  <a:srgbClr val="000000"/>
                </a:solidFill>
                <a:effectLst/>
              </a:rPr>
              <a:t>\Users\&lt;user&gt;\</a:t>
            </a:r>
            <a:r>
              <a:rPr lang="en-US" sz="1000" i="1" dirty="0" err="1">
                <a:solidFill>
                  <a:srgbClr val="000000"/>
                </a:solidFill>
                <a:effectLst/>
              </a:rPr>
              <a:t>AppData</a:t>
            </a:r>
            <a:r>
              <a:rPr lang="en-US" sz="1000" i="1" dirty="0">
                <a:solidFill>
                  <a:srgbClr val="000000"/>
                </a:solidFill>
                <a:effectLst/>
              </a:rPr>
              <a:t>\Roaming\Microsoft\Windows\Cookies\ </a:t>
            </a:r>
            <a:r>
              <a:rPr lang="en-US" sz="1000" b="1" i="0" dirty="0">
                <a:solidFill>
                  <a:srgbClr val="000000"/>
                </a:solidFill>
                <a:effectLst/>
              </a:rPr>
              <a:t>\Low\</a:t>
            </a:r>
            <a:r>
              <a:rPr lang="en-US" sz="1000" b="0" i="0" dirty="0">
                <a:solidFill>
                  <a:srgbClr val="000000"/>
                </a:solidFill>
                <a:effectLst/>
              </a:rPr>
              <a:t> </a:t>
            </a:r>
            <a:r>
              <a:rPr lang="en-US" sz="1000" b="1" i="0" dirty="0">
                <a:solidFill>
                  <a:srgbClr val="000000"/>
                </a:solidFill>
                <a:effectLst/>
              </a:rPr>
              <a:t>\High\ </a:t>
            </a:r>
            <a:endParaRPr lang="en-US" sz="1000" i="1" dirty="0">
              <a:solidFill>
                <a:srgbClr val="000000"/>
              </a:solidFill>
              <a:effectLst/>
            </a:endParaRPr>
          </a:p>
          <a:p>
            <a:pPr algn="l" rtl="0" fontAlgn="base"/>
            <a:r>
              <a:rPr lang="en-US" sz="1000" b="1" i="0" dirty="0">
                <a:solidFill>
                  <a:srgbClr val="000000"/>
                </a:solidFill>
                <a:effectLst/>
              </a:rPr>
              <a:t>Win8: </a:t>
            </a:r>
            <a:r>
              <a:rPr lang="en-US" sz="1000" i="1" dirty="0">
                <a:solidFill>
                  <a:srgbClr val="000000"/>
                </a:solidFill>
                <a:effectLst/>
              </a:rPr>
              <a:t>\Users\&lt;user&gt;\</a:t>
            </a:r>
            <a:r>
              <a:rPr lang="en-US" sz="1000" i="1" dirty="0" err="1">
                <a:solidFill>
                  <a:srgbClr val="000000"/>
                </a:solidFill>
                <a:effectLst/>
              </a:rPr>
              <a:t>AppData</a:t>
            </a:r>
            <a:r>
              <a:rPr lang="en-US" sz="1000" i="1" dirty="0">
                <a:solidFill>
                  <a:srgbClr val="000000"/>
                </a:solidFill>
                <a:effectLst/>
              </a:rPr>
              <a:t>\Local\Microsoft\Windows\</a:t>
            </a:r>
            <a:r>
              <a:rPr lang="en-US" sz="1000" i="1" dirty="0" err="1">
                <a:solidFill>
                  <a:srgbClr val="000000"/>
                </a:solidFill>
                <a:effectLst/>
              </a:rPr>
              <a:t>INetCookies</a:t>
            </a:r>
            <a:r>
              <a:rPr lang="en-US" sz="1000" i="1" dirty="0">
                <a:solidFill>
                  <a:srgbClr val="000000"/>
                </a:solidFill>
                <a:effectLst/>
              </a:rPr>
              <a:t>\ </a:t>
            </a:r>
            <a:r>
              <a:rPr lang="en-US" sz="1000" b="1" i="0" dirty="0">
                <a:solidFill>
                  <a:srgbClr val="000000"/>
                </a:solidFill>
                <a:effectLst/>
              </a:rPr>
              <a:t>\Low\</a:t>
            </a:r>
            <a:r>
              <a:rPr lang="en-US" sz="1000" b="0" i="0" dirty="0">
                <a:solidFill>
                  <a:srgbClr val="000000"/>
                </a:solidFill>
                <a:effectLst/>
              </a:rPr>
              <a:t> </a:t>
            </a:r>
            <a:r>
              <a:rPr lang="en-US" sz="1000" b="1" i="0" dirty="0">
                <a:solidFill>
                  <a:srgbClr val="000000"/>
                </a:solidFill>
                <a:effectLst/>
              </a:rPr>
              <a:t>\High\ </a:t>
            </a:r>
          </a:p>
          <a:p>
            <a:pPr algn="l" rtl="0" fontAlgn="base"/>
            <a:r>
              <a:rPr lang="en-US" sz="1000" b="1" i="0" dirty="0">
                <a:solidFill>
                  <a:srgbClr val="000000"/>
                </a:solidFill>
                <a:effectLst/>
              </a:rPr>
              <a:t>IE v10 and v11 	</a:t>
            </a:r>
            <a:r>
              <a:rPr lang="en-US" sz="1000" dirty="0">
                <a:solidFill>
                  <a:srgbClr val="000000"/>
                </a:solidFill>
              </a:rPr>
              <a:t>Metadata: </a:t>
            </a:r>
            <a:r>
              <a:rPr lang="en-US" sz="1000" i="1" dirty="0">
                <a:solidFill>
                  <a:srgbClr val="000000"/>
                </a:solidFill>
                <a:effectLst/>
              </a:rPr>
              <a:t>\Users\&lt;user&gt;\</a:t>
            </a:r>
            <a:r>
              <a:rPr lang="en-US" sz="1000" i="1" dirty="0" err="1">
                <a:solidFill>
                  <a:srgbClr val="000000"/>
                </a:solidFill>
                <a:effectLst/>
              </a:rPr>
              <a:t>AppData</a:t>
            </a:r>
            <a:r>
              <a:rPr lang="en-US" sz="1000" i="1" dirty="0">
                <a:solidFill>
                  <a:srgbClr val="000000"/>
                </a:solidFill>
                <a:effectLst/>
              </a:rPr>
              <a:t>\Local\Microsoft\Windows\</a:t>
            </a:r>
            <a:r>
              <a:rPr lang="en-US" sz="1000" i="1" dirty="0" err="1">
                <a:solidFill>
                  <a:srgbClr val="000000"/>
                </a:solidFill>
                <a:effectLst/>
              </a:rPr>
              <a:t>WebCache</a:t>
            </a:r>
            <a:r>
              <a:rPr lang="en-US" sz="1000" i="1" dirty="0">
                <a:solidFill>
                  <a:srgbClr val="000000"/>
                </a:solidFill>
                <a:effectLst/>
              </a:rPr>
              <a:t>\ </a:t>
            </a:r>
          </a:p>
          <a:p>
            <a:pPr algn="l" rtl="0" fontAlgn="base"/>
            <a:r>
              <a:rPr lang="en-US" sz="1000" dirty="0">
                <a:solidFill>
                  <a:srgbClr val="000000"/>
                </a:solidFill>
                <a:effectLst/>
              </a:rPr>
              <a:t>	Content: </a:t>
            </a:r>
            <a:r>
              <a:rPr lang="en-US" sz="1000" i="1" dirty="0">
                <a:solidFill>
                  <a:srgbClr val="000000"/>
                </a:solidFill>
                <a:effectLst/>
              </a:rPr>
              <a:t>\Users\&lt;user&gt;\</a:t>
            </a:r>
            <a:r>
              <a:rPr lang="en-US" sz="1000" i="1" dirty="0" err="1">
                <a:solidFill>
                  <a:srgbClr val="000000"/>
                </a:solidFill>
                <a:effectLst/>
              </a:rPr>
              <a:t>AppData</a:t>
            </a:r>
            <a:r>
              <a:rPr lang="en-US" sz="1000" i="1" dirty="0">
                <a:solidFill>
                  <a:srgbClr val="000000"/>
                </a:solidFill>
                <a:effectLst/>
              </a:rPr>
              <a:t>\Local\Microsoft\Windows\</a:t>
            </a:r>
            <a:r>
              <a:rPr lang="en-US" sz="1000" i="1" dirty="0" err="1">
                <a:solidFill>
                  <a:srgbClr val="000000"/>
                </a:solidFill>
                <a:effectLst/>
              </a:rPr>
              <a:t>INetCookies</a:t>
            </a:r>
            <a:r>
              <a:rPr lang="en-US" sz="1000" i="1" dirty="0">
                <a:solidFill>
                  <a:srgbClr val="000000"/>
                </a:solidFill>
                <a:effectLst/>
              </a:rPr>
              <a:t>\ </a:t>
            </a:r>
            <a:r>
              <a:rPr lang="en-US" sz="1000" b="1" i="0" dirty="0">
                <a:solidFill>
                  <a:srgbClr val="000000"/>
                </a:solidFill>
                <a:effectLst/>
              </a:rPr>
              <a:t>\Low\</a:t>
            </a:r>
            <a:r>
              <a:rPr lang="en-US" sz="1000" b="0" i="0" dirty="0">
                <a:solidFill>
                  <a:srgbClr val="000000"/>
                </a:solidFill>
                <a:effectLst/>
              </a:rPr>
              <a:t> </a:t>
            </a:r>
            <a:r>
              <a:rPr lang="en-US" sz="1000" b="1" i="0" dirty="0">
                <a:solidFill>
                  <a:srgbClr val="000000"/>
                </a:solidFill>
                <a:effectLst/>
              </a:rPr>
              <a:t>\High\ </a:t>
            </a:r>
            <a:endParaRPr lang="en-US" sz="1000" i="1" dirty="0">
              <a:solidFill>
                <a:srgbClr val="000000"/>
              </a:solidFill>
            </a:endParaRPr>
          </a:p>
          <a:p>
            <a:pPr algn="l" rtl="0" fontAlgn="base"/>
            <a:r>
              <a:rPr lang="en-US" sz="1000" b="1" dirty="0">
                <a:solidFill>
                  <a:srgbClr val="000000"/>
                </a:solidFill>
                <a:effectLst/>
              </a:rPr>
              <a:t>Edge: </a:t>
            </a:r>
          </a:p>
          <a:p>
            <a:pPr algn="l" rtl="0" fontAlgn="base"/>
            <a:r>
              <a:rPr lang="en-US" sz="1000" dirty="0">
                <a:solidFill>
                  <a:srgbClr val="000000"/>
                </a:solidFill>
              </a:rPr>
              <a:t>Metadata:</a:t>
            </a:r>
            <a:r>
              <a:rPr lang="en-US" sz="1000" i="1" dirty="0">
                <a:solidFill>
                  <a:srgbClr val="000000"/>
                </a:solidFill>
                <a:effectLst/>
              </a:rPr>
              <a:t>\Users\&lt;user&gt;\</a:t>
            </a:r>
            <a:r>
              <a:rPr lang="en-US" sz="1000" i="1" dirty="0" err="1">
                <a:solidFill>
                  <a:srgbClr val="000000"/>
                </a:solidFill>
                <a:effectLst/>
              </a:rPr>
              <a:t>AppData</a:t>
            </a:r>
            <a:r>
              <a:rPr lang="en-US" sz="1000" i="1" dirty="0">
                <a:solidFill>
                  <a:srgbClr val="000000"/>
                </a:solidFill>
                <a:effectLst/>
              </a:rPr>
              <a:t>\Local\Microsoft\Windows\</a:t>
            </a:r>
            <a:r>
              <a:rPr lang="en-US" sz="1000" i="1" dirty="0" err="1">
                <a:solidFill>
                  <a:srgbClr val="000000"/>
                </a:solidFill>
                <a:effectLst/>
              </a:rPr>
              <a:t>WebCache</a:t>
            </a:r>
            <a:r>
              <a:rPr lang="en-US" sz="1000" i="1" dirty="0">
                <a:solidFill>
                  <a:srgbClr val="000000"/>
                </a:solidFill>
                <a:effectLst/>
              </a:rPr>
              <a:t>\</a:t>
            </a:r>
            <a:r>
              <a:rPr lang="en-US" sz="1000" b="1" i="0" dirty="0">
                <a:solidFill>
                  <a:srgbClr val="000000"/>
                </a:solidFill>
                <a:effectLst/>
              </a:rPr>
              <a:t>WebCacheV01.dat </a:t>
            </a:r>
            <a:r>
              <a:rPr lang="en-US" sz="1000" b="1" i="1" dirty="0">
                <a:solidFill>
                  <a:srgbClr val="000000"/>
                </a:solidFill>
              </a:rPr>
              <a:t>       </a:t>
            </a:r>
            <a:r>
              <a:rPr lang="en-US" sz="1000" dirty="0">
                <a:solidFill>
                  <a:srgbClr val="000000"/>
                </a:solidFill>
                <a:effectLst/>
              </a:rPr>
              <a:t>Cookies:</a:t>
            </a:r>
            <a:r>
              <a:rPr lang="en-US" sz="1000" i="1" dirty="0">
                <a:solidFill>
                  <a:srgbClr val="000000"/>
                </a:solidFill>
                <a:effectLst/>
              </a:rPr>
              <a:t>&lt;user&gt;\</a:t>
            </a:r>
            <a:r>
              <a:rPr lang="en-US" sz="1000" i="1" dirty="0" err="1">
                <a:solidFill>
                  <a:srgbClr val="000000"/>
                </a:solidFill>
                <a:effectLst/>
              </a:rPr>
              <a:t>AppData</a:t>
            </a:r>
            <a:r>
              <a:rPr lang="en-US" sz="1000" i="1" dirty="0">
                <a:solidFill>
                  <a:srgbClr val="000000"/>
                </a:solidFill>
                <a:effectLst/>
              </a:rPr>
              <a:t>\Local\Packages\microsoft.microsoftedge_8wekyb3d8bbwe\AC\</a:t>
            </a:r>
            <a:r>
              <a:rPr lang="en-US" sz="1000" i="1" dirty="0" err="1">
                <a:solidFill>
                  <a:srgbClr val="000000"/>
                </a:solidFill>
                <a:effectLst/>
              </a:rPr>
              <a:t>MicrosoftEdge</a:t>
            </a:r>
            <a:r>
              <a:rPr lang="en-US" sz="1000" i="1" dirty="0">
                <a:solidFill>
                  <a:srgbClr val="000000"/>
                </a:solidFill>
                <a:effectLst/>
              </a:rPr>
              <a:t>\Cookies\</a:t>
            </a:r>
          </a:p>
          <a:p>
            <a:pPr algn="l" rtl="0" fontAlgn="base"/>
            <a:r>
              <a:rPr lang="en-US" sz="1000" b="0" i="0" dirty="0">
                <a:solidFill>
                  <a:srgbClr val="000000"/>
                </a:solidFill>
                <a:effectLst/>
              </a:rPr>
              <a:t>or</a:t>
            </a:r>
            <a:r>
              <a:rPr lang="en-US" sz="1000" dirty="0">
                <a:solidFill>
                  <a:srgbClr val="000000"/>
                </a:solidFill>
              </a:rPr>
              <a:t> </a:t>
            </a:r>
            <a:r>
              <a:rPr lang="en-US" sz="1000" i="1" dirty="0" err="1">
                <a:solidFill>
                  <a:srgbClr val="000000"/>
                </a:solidFill>
                <a:effectLst/>
              </a:rPr>
              <a:t>AppData</a:t>
            </a:r>
            <a:r>
              <a:rPr lang="en-US" sz="1000" i="1" dirty="0">
                <a:solidFill>
                  <a:srgbClr val="000000"/>
                </a:solidFill>
                <a:effectLst/>
              </a:rPr>
              <a:t>\Local\ Packages\microsoft.microsoftedge_8wekyb3d8bbwe\AC</a:t>
            </a:r>
            <a:r>
              <a:rPr lang="en-US" sz="1000" b="1" i="1" dirty="0">
                <a:solidFill>
                  <a:srgbClr val="000000"/>
                </a:solidFill>
                <a:effectLst/>
              </a:rPr>
              <a:t>\#!001</a:t>
            </a:r>
            <a:r>
              <a:rPr lang="en-US" sz="1000" i="1" dirty="0">
                <a:solidFill>
                  <a:srgbClr val="000000"/>
                </a:solidFill>
                <a:effectLst/>
              </a:rPr>
              <a:t>\MicrosoftEdge\Cookies\ </a:t>
            </a:r>
          </a:p>
        </p:txBody>
      </p:sp>
      <p:sp>
        <p:nvSpPr>
          <p:cNvPr id="36" name="TextBox 35">
            <a:extLst>
              <a:ext uri="{FF2B5EF4-FFF2-40B4-BE49-F238E27FC236}">
                <a16:creationId xmlns:a16="http://schemas.microsoft.com/office/drawing/2014/main" id="{70069CED-77AC-41AD-8CB9-8DE7F765FDA9}"/>
              </a:ext>
            </a:extLst>
          </p:cNvPr>
          <p:cNvSpPr txBox="1"/>
          <p:nvPr/>
        </p:nvSpPr>
        <p:spPr>
          <a:xfrm>
            <a:off x="6161544" y="3484456"/>
            <a:ext cx="3485376" cy="1538883"/>
          </a:xfrm>
          <a:prstGeom prst="rect">
            <a:avLst/>
          </a:prstGeom>
          <a:noFill/>
          <a:ln>
            <a:solidFill>
              <a:schemeClr val="tx1"/>
            </a:solidFill>
          </a:ln>
        </p:spPr>
        <p:txBody>
          <a:bodyPr wrap="square">
            <a:spAutoFit/>
          </a:bodyPr>
          <a:lstStyle/>
          <a:p>
            <a:pPr algn="ctr" rtl="0" fontAlgn="base"/>
            <a:r>
              <a:rPr lang="en-US" sz="1400" b="1" i="0" u="sng" dirty="0">
                <a:solidFill>
                  <a:srgbClr val="000000"/>
                </a:solidFill>
                <a:effectLst/>
              </a:rPr>
              <a:t>COOKIES</a:t>
            </a:r>
          </a:p>
          <a:p>
            <a:pPr algn="l" rtl="0" fontAlgn="base"/>
            <a:r>
              <a:rPr lang="en-US" sz="1000" b="1" dirty="0">
                <a:solidFill>
                  <a:srgbClr val="000000"/>
                </a:solidFill>
                <a:effectLst/>
              </a:rPr>
              <a:t>Win8, IE 10/11</a:t>
            </a:r>
          </a:p>
          <a:p>
            <a:pPr algn="l" rtl="0" fontAlgn="base"/>
            <a:r>
              <a:rPr lang="en-US" sz="1000" i="1" dirty="0">
                <a:solidFill>
                  <a:srgbClr val="000000"/>
                </a:solidFill>
                <a:effectLst/>
              </a:rPr>
              <a:t>\Users\&lt;user&gt;\</a:t>
            </a:r>
            <a:r>
              <a:rPr lang="en-US" sz="1000" i="1" dirty="0" err="1">
                <a:solidFill>
                  <a:srgbClr val="000000"/>
                </a:solidFill>
                <a:effectLst/>
              </a:rPr>
              <a:t>AppData</a:t>
            </a:r>
            <a:r>
              <a:rPr lang="en-US" sz="1000" i="1" dirty="0">
                <a:solidFill>
                  <a:srgbClr val="000000"/>
                </a:solidFill>
                <a:effectLst/>
              </a:rPr>
              <a:t>\Local\Microsoft\Windows\</a:t>
            </a:r>
            <a:r>
              <a:rPr lang="en-US" sz="1000" i="1" dirty="0" err="1">
                <a:solidFill>
                  <a:srgbClr val="000000"/>
                </a:solidFill>
                <a:effectLst/>
              </a:rPr>
              <a:t>INetCookies</a:t>
            </a:r>
            <a:r>
              <a:rPr lang="en-US" sz="1000" i="1" dirty="0">
                <a:solidFill>
                  <a:srgbClr val="000000"/>
                </a:solidFill>
                <a:effectLst/>
              </a:rPr>
              <a:t>\ </a:t>
            </a:r>
            <a:r>
              <a:rPr lang="en-US" sz="1000" b="1" i="0" dirty="0">
                <a:solidFill>
                  <a:srgbClr val="000000"/>
                </a:solidFill>
                <a:effectLst/>
              </a:rPr>
              <a:t>\Low\</a:t>
            </a:r>
            <a:r>
              <a:rPr lang="en-US" sz="1000" b="0" i="0" dirty="0">
                <a:solidFill>
                  <a:srgbClr val="000000"/>
                </a:solidFill>
                <a:effectLst/>
              </a:rPr>
              <a:t> </a:t>
            </a:r>
            <a:r>
              <a:rPr lang="en-US" sz="1000" b="1" i="0" dirty="0">
                <a:solidFill>
                  <a:srgbClr val="000000"/>
                </a:solidFill>
                <a:effectLst/>
              </a:rPr>
              <a:t>\High\ </a:t>
            </a:r>
            <a:endParaRPr lang="en-US" sz="1000" b="1" dirty="0">
              <a:solidFill>
                <a:srgbClr val="000000"/>
              </a:solidFill>
            </a:endParaRPr>
          </a:p>
          <a:p>
            <a:pPr fontAlgn="base"/>
            <a:r>
              <a:rPr lang="en-US" sz="1000" b="1" dirty="0">
                <a:solidFill>
                  <a:srgbClr val="000000"/>
                </a:solidFill>
              </a:rPr>
              <a:t>Edge </a:t>
            </a:r>
            <a:r>
              <a:rPr lang="en-US" sz="1000" b="1" i="0" dirty="0">
                <a:solidFill>
                  <a:srgbClr val="000000"/>
                </a:solidFill>
                <a:effectLst/>
              </a:rPr>
              <a:t>xxxxxxxx.txt</a:t>
            </a:r>
            <a:r>
              <a:rPr lang="en-US" sz="1000" b="0" i="0" dirty="0">
                <a:solidFill>
                  <a:srgbClr val="000000"/>
                </a:solidFill>
                <a:effectLst/>
              </a:rPr>
              <a:t> or </a:t>
            </a:r>
            <a:r>
              <a:rPr lang="en-US" sz="1000" b="1" i="0" dirty="0" err="1">
                <a:solidFill>
                  <a:srgbClr val="000000"/>
                </a:solidFill>
                <a:effectLst/>
              </a:rPr>
              <a:t>xxxxxxxx.cookie</a:t>
            </a:r>
            <a:r>
              <a:rPr lang="en-US" sz="1000" b="0" i="0" dirty="0">
                <a:solidFill>
                  <a:srgbClr val="000000"/>
                </a:solidFill>
                <a:effectLst/>
              </a:rPr>
              <a:t> </a:t>
            </a:r>
            <a:endParaRPr lang="en-US" sz="1000" b="1" dirty="0">
              <a:solidFill>
                <a:srgbClr val="000000"/>
              </a:solidFill>
            </a:endParaRPr>
          </a:p>
          <a:p>
            <a:pPr algn="l" rtl="0" fontAlgn="base"/>
            <a:r>
              <a:rPr lang="en-US" sz="1000" i="1" dirty="0">
                <a:solidFill>
                  <a:srgbClr val="000000"/>
                </a:solidFill>
                <a:effectLst/>
              </a:rPr>
              <a:t>&lt;user&gt;\</a:t>
            </a:r>
            <a:r>
              <a:rPr lang="en-US" sz="1000" i="1" dirty="0" err="1">
                <a:solidFill>
                  <a:srgbClr val="000000"/>
                </a:solidFill>
                <a:effectLst/>
              </a:rPr>
              <a:t>AppData</a:t>
            </a:r>
            <a:r>
              <a:rPr lang="en-US" sz="1000" i="1" dirty="0">
                <a:solidFill>
                  <a:srgbClr val="000000"/>
                </a:solidFill>
                <a:effectLst/>
              </a:rPr>
              <a:t>\Local\Packages\microsoft.microsoftedge_8wekyb3d8bbwe\AC\</a:t>
            </a:r>
            <a:r>
              <a:rPr lang="en-US" sz="1000" i="1" dirty="0" err="1">
                <a:solidFill>
                  <a:srgbClr val="000000"/>
                </a:solidFill>
                <a:effectLst/>
              </a:rPr>
              <a:t>MicrosoftEdge</a:t>
            </a:r>
            <a:r>
              <a:rPr lang="en-US" sz="1000" i="1" dirty="0">
                <a:solidFill>
                  <a:srgbClr val="000000"/>
                </a:solidFill>
                <a:effectLst/>
              </a:rPr>
              <a:t>\Cookies\ </a:t>
            </a:r>
          </a:p>
          <a:p>
            <a:pPr algn="l" rtl="0" fontAlgn="base"/>
            <a:r>
              <a:rPr lang="en-US" sz="1000" i="1" dirty="0" err="1">
                <a:solidFill>
                  <a:srgbClr val="000000"/>
                </a:solidFill>
                <a:effectLst/>
              </a:rPr>
              <a:t>AppData</a:t>
            </a:r>
            <a:r>
              <a:rPr lang="en-US" sz="1000" i="1" dirty="0">
                <a:solidFill>
                  <a:srgbClr val="000000"/>
                </a:solidFill>
                <a:effectLst/>
              </a:rPr>
              <a:t>\Local\Packages\microsoft.microsoftedge_8wekyb3d8bbwe\AC</a:t>
            </a:r>
            <a:r>
              <a:rPr lang="en-US" sz="1000" b="1" i="1" u="sng" dirty="0">
                <a:solidFill>
                  <a:srgbClr val="000000"/>
                </a:solidFill>
                <a:effectLst/>
              </a:rPr>
              <a:t>\#!001</a:t>
            </a:r>
            <a:r>
              <a:rPr lang="en-US" sz="1000" i="1" dirty="0">
                <a:solidFill>
                  <a:srgbClr val="000000"/>
                </a:solidFill>
                <a:effectLst/>
              </a:rPr>
              <a:t>\MicrosoftEdge\Cookies\ </a:t>
            </a:r>
            <a:endParaRPr lang="en-US" sz="1000" b="1" dirty="0">
              <a:solidFill>
                <a:srgbClr val="000000"/>
              </a:solidFill>
            </a:endParaRPr>
          </a:p>
        </p:txBody>
      </p:sp>
      <p:sp>
        <p:nvSpPr>
          <p:cNvPr id="38" name="TextBox 37">
            <a:extLst>
              <a:ext uri="{FF2B5EF4-FFF2-40B4-BE49-F238E27FC236}">
                <a16:creationId xmlns:a16="http://schemas.microsoft.com/office/drawing/2014/main" id="{D4F4CF57-5BE6-4A77-B5AF-2E1AF2DDD82D}"/>
              </a:ext>
            </a:extLst>
          </p:cNvPr>
          <p:cNvSpPr txBox="1"/>
          <p:nvPr/>
        </p:nvSpPr>
        <p:spPr>
          <a:xfrm>
            <a:off x="9716908" y="3484456"/>
            <a:ext cx="2398892" cy="738664"/>
          </a:xfrm>
          <a:prstGeom prst="rect">
            <a:avLst/>
          </a:prstGeom>
          <a:solidFill>
            <a:srgbClr val="FFCCFF"/>
          </a:solidFill>
          <a:ln>
            <a:solidFill>
              <a:schemeClr val="tx1"/>
            </a:solidFill>
          </a:ln>
        </p:spPr>
        <p:txBody>
          <a:bodyPr wrap="square">
            <a:spAutoFit/>
          </a:bodyPr>
          <a:lstStyle/>
          <a:p>
            <a:pPr algn="l" rtl="0" fontAlgn="base"/>
            <a:r>
              <a:rPr lang="en-US" sz="1400" b="1" i="0" dirty="0">
                <a:solidFill>
                  <a:srgbClr val="000000"/>
                </a:solidFill>
                <a:effectLst/>
              </a:rPr>
              <a:t>IE Cookies</a:t>
            </a:r>
          </a:p>
          <a:p>
            <a:pPr algn="l" rtl="0" fontAlgn="base"/>
            <a:r>
              <a:rPr lang="en-US" sz="1400" b="1" dirty="0">
                <a:solidFill>
                  <a:srgbClr val="000000"/>
                </a:solidFill>
              </a:rPr>
              <a:t>IE 10/11/Edge Cookies</a:t>
            </a:r>
            <a:endParaRPr lang="en-US" sz="1400" dirty="0">
              <a:solidFill>
                <a:srgbClr val="000000"/>
              </a:solidFill>
            </a:endParaRPr>
          </a:p>
          <a:p>
            <a:pPr algn="l" rtl="0" fontAlgn="base"/>
            <a:r>
              <a:rPr lang="en-US" sz="1400" i="0" dirty="0">
                <a:solidFill>
                  <a:srgbClr val="000000"/>
                </a:solidFill>
                <a:effectLst/>
              </a:rPr>
              <a:t>IE, 10, 11 and Edge downloads</a:t>
            </a:r>
          </a:p>
        </p:txBody>
      </p:sp>
      <p:cxnSp>
        <p:nvCxnSpPr>
          <p:cNvPr id="20" name="Straight Arrow Connector 19">
            <a:extLst>
              <a:ext uri="{FF2B5EF4-FFF2-40B4-BE49-F238E27FC236}">
                <a16:creationId xmlns:a16="http://schemas.microsoft.com/office/drawing/2014/main" id="{6E574B78-015B-4E55-B2D9-33D2220BB798}"/>
              </a:ext>
            </a:extLst>
          </p:cNvPr>
          <p:cNvCxnSpPr>
            <a:cxnSpLocks/>
          </p:cNvCxnSpPr>
          <p:nvPr/>
        </p:nvCxnSpPr>
        <p:spPr>
          <a:xfrm flipV="1">
            <a:off x="9131360" y="1879836"/>
            <a:ext cx="390598" cy="50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FADC8D8C-740F-403D-90F8-D32C165F68E2}"/>
              </a:ext>
            </a:extLst>
          </p:cNvPr>
          <p:cNvCxnSpPr>
            <a:cxnSpLocks/>
          </p:cNvCxnSpPr>
          <p:nvPr/>
        </p:nvCxnSpPr>
        <p:spPr>
          <a:xfrm flipV="1">
            <a:off x="9356796" y="3456160"/>
            <a:ext cx="390598" cy="50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128AD146-B7C2-4887-AFAF-098C1A3C2A31}"/>
              </a:ext>
            </a:extLst>
          </p:cNvPr>
          <p:cNvCxnSpPr>
            <a:cxnSpLocks/>
          </p:cNvCxnSpPr>
          <p:nvPr/>
        </p:nvCxnSpPr>
        <p:spPr>
          <a:xfrm flipV="1">
            <a:off x="9131360" y="2600169"/>
            <a:ext cx="390598" cy="50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Hexagon 8">
            <a:extLst>
              <a:ext uri="{FF2B5EF4-FFF2-40B4-BE49-F238E27FC236}">
                <a16:creationId xmlns:a16="http://schemas.microsoft.com/office/drawing/2014/main" id="{FD505F08-EF47-4791-9CA8-9379DF0BD0CD}"/>
              </a:ext>
            </a:extLst>
          </p:cNvPr>
          <p:cNvSpPr/>
          <p:nvPr/>
        </p:nvSpPr>
        <p:spPr>
          <a:xfrm>
            <a:off x="6829660" y="5981361"/>
            <a:ext cx="2012588" cy="812981"/>
          </a:xfrm>
          <a:prstGeom prst="hexagon">
            <a:avLst/>
          </a:prstGeom>
          <a:noFill/>
          <a:ln w="285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00B0F0"/>
                </a:solidFill>
              </a:ln>
            </a:endParaRPr>
          </a:p>
        </p:txBody>
      </p:sp>
      <p:sp>
        <p:nvSpPr>
          <p:cNvPr id="29" name="TextBox 28">
            <a:extLst>
              <a:ext uri="{FF2B5EF4-FFF2-40B4-BE49-F238E27FC236}">
                <a16:creationId xmlns:a16="http://schemas.microsoft.com/office/drawing/2014/main" id="{34E4FB55-4BE8-47CC-8DE4-75F0D64CCC15}"/>
              </a:ext>
            </a:extLst>
          </p:cNvPr>
          <p:cNvSpPr txBox="1"/>
          <p:nvPr/>
        </p:nvSpPr>
        <p:spPr>
          <a:xfrm>
            <a:off x="6836361" y="5978465"/>
            <a:ext cx="1902258" cy="769441"/>
          </a:xfrm>
          <a:prstGeom prst="rect">
            <a:avLst/>
          </a:prstGeom>
          <a:noFill/>
        </p:spPr>
        <p:txBody>
          <a:bodyPr wrap="square">
            <a:spAutoFit/>
          </a:bodyPr>
          <a:lstStyle/>
          <a:p>
            <a:pPr algn="ctr"/>
            <a:r>
              <a:rPr lang="en-US" sz="1400" b="1" u="sng" dirty="0">
                <a:solidFill>
                  <a:srgbClr val="000000"/>
                </a:solidFill>
              </a:rPr>
              <a:t>FORMS</a:t>
            </a:r>
            <a:endParaRPr lang="en-US" sz="1400" b="1" i="0" u="sng" dirty="0">
              <a:solidFill>
                <a:srgbClr val="000000"/>
              </a:solidFill>
              <a:effectLst/>
            </a:endParaRPr>
          </a:p>
          <a:p>
            <a:r>
              <a:rPr lang="en-US" sz="1000" b="1" dirty="0">
                <a:solidFill>
                  <a:srgbClr val="000000"/>
                </a:solidFill>
              </a:rPr>
              <a:t>SOFTWARE\Microsoft\Internet Explorer\</a:t>
            </a:r>
            <a:r>
              <a:rPr lang="en-US" sz="1000" b="1" dirty="0" err="1">
                <a:solidFill>
                  <a:srgbClr val="000000"/>
                </a:solidFill>
              </a:rPr>
              <a:t>Intelliforms</a:t>
            </a:r>
            <a:r>
              <a:rPr lang="en-US" sz="1000" b="1" dirty="0">
                <a:solidFill>
                  <a:srgbClr val="000000"/>
                </a:solidFill>
              </a:rPr>
              <a:t>\</a:t>
            </a:r>
            <a:r>
              <a:rPr lang="en-US" sz="1000" b="1" dirty="0" err="1">
                <a:solidFill>
                  <a:srgbClr val="000000"/>
                </a:solidFill>
              </a:rPr>
              <a:t>FormData</a:t>
            </a:r>
            <a:endParaRPr lang="en-US" sz="1000" b="1" dirty="0">
              <a:solidFill>
                <a:srgbClr val="000000"/>
              </a:solidFill>
            </a:endParaRPr>
          </a:p>
          <a:p>
            <a:pPr algn="ctr"/>
            <a:r>
              <a:rPr lang="en-US" sz="1000" dirty="0">
                <a:solidFill>
                  <a:srgbClr val="FF0000"/>
                </a:solidFill>
              </a:rPr>
              <a:t>ENCRYPTED </a:t>
            </a:r>
          </a:p>
        </p:txBody>
      </p:sp>
      <p:sp>
        <p:nvSpPr>
          <p:cNvPr id="14" name="TextBox 13">
            <a:extLst>
              <a:ext uri="{FF2B5EF4-FFF2-40B4-BE49-F238E27FC236}">
                <a16:creationId xmlns:a16="http://schemas.microsoft.com/office/drawing/2014/main" id="{70BBDA64-6D6A-4752-9B92-92B4004A159D}"/>
              </a:ext>
            </a:extLst>
          </p:cNvPr>
          <p:cNvSpPr txBox="1"/>
          <p:nvPr/>
        </p:nvSpPr>
        <p:spPr>
          <a:xfrm>
            <a:off x="9787526" y="6235445"/>
            <a:ext cx="882614" cy="307777"/>
          </a:xfrm>
          <a:prstGeom prst="rect">
            <a:avLst/>
          </a:prstGeom>
          <a:solidFill>
            <a:srgbClr val="FF0000"/>
          </a:solidFill>
          <a:ln>
            <a:solidFill>
              <a:schemeClr val="tx1"/>
            </a:solidFill>
          </a:ln>
        </p:spPr>
        <p:txBody>
          <a:bodyPr wrap="square">
            <a:spAutoFit/>
          </a:bodyPr>
          <a:lstStyle/>
          <a:p>
            <a:pPr algn="l" rtl="0" fontAlgn="base"/>
            <a:r>
              <a:rPr lang="en-US" sz="1400" b="1" i="0" dirty="0">
                <a:solidFill>
                  <a:srgbClr val="000000"/>
                </a:solidFill>
                <a:effectLst/>
              </a:rPr>
              <a:t>FORMS</a:t>
            </a:r>
            <a:endParaRPr lang="en-US" sz="1400" i="0" dirty="0">
              <a:solidFill>
                <a:srgbClr val="000000"/>
              </a:solidFill>
              <a:effectLst/>
            </a:endParaRPr>
          </a:p>
        </p:txBody>
      </p:sp>
      <p:cxnSp>
        <p:nvCxnSpPr>
          <p:cNvPr id="18" name="Straight Arrow Connector 17">
            <a:extLst>
              <a:ext uri="{FF2B5EF4-FFF2-40B4-BE49-F238E27FC236}">
                <a16:creationId xmlns:a16="http://schemas.microsoft.com/office/drawing/2014/main" id="{27E9E042-A820-4345-A69B-BF9142B635C0}"/>
              </a:ext>
            </a:extLst>
          </p:cNvPr>
          <p:cNvCxnSpPr/>
          <p:nvPr/>
        </p:nvCxnSpPr>
        <p:spPr>
          <a:xfrm>
            <a:off x="8939481" y="6411044"/>
            <a:ext cx="79797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D6D3DABF-0BED-4712-9C24-04B414D48C5D}"/>
              </a:ext>
            </a:extLst>
          </p:cNvPr>
          <p:cNvCxnSpPr/>
          <p:nvPr/>
        </p:nvCxnSpPr>
        <p:spPr>
          <a:xfrm>
            <a:off x="9151224" y="6255089"/>
            <a:ext cx="296104" cy="307777"/>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98A62F25-A4CD-45C0-8FB8-94A0FAA96EC1}"/>
              </a:ext>
            </a:extLst>
          </p:cNvPr>
          <p:cNvCxnSpPr>
            <a:cxnSpLocks/>
          </p:cNvCxnSpPr>
          <p:nvPr/>
        </p:nvCxnSpPr>
        <p:spPr>
          <a:xfrm rot="5400000">
            <a:off x="9150359" y="6260926"/>
            <a:ext cx="296104" cy="307777"/>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35" name="Hexagon 34">
            <a:extLst>
              <a:ext uri="{FF2B5EF4-FFF2-40B4-BE49-F238E27FC236}">
                <a16:creationId xmlns:a16="http://schemas.microsoft.com/office/drawing/2014/main" id="{BA455D43-982A-45FA-AED7-38C564F442A4}"/>
              </a:ext>
            </a:extLst>
          </p:cNvPr>
          <p:cNvSpPr/>
          <p:nvPr/>
        </p:nvSpPr>
        <p:spPr>
          <a:xfrm>
            <a:off x="429768" y="4897155"/>
            <a:ext cx="4572000" cy="1897187"/>
          </a:xfrm>
          <a:prstGeom prst="hexagon">
            <a:avLst/>
          </a:prstGeom>
          <a:noFill/>
          <a:ln w="285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00B0F0"/>
                </a:solidFill>
              </a:ln>
            </a:endParaRPr>
          </a:p>
        </p:txBody>
      </p:sp>
      <p:sp>
        <p:nvSpPr>
          <p:cNvPr id="42" name="TextBox 41">
            <a:extLst>
              <a:ext uri="{FF2B5EF4-FFF2-40B4-BE49-F238E27FC236}">
                <a16:creationId xmlns:a16="http://schemas.microsoft.com/office/drawing/2014/main" id="{625F7E37-F86E-42AA-8141-AF9A4995E64B}"/>
              </a:ext>
            </a:extLst>
          </p:cNvPr>
          <p:cNvSpPr txBox="1"/>
          <p:nvPr/>
        </p:nvSpPr>
        <p:spPr>
          <a:xfrm>
            <a:off x="1027057" y="4916635"/>
            <a:ext cx="3648388" cy="1831271"/>
          </a:xfrm>
          <a:prstGeom prst="rect">
            <a:avLst/>
          </a:prstGeom>
          <a:noFill/>
        </p:spPr>
        <p:txBody>
          <a:bodyPr wrap="square">
            <a:spAutoFit/>
          </a:bodyPr>
          <a:lstStyle/>
          <a:p>
            <a:pPr algn="ctr"/>
            <a:r>
              <a:rPr lang="en-US" sz="1400" b="1" i="0" u="sng" dirty="0">
                <a:solidFill>
                  <a:srgbClr val="000000"/>
                </a:solidFill>
                <a:effectLst/>
              </a:rPr>
              <a:t>TYPED URLS</a:t>
            </a:r>
          </a:p>
          <a:p>
            <a:pPr algn="l" rtl="0" fontAlgn="base"/>
            <a:r>
              <a:rPr lang="en-US" sz="900" b="1" i="0" dirty="0">
                <a:solidFill>
                  <a:srgbClr val="000000"/>
                </a:solidFill>
                <a:effectLst/>
              </a:rPr>
              <a:t>IE: NTUSER.dat </a:t>
            </a:r>
          </a:p>
          <a:p>
            <a:pPr algn="l" rtl="0" fontAlgn="base"/>
            <a:r>
              <a:rPr lang="en-US" sz="900" i="1" dirty="0">
                <a:solidFill>
                  <a:srgbClr val="000000"/>
                </a:solidFill>
                <a:effectLst/>
              </a:rPr>
              <a:t>SOFTWARE\Microsoft\Internet Explorer\</a:t>
            </a:r>
            <a:r>
              <a:rPr lang="en-US" sz="900" i="1" dirty="0" err="1">
                <a:solidFill>
                  <a:srgbClr val="000000"/>
                </a:solidFill>
                <a:effectLst/>
              </a:rPr>
              <a:t>TypedURLs</a:t>
            </a:r>
            <a:r>
              <a:rPr lang="en-US" sz="900" i="1" dirty="0">
                <a:solidFill>
                  <a:srgbClr val="000000"/>
                </a:solidFill>
                <a:effectLst/>
              </a:rPr>
              <a:t>\ </a:t>
            </a:r>
          </a:p>
          <a:p>
            <a:pPr algn="l" rtl="0" fontAlgn="base"/>
            <a:r>
              <a:rPr lang="en-US" sz="900" i="1" dirty="0">
                <a:solidFill>
                  <a:srgbClr val="000000"/>
                </a:solidFill>
                <a:effectLst/>
              </a:rPr>
              <a:t>SOFTWARE\Microsoft\Internet Explorer\</a:t>
            </a:r>
            <a:r>
              <a:rPr lang="en-US" sz="900" i="1" dirty="0" err="1">
                <a:solidFill>
                  <a:srgbClr val="000000"/>
                </a:solidFill>
                <a:effectLst/>
              </a:rPr>
              <a:t>TypedURLsTime</a:t>
            </a:r>
            <a:r>
              <a:rPr lang="en-US" sz="900" i="1" dirty="0">
                <a:solidFill>
                  <a:srgbClr val="000000"/>
                </a:solidFill>
                <a:effectLst/>
              </a:rPr>
              <a:t>\</a:t>
            </a:r>
          </a:p>
          <a:p>
            <a:pPr algn="l" rtl="0" fontAlgn="base"/>
            <a:r>
              <a:rPr lang="en-US" sz="900" b="1" i="0" dirty="0">
                <a:solidFill>
                  <a:srgbClr val="000000"/>
                </a:solidFill>
                <a:effectLst/>
              </a:rPr>
              <a:t>Edge: UsrClass.dat</a:t>
            </a:r>
            <a:r>
              <a:rPr lang="en-US" sz="900" b="0" i="0" dirty="0">
                <a:solidFill>
                  <a:srgbClr val="000000"/>
                </a:solidFill>
                <a:effectLst/>
              </a:rPr>
              <a:t>, </a:t>
            </a:r>
            <a:r>
              <a:rPr lang="en-US" sz="900" i="1" dirty="0">
                <a:solidFill>
                  <a:srgbClr val="000000"/>
                </a:solidFill>
                <a:effectLst/>
              </a:rPr>
              <a:t>\Users\&lt;username&gt;\</a:t>
            </a:r>
            <a:r>
              <a:rPr lang="en-US" sz="900" i="1" dirty="0" err="1">
                <a:solidFill>
                  <a:srgbClr val="000000"/>
                </a:solidFill>
                <a:effectLst/>
              </a:rPr>
              <a:t>AppData</a:t>
            </a:r>
            <a:r>
              <a:rPr lang="en-US" sz="900" i="1" dirty="0">
                <a:solidFill>
                  <a:srgbClr val="000000"/>
                </a:solidFill>
                <a:effectLst/>
              </a:rPr>
              <a:t>\Local\Microsoft\Windows\ </a:t>
            </a:r>
          </a:p>
          <a:p>
            <a:pPr algn="l" rtl="0" fontAlgn="base"/>
            <a:r>
              <a:rPr lang="en-US" sz="900" b="0" i="0" dirty="0">
                <a:solidFill>
                  <a:srgbClr val="000000"/>
                </a:solidFill>
                <a:effectLst/>
              </a:rPr>
              <a:t>The information is stored in the following 3 registry keys: </a:t>
            </a:r>
          </a:p>
          <a:p>
            <a:pPr algn="l" rtl="0" fontAlgn="base"/>
            <a:r>
              <a:rPr lang="en-US" sz="900" b="1" i="0" dirty="0" err="1">
                <a:solidFill>
                  <a:srgbClr val="000000"/>
                </a:solidFill>
                <a:effectLst/>
              </a:rPr>
              <a:t>LocalSettings</a:t>
            </a:r>
            <a:r>
              <a:rPr lang="en-US" sz="900" b="1" i="0" dirty="0">
                <a:solidFill>
                  <a:srgbClr val="000000"/>
                </a:solidFill>
                <a:effectLst/>
              </a:rPr>
              <a:t>\Software\Microsoft\Windows\CurrentVersion\</a:t>
            </a:r>
            <a:r>
              <a:rPr lang="en-US" sz="900" b="1" i="0" dirty="0" err="1">
                <a:solidFill>
                  <a:srgbClr val="000000"/>
                </a:solidFill>
                <a:effectLst/>
              </a:rPr>
              <a:t>AppContainer</a:t>
            </a:r>
            <a:r>
              <a:rPr lang="en-US" sz="900" b="1" i="0" dirty="0">
                <a:solidFill>
                  <a:srgbClr val="000000"/>
                </a:solidFill>
                <a:effectLst/>
              </a:rPr>
              <a:t>\Storage\microsoft.microsoftedge_8wekyb3d8bbwe\</a:t>
            </a:r>
            <a:r>
              <a:rPr lang="en-US" sz="900" b="1" i="0" dirty="0" err="1">
                <a:solidFill>
                  <a:srgbClr val="000000"/>
                </a:solidFill>
                <a:effectLst/>
              </a:rPr>
              <a:t>MicrosoftEdge</a:t>
            </a:r>
            <a:r>
              <a:rPr lang="en-US" sz="900" b="1" i="0" dirty="0">
                <a:solidFill>
                  <a:srgbClr val="000000"/>
                </a:solidFill>
                <a:effectLst/>
              </a:rPr>
              <a:t>\</a:t>
            </a:r>
          </a:p>
          <a:p>
            <a:pPr marL="228600" indent="-228600" algn="l" rtl="0" fontAlgn="base">
              <a:buFont typeface="+mj-lt"/>
              <a:buAutoNum type="arabicPeriod"/>
            </a:pPr>
            <a:r>
              <a:rPr lang="en-US" sz="900" b="1" i="0" dirty="0">
                <a:solidFill>
                  <a:srgbClr val="000000"/>
                </a:solidFill>
                <a:effectLst/>
              </a:rPr>
              <a:t>\</a:t>
            </a:r>
            <a:r>
              <a:rPr lang="en-US" sz="900" b="1" i="0" dirty="0" err="1">
                <a:solidFill>
                  <a:srgbClr val="000000"/>
                </a:solidFill>
                <a:effectLst/>
              </a:rPr>
              <a:t>TypedURLs</a:t>
            </a:r>
            <a:r>
              <a:rPr lang="en-US" sz="900" b="1" i="0" dirty="0">
                <a:solidFill>
                  <a:srgbClr val="000000"/>
                </a:solidFill>
                <a:effectLst/>
              </a:rPr>
              <a:t> 2. </a:t>
            </a:r>
            <a:r>
              <a:rPr lang="en-US" sz="900" b="1" i="0" dirty="0" err="1">
                <a:solidFill>
                  <a:srgbClr val="000000"/>
                </a:solidFill>
                <a:effectLst/>
              </a:rPr>
              <a:t>TypedURLsTime</a:t>
            </a:r>
            <a:r>
              <a:rPr lang="en-US" sz="900" b="1" i="0" dirty="0">
                <a:solidFill>
                  <a:srgbClr val="000000"/>
                </a:solidFill>
                <a:effectLst/>
              </a:rPr>
              <a:t> 3. </a:t>
            </a:r>
            <a:r>
              <a:rPr lang="en-US" sz="900" b="1" i="0" dirty="0" err="1">
                <a:solidFill>
                  <a:srgbClr val="000000"/>
                </a:solidFill>
                <a:effectLst/>
              </a:rPr>
              <a:t>TypedURLsVisitCount</a:t>
            </a:r>
            <a:r>
              <a:rPr lang="en-US" sz="900" b="1" i="0" dirty="0">
                <a:solidFill>
                  <a:srgbClr val="000000"/>
                </a:solidFill>
                <a:effectLst/>
              </a:rPr>
              <a:t> </a:t>
            </a:r>
          </a:p>
          <a:p>
            <a:pPr algn="l" rtl="0" fontAlgn="base"/>
            <a:r>
              <a:rPr lang="en-US" sz="900" b="1" i="0" dirty="0">
                <a:solidFill>
                  <a:srgbClr val="000000"/>
                </a:solidFill>
                <a:effectLst/>
              </a:rPr>
              <a:t>Transition Type AUTO_BOOKMARK </a:t>
            </a:r>
            <a:r>
              <a:rPr lang="en-US" sz="900" b="0" i="0" dirty="0">
                <a:solidFill>
                  <a:srgbClr val="000000"/>
                </a:solidFill>
                <a:effectLst/>
              </a:rPr>
              <a:t>= user selected entry from interface. </a:t>
            </a:r>
          </a:p>
          <a:p>
            <a:pPr algn="l" rtl="0" fontAlgn="base"/>
            <a:r>
              <a:rPr lang="en-US" sz="900" b="1" i="0" dirty="0">
                <a:solidFill>
                  <a:srgbClr val="000000"/>
                </a:solidFill>
                <a:effectLst/>
              </a:rPr>
              <a:t>Typed count </a:t>
            </a:r>
            <a:r>
              <a:rPr lang="en-US" sz="900" b="0" i="0" dirty="0">
                <a:solidFill>
                  <a:srgbClr val="000000"/>
                </a:solidFill>
                <a:effectLst/>
              </a:rPr>
              <a:t>is not running total but the TOTAL </a:t>
            </a:r>
          </a:p>
        </p:txBody>
      </p:sp>
      <p:sp>
        <p:nvSpPr>
          <p:cNvPr id="44" name="TextBox 43">
            <a:extLst>
              <a:ext uri="{FF2B5EF4-FFF2-40B4-BE49-F238E27FC236}">
                <a16:creationId xmlns:a16="http://schemas.microsoft.com/office/drawing/2014/main" id="{1AED69D5-A51D-4FDF-98F9-05D9DD2FD666}"/>
              </a:ext>
            </a:extLst>
          </p:cNvPr>
          <p:cNvSpPr txBox="1"/>
          <p:nvPr/>
        </p:nvSpPr>
        <p:spPr>
          <a:xfrm>
            <a:off x="9619433" y="5202035"/>
            <a:ext cx="2398892" cy="307777"/>
          </a:xfrm>
          <a:prstGeom prst="rect">
            <a:avLst/>
          </a:prstGeom>
          <a:solidFill>
            <a:srgbClr val="FFCCFF"/>
          </a:solidFill>
          <a:ln>
            <a:solidFill>
              <a:schemeClr val="tx1"/>
            </a:solidFill>
          </a:ln>
        </p:spPr>
        <p:txBody>
          <a:bodyPr wrap="square">
            <a:spAutoFit/>
          </a:bodyPr>
          <a:lstStyle/>
          <a:p>
            <a:pPr algn="l" rtl="0" fontAlgn="base"/>
            <a:r>
              <a:rPr lang="en-US" sz="1400" b="1" i="0" dirty="0">
                <a:solidFill>
                  <a:srgbClr val="000000"/>
                </a:solidFill>
                <a:effectLst/>
              </a:rPr>
              <a:t>IE Typed URLS</a:t>
            </a:r>
            <a:endParaRPr lang="en-US" sz="1400" i="0" dirty="0">
              <a:solidFill>
                <a:srgbClr val="000000"/>
              </a:solidFill>
              <a:effectLst/>
            </a:endParaRPr>
          </a:p>
        </p:txBody>
      </p:sp>
      <p:cxnSp>
        <p:nvCxnSpPr>
          <p:cNvPr id="46" name="Straight Arrow Connector 45">
            <a:extLst>
              <a:ext uri="{FF2B5EF4-FFF2-40B4-BE49-F238E27FC236}">
                <a16:creationId xmlns:a16="http://schemas.microsoft.com/office/drawing/2014/main" id="{2B7171C9-D4F8-479D-A931-50FCB48DB6C3}"/>
              </a:ext>
            </a:extLst>
          </p:cNvPr>
          <p:cNvCxnSpPr/>
          <p:nvPr/>
        </p:nvCxnSpPr>
        <p:spPr>
          <a:xfrm>
            <a:off x="4782312" y="5380018"/>
            <a:ext cx="4769783" cy="201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284846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537CCBA-D158-4234-866D-B79A40BC3DBB}"/>
              </a:ext>
            </a:extLst>
          </p:cNvPr>
          <p:cNvSpPr txBox="1"/>
          <p:nvPr/>
        </p:nvSpPr>
        <p:spPr>
          <a:xfrm>
            <a:off x="100584" y="354616"/>
            <a:ext cx="3913632" cy="6340197"/>
          </a:xfrm>
          <a:prstGeom prst="rect">
            <a:avLst/>
          </a:prstGeom>
          <a:noFill/>
          <a:ln>
            <a:noFill/>
          </a:ln>
        </p:spPr>
        <p:txBody>
          <a:bodyPr wrap="square" rtlCol="0">
            <a:spAutoFit/>
          </a:bodyPr>
          <a:lstStyle/>
          <a:p>
            <a:r>
              <a:rPr lang="en-US" sz="1200" b="1" u="sng" dirty="0"/>
              <a:t>Drive IDS &amp; Mounted Devices</a:t>
            </a:r>
          </a:p>
          <a:p>
            <a:pPr marL="171450" indent="-171450">
              <a:buFont typeface="Arial" panose="020B0604020202020204" pitchFamily="34" charset="0"/>
              <a:buChar char="•"/>
            </a:pPr>
            <a:r>
              <a:rPr lang="en-US" sz="1000" dirty="0"/>
              <a:t>Investigator needs to account for all storage on drive </a:t>
            </a:r>
          </a:p>
          <a:p>
            <a:pPr marL="171450" indent="-171450">
              <a:buFont typeface="Arial" panose="020B0604020202020204" pitchFamily="34" charset="0"/>
              <a:buChar char="•"/>
            </a:pPr>
            <a:r>
              <a:rPr lang="en-US" sz="1000" dirty="0"/>
              <a:t>Understand geometry, formatting, partitioning &amp; other OS artifacts</a:t>
            </a:r>
          </a:p>
          <a:p>
            <a:pPr marL="628650" lvl="1" indent="-171450">
              <a:buFont typeface="Arial" panose="020B0604020202020204" pitchFamily="34" charset="0"/>
              <a:buChar char="•"/>
            </a:pPr>
            <a:r>
              <a:rPr lang="en-US" sz="1000" dirty="0"/>
              <a:t>e.g., LNK file on </a:t>
            </a:r>
            <a:r>
              <a:rPr lang="en-US" sz="1000" b="1" dirty="0"/>
              <a:t>C: </a:t>
            </a:r>
            <a:r>
              <a:rPr lang="en-US" sz="1000" dirty="0"/>
              <a:t>and </a:t>
            </a:r>
            <a:r>
              <a:rPr lang="en-US" sz="1000" b="1" dirty="0"/>
              <a:t>D: </a:t>
            </a:r>
            <a:r>
              <a:rPr lang="en-US" sz="1000" dirty="0"/>
              <a:t>possible drives represent separate logical volumes (partitions) on single physical drive</a:t>
            </a:r>
          </a:p>
          <a:p>
            <a:pPr marL="628650" lvl="1" indent="-171450">
              <a:buFont typeface="Arial" panose="020B0604020202020204" pitchFamily="34" charset="0"/>
              <a:buChar char="•"/>
            </a:pPr>
            <a:r>
              <a:rPr lang="en-US" sz="1000" dirty="0"/>
              <a:t>If so, File System Info artifacts will contain two entries </a:t>
            </a:r>
          </a:p>
          <a:p>
            <a:pPr marL="1143000" lvl="2" indent="-228600">
              <a:buFont typeface="+mj-lt"/>
              <a:buAutoNum type="arabicPeriod"/>
            </a:pPr>
            <a:r>
              <a:rPr lang="en-US" sz="1000" dirty="0"/>
              <a:t>for MBR at offset 0 of drive</a:t>
            </a:r>
          </a:p>
          <a:p>
            <a:pPr marL="1143000" lvl="2" indent="-228600">
              <a:buFont typeface="+mj-lt"/>
              <a:buAutoNum type="arabicPeriod"/>
            </a:pPr>
            <a:r>
              <a:rPr lang="en-US" sz="1000" dirty="0"/>
              <a:t>from VBR within first sectors of partition</a:t>
            </a:r>
          </a:p>
          <a:p>
            <a:r>
              <a:rPr lang="en-US" sz="1200" b="1" u="sng" dirty="0"/>
              <a:t>File system Info</a:t>
            </a:r>
          </a:p>
          <a:p>
            <a:r>
              <a:rPr lang="en-US" sz="1000" i="1" dirty="0"/>
              <a:t>SYSTEM &amp; SOFTWARE registry</a:t>
            </a:r>
          </a:p>
          <a:p>
            <a:pPr marL="171450" indent="-171450">
              <a:buFont typeface="Arial" panose="020B0604020202020204" pitchFamily="34" charset="0"/>
              <a:buChar char="•"/>
            </a:pPr>
            <a:r>
              <a:rPr lang="en-US" sz="1000" dirty="0"/>
              <a:t>If OS is “Ultimate” vs Pro then possibility of Bitlocker encryption</a:t>
            </a:r>
          </a:p>
          <a:p>
            <a:pPr marL="171450" indent="-171450">
              <a:buFont typeface="Arial" panose="020B0604020202020204" pitchFamily="34" charset="0"/>
              <a:buChar char="•"/>
            </a:pPr>
            <a:r>
              <a:rPr lang="en-US" sz="1000" dirty="0"/>
              <a:t>This artifact parsed from boot record of imaged drive.</a:t>
            </a:r>
          </a:p>
          <a:p>
            <a:pPr marL="171450" indent="-171450">
              <a:buFont typeface="Arial" panose="020B0604020202020204" pitchFamily="34" charset="0"/>
              <a:buChar char="•"/>
            </a:pPr>
            <a:r>
              <a:rPr lang="en-US" sz="1000" dirty="0"/>
              <a:t>Volume Offset (bytes) can determine if artifact from MBR or VBR</a:t>
            </a:r>
          </a:p>
          <a:p>
            <a:pPr marL="171450" indent="-171450">
              <a:buFont typeface="Arial" panose="020B0604020202020204" pitchFamily="34" charset="0"/>
              <a:buChar char="•"/>
            </a:pPr>
            <a:r>
              <a:rPr lang="en-US" sz="1000" dirty="0"/>
              <a:t>Yields info about the examined drive: </a:t>
            </a:r>
          </a:p>
          <a:p>
            <a:pPr marL="628650" lvl="1" indent="-171450">
              <a:buFont typeface="Arial" panose="020B0604020202020204" pitchFamily="34" charset="0"/>
              <a:buChar char="•"/>
            </a:pPr>
            <a:r>
              <a:rPr lang="en-US" sz="1000" dirty="0"/>
              <a:t>geometry</a:t>
            </a:r>
          </a:p>
          <a:p>
            <a:pPr marL="628650" lvl="1" indent="-171450">
              <a:buFont typeface="Arial" panose="020B0604020202020204" pitchFamily="34" charset="0"/>
              <a:buChar char="•"/>
            </a:pPr>
            <a:r>
              <a:rPr lang="en-US" sz="1000" dirty="0"/>
              <a:t>filesystem</a:t>
            </a:r>
          </a:p>
          <a:p>
            <a:pPr marL="628650" lvl="1" indent="-171450">
              <a:buFont typeface="Arial" panose="020B0604020202020204" pitchFamily="34" charset="0"/>
              <a:buChar char="•"/>
            </a:pPr>
            <a:r>
              <a:rPr lang="en-US" sz="1000" dirty="0"/>
              <a:t>VSN (Volume Serial Number)</a:t>
            </a:r>
          </a:p>
          <a:p>
            <a:pPr marL="628650" lvl="1" indent="-171450">
              <a:buFont typeface="Arial" panose="020B0604020202020204" pitchFamily="34" charset="0"/>
              <a:buChar char="•"/>
            </a:pPr>
            <a:r>
              <a:rPr lang="en-US" sz="1000" dirty="0"/>
              <a:t>fixed/removable drive</a:t>
            </a:r>
          </a:p>
          <a:p>
            <a:r>
              <a:rPr lang="en-US" sz="1200" b="1" u="sng" dirty="0"/>
              <a:t>Jump lists</a:t>
            </a:r>
          </a:p>
          <a:p>
            <a:r>
              <a:rPr lang="en-US" sz="1000" i="1" dirty="0"/>
              <a:t>C:Users\&lt;profile&gt;\AppData\Roaming\Windows\Recent\</a:t>
            </a:r>
          </a:p>
          <a:p>
            <a:r>
              <a:rPr lang="en-US" sz="1000" i="1" dirty="0"/>
              <a:t>1. </a:t>
            </a:r>
            <a:r>
              <a:rPr lang="en-US" sz="1000" i="1" dirty="0" err="1"/>
              <a:t>AutomaticDestinations</a:t>
            </a:r>
            <a:endParaRPr lang="en-US" sz="1000" i="1" dirty="0"/>
          </a:p>
          <a:p>
            <a:r>
              <a:rPr lang="en-US" sz="1000" dirty="0"/>
              <a:t>Within each compound-binary file there is a </a:t>
            </a:r>
            <a:r>
              <a:rPr lang="en-US" sz="1000" dirty="0" err="1"/>
              <a:t>DestList</a:t>
            </a:r>
            <a:r>
              <a:rPr lang="en-US" sz="1000" dirty="0"/>
              <a:t> = MRU/MFU list </a:t>
            </a:r>
            <a:r>
              <a:rPr lang="en-US" sz="1000" dirty="0">
                <a:sym typeface="Wingdings" panose="05000000000000000000" pitchFamily="2" charset="2"/>
              </a:rPr>
              <a:t> MS-SHLLINK  Object Link Embedding (OLE). The MS-SHLLINK file acts as ref to a target file so it can be accessed more efficiently by a system.</a:t>
            </a:r>
          </a:p>
          <a:p>
            <a:r>
              <a:rPr lang="en-US" sz="1000" dirty="0">
                <a:sym typeface="Wingdings" panose="05000000000000000000" pitchFamily="2" charset="2"/>
              </a:rPr>
              <a:t>The </a:t>
            </a:r>
            <a:r>
              <a:rPr lang="en-US" sz="1000" dirty="0" err="1">
                <a:sym typeface="Wingdings" panose="05000000000000000000" pitchFamily="2" charset="2"/>
              </a:rPr>
              <a:t>DestList</a:t>
            </a:r>
            <a:r>
              <a:rPr lang="en-US" sz="1000" dirty="0">
                <a:sym typeface="Wingdings" panose="05000000000000000000" pitchFamily="2" charset="2"/>
              </a:rPr>
              <a:t> and MS-SHLLINK are evidence artifacts</a:t>
            </a:r>
            <a:endParaRPr lang="en-US" sz="1000" i="1" dirty="0"/>
          </a:p>
          <a:p>
            <a:r>
              <a:rPr lang="en-US" sz="1000" i="1" dirty="0"/>
              <a:t>2. </a:t>
            </a:r>
            <a:r>
              <a:rPr lang="en-US" sz="1000" i="1" dirty="0" err="1"/>
              <a:t>CustomDestinations</a:t>
            </a:r>
            <a:r>
              <a:rPr lang="en-US" sz="1000" b="1" u="sng" dirty="0"/>
              <a:t> (created by user activity)</a:t>
            </a:r>
          </a:p>
          <a:p>
            <a:r>
              <a:rPr lang="en-US" sz="1000" dirty="0"/>
              <a:t>Name is </a:t>
            </a:r>
            <a:r>
              <a:rPr lang="en-US" sz="1000" dirty="0" err="1"/>
              <a:t>alphanum</a:t>
            </a:r>
            <a:r>
              <a:rPr lang="en-US" sz="1000" dirty="0"/>
              <a:t> prefix of CRC hash of the application path created when user pins something to taskbar. Not a compound binary file.</a:t>
            </a:r>
            <a:endParaRPr lang="en-US" sz="1000" i="1" dirty="0"/>
          </a:p>
          <a:p>
            <a:r>
              <a:rPr lang="en-US" sz="1000" dirty="0"/>
              <a:t>A Jump list can:</a:t>
            </a:r>
          </a:p>
          <a:p>
            <a:pPr marL="171450" indent="-171450">
              <a:buFont typeface="Arial" panose="020B0604020202020204" pitchFamily="34" charset="0"/>
              <a:buChar char="•"/>
            </a:pPr>
            <a:r>
              <a:rPr lang="en-US" sz="1000" dirty="0"/>
              <a:t>identify files/resources used by a user</a:t>
            </a:r>
          </a:p>
          <a:p>
            <a:pPr marL="171450" indent="-171450">
              <a:buFont typeface="Arial" panose="020B0604020202020204" pitchFamily="34" charset="0"/>
              <a:buChar char="•"/>
            </a:pPr>
            <a:r>
              <a:rPr lang="en-US" sz="1000" dirty="0"/>
              <a:t>application id unique, maintained by Windows</a:t>
            </a:r>
          </a:p>
          <a:p>
            <a:pPr marL="171450" indent="-171450">
              <a:buFont typeface="Arial" panose="020B0604020202020204" pitchFamily="34" charset="0"/>
              <a:buChar char="•"/>
            </a:pPr>
            <a:r>
              <a:rPr lang="en-US" sz="1000" dirty="0"/>
              <a:t>Include last accessed timestamp and </a:t>
            </a:r>
            <a:r>
              <a:rPr lang="en-US" sz="1000" dirty="0" err="1"/>
              <a:t>filepath</a:t>
            </a:r>
            <a:endParaRPr lang="en-US" sz="1000" dirty="0"/>
          </a:p>
          <a:p>
            <a:pPr marL="171450" indent="-171450">
              <a:buFont typeface="Arial" panose="020B0604020202020204" pitchFamily="34" charset="0"/>
              <a:buChar char="•"/>
            </a:pPr>
            <a:r>
              <a:rPr lang="en-US" sz="1000" dirty="0"/>
              <a:t>Share info on MRU files and apps used by user</a:t>
            </a:r>
          </a:p>
          <a:p>
            <a:pPr marL="171450" indent="-171450">
              <a:buFont typeface="Arial" panose="020B0604020202020204" pitchFamily="34" charset="0"/>
              <a:buChar char="•"/>
            </a:pPr>
            <a:r>
              <a:rPr lang="en-US" sz="1000" dirty="0"/>
              <a:t>Identify applications user used to modify/create a file</a:t>
            </a:r>
          </a:p>
          <a:p>
            <a:pPr marL="171450" indent="-171450">
              <a:buFont typeface="Arial" panose="020B0604020202020204" pitchFamily="34" charset="0"/>
              <a:buChar char="•"/>
            </a:pPr>
            <a:r>
              <a:rPr lang="en-US" sz="1000" dirty="0"/>
              <a:t>Identify volume which a user accessed files with app</a:t>
            </a:r>
          </a:p>
          <a:p>
            <a:pPr marL="628650" lvl="1" indent="-171450">
              <a:buFont typeface="Arial" panose="020B0604020202020204" pitchFamily="34" charset="0"/>
              <a:buChar char="•"/>
            </a:pPr>
            <a:r>
              <a:rPr lang="en-US" sz="1000" dirty="0"/>
              <a:t>VSN</a:t>
            </a:r>
          </a:p>
          <a:p>
            <a:pPr marL="628650" lvl="1" indent="-171450">
              <a:buFont typeface="Arial" panose="020B0604020202020204" pitchFamily="34" charset="0"/>
              <a:buChar char="•"/>
            </a:pPr>
            <a:r>
              <a:rPr lang="en-US" sz="1000" dirty="0"/>
              <a:t>Volume Label</a:t>
            </a:r>
          </a:p>
          <a:p>
            <a:pPr marL="628650" lvl="1" indent="-171450">
              <a:buFont typeface="Arial" panose="020B0604020202020204" pitchFamily="34" charset="0"/>
              <a:buChar char="•"/>
            </a:pPr>
            <a:r>
              <a:rPr lang="en-US" sz="1000" dirty="0"/>
              <a:t>automated vs Custom</a:t>
            </a:r>
          </a:p>
          <a:p>
            <a:pPr marL="171450" indent="-171450">
              <a:buFont typeface="Arial" panose="020B0604020202020204" pitchFamily="34" charset="0"/>
              <a:buChar char="•"/>
            </a:pPr>
            <a:r>
              <a:rPr lang="en-US" sz="1000" dirty="0"/>
              <a:t>Jump list and LNK file may be only evidence a file existed on a system</a:t>
            </a:r>
          </a:p>
          <a:p>
            <a:pPr marL="171450" indent="-171450">
              <a:buFont typeface="Arial" panose="020B0604020202020204" pitchFamily="34" charset="0"/>
              <a:buChar char="•"/>
            </a:pPr>
            <a:r>
              <a:rPr lang="en-US" sz="1000" dirty="0"/>
              <a:t>Was a video played on computer? Jump List &gt; sort on App Name</a:t>
            </a:r>
          </a:p>
        </p:txBody>
      </p:sp>
      <p:sp>
        <p:nvSpPr>
          <p:cNvPr id="5" name="TextBox 4">
            <a:extLst>
              <a:ext uri="{FF2B5EF4-FFF2-40B4-BE49-F238E27FC236}">
                <a16:creationId xmlns:a16="http://schemas.microsoft.com/office/drawing/2014/main" id="{47F71113-8BC4-48BE-AAA3-9628CFC70B02}"/>
              </a:ext>
            </a:extLst>
          </p:cNvPr>
          <p:cNvSpPr txBox="1"/>
          <p:nvPr/>
        </p:nvSpPr>
        <p:spPr>
          <a:xfrm>
            <a:off x="0" y="0"/>
            <a:ext cx="2164695" cy="369332"/>
          </a:xfrm>
          <a:prstGeom prst="rect">
            <a:avLst/>
          </a:prstGeom>
          <a:noFill/>
        </p:spPr>
        <p:txBody>
          <a:bodyPr wrap="none" rtlCol="0">
            <a:spAutoFit/>
          </a:bodyPr>
          <a:lstStyle/>
          <a:p>
            <a:r>
              <a:rPr lang="en-US" b="1" u="sng" dirty="0"/>
              <a:t>3h Operating System</a:t>
            </a:r>
          </a:p>
        </p:txBody>
      </p:sp>
      <p:sp>
        <p:nvSpPr>
          <p:cNvPr id="8" name="TextBox 7">
            <a:extLst>
              <a:ext uri="{FF2B5EF4-FFF2-40B4-BE49-F238E27FC236}">
                <a16:creationId xmlns:a16="http://schemas.microsoft.com/office/drawing/2014/main" id="{52DAA4B4-8A6C-4DEB-A7CB-6BFAB581B27F}"/>
              </a:ext>
            </a:extLst>
          </p:cNvPr>
          <p:cNvSpPr txBox="1"/>
          <p:nvPr/>
        </p:nvSpPr>
        <p:spPr>
          <a:xfrm>
            <a:off x="4139184" y="19622"/>
            <a:ext cx="3913632" cy="1723549"/>
          </a:xfrm>
          <a:prstGeom prst="rect">
            <a:avLst/>
          </a:prstGeom>
          <a:noFill/>
          <a:ln>
            <a:noFill/>
          </a:ln>
        </p:spPr>
        <p:txBody>
          <a:bodyPr wrap="square">
            <a:spAutoFit/>
          </a:bodyPr>
          <a:lstStyle/>
          <a:p>
            <a:r>
              <a:rPr lang="en-US" sz="1200" b="1" u="sng" dirty="0"/>
              <a:t>LNK</a:t>
            </a:r>
          </a:p>
          <a:p>
            <a:r>
              <a:rPr lang="en-US" sz="1000" i="1" dirty="0"/>
              <a:t>Users\&lt;profile&gt;\AppData\Roaming\Microsoft</a:t>
            </a:r>
            <a:r>
              <a:rPr lang="en-US" sz="1000" b="1" i="1" dirty="0"/>
              <a:t>\Windows\Recent</a:t>
            </a:r>
            <a:r>
              <a:rPr lang="en-US" sz="1000" i="1" dirty="0"/>
              <a:t>	</a:t>
            </a:r>
          </a:p>
          <a:p>
            <a:pPr marL="228600" indent="-228600">
              <a:buAutoNum type="arabicPeriod"/>
            </a:pPr>
            <a:r>
              <a:rPr lang="en-US" sz="1000" dirty="0"/>
              <a:t>Created by User or OS upon file opening. </a:t>
            </a:r>
          </a:p>
          <a:p>
            <a:pPr marL="228600" indent="-228600">
              <a:buAutoNum type="arabicPeriod"/>
            </a:pPr>
            <a:r>
              <a:rPr lang="en-US" sz="1000" dirty="0"/>
              <a:t>Useful if original file deleted. </a:t>
            </a:r>
          </a:p>
          <a:p>
            <a:pPr marL="228600" indent="-228600">
              <a:buAutoNum type="arabicPeriod"/>
            </a:pPr>
            <a:r>
              <a:rPr lang="en-US" sz="1000" dirty="0"/>
              <a:t>VSN for LNK file can ID entry in USB artifacts may </a:t>
            </a:r>
            <a:r>
              <a:rPr lang="en-US" sz="1000" dirty="0">
                <a:sym typeface="Wingdings" panose="05000000000000000000" pitchFamily="2" charset="2"/>
              </a:rPr>
              <a:t>yield drive letter.</a:t>
            </a:r>
          </a:p>
          <a:p>
            <a:pPr marL="228600" indent="-228600">
              <a:buAutoNum type="arabicPeriod"/>
            </a:pPr>
            <a:r>
              <a:rPr lang="en-US" sz="1000" dirty="0">
                <a:sym typeface="Wingdings" panose="05000000000000000000" pitchFamily="2" charset="2"/>
              </a:rPr>
              <a:t>Click LNK files artifact then filter on “Windows\Recent”</a:t>
            </a:r>
          </a:p>
          <a:p>
            <a:pPr marL="228600" indent="-228600">
              <a:buAutoNum type="arabicPeriod"/>
            </a:pPr>
            <a:r>
              <a:rPr lang="en-US" sz="1000" dirty="0">
                <a:sym typeface="Wingdings" panose="05000000000000000000" pitchFamily="2" charset="2"/>
              </a:rPr>
              <a:t>Sort Volume Name, select all </a:t>
            </a:r>
            <a:r>
              <a:rPr lang="en-US" sz="1000" dirty="0" err="1">
                <a:sym typeface="Wingdings" panose="05000000000000000000" pitchFamily="2" charset="2"/>
              </a:rPr>
              <a:t>MyUSB</a:t>
            </a:r>
            <a:r>
              <a:rPr lang="en-US" sz="1000" dirty="0">
                <a:sym typeface="Wingdings" panose="05000000000000000000" pitchFamily="2" charset="2"/>
              </a:rPr>
              <a:t>, tag</a:t>
            </a:r>
          </a:p>
          <a:p>
            <a:pPr marL="228600" indent="-228600">
              <a:buAutoNum type="arabicPeriod"/>
            </a:pPr>
            <a:r>
              <a:rPr lang="en-US" sz="1000" dirty="0">
                <a:sym typeface="Wingdings" panose="05000000000000000000" pitchFamily="2" charset="2"/>
              </a:rPr>
              <a:t>In EVIDENCE pane note Last Assigned Drive Letter &amp; Volume GUIDs</a:t>
            </a:r>
            <a:endParaRPr lang="en-US" sz="1200" dirty="0">
              <a:sym typeface="Wingdings" panose="05000000000000000000" pitchFamily="2" charset="2"/>
            </a:endParaRPr>
          </a:p>
          <a:p>
            <a:pPr marL="228600" indent="-228600">
              <a:buAutoNum type="arabicPeriod"/>
            </a:pPr>
            <a:r>
              <a:rPr lang="en-US" sz="1000" i="1" dirty="0">
                <a:sym typeface="Wingdings" panose="05000000000000000000" pitchFamily="2" charset="2"/>
              </a:rPr>
              <a:t>SYSTEM\</a:t>
            </a:r>
            <a:r>
              <a:rPr lang="en-US" sz="1000" i="1" dirty="0" err="1">
                <a:sym typeface="Wingdings" panose="05000000000000000000" pitchFamily="2" charset="2"/>
              </a:rPr>
              <a:t>MountedDevices</a:t>
            </a:r>
            <a:r>
              <a:rPr lang="en-US" sz="1000" i="1" dirty="0">
                <a:sym typeface="Wingdings" panose="05000000000000000000" pitchFamily="2" charset="2"/>
              </a:rPr>
              <a:t>\ </a:t>
            </a:r>
            <a:r>
              <a:rPr lang="en-US" sz="1000" dirty="0">
                <a:sym typeface="Wingdings" panose="05000000000000000000" pitchFamily="2" charset="2"/>
              </a:rPr>
              <a:t>registry names should be same as GUIDs</a:t>
            </a:r>
            <a:endParaRPr lang="en-US" sz="1000" dirty="0"/>
          </a:p>
          <a:p>
            <a:r>
              <a:rPr lang="en-US" sz="1200" b="1" u="sng" dirty="0"/>
              <a:t>Partitioning Scheme</a:t>
            </a:r>
          </a:p>
        </p:txBody>
      </p:sp>
      <p:sp>
        <p:nvSpPr>
          <p:cNvPr id="10" name="TextBox 9">
            <a:extLst>
              <a:ext uri="{FF2B5EF4-FFF2-40B4-BE49-F238E27FC236}">
                <a16:creationId xmlns:a16="http://schemas.microsoft.com/office/drawing/2014/main" id="{DCD64D2B-421F-4812-A1B6-4A103ED23F65}"/>
              </a:ext>
            </a:extLst>
          </p:cNvPr>
          <p:cNvSpPr txBox="1"/>
          <p:nvPr/>
        </p:nvSpPr>
        <p:spPr>
          <a:xfrm>
            <a:off x="8177784" y="19622"/>
            <a:ext cx="3913632" cy="6586418"/>
          </a:xfrm>
          <a:prstGeom prst="rect">
            <a:avLst/>
          </a:prstGeom>
          <a:noFill/>
          <a:ln>
            <a:noFill/>
          </a:ln>
        </p:spPr>
        <p:txBody>
          <a:bodyPr wrap="square">
            <a:spAutoFit/>
          </a:bodyPr>
          <a:lstStyle/>
          <a:p>
            <a:r>
              <a:rPr lang="en-US" sz="1200" b="1" u="sng" dirty="0"/>
              <a:t>Prefetch</a:t>
            </a:r>
          </a:p>
          <a:p>
            <a:r>
              <a:rPr lang="en-US" sz="1000" i="1" dirty="0"/>
              <a:t>C:\Windows\Prefetch</a:t>
            </a:r>
          </a:p>
          <a:p>
            <a:pPr marL="171450" indent="-171450">
              <a:buFont typeface="Arial" panose="020B0604020202020204" pitchFamily="34" charset="0"/>
              <a:buChar char="•"/>
            </a:pPr>
            <a:r>
              <a:rPr lang="en-US" sz="1000" dirty="0"/>
              <a:t>Boot (no forensic value) vs application prefetching</a:t>
            </a:r>
          </a:p>
          <a:p>
            <a:pPr marL="171450" indent="-171450" algn="l">
              <a:buFont typeface="Arial" panose="020B0604020202020204" pitchFamily="34" charset="0"/>
              <a:buChar char="•"/>
            </a:pPr>
            <a:r>
              <a:rPr lang="en-US" sz="1000" b="0" i="0" u="none" strike="noStrike" baseline="0" dirty="0"/>
              <a:t>Default: Prefetch service tracks both types of operations</a:t>
            </a:r>
          </a:p>
          <a:p>
            <a:pPr marL="171450" indent="-171450" algn="l">
              <a:buFont typeface="Arial" panose="020B0604020202020204" pitchFamily="34" charset="0"/>
              <a:buChar char="•"/>
            </a:pPr>
            <a:r>
              <a:rPr lang="en-US" sz="1000" b="0" i="0" u="none" strike="noStrike" baseline="0" dirty="0" err="1"/>
              <a:t>EnablePrefetcher</a:t>
            </a:r>
            <a:r>
              <a:rPr lang="en-US" sz="1000" b="0" i="0" u="none" strike="noStrike" baseline="0" dirty="0"/>
              <a:t> value (</a:t>
            </a:r>
            <a:r>
              <a:rPr lang="en-US" sz="1000" b="0" i="1" u="none" strike="noStrike" baseline="0" dirty="0"/>
              <a:t>SYSTEM HIVE</a:t>
            </a:r>
            <a:r>
              <a:rPr lang="en-US" sz="1000" b="0" i="0" u="none" strike="noStrike" baseline="0" dirty="0"/>
              <a:t>) of </a:t>
            </a:r>
            <a:r>
              <a:rPr lang="en-US" sz="1000" b="0" i="0" u="none" strike="noStrike" baseline="0" dirty="0" err="1"/>
              <a:t>PrefetchParameters</a:t>
            </a:r>
            <a:r>
              <a:rPr lang="en-US" sz="1000" b="0" i="0" u="none" strike="noStrike" baseline="0" dirty="0"/>
              <a:t> key, can be modified to track one, both, none.</a:t>
            </a:r>
          </a:p>
          <a:p>
            <a:pPr marL="171450" indent="-171450" algn="l">
              <a:buFont typeface="Arial" panose="020B0604020202020204" pitchFamily="34" charset="0"/>
              <a:buChar char="•"/>
            </a:pPr>
            <a:r>
              <a:rPr lang="en-US" sz="1000" dirty="0"/>
              <a:t>When app launched for first time </a:t>
            </a:r>
            <a:r>
              <a:rPr lang="en-US" sz="1000" dirty="0">
                <a:sym typeface="Wingdings" panose="05000000000000000000" pitchFamily="2" charset="2"/>
              </a:rPr>
              <a:t> prefetch file in the prefetch </a:t>
            </a:r>
            <a:r>
              <a:rPr lang="en-US" sz="1000" dirty="0" err="1">
                <a:sym typeface="Wingdings" panose="05000000000000000000" pitchFamily="2" charset="2"/>
              </a:rPr>
              <a:t>dir</a:t>
            </a:r>
            <a:endParaRPr lang="en-US" sz="1000" dirty="0">
              <a:sym typeface="Wingdings" panose="05000000000000000000" pitchFamily="2" charset="2"/>
            </a:endParaRPr>
          </a:p>
          <a:p>
            <a:pPr marL="171450" indent="-171450" algn="l">
              <a:buFont typeface="Arial" panose="020B0604020202020204" pitchFamily="34" charset="0"/>
              <a:buChar char="•"/>
            </a:pPr>
            <a:r>
              <a:rPr lang="en-US" sz="1000" dirty="0">
                <a:sym typeface="Wingdings" panose="05000000000000000000" pitchFamily="2" charset="2"/>
              </a:rPr>
              <a:t>Speeds up app launch times search an app in Prefetch artifacts.</a:t>
            </a:r>
          </a:p>
          <a:p>
            <a:pPr marL="171450" indent="-171450" algn="l">
              <a:buFont typeface="Arial" panose="020B0604020202020204" pitchFamily="34" charset="0"/>
              <a:buChar char="•"/>
            </a:pPr>
            <a:r>
              <a:rPr lang="en-US" sz="1000" dirty="0">
                <a:sym typeface="Wingdings" panose="05000000000000000000" pitchFamily="2" charset="2"/>
              </a:rPr>
              <a:t>Used to be stored decompressed/easy to intuit. Now compressed.</a:t>
            </a:r>
            <a:endParaRPr lang="en-US" sz="1000" dirty="0"/>
          </a:p>
          <a:p>
            <a:pPr algn="l"/>
            <a:r>
              <a:rPr lang="en-US" sz="1000" b="1" i="0" u="none" strike="noStrike" baseline="0" dirty="0"/>
              <a:t>Windows XP</a:t>
            </a:r>
          </a:p>
          <a:p>
            <a:pPr algn="l"/>
            <a:r>
              <a:rPr lang="en-US" sz="1000" b="0" i="0" u="none" strike="noStrike" baseline="0" dirty="0"/>
              <a:t>• Offset 0-11 Header</a:t>
            </a:r>
          </a:p>
          <a:p>
            <a:pPr algn="l"/>
            <a:r>
              <a:rPr lang="en-US" sz="1000" b="0" i="0" u="none" strike="noStrike" baseline="0" dirty="0"/>
              <a:t>• Offset 4-7 “SCCA” Record Entry Header</a:t>
            </a:r>
          </a:p>
          <a:p>
            <a:pPr algn="l"/>
            <a:r>
              <a:rPr lang="en-US" sz="1000" b="0" i="0" u="none" strike="noStrike" baseline="0" dirty="0"/>
              <a:t>• Offset 16 Application Name (variable length)</a:t>
            </a:r>
          </a:p>
          <a:p>
            <a:pPr algn="l"/>
            <a:r>
              <a:rPr lang="en-US" sz="1000" b="0" i="0" u="none" strike="noStrike" baseline="0" dirty="0"/>
              <a:t>• Offset 120-127 Date/Time of Last Launch</a:t>
            </a:r>
          </a:p>
          <a:p>
            <a:pPr algn="l"/>
            <a:r>
              <a:rPr lang="en-US" sz="1000" b="0" i="0" u="none" strike="noStrike" baseline="0" dirty="0"/>
              <a:t>• Offset 144-147 Number of Launches </a:t>
            </a:r>
          </a:p>
          <a:p>
            <a:pPr algn="l"/>
            <a:r>
              <a:rPr lang="en-US" sz="1000" b="1" i="0" u="none" strike="noStrike" baseline="0" dirty="0"/>
              <a:t>Windows 7/8</a:t>
            </a:r>
          </a:p>
          <a:p>
            <a:pPr algn="l"/>
            <a:r>
              <a:rPr lang="en-US" sz="1000" b="0" i="0" u="none" strike="noStrike" baseline="0" dirty="0"/>
              <a:t>• Offset 0-11 Header</a:t>
            </a:r>
          </a:p>
          <a:p>
            <a:pPr algn="l"/>
            <a:r>
              <a:rPr lang="en-US" sz="1000" b="0" i="0" u="none" strike="noStrike" baseline="0" dirty="0"/>
              <a:t>• Offset 4-7 “SCCA”  Record Entry Header</a:t>
            </a:r>
          </a:p>
          <a:p>
            <a:pPr algn="l"/>
            <a:r>
              <a:rPr lang="en-US" sz="1000" b="0" i="0" u="none" strike="noStrike" baseline="0" dirty="0"/>
              <a:t>• Offset 16 Application Name (variable length)</a:t>
            </a:r>
          </a:p>
          <a:p>
            <a:pPr algn="l"/>
            <a:r>
              <a:rPr lang="en-US" sz="1000" b="0" i="0" u="none" strike="noStrike" baseline="0" dirty="0"/>
              <a:t>• Offset 128-135 Date/Time of Last Launch</a:t>
            </a:r>
          </a:p>
          <a:p>
            <a:pPr algn="l"/>
            <a:r>
              <a:rPr lang="en-US" sz="1000" b="0" i="0" u="none" strike="noStrike" baseline="0" dirty="0"/>
              <a:t>• Offset 152-155 Number of Launches</a:t>
            </a:r>
          </a:p>
          <a:p>
            <a:pPr algn="l"/>
            <a:r>
              <a:rPr lang="en-US" sz="1000" b="1" i="0" u="none" strike="noStrike" baseline="0" dirty="0"/>
              <a:t>Windows 10</a:t>
            </a:r>
          </a:p>
          <a:p>
            <a:pPr algn="l"/>
            <a:r>
              <a:rPr lang="en-US" sz="1000" b="0" i="0" u="none" strike="noStrike" baseline="0" dirty="0"/>
              <a:t>Prefetch/SuperFetch files compressed with XPRESS HUFFMAN algorithm </a:t>
            </a:r>
            <a:r>
              <a:rPr lang="en-US" sz="1000" dirty="0"/>
              <a:t>Prefetch/</a:t>
            </a:r>
            <a:r>
              <a:rPr lang="en-US" sz="1000" dirty="0" err="1"/>
              <a:t>superfetch</a:t>
            </a:r>
            <a:r>
              <a:rPr lang="en-US" sz="1000" dirty="0"/>
              <a:t> enabled by default. (suspicious if disabled)</a:t>
            </a:r>
          </a:p>
          <a:p>
            <a:pPr algn="l"/>
            <a:r>
              <a:rPr lang="en-US" sz="1000" b="0" i="1" u="none" strike="noStrike" baseline="0" dirty="0"/>
              <a:t>System\</a:t>
            </a:r>
            <a:r>
              <a:rPr lang="en-US" sz="1000" b="0" i="1" u="none" strike="noStrike" baseline="0" dirty="0" err="1"/>
              <a:t>ControlSet</a:t>
            </a:r>
            <a:r>
              <a:rPr lang="en-US" sz="1000" b="0" i="1" u="none" strike="noStrike" baseline="0" dirty="0"/>
              <a:t>###\Control\Session Manager\Memory Management</a:t>
            </a:r>
          </a:p>
          <a:p>
            <a:pPr algn="l"/>
            <a:r>
              <a:rPr lang="en-US" sz="1000" b="0" i="1" u="none" strike="noStrike" baseline="0" dirty="0"/>
              <a:t>\</a:t>
            </a:r>
            <a:r>
              <a:rPr lang="en-US" sz="1000" b="0" i="1" u="none" strike="noStrike" baseline="0" dirty="0" err="1"/>
              <a:t>PrefetchParameters</a:t>
            </a:r>
            <a:endParaRPr lang="en-US" sz="1000" b="0" i="1" u="none" strike="noStrike" baseline="0" dirty="0"/>
          </a:p>
          <a:p>
            <a:pPr algn="l"/>
            <a:r>
              <a:rPr lang="en-US" sz="1000" b="0" i="0" u="none" strike="noStrike" baseline="0" dirty="0"/>
              <a:t>Two </a:t>
            </a:r>
            <a:r>
              <a:rPr lang="en-US" sz="1000" b="0" i="0" u="none" strike="noStrike" baseline="0" dirty="0" err="1"/>
              <a:t>PrefetchParameters</a:t>
            </a:r>
            <a:r>
              <a:rPr lang="en-US" sz="1000" b="0" i="0" u="none" strike="noStrike" baseline="0" dirty="0"/>
              <a:t> </a:t>
            </a:r>
            <a:r>
              <a:rPr lang="en-US" sz="1000" b="0" i="0" u="none" strike="noStrike" baseline="0" dirty="0" err="1"/>
              <a:t>vals</a:t>
            </a:r>
            <a:r>
              <a:rPr lang="en-US" sz="1000" b="0" i="0" u="none" strike="noStrike" baseline="0" dirty="0"/>
              <a:t> track the status of the Prefetch/</a:t>
            </a:r>
            <a:r>
              <a:rPr lang="en-US" sz="1000" b="0" i="0" u="none" strike="noStrike" baseline="0" dirty="0" err="1"/>
              <a:t>Superfetch</a:t>
            </a:r>
            <a:r>
              <a:rPr lang="en-US" sz="1000" b="0" i="0" u="none" strike="noStrike" baseline="0" dirty="0"/>
              <a:t>, </a:t>
            </a:r>
            <a:r>
              <a:rPr lang="en-US" sz="1000" b="0" i="0" u="none" strike="noStrike" baseline="0" dirty="0" err="1"/>
              <a:t>EnablePrefetcher</a:t>
            </a:r>
            <a:r>
              <a:rPr lang="en-US" sz="1000" b="0" i="0" u="none" strike="noStrike" baseline="0" dirty="0"/>
              <a:t> and </a:t>
            </a:r>
            <a:r>
              <a:rPr lang="en-US" sz="1000" b="0" i="0" u="none" strike="noStrike" baseline="0" dirty="0" err="1"/>
              <a:t>EnableSuperfetch</a:t>
            </a:r>
            <a:r>
              <a:rPr lang="en-US" sz="1000" b="0" i="0" u="none" strike="noStrike" baseline="0" dirty="0"/>
              <a:t>. Each will have a hexadecimal value representing the condition of the service:</a:t>
            </a:r>
          </a:p>
          <a:p>
            <a:pPr algn="l"/>
            <a:r>
              <a:rPr lang="en-US" sz="1000" b="0" i="0" u="none" strike="noStrike" baseline="0" dirty="0"/>
              <a:t>0 = Service disabled</a:t>
            </a:r>
          </a:p>
          <a:p>
            <a:pPr algn="l"/>
            <a:r>
              <a:rPr lang="en-US" sz="1000" b="0" i="0" u="none" strike="noStrike" baseline="0" dirty="0"/>
              <a:t>1 = Applications only</a:t>
            </a:r>
          </a:p>
          <a:p>
            <a:pPr algn="l"/>
            <a:r>
              <a:rPr lang="en-US" sz="1000" b="0" i="0" u="none" strike="noStrike" baseline="0" dirty="0"/>
              <a:t>2 = Boot process only</a:t>
            </a:r>
          </a:p>
          <a:p>
            <a:pPr algn="l"/>
            <a:r>
              <a:rPr lang="en-US" sz="1000" b="0" i="0" u="none" strike="noStrike" baseline="0" dirty="0"/>
              <a:t>3 = Applications and boot process (default)</a:t>
            </a:r>
          </a:p>
          <a:p>
            <a:pPr algn="l"/>
            <a:endParaRPr lang="en-US" sz="1000" dirty="0"/>
          </a:p>
          <a:p>
            <a:pPr algn="l"/>
            <a:r>
              <a:rPr lang="en-US" sz="1000" dirty="0"/>
              <a:t>Can use a filter stack CCLEANER and select following artifacts</a:t>
            </a:r>
          </a:p>
          <a:p>
            <a:pPr marL="171450" indent="-171450" algn="l">
              <a:buFont typeface="Arial" panose="020B0604020202020204" pitchFamily="34" charset="0"/>
              <a:buChar char="•"/>
            </a:pPr>
            <a:r>
              <a:rPr lang="en-US" sz="1000" dirty="0"/>
              <a:t>LNK Files</a:t>
            </a:r>
          </a:p>
          <a:p>
            <a:pPr marL="171450" indent="-171450" algn="l">
              <a:buFont typeface="Arial" panose="020B0604020202020204" pitchFamily="34" charset="0"/>
              <a:buChar char="•"/>
            </a:pPr>
            <a:r>
              <a:rPr lang="en-US" sz="1000" dirty="0"/>
              <a:t>Startup Items</a:t>
            </a:r>
          </a:p>
          <a:p>
            <a:pPr marL="171450" indent="-171450" algn="l">
              <a:buFont typeface="Arial" panose="020B0604020202020204" pitchFamily="34" charset="0"/>
              <a:buChar char="•"/>
            </a:pPr>
            <a:r>
              <a:rPr lang="en-US" sz="1000" dirty="0" err="1"/>
              <a:t>UserAssist</a:t>
            </a:r>
            <a:endParaRPr lang="en-US" sz="1000" dirty="0"/>
          </a:p>
          <a:p>
            <a:pPr marL="171450" indent="-171450" algn="l">
              <a:buFont typeface="Arial" panose="020B0604020202020204" pitchFamily="34" charset="0"/>
              <a:buChar char="•"/>
            </a:pPr>
            <a:r>
              <a:rPr lang="en-US" sz="1000" dirty="0"/>
              <a:t>Windows 8/10 Prefetch Files</a:t>
            </a:r>
          </a:p>
          <a:p>
            <a:pPr marL="171450" indent="-171450" algn="l">
              <a:buFont typeface="Arial" panose="020B0604020202020204" pitchFamily="34" charset="0"/>
              <a:buChar char="•"/>
            </a:pPr>
            <a:r>
              <a:rPr lang="en-US" sz="1000" dirty="0"/>
              <a:t>Windows Events Logs (check correct SID/sort)</a:t>
            </a:r>
          </a:p>
          <a:p>
            <a:pPr marL="171450" indent="-171450" algn="l">
              <a:buFont typeface="Arial" panose="020B0604020202020204" pitchFamily="34" charset="0"/>
              <a:buChar char="•"/>
            </a:pPr>
            <a:endParaRPr lang="en-US" sz="1000" dirty="0"/>
          </a:p>
          <a:p>
            <a:pPr algn="l"/>
            <a:r>
              <a:rPr lang="en-US" sz="1000" dirty="0"/>
              <a:t>… and can see the useful activity associated with CCLEANER</a:t>
            </a:r>
          </a:p>
        </p:txBody>
      </p:sp>
      <p:pic>
        <p:nvPicPr>
          <p:cNvPr id="1026" name="Picture 2">
            <a:extLst>
              <a:ext uri="{FF2B5EF4-FFF2-40B4-BE49-F238E27FC236}">
                <a16:creationId xmlns:a16="http://schemas.microsoft.com/office/drawing/2014/main" id="{79A1A4D0-93C1-4219-9ACD-31099EC4EA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84115" y="1805265"/>
            <a:ext cx="3449601" cy="74912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11318653-8CB2-40A2-8AB1-72E00AC76A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39184" y="2740140"/>
            <a:ext cx="3494532" cy="1569147"/>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D73412E1-7E10-4759-923C-E5B14C399CE5}"/>
              </a:ext>
            </a:extLst>
          </p:cNvPr>
          <p:cNvSpPr txBox="1"/>
          <p:nvPr/>
        </p:nvSpPr>
        <p:spPr>
          <a:xfrm>
            <a:off x="4014216" y="4458142"/>
            <a:ext cx="3993669" cy="2308324"/>
          </a:xfrm>
          <a:prstGeom prst="rect">
            <a:avLst/>
          </a:prstGeom>
          <a:noFill/>
        </p:spPr>
        <p:txBody>
          <a:bodyPr wrap="square">
            <a:spAutoFit/>
          </a:bodyPr>
          <a:lstStyle/>
          <a:p>
            <a:pPr marL="171450" indent="-171450">
              <a:buFont typeface="Arial" panose="020B0604020202020204" pitchFamily="34" charset="0"/>
              <a:buChar char="•"/>
            </a:pPr>
            <a:r>
              <a:rPr lang="en-US" sz="1000" dirty="0"/>
              <a:t>Unpartitioned 55 AA hex at 510 = end of boot record</a:t>
            </a:r>
          </a:p>
          <a:p>
            <a:pPr marL="171450" indent="-171450">
              <a:buFont typeface="Arial" panose="020B0604020202020204" pitchFamily="34" charset="0"/>
              <a:buChar char="•"/>
            </a:pPr>
            <a:r>
              <a:rPr lang="en-US" sz="1000" dirty="0"/>
              <a:t>446 = 80 (bootable) Partition 1, 440 drive letter (next 4 hex). select hex, save as artifact.</a:t>
            </a:r>
          </a:p>
          <a:p>
            <a:endParaRPr lang="en-US" sz="1200" b="1" u="sng" dirty="0"/>
          </a:p>
          <a:p>
            <a:r>
              <a:rPr lang="en-US" sz="1200" b="1" u="sng" dirty="0"/>
              <a:t>Windows Event Logs</a:t>
            </a:r>
            <a:r>
              <a:rPr lang="en-US" sz="1100" dirty="0"/>
              <a:t>	</a:t>
            </a:r>
          </a:p>
          <a:p>
            <a:r>
              <a:rPr lang="en-US" sz="1000" i="1" u="none" strike="noStrike" baseline="0" dirty="0">
                <a:latin typeface="Calibri" panose="020F0502020204030204" pitchFamily="34" charset="0"/>
                <a:cs typeface="Calibri" panose="020F0502020204030204" pitchFamily="34" charset="0"/>
              </a:rPr>
              <a:t>Windows\System32\</a:t>
            </a:r>
            <a:r>
              <a:rPr lang="en-US" sz="1000" i="1" u="none" strike="noStrike" baseline="0" dirty="0" err="1">
                <a:latin typeface="Calibri" panose="020F0502020204030204" pitchFamily="34" charset="0"/>
                <a:cs typeface="Calibri" panose="020F0502020204030204" pitchFamily="34" charset="0"/>
              </a:rPr>
              <a:t>winevt</a:t>
            </a:r>
            <a:r>
              <a:rPr lang="en-US" sz="1000" i="1" u="none" strike="noStrike" baseline="0" dirty="0">
                <a:latin typeface="Calibri" panose="020F0502020204030204" pitchFamily="34" charset="0"/>
                <a:cs typeface="Calibri" panose="020F0502020204030204" pitchFamily="34" charset="0"/>
              </a:rPr>
              <a:t>\Logs *.</a:t>
            </a:r>
            <a:r>
              <a:rPr lang="en-US" sz="1000" i="1" u="none" strike="noStrike" baseline="0" dirty="0" err="1">
                <a:latin typeface="Calibri" panose="020F0502020204030204" pitchFamily="34" charset="0"/>
                <a:cs typeface="Calibri" panose="020F0502020204030204" pitchFamily="34" charset="0"/>
              </a:rPr>
              <a:t>evt</a:t>
            </a:r>
            <a:r>
              <a:rPr lang="en-US" sz="1000" i="1" u="none" strike="noStrike" baseline="0" dirty="0">
                <a:latin typeface="Calibri" panose="020F0502020204030204" pitchFamily="34" charset="0"/>
                <a:cs typeface="Calibri" panose="020F0502020204030204" pitchFamily="34" charset="0"/>
              </a:rPr>
              <a:t> *.</a:t>
            </a:r>
            <a:r>
              <a:rPr lang="en-US" sz="1000" i="1" u="none" strike="noStrike" baseline="0" dirty="0" err="1">
                <a:latin typeface="Calibri" panose="020F0502020204030204" pitchFamily="34" charset="0"/>
                <a:cs typeface="Calibri" panose="020F0502020204030204" pitchFamily="34" charset="0"/>
              </a:rPr>
              <a:t>evtx</a:t>
            </a:r>
            <a:endParaRPr lang="en-US" sz="1000" i="1" u="none" strike="noStrike" baseline="0" dirty="0">
              <a:latin typeface="Calibri" panose="020F0502020204030204" pitchFamily="34" charset="0"/>
              <a:cs typeface="Calibri" panose="020F0502020204030204" pitchFamily="34" charset="0"/>
            </a:endParaRPr>
          </a:p>
          <a:p>
            <a:pPr algn="l"/>
            <a:r>
              <a:rPr lang="en-US" sz="1000" b="0" i="0" u="none" strike="noStrike" baseline="0" dirty="0"/>
              <a:t>In addition to the Windows-based event logs, third-party applications are also allowed to generate their own custom event logs provided they comply with the Windows API requirements.</a:t>
            </a:r>
          </a:p>
          <a:p>
            <a:pPr algn="l"/>
            <a:r>
              <a:rPr lang="en-US" sz="1000" dirty="0">
                <a:cs typeface="Calibri" panose="020F0502020204030204" pitchFamily="34" charset="0"/>
              </a:rPr>
              <a:t>The challenge is log-filtering. </a:t>
            </a:r>
          </a:p>
          <a:p>
            <a:pPr marL="228600" indent="-228600">
              <a:buFont typeface="+mj-lt"/>
              <a:buAutoNum type="arabicPeriod"/>
            </a:pPr>
            <a:r>
              <a:rPr lang="en-US" sz="1000" dirty="0">
                <a:cs typeface="Calibri" panose="020F0502020204030204" pitchFamily="34" charset="0"/>
              </a:rPr>
              <a:t>Filter on SID useful here (maybe even start with correct SID, 1000)</a:t>
            </a:r>
          </a:p>
          <a:p>
            <a:pPr marL="228600" indent="-228600" algn="l">
              <a:buFont typeface="+mj-lt"/>
              <a:buAutoNum type="arabicPeriod"/>
            </a:pPr>
            <a:r>
              <a:rPr lang="en-US" sz="1000" dirty="0">
                <a:cs typeface="Calibri" panose="020F0502020204030204" pitchFamily="34" charset="0"/>
              </a:rPr>
              <a:t>Filter: Equal To Event ID, </a:t>
            </a:r>
            <a:r>
              <a:rPr lang="en-US" sz="1000" dirty="0" err="1">
                <a:cs typeface="Calibri" panose="020F0502020204030204" pitchFamily="34" charset="0"/>
              </a:rPr>
              <a:t>eg</a:t>
            </a:r>
            <a:r>
              <a:rPr lang="en-US" sz="1000" dirty="0">
                <a:cs typeface="Calibri" panose="020F0502020204030204" pitchFamily="34" charset="0"/>
              </a:rPr>
              <a:t> 8001</a:t>
            </a:r>
          </a:p>
          <a:p>
            <a:pPr marL="228600" indent="-228600" algn="l">
              <a:buFont typeface="+mj-lt"/>
              <a:buAutoNum type="arabicPeriod"/>
            </a:pPr>
            <a:r>
              <a:rPr lang="en-US" sz="1000" dirty="0">
                <a:cs typeface="Calibri" panose="020F0502020204030204" pitchFamily="34" charset="0"/>
              </a:rPr>
              <a:t>Filter on column feature, </a:t>
            </a:r>
            <a:r>
              <a:rPr lang="en-US" sz="1000" dirty="0" err="1">
                <a:cs typeface="Calibri" panose="020F0502020204030204" pitchFamily="34" charset="0"/>
              </a:rPr>
              <a:t>eg</a:t>
            </a:r>
            <a:r>
              <a:rPr lang="en-US" sz="1000" dirty="0">
                <a:cs typeface="Calibri" panose="020F0502020204030204" pitchFamily="34" charset="0"/>
              </a:rPr>
              <a:t> WLAN</a:t>
            </a:r>
          </a:p>
          <a:p>
            <a:pPr marL="228600" indent="-228600" algn="l">
              <a:buFont typeface="Arial" panose="020B0604020202020204" pitchFamily="34" charset="0"/>
              <a:buChar char="•"/>
            </a:pPr>
            <a:r>
              <a:rPr lang="en-US" sz="1000" dirty="0">
                <a:cs typeface="Calibri" panose="020F0502020204030204" pitchFamily="34" charset="0"/>
              </a:rPr>
              <a:t>8001, WLAN = successful wireless connections</a:t>
            </a:r>
          </a:p>
        </p:txBody>
      </p:sp>
    </p:spTree>
    <p:extLst>
      <p:ext uri="{BB962C8B-B14F-4D97-AF65-F5344CB8AC3E}">
        <p14:creationId xmlns:p14="http://schemas.microsoft.com/office/powerpoint/2010/main" val="19948430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E3CD804-88D3-4D7D-8B3F-92AF369A5D19}"/>
              </a:ext>
            </a:extLst>
          </p:cNvPr>
          <p:cNvSpPr txBox="1"/>
          <p:nvPr/>
        </p:nvSpPr>
        <p:spPr>
          <a:xfrm>
            <a:off x="0" y="0"/>
            <a:ext cx="3501856" cy="369332"/>
          </a:xfrm>
          <a:prstGeom prst="rect">
            <a:avLst/>
          </a:prstGeom>
          <a:noFill/>
        </p:spPr>
        <p:txBody>
          <a:bodyPr wrap="none" rtlCol="0">
            <a:spAutoFit/>
          </a:bodyPr>
          <a:lstStyle/>
          <a:p>
            <a:r>
              <a:rPr lang="en-US" b="1" u="sng" dirty="0"/>
              <a:t>3h Operating System from Registry</a:t>
            </a:r>
          </a:p>
        </p:txBody>
      </p:sp>
      <p:sp>
        <p:nvSpPr>
          <p:cNvPr id="5" name="TextBox 4">
            <a:extLst>
              <a:ext uri="{FF2B5EF4-FFF2-40B4-BE49-F238E27FC236}">
                <a16:creationId xmlns:a16="http://schemas.microsoft.com/office/drawing/2014/main" id="{D6EE426D-93DF-4E63-B5C9-A0BE69E14640}"/>
              </a:ext>
            </a:extLst>
          </p:cNvPr>
          <p:cNvSpPr txBox="1"/>
          <p:nvPr/>
        </p:nvSpPr>
        <p:spPr>
          <a:xfrm>
            <a:off x="4139184" y="37910"/>
            <a:ext cx="3913632" cy="6678751"/>
          </a:xfrm>
          <a:prstGeom prst="rect">
            <a:avLst/>
          </a:prstGeom>
          <a:noFill/>
          <a:ln>
            <a:noFill/>
          </a:ln>
        </p:spPr>
        <p:txBody>
          <a:bodyPr wrap="square">
            <a:spAutoFit/>
          </a:bodyPr>
          <a:lstStyle/>
          <a:p>
            <a:pPr algn="l"/>
            <a:r>
              <a:rPr lang="en-US" sz="1200" b="1" u="sng" dirty="0" err="1"/>
              <a:t>Shellbags</a:t>
            </a:r>
            <a:endParaRPr lang="en-US" sz="1200" b="1" u="sng" dirty="0"/>
          </a:p>
          <a:p>
            <a:pPr marL="171450" indent="-171450">
              <a:buFont typeface="Arial" panose="020B0604020202020204" pitchFamily="34" charset="0"/>
              <a:buChar char="•"/>
            </a:pPr>
            <a:r>
              <a:rPr lang="en-US" sz="1000" i="1" dirty="0"/>
              <a:t>XP NTUSER.DAT</a:t>
            </a:r>
          </a:p>
          <a:p>
            <a:pPr marL="628650" lvl="1" indent="-171450">
              <a:buFont typeface="Arial" panose="020B0604020202020204" pitchFamily="34" charset="0"/>
              <a:buChar char="•"/>
            </a:pPr>
            <a:r>
              <a:rPr lang="en-US" sz="1000" i="1" dirty="0"/>
              <a:t>NTUSER.dat\Software\Microsoft\Windows\Shell</a:t>
            </a:r>
          </a:p>
          <a:p>
            <a:pPr marL="628650" lvl="1" indent="-171450">
              <a:buFont typeface="Arial" panose="020B0604020202020204" pitchFamily="34" charset="0"/>
              <a:buChar char="•"/>
            </a:pPr>
            <a:r>
              <a:rPr lang="en-US" sz="1000" i="1" dirty="0"/>
              <a:t>NTUSER.dat\Software\Microsoft\Windows\Shell\</a:t>
            </a:r>
            <a:r>
              <a:rPr lang="en-US" sz="1000" i="1" dirty="0" err="1"/>
              <a:t>NoRoam</a:t>
            </a:r>
            <a:endParaRPr lang="en-US" sz="1000" i="1" dirty="0"/>
          </a:p>
          <a:p>
            <a:pPr marL="171450" indent="-171450">
              <a:buFont typeface="Arial" panose="020B0604020202020204" pitchFamily="34" charset="0"/>
              <a:buChar char="•"/>
            </a:pPr>
            <a:r>
              <a:rPr lang="en-US" sz="1000" i="1" dirty="0"/>
              <a:t>Windows 7,8,10 UsrClass.dat</a:t>
            </a:r>
          </a:p>
          <a:p>
            <a:pPr marL="628650" lvl="1" indent="-171450">
              <a:buFont typeface="Arial" panose="020B0604020202020204" pitchFamily="34" charset="0"/>
              <a:buChar char="•"/>
            </a:pPr>
            <a:r>
              <a:rPr lang="en-US" sz="1000" i="1" dirty="0"/>
              <a:t>Local Settings\Software\Microsoft\Windows\Shell\Bags</a:t>
            </a:r>
          </a:p>
          <a:p>
            <a:pPr marL="628650" lvl="1" indent="-171450">
              <a:buFont typeface="Arial" panose="020B0604020202020204" pitchFamily="34" charset="0"/>
              <a:buChar char="•"/>
            </a:pPr>
            <a:r>
              <a:rPr lang="en-US" sz="1000" i="1" dirty="0"/>
              <a:t>Local Settings\Software\Microsoft\Windows\Shell\</a:t>
            </a:r>
            <a:r>
              <a:rPr lang="en-US" sz="1000" i="1" dirty="0" err="1"/>
              <a:t>BagsMRU</a:t>
            </a:r>
            <a:endParaRPr lang="en-US" sz="1000" i="1" dirty="0"/>
          </a:p>
          <a:p>
            <a:pPr marL="171450" indent="-171450">
              <a:buFont typeface="Arial" panose="020B0604020202020204" pitchFamily="34" charset="0"/>
              <a:buChar char="•"/>
            </a:pPr>
            <a:r>
              <a:rPr lang="en-US" sz="1000" dirty="0"/>
              <a:t>Stores Windows User </a:t>
            </a:r>
            <a:r>
              <a:rPr lang="en-US" sz="1000" dirty="0" err="1"/>
              <a:t>prefs</a:t>
            </a:r>
            <a:r>
              <a:rPr lang="en-US" sz="1000" dirty="0"/>
              <a:t> for File Explorer incl. USB/network dirs.</a:t>
            </a:r>
          </a:p>
          <a:p>
            <a:pPr marL="628650" lvl="1" indent="-171450">
              <a:buFont typeface="Arial" panose="020B0604020202020204" pitchFamily="34" charset="0"/>
              <a:buChar char="•"/>
            </a:pPr>
            <a:r>
              <a:rPr lang="en-US" sz="1000" dirty="0"/>
              <a:t>size, position, contents view</a:t>
            </a:r>
          </a:p>
          <a:p>
            <a:pPr marL="171450" indent="-171450">
              <a:buFont typeface="Arial" panose="020B0604020202020204" pitchFamily="34" charset="0"/>
              <a:buChar char="•"/>
            </a:pPr>
            <a:r>
              <a:rPr lang="en-US" sz="1000" dirty="0"/>
              <a:t>Sort on mode type = Icons. Path </a:t>
            </a:r>
            <a:r>
              <a:rPr lang="en-US" sz="1000" dirty="0" err="1"/>
              <a:t>CoolStuff</a:t>
            </a:r>
            <a:endParaRPr lang="en-US" sz="1000" dirty="0"/>
          </a:p>
          <a:p>
            <a:pPr marL="171450" indent="-171450">
              <a:buFont typeface="Arial" panose="020B0604020202020204" pitchFamily="34" charset="0"/>
              <a:buChar char="•"/>
            </a:pPr>
            <a:r>
              <a:rPr lang="en-US" sz="1000" dirty="0"/>
              <a:t>The she;;bags, jump list, </a:t>
            </a:r>
            <a:r>
              <a:rPr lang="en-US" sz="1000" dirty="0" err="1"/>
              <a:t>Lnk</a:t>
            </a:r>
            <a:r>
              <a:rPr lang="en-US" sz="1000" dirty="0"/>
              <a:t> files exist but </a:t>
            </a:r>
            <a:r>
              <a:rPr lang="en-US" sz="1000" dirty="0" err="1"/>
              <a:t>filepath</a:t>
            </a:r>
            <a:r>
              <a:rPr lang="en-US" sz="1000" dirty="0"/>
              <a:t> does not</a:t>
            </a:r>
            <a:endParaRPr lang="en-US" sz="1200" dirty="0"/>
          </a:p>
          <a:p>
            <a:pPr algn="l"/>
            <a:r>
              <a:rPr lang="en-US" sz="1200" b="1" u="sng" dirty="0" err="1"/>
              <a:t>Timezone</a:t>
            </a:r>
            <a:endParaRPr lang="en-US" sz="1200" b="1" u="sng" dirty="0"/>
          </a:p>
          <a:p>
            <a:r>
              <a:rPr lang="en-US" sz="1000" i="1" dirty="0"/>
              <a:t>SOFTWARE\Microsoft\</a:t>
            </a:r>
            <a:r>
              <a:rPr lang="en-US" sz="1000" i="1" dirty="0" err="1"/>
              <a:t>WindowsNT</a:t>
            </a:r>
            <a:r>
              <a:rPr lang="en-US" sz="1000" i="1" dirty="0"/>
              <a:t>\CurrentVersion\</a:t>
            </a:r>
            <a:r>
              <a:rPr lang="en-US" sz="1000" i="1" dirty="0" err="1"/>
              <a:t>Timezones</a:t>
            </a:r>
            <a:endParaRPr lang="en-US" sz="1000" i="1" dirty="0"/>
          </a:p>
          <a:p>
            <a:r>
              <a:rPr lang="en-US" sz="1000" i="1" dirty="0"/>
              <a:t>SYSTEM\ControlSet001\Control\</a:t>
            </a:r>
            <a:r>
              <a:rPr lang="en-US" sz="1000" i="1" dirty="0" err="1"/>
              <a:t>TimezoneInfo</a:t>
            </a:r>
            <a:endParaRPr lang="en-US" sz="1000" dirty="0"/>
          </a:p>
          <a:p>
            <a:r>
              <a:rPr lang="en-US" sz="1000" dirty="0"/>
              <a:t>Change TZ: Tools &gt; Manage Date/Time format</a:t>
            </a:r>
          </a:p>
          <a:p>
            <a:r>
              <a:rPr lang="en-US" sz="1200" b="1" u="sng" dirty="0"/>
              <a:t>USB</a:t>
            </a:r>
          </a:p>
          <a:p>
            <a:pPr marL="228600" indent="-228600">
              <a:buFont typeface="+mj-lt"/>
              <a:buAutoNum type="arabicPeriod"/>
            </a:pPr>
            <a:r>
              <a:rPr lang="en-US" sz="1000" i="1" dirty="0"/>
              <a:t>SYSTEM\</a:t>
            </a:r>
            <a:r>
              <a:rPr lang="en-US" sz="1000" i="1" dirty="0" err="1"/>
              <a:t>CurrentControlSet</a:t>
            </a:r>
            <a:r>
              <a:rPr lang="en-US" sz="1000" i="1" dirty="0"/>
              <a:t>\Enum\USBSTOR</a:t>
            </a:r>
          </a:p>
          <a:p>
            <a:pPr marL="228600" indent="-228600">
              <a:buFont typeface="+mj-lt"/>
              <a:buAutoNum type="arabicPeriod"/>
            </a:pPr>
            <a:r>
              <a:rPr lang="en-US" sz="1000" i="1" dirty="0"/>
              <a:t>SYSTEM\</a:t>
            </a:r>
            <a:r>
              <a:rPr lang="en-US" sz="1000" i="1" dirty="0" err="1"/>
              <a:t>CurrentControlSet</a:t>
            </a:r>
            <a:r>
              <a:rPr lang="en-US" sz="1000" i="1" dirty="0"/>
              <a:t>\Enum\USB</a:t>
            </a:r>
          </a:p>
          <a:p>
            <a:pPr marL="228600" indent="-228600">
              <a:buFont typeface="+mj-lt"/>
              <a:buAutoNum type="arabicPeriod"/>
            </a:pPr>
            <a:r>
              <a:rPr lang="en-US" sz="1000" i="1" dirty="0"/>
              <a:t>SYSTEM\</a:t>
            </a:r>
            <a:r>
              <a:rPr lang="en-US" sz="1000" i="1" dirty="0" err="1"/>
              <a:t>MountedDevices</a:t>
            </a:r>
            <a:endParaRPr lang="en-US" sz="1000" i="1" dirty="0"/>
          </a:p>
          <a:p>
            <a:pPr marL="228600" indent="-228600">
              <a:buFont typeface="+mj-lt"/>
              <a:buAutoNum type="arabicPeriod"/>
            </a:pPr>
            <a:r>
              <a:rPr lang="en-US" sz="1000" i="1" dirty="0"/>
              <a:t>NTUSER.dat\Software\Microsoft\Windows\CurrentVersion\Explorer\MountPoints2</a:t>
            </a:r>
          </a:p>
          <a:p>
            <a:r>
              <a:rPr lang="en-US" sz="1000" dirty="0"/>
              <a:t>&amp; setupapi.dev.log, pagefile.sys, logs, system files, vol shadow copies.</a:t>
            </a:r>
          </a:p>
          <a:p>
            <a:pPr marL="228600" indent="-228600">
              <a:buFont typeface="+mj-lt"/>
              <a:buAutoNum type="arabicPeriod"/>
            </a:pPr>
            <a:r>
              <a:rPr lang="en-US" sz="1000" i="1" dirty="0"/>
              <a:t>SYSTEM… USBSTOR</a:t>
            </a:r>
          </a:p>
          <a:p>
            <a:pPr marL="685800" lvl="1" indent="-228600">
              <a:buFont typeface="Arial" panose="020B0604020202020204" pitchFamily="34" charset="0"/>
              <a:buChar char="•"/>
            </a:pPr>
            <a:r>
              <a:rPr lang="en-US" sz="1000" dirty="0"/>
              <a:t>Vendor/brand</a:t>
            </a:r>
          </a:p>
          <a:p>
            <a:pPr marL="685800" lvl="1" indent="-228600">
              <a:buFont typeface="Arial" panose="020B0604020202020204" pitchFamily="34" charset="0"/>
              <a:buChar char="•"/>
            </a:pPr>
            <a:r>
              <a:rPr lang="en-US" sz="1000" dirty="0"/>
              <a:t>Serial No </a:t>
            </a:r>
            <a:r>
              <a:rPr lang="en-US" sz="1000" dirty="0">
                <a:sym typeface="Wingdings" panose="05000000000000000000" pitchFamily="2" charset="2"/>
              </a:rPr>
              <a:t> match mounted drive letter, user, first/last connection time</a:t>
            </a:r>
            <a:endParaRPr lang="en-US" sz="1000" dirty="0"/>
          </a:p>
          <a:p>
            <a:pPr marL="228600" indent="-228600">
              <a:buFont typeface="+mj-lt"/>
              <a:buAutoNum type="arabicPeriod"/>
            </a:pPr>
            <a:r>
              <a:rPr lang="en-US" sz="1000" i="1" dirty="0"/>
              <a:t>SYSTEM… USB</a:t>
            </a:r>
          </a:p>
          <a:p>
            <a:pPr marL="685800" lvl="1" indent="-228600">
              <a:buFont typeface="Arial" panose="020B0604020202020204" pitchFamily="34" charset="0"/>
              <a:buChar char="•"/>
            </a:pPr>
            <a:r>
              <a:rPr lang="en-US" sz="1000" dirty="0"/>
              <a:t>Vendor and product info for device</a:t>
            </a:r>
          </a:p>
          <a:p>
            <a:pPr marL="685800" lvl="1" indent="-228600">
              <a:buFont typeface="Arial" panose="020B0604020202020204" pitchFamily="34" charset="0"/>
              <a:buChar char="•"/>
            </a:pPr>
            <a:r>
              <a:rPr lang="en-US" sz="1000" dirty="0"/>
              <a:t>Last time connected (uses last write time of key)</a:t>
            </a:r>
          </a:p>
          <a:p>
            <a:pPr marL="228600" indent="-228600">
              <a:buFont typeface="+mj-lt"/>
              <a:buAutoNum type="arabicPeriod"/>
            </a:pPr>
            <a:r>
              <a:rPr lang="en-US" sz="1000" i="1" dirty="0"/>
              <a:t>SYSTEM… </a:t>
            </a:r>
            <a:r>
              <a:rPr lang="en-US" sz="1000" i="1" dirty="0" err="1"/>
              <a:t>MountedDevices</a:t>
            </a:r>
            <a:endParaRPr lang="en-US" sz="1000" i="1" dirty="0"/>
          </a:p>
          <a:p>
            <a:pPr marL="685800" lvl="1" indent="-228600">
              <a:buFont typeface="Arial" panose="020B0604020202020204" pitchFamily="34" charset="0"/>
              <a:buChar char="•"/>
            </a:pPr>
            <a:r>
              <a:rPr lang="en-US" sz="1000" dirty="0"/>
              <a:t>Volatile (letters NOT </a:t>
            </a:r>
            <a:r>
              <a:rPr lang="en-US" sz="1000" dirty="0" err="1"/>
              <a:t>autoassigned</a:t>
            </a:r>
            <a:r>
              <a:rPr lang="en-US" sz="1000" dirty="0"/>
              <a:t>, </a:t>
            </a:r>
            <a:r>
              <a:rPr lang="en-US" sz="1000" dirty="0" err="1"/>
              <a:t>ie</a:t>
            </a:r>
            <a:r>
              <a:rPr lang="en-US" sz="1000" dirty="0"/>
              <a:t> not A, B, C)</a:t>
            </a:r>
          </a:p>
          <a:p>
            <a:pPr marL="685800" lvl="1" indent="-228600">
              <a:buFont typeface="Arial" panose="020B0604020202020204" pitchFamily="34" charset="0"/>
              <a:buChar char="•"/>
            </a:pPr>
            <a:r>
              <a:rPr lang="en-US" sz="1000" dirty="0"/>
              <a:t>If user add volumes further non-volatile letters created, D:</a:t>
            </a:r>
          </a:p>
          <a:p>
            <a:pPr marL="685800" lvl="1" indent="-228600">
              <a:buFont typeface="Arial" panose="020B0604020202020204" pitchFamily="34" charset="0"/>
              <a:buChar char="•"/>
            </a:pPr>
            <a:r>
              <a:rPr lang="en-US" sz="1000" dirty="0"/>
              <a:t>Windows attempts to ID the filesystem format on USB. If recognized it assigns next available letter to USB. Non-volatile entry to </a:t>
            </a:r>
            <a:r>
              <a:rPr lang="en-US" sz="1000" dirty="0" err="1"/>
              <a:t>MountedDevices</a:t>
            </a:r>
            <a:r>
              <a:rPr lang="en-US" sz="1000" dirty="0"/>
              <a:t>.</a:t>
            </a:r>
          </a:p>
          <a:p>
            <a:pPr marL="685800" lvl="1" indent="-228600">
              <a:buFont typeface="Arial" panose="020B0604020202020204" pitchFamily="34" charset="0"/>
              <a:buChar char="•"/>
            </a:pPr>
            <a:r>
              <a:rPr lang="en-US" sz="1000" dirty="0"/>
              <a:t>Serial No </a:t>
            </a:r>
            <a:r>
              <a:rPr lang="en-US" sz="1000" dirty="0">
                <a:sym typeface="Wingdings" panose="05000000000000000000" pitchFamily="2" charset="2"/>
              </a:rPr>
              <a:t> match mounted drive letter</a:t>
            </a:r>
          </a:p>
          <a:p>
            <a:pPr marL="685800" lvl="1" indent="-228600">
              <a:buFont typeface="Arial" panose="020B0604020202020204" pitchFamily="34" charset="0"/>
              <a:buChar char="•"/>
            </a:pPr>
            <a:r>
              <a:rPr lang="en-US" sz="1000" dirty="0">
                <a:sym typeface="Wingdings" panose="05000000000000000000" pitchFamily="2" charset="2"/>
              </a:rPr>
              <a:t>Will assign same drive letter if previously mounted</a:t>
            </a:r>
          </a:p>
          <a:p>
            <a:pPr marL="685800" lvl="1" indent="-228600">
              <a:buFont typeface="Arial" panose="020B0604020202020204" pitchFamily="34" charset="0"/>
              <a:buChar char="•"/>
            </a:pPr>
            <a:r>
              <a:rPr lang="en-US" sz="1000" dirty="0">
                <a:sym typeface="Wingdings" panose="05000000000000000000" pitchFamily="2" charset="2"/>
              </a:rPr>
              <a:t>If multiple USBs entered letter may represent most recent</a:t>
            </a:r>
            <a:endParaRPr lang="en-US" sz="1000" i="1" dirty="0"/>
          </a:p>
          <a:p>
            <a:pPr marL="228600" indent="-228600">
              <a:buFont typeface="+mj-lt"/>
              <a:buAutoNum type="arabicPeriod"/>
            </a:pPr>
            <a:r>
              <a:rPr lang="en-US" sz="1000" i="1" dirty="0"/>
              <a:t>NTUSER.dat…MountPoints2</a:t>
            </a:r>
          </a:p>
          <a:p>
            <a:pPr marL="685800" lvl="1" indent="-228600">
              <a:buFont typeface="Arial" panose="020B0604020202020204" pitchFamily="34" charset="0"/>
              <a:buChar char="•"/>
            </a:pPr>
            <a:r>
              <a:rPr lang="en-US" sz="1000" dirty="0"/>
              <a:t>Which user was logged in when USB connected</a:t>
            </a:r>
          </a:p>
          <a:p>
            <a:pPr marL="685800" lvl="1" indent="-228600">
              <a:buFont typeface="Arial" panose="020B0604020202020204" pitchFamily="34" charset="0"/>
              <a:buChar char="•"/>
            </a:pPr>
            <a:r>
              <a:rPr lang="en-US" sz="1000" dirty="0"/>
              <a:t>Lists all devices/GUIDs a user connected</a:t>
            </a:r>
          </a:p>
        </p:txBody>
      </p:sp>
      <p:sp>
        <p:nvSpPr>
          <p:cNvPr id="7" name="TextBox 6">
            <a:extLst>
              <a:ext uri="{FF2B5EF4-FFF2-40B4-BE49-F238E27FC236}">
                <a16:creationId xmlns:a16="http://schemas.microsoft.com/office/drawing/2014/main" id="{209D17A4-6FC8-4BF9-8A12-34C70ED36D80}"/>
              </a:ext>
            </a:extLst>
          </p:cNvPr>
          <p:cNvSpPr txBox="1"/>
          <p:nvPr/>
        </p:nvSpPr>
        <p:spPr>
          <a:xfrm>
            <a:off x="8177784" y="42827"/>
            <a:ext cx="3913632" cy="6617196"/>
          </a:xfrm>
          <a:prstGeom prst="rect">
            <a:avLst/>
          </a:prstGeom>
          <a:noFill/>
          <a:ln>
            <a:noFill/>
          </a:ln>
        </p:spPr>
        <p:txBody>
          <a:bodyPr wrap="square">
            <a:spAutoFit/>
          </a:bodyPr>
          <a:lstStyle/>
          <a:p>
            <a:r>
              <a:rPr lang="en-US" sz="1200" b="1" u="sng" dirty="0"/>
              <a:t>User Accounts</a:t>
            </a:r>
            <a:r>
              <a:rPr lang="en-US" sz="1100" dirty="0"/>
              <a:t>	</a:t>
            </a:r>
          </a:p>
          <a:p>
            <a:r>
              <a:rPr lang="en-US" sz="1000" i="1" dirty="0"/>
              <a:t>\SAM\SAM\Domains\Account\Users\0000</a:t>
            </a:r>
            <a:r>
              <a:rPr lang="en-US" sz="1000" b="1" i="1" u="sng" dirty="0"/>
              <a:t>03E8</a:t>
            </a:r>
            <a:r>
              <a:rPr lang="en-US" sz="1000" i="1" dirty="0"/>
              <a:t>\ </a:t>
            </a:r>
            <a:r>
              <a:rPr lang="en-US" sz="1000" dirty="0"/>
              <a:t>- RID 1000</a:t>
            </a:r>
            <a:endParaRPr lang="en-US" sz="1000" i="1" dirty="0"/>
          </a:p>
          <a:p>
            <a:r>
              <a:rPr lang="en-US" sz="1000" b="1" i="1" dirty="0"/>
              <a:t>KEYS: </a:t>
            </a:r>
            <a:r>
              <a:rPr lang="en-US" sz="1000" i="1" dirty="0" err="1"/>
              <a:t>ForcePasswordReset</a:t>
            </a:r>
            <a:r>
              <a:rPr lang="en-US" sz="1000" i="1" dirty="0"/>
              <a:t>, </a:t>
            </a:r>
            <a:r>
              <a:rPr lang="en-US" sz="1000" i="1" dirty="0" err="1"/>
              <a:t>UserPasswordHint</a:t>
            </a:r>
            <a:r>
              <a:rPr lang="en-US" sz="1000" i="1" dirty="0"/>
              <a:t>, </a:t>
            </a:r>
            <a:r>
              <a:rPr lang="en-US" sz="1000" i="1" dirty="0" err="1"/>
              <a:t>InternetUserName</a:t>
            </a:r>
            <a:r>
              <a:rPr lang="en-US" sz="1000" i="1" dirty="0"/>
              <a:t>, </a:t>
            </a:r>
            <a:r>
              <a:rPr lang="en-US" sz="1000" i="1" dirty="0" err="1"/>
              <a:t>InternetProviderGUID</a:t>
            </a:r>
            <a:r>
              <a:rPr lang="en-US" sz="1000" i="1" dirty="0"/>
              <a:t>, </a:t>
            </a:r>
            <a:r>
              <a:rPr lang="en-US" sz="1000" i="1" dirty="0" err="1"/>
              <a:t>GivenName</a:t>
            </a:r>
            <a:r>
              <a:rPr lang="en-US" sz="1000" i="1" dirty="0"/>
              <a:t>, Surname, </a:t>
            </a:r>
            <a:r>
              <a:rPr lang="en-US" sz="1000" i="1" dirty="0" err="1"/>
              <a:t>InternetSID</a:t>
            </a:r>
            <a:r>
              <a:rPr lang="en-US" sz="1000" i="1" dirty="0"/>
              <a:t>, </a:t>
            </a:r>
            <a:r>
              <a:rPr lang="en-US" sz="1000" i="1" dirty="0" err="1"/>
              <a:t>InternetUID</a:t>
            </a:r>
            <a:r>
              <a:rPr lang="en-US" sz="1000" i="1" dirty="0"/>
              <a:t>, </a:t>
            </a:r>
            <a:r>
              <a:rPr lang="en-US" sz="1000" i="1" dirty="0" err="1"/>
              <a:t>ComplexityPolicy</a:t>
            </a:r>
            <a:r>
              <a:rPr lang="en-US" sz="1000" i="1" dirty="0"/>
              <a:t>, </a:t>
            </a:r>
            <a:r>
              <a:rPr lang="en-US" sz="1000" i="1" dirty="0" err="1"/>
              <a:t>ComplexityLastUsed</a:t>
            </a:r>
            <a:r>
              <a:rPr lang="en-US" sz="1000" i="1" dirty="0"/>
              <a:t>, F key, V key</a:t>
            </a:r>
            <a:endParaRPr lang="en-US" sz="1000" dirty="0"/>
          </a:p>
          <a:p>
            <a:r>
              <a:rPr lang="en-US" sz="1000" b="1" i="1" dirty="0"/>
              <a:t>F Key </a:t>
            </a:r>
          </a:p>
          <a:p>
            <a:r>
              <a:rPr lang="en-US" sz="1000" b="1" i="1" dirty="0"/>
              <a:t>Little Endian (LE in DECODE)</a:t>
            </a:r>
          </a:p>
          <a:p>
            <a:r>
              <a:rPr lang="en-US" sz="1000" b="0" i="0" u="none" strike="noStrike" baseline="0" dirty="0"/>
              <a:t>8-15 Date and time of last login 64-bit Windows timestamp</a:t>
            </a:r>
          </a:p>
          <a:p>
            <a:pPr algn="l"/>
            <a:r>
              <a:rPr lang="en-US" sz="1000" b="0" i="0" u="none" strike="noStrike" baseline="0" dirty="0"/>
              <a:t>24-31 Password reset timestamp 64-bit Windows timestamp</a:t>
            </a:r>
          </a:p>
          <a:p>
            <a:pPr algn="l"/>
            <a:r>
              <a:rPr lang="en-US" sz="1000" b="0" i="0" u="none" strike="noStrike" baseline="0" dirty="0"/>
              <a:t>32-39 Account expiration date 64-bit Windows timestamp</a:t>
            </a:r>
          </a:p>
          <a:p>
            <a:pPr algn="l"/>
            <a:r>
              <a:rPr lang="en-US" sz="1000" b="0" i="0" u="none" strike="noStrike" baseline="0" dirty="0"/>
              <a:t>40-47 Last unsuccessful login 64-bit Windows timestamp</a:t>
            </a:r>
          </a:p>
          <a:p>
            <a:pPr algn="l"/>
            <a:r>
              <a:rPr lang="en-US" sz="1000" b="0" i="0" u="none" strike="noStrike" baseline="0" dirty="0"/>
              <a:t>48-51 Relative Identifier (RID) 4-byte Hex value</a:t>
            </a:r>
          </a:p>
          <a:p>
            <a:pPr algn="l"/>
            <a:r>
              <a:rPr lang="en-US" sz="1000" b="0" i="0" u="none" strike="noStrike" baseline="0" dirty="0"/>
              <a:t>56 Account Status/Password 	</a:t>
            </a:r>
          </a:p>
          <a:p>
            <a:pPr lvl="1"/>
            <a:r>
              <a:rPr lang="en-US" sz="1000" b="0" i="0" u="none" strike="noStrike" baseline="0" dirty="0"/>
              <a:t>1-byte Hex value. Left nibble identifies account status (</a:t>
            </a:r>
            <a:r>
              <a:rPr lang="en-US" sz="1000" b="0" i="0" u="none" strike="noStrike" baseline="0" dirty="0" err="1"/>
              <a:t>AccountDisabled</a:t>
            </a:r>
            <a:r>
              <a:rPr lang="en-US" sz="1000" b="0" i="0" u="none" strike="noStrike" baseline="0" dirty="0"/>
              <a:t>)</a:t>
            </a:r>
          </a:p>
          <a:p>
            <a:pPr lvl="1"/>
            <a:r>
              <a:rPr lang="en-US" sz="1000" b="0" i="0" u="none" strike="noStrike" baseline="0" dirty="0"/>
              <a:t>0 = Account Active</a:t>
            </a:r>
          </a:p>
          <a:p>
            <a:pPr lvl="1"/>
            <a:r>
              <a:rPr lang="en-US" sz="1000" b="0" i="0" u="none" strike="noStrike" baseline="0" dirty="0"/>
              <a:t>1 = Account Disabled</a:t>
            </a:r>
          </a:p>
          <a:p>
            <a:pPr lvl="1"/>
            <a:r>
              <a:rPr lang="en-US" sz="1000" b="0" i="0" u="none" strike="noStrike" baseline="0" dirty="0"/>
              <a:t>The right nibble identifies if a password has been set</a:t>
            </a:r>
          </a:p>
          <a:p>
            <a:pPr lvl="1"/>
            <a:r>
              <a:rPr lang="en-US" sz="1000" b="0" i="0" u="none" strike="noStrike" baseline="0" dirty="0"/>
              <a:t>0 = Password required</a:t>
            </a:r>
          </a:p>
          <a:p>
            <a:pPr lvl="1"/>
            <a:r>
              <a:rPr lang="en-US" sz="1000" b="0" i="0" u="none" strike="noStrike" baseline="0" dirty="0"/>
              <a:t>4 = Password not set</a:t>
            </a:r>
          </a:p>
          <a:p>
            <a:pPr lvl="1"/>
            <a:r>
              <a:rPr lang="en-US" sz="1000" b="0" i="0" u="none" strike="noStrike" baseline="0" dirty="0"/>
              <a:t>5 = Account not used yet, such as the Guest account</a:t>
            </a:r>
          </a:p>
          <a:p>
            <a:pPr algn="l"/>
            <a:r>
              <a:rPr lang="en-US" sz="1000" b="0" i="0" u="none" strike="noStrike" baseline="0" dirty="0"/>
              <a:t>60-61 Country code Default = 0000, U.S. = 0001, Canada = 0002</a:t>
            </a:r>
          </a:p>
          <a:p>
            <a:pPr algn="l"/>
            <a:r>
              <a:rPr lang="en-US" sz="1000" b="0" i="0" u="none" strike="noStrike" baseline="0" dirty="0"/>
              <a:t>64-65 Number of invalid logins 2-byte Hex value</a:t>
            </a:r>
          </a:p>
          <a:p>
            <a:pPr algn="l"/>
            <a:r>
              <a:rPr lang="en-US" sz="1000" b="0" i="0" u="none" strike="noStrike" baseline="0" dirty="0"/>
              <a:t>66-67 Number of valid logins 2-byte Hex value</a:t>
            </a:r>
            <a:endParaRPr lang="en-US" sz="1000" b="1" i="1" dirty="0"/>
          </a:p>
          <a:p>
            <a:r>
              <a:rPr lang="en-US" sz="1000" b="1" i="1" dirty="0"/>
              <a:t>V Key</a:t>
            </a:r>
          </a:p>
          <a:p>
            <a:pPr algn="l"/>
            <a:r>
              <a:rPr lang="en-US" sz="1000" b="0" i="0" u="none" strike="noStrike" baseline="0" dirty="0"/>
              <a:t>12-15 Relative offset to windows user account from end of the header</a:t>
            </a:r>
          </a:p>
          <a:p>
            <a:pPr algn="l"/>
            <a:r>
              <a:rPr lang="en-US" sz="1000" b="0" i="0" u="none" strike="noStrike" baseline="0" dirty="0"/>
              <a:t>4-byte Hex value</a:t>
            </a:r>
          </a:p>
          <a:p>
            <a:pPr algn="l"/>
            <a:r>
              <a:rPr lang="en-US" sz="1000" b="0" i="0" u="none" strike="noStrike" baseline="0" dirty="0"/>
              <a:t>16-19 Length of the field 4-byte Hex value</a:t>
            </a:r>
          </a:p>
          <a:p>
            <a:pPr algn="l"/>
            <a:r>
              <a:rPr lang="en-US" sz="1000" b="0" i="0" u="none" strike="noStrike" baseline="0" dirty="0"/>
              <a:t>24-27 Relative offset to full name from end of the header 4-byte Hex</a:t>
            </a:r>
          </a:p>
          <a:p>
            <a:pPr algn="l"/>
            <a:r>
              <a:rPr lang="en-US" sz="1000" b="0" i="0" u="none" strike="noStrike" baseline="0" dirty="0"/>
              <a:t>28-31 Length of the field 4-byte Hex value</a:t>
            </a:r>
          </a:p>
          <a:p>
            <a:pPr algn="l"/>
            <a:r>
              <a:rPr lang="en-US" sz="1000" b="0" i="0" u="none" strike="noStrike" baseline="0" dirty="0"/>
              <a:t>36-39 Relative offset to the description 4-byte Hex value</a:t>
            </a:r>
          </a:p>
          <a:p>
            <a:pPr algn="l"/>
            <a:r>
              <a:rPr lang="en-US" sz="1000" b="0" i="0" u="none" strike="noStrike" baseline="0" dirty="0"/>
              <a:t>40-43 Length of the field 4-byte Hex value</a:t>
            </a:r>
          </a:p>
          <a:p>
            <a:pPr algn="l"/>
            <a:r>
              <a:rPr lang="en-US" sz="1000" b="0" i="0" u="none" strike="noStrike" baseline="0" dirty="0"/>
              <a:t>156-167 Pointer to LM password hash 12-byte Hex value</a:t>
            </a:r>
          </a:p>
          <a:p>
            <a:pPr algn="l"/>
            <a:r>
              <a:rPr lang="en-US" sz="1000" b="0" i="0" u="none" strike="noStrike" baseline="0" dirty="0"/>
              <a:t>166-177 Pointer to NT password hash 12-byte Hex value</a:t>
            </a:r>
            <a:endParaRPr lang="en-US" sz="1000" dirty="0"/>
          </a:p>
          <a:p>
            <a:r>
              <a:rPr lang="en-US" sz="1200" b="1" u="sng" dirty="0" err="1"/>
              <a:t>UserAssist</a:t>
            </a:r>
            <a:r>
              <a:rPr lang="en-US" sz="1100" dirty="0"/>
              <a:t>	</a:t>
            </a:r>
          </a:p>
          <a:p>
            <a:r>
              <a:rPr lang="en-US" sz="1000" i="1" dirty="0"/>
              <a:t>NTUSER.dat &gt; Software\Microsoft\Windows\CurrentVersion\Explorer\ </a:t>
            </a:r>
            <a:r>
              <a:rPr lang="en-US" sz="1000" i="1" dirty="0" err="1"/>
              <a:t>UserAssist</a:t>
            </a:r>
            <a:r>
              <a:rPr lang="en-US" sz="1000" i="1" dirty="0"/>
              <a:t>\GUID\count</a:t>
            </a:r>
          </a:p>
          <a:p>
            <a:pPr marL="228600" indent="-228600">
              <a:buFont typeface="+mj-lt"/>
              <a:buAutoNum type="arabicPeriod"/>
            </a:pPr>
            <a:r>
              <a:rPr lang="en-US" sz="1000" dirty="0"/>
              <a:t>Count subkey: Values track shortcut information and applications launched by User</a:t>
            </a:r>
          </a:p>
          <a:p>
            <a:pPr marL="228600" indent="-228600">
              <a:buFont typeface="+mj-lt"/>
              <a:buAutoNum type="arabicPeriod"/>
            </a:pPr>
            <a:r>
              <a:rPr lang="en-US" sz="1000" dirty="0"/>
              <a:t>Count subkey: Stored obfuscated by ROT13 (Right on Table) Chrome &gt; Puebzr</a:t>
            </a:r>
          </a:p>
          <a:p>
            <a:pPr marL="228600" indent="-228600">
              <a:buFont typeface="+mj-lt"/>
              <a:buAutoNum type="arabicPeriod"/>
            </a:pPr>
            <a:r>
              <a:rPr lang="en-US" sz="1000" dirty="0"/>
              <a:t>Can see the decode in User assist artifacts</a:t>
            </a:r>
            <a:endParaRPr lang="en-US" sz="1100" dirty="0"/>
          </a:p>
        </p:txBody>
      </p:sp>
      <p:sp>
        <p:nvSpPr>
          <p:cNvPr id="9" name="TextBox 8">
            <a:extLst>
              <a:ext uri="{FF2B5EF4-FFF2-40B4-BE49-F238E27FC236}">
                <a16:creationId xmlns:a16="http://schemas.microsoft.com/office/drawing/2014/main" id="{61BE191C-94F8-47A3-9B4C-30ACB9FD8871}"/>
              </a:ext>
            </a:extLst>
          </p:cNvPr>
          <p:cNvSpPr txBox="1"/>
          <p:nvPr/>
        </p:nvSpPr>
        <p:spPr>
          <a:xfrm>
            <a:off x="100584" y="292332"/>
            <a:ext cx="3913632" cy="6340197"/>
          </a:xfrm>
          <a:prstGeom prst="rect">
            <a:avLst/>
          </a:prstGeom>
          <a:noFill/>
          <a:ln>
            <a:noFill/>
          </a:ln>
        </p:spPr>
        <p:txBody>
          <a:bodyPr wrap="square">
            <a:spAutoFit/>
          </a:bodyPr>
          <a:lstStyle/>
          <a:p>
            <a:r>
              <a:rPr lang="en-US" sz="1200" b="1" u="sng" dirty="0"/>
              <a:t>Registry</a:t>
            </a:r>
          </a:p>
          <a:p>
            <a:pPr algn="l"/>
            <a:r>
              <a:rPr lang="en-US" sz="1000" b="0" i="1" u="none" strike="noStrike" baseline="0" dirty="0"/>
              <a:t>\Windows\System32\config\</a:t>
            </a:r>
            <a:r>
              <a:rPr lang="en-US" sz="1000" b="0" i="0" u="none" strike="noStrike" baseline="0" dirty="0"/>
              <a:t> and the </a:t>
            </a:r>
            <a:r>
              <a:rPr lang="en-US" sz="1000" b="0" i="1" u="none" strike="noStrike" baseline="0" dirty="0"/>
              <a:t>\</a:t>
            </a:r>
            <a:r>
              <a:rPr lang="en-US" sz="1000" b="0" i="1" u="none" strike="noStrike" baseline="0" dirty="0" err="1"/>
              <a:t>Windows.Old</a:t>
            </a:r>
            <a:r>
              <a:rPr lang="en-US" sz="1000" b="0" i="1" u="none" strike="noStrike" baseline="0" dirty="0"/>
              <a:t>\ </a:t>
            </a:r>
            <a:r>
              <a:rPr lang="en-US" sz="1000" b="0" i="0" u="none" strike="noStrike" baseline="0" dirty="0"/>
              <a:t>folder</a:t>
            </a:r>
          </a:p>
          <a:p>
            <a:pPr marL="171450" indent="-171450">
              <a:buFont typeface="Arial" panose="020B0604020202020204" pitchFamily="34" charset="0"/>
              <a:buChar char="•"/>
            </a:pPr>
            <a:r>
              <a:rPr lang="en-US" sz="1000" b="1" i="1" u="none" strike="noStrike" baseline="0" dirty="0"/>
              <a:t>Global hives: </a:t>
            </a:r>
            <a:r>
              <a:rPr lang="en-US" sz="1000" b="0" i="1" u="none" strike="noStrike" baseline="0" dirty="0"/>
              <a:t>System</a:t>
            </a:r>
            <a:r>
              <a:rPr lang="en-US" sz="1000" i="1" dirty="0"/>
              <a:t>, </a:t>
            </a:r>
            <a:r>
              <a:rPr lang="en-US" sz="1000" b="0" i="1" u="none" strike="noStrike" baseline="0" dirty="0"/>
              <a:t>SAM</a:t>
            </a:r>
            <a:r>
              <a:rPr lang="en-US" sz="1000" i="1" dirty="0"/>
              <a:t>, </a:t>
            </a:r>
            <a:r>
              <a:rPr lang="en-US" sz="1000" b="0" i="1" u="none" strike="noStrike" baseline="0" dirty="0"/>
              <a:t>Software </a:t>
            </a:r>
            <a:r>
              <a:rPr lang="en-US" sz="1000" i="1" dirty="0"/>
              <a:t>, </a:t>
            </a:r>
            <a:r>
              <a:rPr lang="en-US" sz="1000" b="0" i="1" u="none" strike="noStrike" baseline="0" dirty="0"/>
              <a:t>Security</a:t>
            </a:r>
          </a:p>
          <a:p>
            <a:pPr marL="171450" indent="-171450">
              <a:buFont typeface="Arial" panose="020B0604020202020204" pitchFamily="34" charset="0"/>
              <a:buChar char="•"/>
            </a:pPr>
            <a:r>
              <a:rPr lang="en-US" sz="1000" b="1" i="1" u="none" strike="noStrike" baseline="0" dirty="0"/>
              <a:t>User hives: </a:t>
            </a:r>
            <a:r>
              <a:rPr lang="en-US" sz="1000" b="0" i="1" u="none" strike="noStrike" baseline="0" dirty="0"/>
              <a:t>NTUSER.DAT and UsrClass.dat profile folder</a:t>
            </a:r>
          </a:p>
          <a:p>
            <a:pPr marL="171450" indent="-171450">
              <a:buFont typeface="Arial" panose="020B0604020202020204" pitchFamily="34" charset="0"/>
              <a:buChar char="•"/>
            </a:pPr>
            <a:r>
              <a:rPr lang="en-US" sz="1000" b="0" i="1" u="none" strike="noStrike" baseline="0" dirty="0"/>
              <a:t>restore points, volume shadow copies </a:t>
            </a:r>
          </a:p>
          <a:p>
            <a:pPr marL="171450" indent="-171450">
              <a:buFont typeface="Arial" panose="020B0604020202020204" pitchFamily="34" charset="0"/>
              <a:buChar char="•"/>
            </a:pPr>
            <a:r>
              <a:rPr lang="en-US" sz="1000" dirty="0"/>
              <a:t>A hierarchical database that stores configuration information</a:t>
            </a:r>
          </a:p>
          <a:p>
            <a:pPr marL="171450" indent="-171450">
              <a:buFont typeface="Arial" panose="020B0604020202020204" pitchFamily="34" charset="0"/>
              <a:buChar char="•"/>
            </a:pPr>
            <a:r>
              <a:rPr lang="en-US" sz="1000" b="0" i="0" u="none" strike="noStrike" baseline="0" dirty="0"/>
              <a:t>A registry file composed of 4096-byte sections</a:t>
            </a:r>
          </a:p>
          <a:p>
            <a:pPr marL="171450" indent="-171450">
              <a:buFont typeface="Arial" panose="020B0604020202020204" pitchFamily="34" charset="0"/>
              <a:buChar char="•"/>
            </a:pPr>
            <a:r>
              <a:rPr lang="en-US" sz="1000" dirty="0"/>
              <a:t>First block in every file begins </a:t>
            </a:r>
            <a:r>
              <a:rPr lang="en-US" sz="1000" b="1" dirty="0" err="1"/>
              <a:t>regf</a:t>
            </a:r>
            <a:endParaRPr lang="en-US" sz="1000" b="1" dirty="0"/>
          </a:p>
          <a:p>
            <a:pPr marL="628650" lvl="1" indent="-171450">
              <a:buFont typeface="Arial" panose="020B0604020202020204" pitchFamily="34" charset="0"/>
              <a:buChar char="•"/>
            </a:pPr>
            <a:r>
              <a:rPr lang="en-US" sz="1000" i="0" u="none" strike="noStrike" baseline="0" dirty="0"/>
              <a:t>followed by date/time modified</a:t>
            </a:r>
          </a:p>
          <a:p>
            <a:pPr marL="628650" lvl="1" indent="-171450">
              <a:buFont typeface="Arial" panose="020B0604020202020204" pitchFamily="34" charset="0"/>
              <a:buChar char="•"/>
            </a:pPr>
            <a:r>
              <a:rPr lang="en-US" sz="1000" dirty="0"/>
              <a:t>storage path of file being examined</a:t>
            </a:r>
            <a:endParaRPr lang="en-US" sz="1000" i="0" u="none" strike="noStrike" baseline="0" dirty="0"/>
          </a:p>
          <a:p>
            <a:pPr marL="171450" indent="-171450">
              <a:buFont typeface="Arial" panose="020B0604020202020204" pitchFamily="34" charset="0"/>
              <a:buChar char="•"/>
            </a:pPr>
            <a:r>
              <a:rPr lang="en-US" sz="1000" dirty="0"/>
              <a:t>Each 4096 after </a:t>
            </a:r>
            <a:r>
              <a:rPr lang="en-US" sz="1000" b="1" dirty="0" err="1"/>
              <a:t>regf</a:t>
            </a:r>
            <a:r>
              <a:rPr lang="en-US" sz="1000" dirty="0"/>
              <a:t> block begins with header value </a:t>
            </a:r>
            <a:r>
              <a:rPr lang="en-US" sz="1000" b="1" dirty="0" err="1"/>
              <a:t>hbin</a:t>
            </a:r>
            <a:endParaRPr lang="en-US" sz="1000" b="1" dirty="0"/>
          </a:p>
          <a:p>
            <a:pPr marL="171450" indent="-171450">
              <a:buFont typeface="Arial" panose="020B0604020202020204" pitchFamily="34" charset="0"/>
              <a:buChar char="•"/>
            </a:pPr>
            <a:r>
              <a:rPr lang="en-US" sz="1000" b="1" dirty="0" err="1"/>
              <a:t>hbin</a:t>
            </a:r>
            <a:r>
              <a:rPr lang="en-US" sz="1000" dirty="0"/>
              <a:t> blocks stores keys, subkeys, </a:t>
            </a:r>
            <a:r>
              <a:rPr lang="en-US" sz="1000" dirty="0" err="1"/>
              <a:t>val</a:t>
            </a:r>
            <a:r>
              <a:rPr lang="en-US" sz="1000" dirty="0"/>
              <a:t> for registry file, has allocated/</a:t>
            </a:r>
            <a:r>
              <a:rPr lang="en-US" sz="1000" dirty="0" err="1"/>
              <a:t>unalloc</a:t>
            </a:r>
            <a:r>
              <a:rPr lang="en-US" sz="1000" dirty="0"/>
              <a:t> space (if User deleted, recovery still </a:t>
            </a:r>
            <a:r>
              <a:rPr lang="en-US" sz="1000" dirty="0" err="1"/>
              <a:t>poss</a:t>
            </a:r>
            <a:r>
              <a:rPr lang="en-US" sz="1000" dirty="0"/>
              <a:t>)</a:t>
            </a:r>
          </a:p>
          <a:p>
            <a:r>
              <a:rPr lang="en-US" sz="1200" b="1" u="sng" dirty="0"/>
              <a:t>File system/OS Info</a:t>
            </a:r>
          </a:p>
          <a:p>
            <a:r>
              <a:rPr lang="en-US" sz="1000" i="1" dirty="0"/>
              <a:t>SYSTEM &amp; SOFTWARE registry</a:t>
            </a:r>
          </a:p>
          <a:p>
            <a:pPr marL="171450" indent="-171450">
              <a:buFont typeface="Arial" panose="020B0604020202020204" pitchFamily="34" charset="0"/>
              <a:buChar char="•"/>
            </a:pPr>
            <a:r>
              <a:rPr lang="en-US" sz="1000" dirty="0"/>
              <a:t>If OS “Ultimate”  (not Pro) may have </a:t>
            </a:r>
            <a:r>
              <a:rPr lang="en-US" sz="1000" dirty="0" err="1"/>
              <a:t>Bitlocker</a:t>
            </a:r>
            <a:r>
              <a:rPr lang="en-US" sz="1000" dirty="0"/>
              <a:t> encryption</a:t>
            </a:r>
          </a:p>
          <a:p>
            <a:pPr marL="171450" indent="-171450">
              <a:buFont typeface="Arial" panose="020B0604020202020204" pitchFamily="34" charset="0"/>
              <a:buChar char="•"/>
            </a:pPr>
            <a:r>
              <a:rPr lang="en-US" sz="1000" dirty="0"/>
              <a:t>This artifact parsed from boot record of imaged drive.</a:t>
            </a:r>
          </a:p>
          <a:p>
            <a:pPr marL="171450" indent="-171450">
              <a:buFont typeface="Arial" panose="020B0604020202020204" pitchFamily="34" charset="0"/>
              <a:buChar char="•"/>
            </a:pPr>
            <a:r>
              <a:rPr lang="en-US" sz="1000" dirty="0"/>
              <a:t>Volume Offset (bytes) can determine if artifact from MBR or VBR</a:t>
            </a:r>
          </a:p>
          <a:p>
            <a:pPr marL="171450" indent="-171450">
              <a:buFont typeface="Arial" panose="020B0604020202020204" pitchFamily="34" charset="0"/>
              <a:buChar char="•"/>
            </a:pPr>
            <a:r>
              <a:rPr lang="en-US" sz="1000" dirty="0"/>
              <a:t>Yields info about the examined drive: </a:t>
            </a:r>
          </a:p>
          <a:p>
            <a:pPr marL="628650" lvl="1" indent="-171450">
              <a:buFont typeface="Arial" panose="020B0604020202020204" pitchFamily="34" charset="0"/>
              <a:buChar char="•"/>
            </a:pPr>
            <a:r>
              <a:rPr lang="en-US" sz="1000" dirty="0"/>
              <a:t>geometry</a:t>
            </a:r>
          </a:p>
          <a:p>
            <a:pPr marL="628650" lvl="1" indent="-171450">
              <a:buFont typeface="Arial" panose="020B0604020202020204" pitchFamily="34" charset="0"/>
              <a:buChar char="•"/>
            </a:pPr>
            <a:r>
              <a:rPr lang="en-US" sz="1000" dirty="0"/>
              <a:t>filesystem</a:t>
            </a:r>
          </a:p>
          <a:p>
            <a:pPr marL="628650" lvl="1" indent="-171450">
              <a:buFont typeface="Arial" panose="020B0604020202020204" pitchFamily="34" charset="0"/>
              <a:buChar char="•"/>
            </a:pPr>
            <a:r>
              <a:rPr lang="en-US" sz="1000" dirty="0"/>
              <a:t>VSN (Volume Serial Number)</a:t>
            </a:r>
          </a:p>
          <a:p>
            <a:pPr marL="628650" lvl="1" indent="-171450">
              <a:buFont typeface="Arial" panose="020B0604020202020204" pitchFamily="34" charset="0"/>
              <a:buChar char="•"/>
            </a:pPr>
            <a:r>
              <a:rPr lang="en-US" sz="1000" dirty="0"/>
              <a:t>fixed/removable drive</a:t>
            </a:r>
            <a:endParaRPr lang="en-US" sz="1000" b="0" i="1" u="none" strike="noStrike" baseline="0" dirty="0">
              <a:cs typeface="Calibri" panose="020F0502020204030204" pitchFamily="34" charset="0"/>
            </a:endParaRPr>
          </a:p>
          <a:p>
            <a:r>
              <a:rPr lang="en-US" sz="1000" b="0" i="1" u="none" strike="noStrike" baseline="0" dirty="0">
                <a:cs typeface="Calibri" panose="020F0502020204030204" pitchFamily="34" charset="0"/>
              </a:rPr>
              <a:t>SOFTWARE\Microsoft\Windows NT\CurrentVersion</a:t>
            </a:r>
          </a:p>
          <a:p>
            <a:pPr marL="171450" indent="-171450">
              <a:buFont typeface="Arial" panose="020B0604020202020204" pitchFamily="34" charset="0"/>
              <a:buChar char="•"/>
            </a:pPr>
            <a:r>
              <a:rPr lang="en-US" sz="1000" dirty="0"/>
              <a:t>Version/Build Number</a:t>
            </a:r>
          </a:p>
          <a:p>
            <a:pPr marL="171450" indent="-171450">
              <a:buFont typeface="Arial" panose="020B0604020202020204" pitchFamily="34" charset="0"/>
              <a:buChar char="•"/>
            </a:pPr>
            <a:r>
              <a:rPr lang="en-US" sz="1000" dirty="0"/>
              <a:t>Installation date/time</a:t>
            </a:r>
          </a:p>
          <a:p>
            <a:pPr marL="171450" indent="-171450">
              <a:buFont typeface="Arial" panose="020B0604020202020204" pitchFamily="34" charset="0"/>
              <a:buChar char="•"/>
            </a:pPr>
            <a:r>
              <a:rPr lang="en-US" sz="1000" dirty="0"/>
              <a:t>Digital Product key info</a:t>
            </a:r>
          </a:p>
          <a:p>
            <a:pPr marL="171450" indent="-171450">
              <a:buFont typeface="Arial" panose="020B0604020202020204" pitchFamily="34" charset="0"/>
              <a:buChar char="•"/>
            </a:pPr>
            <a:r>
              <a:rPr lang="en-US" sz="1000" dirty="0"/>
              <a:t>installation path</a:t>
            </a:r>
          </a:p>
          <a:p>
            <a:pPr marL="171450" indent="-171450">
              <a:buFont typeface="Arial" panose="020B0604020202020204" pitchFamily="34" charset="0"/>
              <a:buChar char="•"/>
            </a:pPr>
            <a:r>
              <a:rPr lang="en-US" sz="1000" dirty="0"/>
              <a:t>product name</a:t>
            </a:r>
          </a:p>
          <a:p>
            <a:pPr marL="171450" indent="-171450">
              <a:buFont typeface="Arial" panose="020B0604020202020204" pitchFamily="34" charset="0"/>
              <a:buChar char="•"/>
            </a:pPr>
            <a:r>
              <a:rPr lang="en-US" sz="1000" dirty="0"/>
              <a:t>registration for OS</a:t>
            </a:r>
            <a:endParaRPr lang="en-US" sz="1000" i="1" dirty="0"/>
          </a:p>
          <a:p>
            <a:r>
              <a:rPr lang="en-US" sz="1000" i="1" dirty="0"/>
              <a:t>SYSTEM\ControlSet001\Control\</a:t>
            </a:r>
            <a:r>
              <a:rPr lang="en-US" sz="1000" i="1" dirty="0" err="1"/>
              <a:t>ComputerName</a:t>
            </a:r>
            <a:endParaRPr lang="en-US" sz="1000" i="1" dirty="0"/>
          </a:p>
          <a:p>
            <a:r>
              <a:rPr lang="en-US" sz="1000" i="1" dirty="0"/>
              <a:t>SYSTEM\ControlSet001\Control\Windows</a:t>
            </a:r>
          </a:p>
          <a:p>
            <a:r>
              <a:rPr lang="en-US" sz="1000" dirty="0"/>
              <a:t>Shutdown Value stored as 8-byte Windows date &amp; time in hexadecimal</a:t>
            </a:r>
          </a:p>
          <a:p>
            <a:r>
              <a:rPr lang="en-US" sz="1000" i="1" dirty="0"/>
              <a:t>SYSTEM\ControlSet001\Control\</a:t>
            </a:r>
            <a:r>
              <a:rPr lang="en-US" sz="1000" i="1" dirty="0" err="1"/>
              <a:t>FileSystem</a:t>
            </a:r>
            <a:r>
              <a:rPr lang="en-US" sz="1000" i="1" dirty="0"/>
              <a:t> </a:t>
            </a:r>
            <a:r>
              <a:rPr lang="en-US" sz="1000" i="1" dirty="0" err="1"/>
              <a:t>NtfsDisableLastAccessUpdate</a:t>
            </a:r>
            <a:endParaRPr lang="en-US" sz="1000" dirty="0"/>
          </a:p>
          <a:p>
            <a:r>
              <a:rPr lang="en-US" sz="1200" b="1" u="sng" dirty="0"/>
              <a:t>Recent Docs</a:t>
            </a:r>
          </a:p>
          <a:p>
            <a:r>
              <a:rPr lang="en-US" sz="1000" i="1" dirty="0"/>
              <a:t>NTUSER.DAT\SOFTWARE\Microsoft\Windows\CurrentVersion\Explorer\Recent\</a:t>
            </a:r>
            <a:endParaRPr lang="en-US" sz="1000" dirty="0"/>
          </a:p>
          <a:p>
            <a:pPr lvl="1"/>
            <a:r>
              <a:rPr lang="en-US" sz="1000" dirty="0"/>
              <a:t>.docx 0, 1, 2 (each doc gets own number, higher as added)</a:t>
            </a:r>
          </a:p>
          <a:p>
            <a:r>
              <a:rPr lang="en-US" sz="1000" dirty="0" err="1"/>
              <a:t>MRUListEx</a:t>
            </a:r>
            <a:r>
              <a:rPr lang="en-US" sz="1000" dirty="0"/>
              <a:t> orders those numbers as Most recent (high to low)</a:t>
            </a:r>
            <a:endParaRPr lang="en-US" sz="1200" b="1" u="sng" dirty="0"/>
          </a:p>
        </p:txBody>
      </p:sp>
    </p:spTree>
    <p:extLst>
      <p:ext uri="{BB962C8B-B14F-4D97-AF65-F5344CB8AC3E}">
        <p14:creationId xmlns:p14="http://schemas.microsoft.com/office/powerpoint/2010/main" val="17104918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C8D8F3C-7A01-4EDF-93FB-4A49FA7FED18}"/>
              </a:ext>
            </a:extLst>
          </p:cNvPr>
          <p:cNvSpPr txBox="1"/>
          <p:nvPr/>
        </p:nvSpPr>
        <p:spPr>
          <a:xfrm>
            <a:off x="0" y="0"/>
            <a:ext cx="1548822" cy="369332"/>
          </a:xfrm>
          <a:prstGeom prst="rect">
            <a:avLst/>
          </a:prstGeom>
          <a:noFill/>
        </p:spPr>
        <p:txBody>
          <a:bodyPr wrap="square" rtlCol="0">
            <a:spAutoFit/>
          </a:bodyPr>
          <a:lstStyle/>
          <a:p>
            <a:r>
              <a:rPr lang="en-US" b="1" u="sng" dirty="0"/>
              <a:t>4 Mobile (iOS)</a:t>
            </a:r>
          </a:p>
        </p:txBody>
      </p:sp>
      <p:sp>
        <p:nvSpPr>
          <p:cNvPr id="4" name="TextBox 3">
            <a:extLst>
              <a:ext uri="{FF2B5EF4-FFF2-40B4-BE49-F238E27FC236}">
                <a16:creationId xmlns:a16="http://schemas.microsoft.com/office/drawing/2014/main" id="{2984B343-2704-47CF-A2AF-53C8C07B4172}"/>
              </a:ext>
            </a:extLst>
          </p:cNvPr>
          <p:cNvSpPr txBox="1"/>
          <p:nvPr/>
        </p:nvSpPr>
        <p:spPr>
          <a:xfrm>
            <a:off x="4139184" y="-590"/>
            <a:ext cx="3913632" cy="6863417"/>
          </a:xfrm>
          <a:prstGeom prst="rect">
            <a:avLst/>
          </a:prstGeom>
          <a:noFill/>
          <a:ln>
            <a:noFill/>
          </a:ln>
        </p:spPr>
        <p:txBody>
          <a:bodyPr wrap="square">
            <a:spAutoFit/>
          </a:bodyPr>
          <a:lstStyle/>
          <a:p>
            <a:pPr marL="171450" indent="-171450" algn="l">
              <a:buFont typeface="Arial" panose="020B0604020202020204" pitchFamily="34" charset="0"/>
              <a:buChar char="•"/>
            </a:pPr>
            <a:r>
              <a:rPr lang="en-US" sz="1000" b="0" i="0" u="none" strike="noStrike" baseline="0" dirty="0"/>
              <a:t>A list of all paths </a:t>
            </a:r>
            <a:r>
              <a:rPr lang="en-US" sz="1000" dirty="0"/>
              <a:t>&amp; </a:t>
            </a:r>
            <a:r>
              <a:rPr lang="en-US" sz="1000" b="0" i="0" u="none" strike="noStrike" baseline="0" dirty="0"/>
              <a:t>domains can be found in the </a:t>
            </a:r>
            <a:r>
              <a:rPr lang="en-US" sz="1000" b="0" i="0" u="none" strike="noStrike" baseline="0" dirty="0" err="1"/>
              <a:t>manifest.mbdb</a:t>
            </a:r>
            <a:r>
              <a:rPr lang="en-US" sz="1000" b="0" i="0" u="none" strike="noStrike" baseline="0" dirty="0"/>
              <a:t> file.</a:t>
            </a:r>
          </a:p>
          <a:p>
            <a:pPr marL="171450" indent="-171450" algn="l">
              <a:buFont typeface="Arial" panose="020B0604020202020204" pitchFamily="34" charset="0"/>
              <a:buChar char="•"/>
            </a:pPr>
            <a:r>
              <a:rPr lang="en-US" sz="1000" b="0" i="0" u="none" strike="noStrike" baseline="0" dirty="0"/>
              <a:t>iOS 10, Apple changed from .</a:t>
            </a:r>
            <a:r>
              <a:rPr lang="en-US" sz="1000" b="0" i="0" u="none" strike="noStrike" baseline="0" dirty="0" err="1"/>
              <a:t>mbdb</a:t>
            </a:r>
            <a:r>
              <a:rPr lang="en-US" sz="1000" b="0" i="0" u="none" strike="noStrike" baseline="0" dirty="0"/>
              <a:t> file to SQLite </a:t>
            </a:r>
            <a:r>
              <a:rPr lang="en-US" sz="1000" b="0" i="0" u="none" strike="noStrike" baseline="0" dirty="0" err="1"/>
              <a:t>db</a:t>
            </a:r>
            <a:r>
              <a:rPr lang="en-US" sz="1000" b="0" i="0" u="none" strike="noStrike" baseline="0" dirty="0"/>
              <a:t> </a:t>
            </a:r>
            <a:r>
              <a:rPr lang="en-US" sz="1000" b="0" i="0" u="none" strike="noStrike" baseline="0" dirty="0" err="1"/>
              <a:t>Manifest.db</a:t>
            </a:r>
            <a:r>
              <a:rPr lang="en-US" sz="1000" b="0" i="0" u="none" strike="noStrike" baseline="0" dirty="0"/>
              <a:t>.</a:t>
            </a:r>
          </a:p>
          <a:p>
            <a:pPr marL="171450" indent="-171450" algn="l">
              <a:buFont typeface="Arial" panose="020B0604020202020204" pitchFamily="34" charset="0"/>
              <a:buChar char="•"/>
            </a:pPr>
            <a:r>
              <a:rPr lang="en-US" sz="1000" dirty="0"/>
              <a:t>Three</a:t>
            </a:r>
            <a:r>
              <a:rPr lang="en-US" sz="1000" b="0" i="0" u="none" strike="noStrike" baseline="0" dirty="0"/>
              <a:t> .</a:t>
            </a:r>
            <a:r>
              <a:rPr lang="en-US" sz="1000" b="0" i="0" u="none" strike="noStrike" baseline="0" dirty="0" err="1"/>
              <a:t>plist</a:t>
            </a:r>
            <a:r>
              <a:rPr lang="en-US" sz="1000" b="0" i="0" u="none" strike="noStrike" baseline="0" dirty="0"/>
              <a:t> (property) files on PC where Apple device was backed up. </a:t>
            </a:r>
          </a:p>
          <a:p>
            <a:pPr marL="171450" indent="-171450" algn="l">
              <a:buFont typeface="Arial" panose="020B0604020202020204" pitchFamily="34" charset="0"/>
              <a:buChar char="•"/>
            </a:pPr>
            <a:r>
              <a:rPr lang="en-US" sz="1000" b="0" i="0" u="none" strike="noStrike" baseline="0" dirty="0" err="1"/>
              <a:t>Manifest.plist</a:t>
            </a:r>
            <a:r>
              <a:rPr lang="en-US" sz="1000" b="0" i="0" u="none" strike="noStrike" baseline="0" dirty="0"/>
              <a:t>, </a:t>
            </a:r>
            <a:r>
              <a:rPr lang="en-US" sz="1000" b="0" i="0" u="none" strike="noStrike" baseline="0" dirty="0" err="1"/>
              <a:t>Status.plist</a:t>
            </a:r>
            <a:r>
              <a:rPr lang="en-US" sz="1000" b="0" i="0" u="none" strike="noStrike" baseline="0" dirty="0"/>
              <a:t>, </a:t>
            </a:r>
            <a:r>
              <a:rPr lang="en-US" sz="1000" b="0" i="0" u="none" strike="noStrike" baseline="0" dirty="0" err="1"/>
              <a:t>Info.plist</a:t>
            </a:r>
            <a:r>
              <a:rPr lang="en-US" sz="1000" b="0" i="0" u="none" strike="noStrike" baseline="0" dirty="0"/>
              <a:t> reflect</a:t>
            </a:r>
            <a:r>
              <a:rPr lang="en-US" sz="1000" b="0" i="0" u="none" strike="noStrike" baseline="0" dirty="0">
                <a:cs typeface="Calibri" panose="020F0502020204030204" pitchFamily="34" charset="0"/>
              </a:rPr>
              <a:t> </a:t>
            </a:r>
            <a:r>
              <a:rPr lang="en-US" sz="1000" b="0" i="0" u="none" strike="noStrike" baseline="0" dirty="0"/>
              <a:t>info from device</a:t>
            </a:r>
            <a:r>
              <a:rPr lang="en-US" sz="1000" dirty="0"/>
              <a:t>. </a:t>
            </a:r>
            <a:r>
              <a:rPr lang="en-US" sz="1000" b="0" i="0" u="none" strike="noStrike" baseline="0" dirty="0"/>
              <a:t>These files do not belong on device itself but contain info about device</a:t>
            </a:r>
          </a:p>
          <a:p>
            <a:pPr marL="228600" indent="-228600" algn="l">
              <a:buFont typeface="+mj-lt"/>
              <a:buAutoNum type="arabicPeriod"/>
            </a:pPr>
            <a:r>
              <a:rPr lang="en-US" sz="1000" b="1" i="0" u="none" strike="noStrike" baseline="0" dirty="0" err="1"/>
              <a:t>Info.plist</a:t>
            </a:r>
            <a:r>
              <a:rPr lang="en-US" sz="1000" b="1" i="0" u="none" strike="noStrike" baseline="0" dirty="0"/>
              <a:t> </a:t>
            </a:r>
            <a:r>
              <a:rPr lang="en-US" sz="1000" i="0" u="none" strike="noStrike" baseline="0" dirty="0"/>
              <a:t>is an XML file </a:t>
            </a:r>
            <a:r>
              <a:rPr lang="en-US" sz="1000" b="0" i="0" u="none" strike="noStrike" baseline="0" dirty="0"/>
              <a:t>contains the majority of the info for us:</a:t>
            </a:r>
          </a:p>
          <a:p>
            <a:pPr algn="l"/>
            <a:r>
              <a:rPr lang="en-US" sz="1000" dirty="0"/>
              <a:t>Can click around in </a:t>
            </a:r>
            <a:r>
              <a:rPr lang="en-US" sz="1000" dirty="0" err="1"/>
              <a:t>Info.plist</a:t>
            </a:r>
            <a:r>
              <a:rPr lang="en-US" sz="1000" dirty="0"/>
              <a:t> evidence pane items to reveal more details</a:t>
            </a:r>
            <a:endParaRPr lang="en-US" sz="1000" b="0" i="0" u="none" strike="noStrike" baseline="0" dirty="0"/>
          </a:p>
          <a:p>
            <a:pPr marL="628650" lvl="1" indent="-171450">
              <a:buFont typeface="Arial" panose="020B0604020202020204" pitchFamily="34" charset="0"/>
              <a:buChar char="•"/>
            </a:pPr>
            <a:r>
              <a:rPr lang="en-US" sz="1000" b="0" i="0" u="none" strike="noStrike" baseline="0" dirty="0"/>
              <a:t>Device Name</a:t>
            </a:r>
          </a:p>
          <a:p>
            <a:pPr marL="628650" lvl="1" indent="-171450">
              <a:buFont typeface="Arial" panose="020B0604020202020204" pitchFamily="34" charset="0"/>
              <a:buChar char="•"/>
            </a:pPr>
            <a:r>
              <a:rPr lang="en-US" sz="1000" b="0" i="0" u="none" strike="noStrike" baseline="0" dirty="0"/>
              <a:t>Display Name</a:t>
            </a:r>
          </a:p>
          <a:p>
            <a:pPr marL="628650" lvl="1" indent="-171450">
              <a:buFont typeface="Arial" panose="020B0604020202020204" pitchFamily="34" charset="0"/>
              <a:buChar char="•"/>
            </a:pPr>
            <a:r>
              <a:rPr lang="en-US" sz="1000" b="0" i="0" u="none" strike="noStrike" baseline="0" dirty="0"/>
              <a:t>GUID</a:t>
            </a:r>
          </a:p>
          <a:p>
            <a:pPr marL="628650" lvl="1" indent="-171450">
              <a:buFont typeface="Arial" panose="020B0604020202020204" pitchFamily="34" charset="0"/>
              <a:buChar char="•"/>
            </a:pPr>
            <a:r>
              <a:rPr lang="en-US" sz="1000" b="0" i="0" u="none" strike="noStrike" baseline="0" dirty="0"/>
              <a:t>ICCID</a:t>
            </a:r>
          </a:p>
          <a:p>
            <a:pPr marL="628650" lvl="1" indent="-171450">
              <a:buFont typeface="Arial" panose="020B0604020202020204" pitchFamily="34" charset="0"/>
              <a:buChar char="•"/>
            </a:pPr>
            <a:r>
              <a:rPr lang="en-US" sz="1000" b="0" i="0" u="none" strike="noStrike" baseline="0" dirty="0"/>
              <a:t>IMEI</a:t>
            </a:r>
          </a:p>
          <a:p>
            <a:pPr marL="628650" lvl="1" indent="-171450">
              <a:buFont typeface="Arial" panose="020B0604020202020204" pitchFamily="34" charset="0"/>
              <a:buChar char="•"/>
            </a:pPr>
            <a:r>
              <a:rPr lang="en-US" sz="1000" b="0" i="0" u="none" strike="noStrike" baseline="0" dirty="0"/>
              <a:t>Last Backup Date</a:t>
            </a:r>
          </a:p>
          <a:p>
            <a:pPr marL="628650" lvl="1" indent="-171450">
              <a:buFont typeface="Arial" panose="020B0604020202020204" pitchFamily="34" charset="0"/>
              <a:buChar char="•"/>
            </a:pPr>
            <a:r>
              <a:rPr lang="en-US" sz="1000" b="0" i="0" u="none" strike="noStrike" baseline="0" dirty="0"/>
              <a:t>Phone Number</a:t>
            </a:r>
          </a:p>
          <a:p>
            <a:pPr marL="628650" lvl="1" indent="-171450">
              <a:buFont typeface="Arial" panose="020B0604020202020204" pitchFamily="34" charset="0"/>
              <a:buChar char="•"/>
            </a:pPr>
            <a:r>
              <a:rPr lang="en-US" sz="1000" b="0" i="0" u="none" strike="noStrike" baseline="0" dirty="0"/>
              <a:t>Product Type</a:t>
            </a:r>
          </a:p>
          <a:p>
            <a:pPr marL="628650" lvl="1" indent="-171450">
              <a:buFont typeface="Arial" panose="020B0604020202020204" pitchFamily="34" charset="0"/>
              <a:buChar char="•"/>
            </a:pPr>
            <a:r>
              <a:rPr lang="en-US" sz="1000" b="0" i="0" u="none" strike="noStrike" baseline="0" dirty="0"/>
              <a:t>Product Version (iOS Version)</a:t>
            </a:r>
          </a:p>
          <a:p>
            <a:pPr marL="628650" lvl="1" indent="-171450">
              <a:buFont typeface="Arial" panose="020B0604020202020204" pitchFamily="34" charset="0"/>
              <a:buChar char="•"/>
            </a:pPr>
            <a:r>
              <a:rPr lang="en-US" sz="1000" b="0" i="0" u="none" strike="noStrike" baseline="0" dirty="0"/>
              <a:t>Serial Number</a:t>
            </a:r>
          </a:p>
          <a:p>
            <a:pPr marL="628650" lvl="1" indent="-171450">
              <a:buFont typeface="Arial" panose="020B0604020202020204" pitchFamily="34" charset="0"/>
              <a:buChar char="•"/>
            </a:pPr>
            <a:r>
              <a:rPr lang="en-US" sz="1000" b="0" i="0" u="none" strike="noStrike" baseline="0" dirty="0"/>
              <a:t>UDID</a:t>
            </a:r>
          </a:p>
          <a:p>
            <a:pPr marL="628650" lvl="1" indent="-171450">
              <a:buFont typeface="Arial" panose="020B0604020202020204" pitchFamily="34" charset="0"/>
              <a:buChar char="•"/>
            </a:pPr>
            <a:r>
              <a:rPr lang="en-US" sz="1000" b="0" i="0" u="none" strike="noStrike" baseline="0" dirty="0"/>
              <a:t>iTunes Version</a:t>
            </a:r>
          </a:p>
          <a:p>
            <a:pPr marL="628650" lvl="1" indent="-171450">
              <a:buFont typeface="Arial" panose="020B0604020202020204" pitchFamily="34" charset="0"/>
              <a:buChar char="•"/>
            </a:pPr>
            <a:r>
              <a:rPr lang="en-US" sz="1000" b="0" i="0" u="none" strike="noStrike" baseline="0" dirty="0"/>
              <a:t>List of Installed Applications</a:t>
            </a:r>
          </a:p>
          <a:p>
            <a:pPr marL="628650" lvl="1" indent="-171450">
              <a:buFont typeface="Arial" panose="020B0604020202020204" pitchFamily="34" charset="0"/>
              <a:buChar char="•"/>
            </a:pPr>
            <a:r>
              <a:rPr lang="en-US" sz="1000" b="0" i="0" u="none" strike="noStrike" baseline="0" dirty="0"/>
              <a:t>List of Applications in Library</a:t>
            </a:r>
          </a:p>
          <a:p>
            <a:pPr marL="228600" indent="-228600" algn="l">
              <a:buFont typeface="+mj-lt"/>
              <a:buAutoNum type="arabicPeriod" startAt="2"/>
            </a:pPr>
            <a:r>
              <a:rPr lang="en-US" sz="1000" b="1" i="0" u="none" strike="noStrike" baseline="0" dirty="0" err="1"/>
              <a:t>Manifest.plist</a:t>
            </a:r>
            <a:r>
              <a:rPr lang="en-US" sz="1000" b="1" i="0" u="none" strike="noStrike" baseline="0" dirty="0"/>
              <a:t> </a:t>
            </a:r>
            <a:r>
              <a:rPr lang="en-US" sz="1000" b="0" i="0" u="none" strike="noStrike" baseline="0" dirty="0"/>
              <a:t>is a binary file: </a:t>
            </a:r>
          </a:p>
          <a:p>
            <a:pPr marL="685800" lvl="1" indent="-228600">
              <a:buFont typeface="Arial" panose="020B0604020202020204" pitchFamily="34" charset="0"/>
              <a:buChar char="•"/>
            </a:pPr>
            <a:r>
              <a:rPr lang="en-US" sz="1000" b="0" i="0" u="none" strike="noStrike" baseline="0" dirty="0"/>
              <a:t>whether or not the backup is encrypted</a:t>
            </a:r>
            <a:endParaRPr lang="en-US" sz="1000" dirty="0"/>
          </a:p>
          <a:p>
            <a:pPr marL="685800" lvl="1" indent="-228600">
              <a:buFont typeface="Arial" panose="020B0604020202020204" pitchFamily="34" charset="0"/>
              <a:buChar char="•"/>
            </a:pPr>
            <a:r>
              <a:rPr lang="en-US" sz="1000" b="0" i="0" u="none" strike="noStrike" baseline="0" dirty="0"/>
              <a:t>UDID of the device</a:t>
            </a:r>
          </a:p>
          <a:p>
            <a:pPr marL="685800" lvl="1" indent="-228600">
              <a:buFont typeface="Arial" panose="020B0604020202020204" pitchFamily="34" charset="0"/>
              <a:buChar char="•"/>
            </a:pPr>
            <a:r>
              <a:rPr lang="en-US" sz="1000" b="0" i="0" u="none" strike="noStrike" baseline="0" dirty="0"/>
              <a:t>whether or not a passcode was set on the device</a:t>
            </a:r>
          </a:p>
          <a:p>
            <a:pPr marL="228600" indent="-228600" algn="l">
              <a:buFont typeface="+mj-lt"/>
              <a:buAutoNum type="arabicPeriod" startAt="3"/>
            </a:pPr>
            <a:r>
              <a:rPr lang="en-US" sz="1000" b="1" i="0" u="none" strike="noStrike" baseline="0" dirty="0" err="1"/>
              <a:t>Status.plist</a:t>
            </a:r>
            <a:r>
              <a:rPr lang="en-US" sz="1000" b="1" i="0" u="none" strike="noStrike" baseline="0" dirty="0"/>
              <a:t> </a:t>
            </a:r>
            <a:r>
              <a:rPr lang="en-US" sz="1000" b="0" i="0" u="none" strike="noStrike" baseline="0" dirty="0"/>
              <a:t>file</a:t>
            </a:r>
          </a:p>
          <a:p>
            <a:pPr marL="685800" lvl="1" indent="-228600">
              <a:buFont typeface="Arial" panose="020B0604020202020204" pitchFamily="34" charset="0"/>
              <a:buChar char="•"/>
            </a:pPr>
            <a:r>
              <a:rPr lang="en-US" sz="1000" b="0" i="0" u="none" strike="noStrike" baseline="0" dirty="0"/>
              <a:t>UDID</a:t>
            </a:r>
            <a:endParaRPr lang="en-US" sz="1000" dirty="0"/>
          </a:p>
          <a:p>
            <a:pPr marL="685800" lvl="1" indent="-228600">
              <a:buFont typeface="Arial" panose="020B0604020202020204" pitchFamily="34" charset="0"/>
              <a:buChar char="•"/>
            </a:pPr>
            <a:r>
              <a:rPr lang="en-US" sz="1000" b="0" i="0" u="none" strike="noStrike" baseline="0" dirty="0"/>
              <a:t>the state of the backup</a:t>
            </a:r>
            <a:endParaRPr lang="en-US" sz="1000" dirty="0"/>
          </a:p>
          <a:p>
            <a:pPr marL="685800" lvl="1" indent="-228600">
              <a:buFont typeface="Arial" panose="020B0604020202020204" pitchFamily="34" charset="0"/>
              <a:buChar char="•"/>
            </a:pPr>
            <a:r>
              <a:rPr lang="en-US" sz="1000" b="0" i="0" u="none" strike="noStrike" baseline="0" dirty="0"/>
              <a:t>whether or not it is a full backup.</a:t>
            </a:r>
          </a:p>
          <a:p>
            <a:r>
              <a:rPr lang="en-US" sz="1000" b="1" u="sng" dirty="0"/>
              <a:t>Encrypted backups</a:t>
            </a:r>
          </a:p>
          <a:p>
            <a:pPr marL="171450" indent="-171450">
              <a:buFont typeface="Arial" panose="020B0604020202020204" pitchFamily="34" charset="0"/>
              <a:buChar char="•"/>
            </a:pPr>
            <a:r>
              <a:rPr lang="en-US" sz="1000" i="1" dirty="0"/>
              <a:t>\Backup\s select backup and </a:t>
            </a:r>
            <a:r>
              <a:rPr lang="en-US" sz="1000" dirty="0"/>
              <a:t>SAVE FILE TO case folder</a:t>
            </a:r>
          </a:p>
          <a:p>
            <a:pPr marL="171450" indent="-171450">
              <a:buFont typeface="Arial" panose="020B0604020202020204" pitchFamily="34" charset="0"/>
              <a:buChar char="•"/>
            </a:pPr>
            <a:r>
              <a:rPr lang="en-US" sz="1000" dirty="0"/>
              <a:t>Close Examine, Open Process to add backup/integrate</a:t>
            </a:r>
          </a:p>
          <a:p>
            <a:pPr marL="171450" indent="-171450">
              <a:buFont typeface="Arial" panose="020B0604020202020204" pitchFamily="34" charset="0"/>
              <a:buChar char="•"/>
            </a:pPr>
            <a:r>
              <a:rPr lang="en-US" sz="1000" dirty="0"/>
              <a:t>Browse to current case, SCAN2, GO TO EVIDENCE SOURCES</a:t>
            </a:r>
          </a:p>
          <a:p>
            <a:pPr marL="171450" indent="-171450">
              <a:buFont typeface="Arial" panose="020B0604020202020204" pitchFamily="34" charset="0"/>
              <a:buChar char="•"/>
            </a:pPr>
            <a:r>
              <a:rPr lang="en-US" sz="1000" dirty="0"/>
              <a:t>iOS&gt;LOAD &gt; FILES/FOLDERS &gt; BACKUP &gt; ENTER ENCRYPT PASSWORD</a:t>
            </a:r>
          </a:p>
          <a:p>
            <a:r>
              <a:rPr lang="en-US" sz="1000" b="1" u="sng" dirty="0"/>
              <a:t>Imaging in Axiom</a:t>
            </a:r>
            <a:endParaRPr lang="en-US" sz="1000" dirty="0"/>
          </a:p>
          <a:p>
            <a:pPr marL="171450" indent="-171450">
              <a:buFont typeface="Arial" panose="020B0604020202020204" pitchFamily="34" charset="0"/>
              <a:buChar char="•"/>
            </a:pPr>
            <a:r>
              <a:rPr lang="en-US" sz="1000" dirty="0"/>
              <a:t>Once iOS device connected will be available to AXIOM imaging</a:t>
            </a:r>
          </a:p>
          <a:p>
            <a:pPr marL="171450" indent="-171450">
              <a:buFont typeface="Arial" panose="020B0604020202020204" pitchFamily="34" charset="0"/>
              <a:buChar char="•"/>
            </a:pPr>
            <a:r>
              <a:rPr lang="en-US" sz="1000" b="0" u="none" strike="noStrike" baseline="0" dirty="0"/>
              <a:t>Quick option is only choice unless we have Privileged Access</a:t>
            </a:r>
          </a:p>
          <a:p>
            <a:pPr marL="171450" indent="-171450">
              <a:buFont typeface="Arial" panose="020B0604020202020204" pitchFamily="34" charset="0"/>
              <a:buChar char="•"/>
            </a:pPr>
            <a:r>
              <a:rPr lang="en-US" sz="1000" dirty="0"/>
              <a:t>Accept Trust if prompt appears on iOS device</a:t>
            </a:r>
            <a:endParaRPr lang="en-US" sz="1000" b="0" u="none" strike="noStrike" baseline="0" dirty="0"/>
          </a:p>
          <a:p>
            <a:pPr marL="171450" indent="-171450">
              <a:buFont typeface="Arial" panose="020B0604020202020204" pitchFamily="34" charset="0"/>
              <a:buChar char="•"/>
            </a:pPr>
            <a:r>
              <a:rPr lang="en-US" sz="1000" b="0" u="none" strike="noStrike" baseline="0" dirty="0"/>
              <a:t>Property lockdown pairing </a:t>
            </a:r>
            <a:r>
              <a:rPr lang="en-US" sz="1000" b="0" u="none" strike="noStrike" baseline="0" dirty="0" err="1"/>
              <a:t>plist</a:t>
            </a:r>
            <a:r>
              <a:rPr lang="en-US" sz="1000" b="0" u="none" strike="noStrike" baseline="0" dirty="0"/>
              <a:t> </a:t>
            </a:r>
            <a:r>
              <a:rPr lang="en-US" sz="1000" b="0" i="1" u="none" strike="noStrike" baseline="0" dirty="0"/>
              <a:t>C:\ProgramData\Apple\Lockdown</a:t>
            </a:r>
          </a:p>
          <a:p>
            <a:pPr marL="171450" indent="-171450" algn="l">
              <a:buFont typeface="Arial" panose="020B0604020202020204" pitchFamily="34" charset="0"/>
              <a:buChar char="•"/>
            </a:pPr>
            <a:r>
              <a:rPr lang="en-US" sz="1000" b="0" i="0" u="none" strike="noStrike" baseline="0" dirty="0" err="1"/>
              <a:t>plist</a:t>
            </a:r>
            <a:r>
              <a:rPr lang="en-US" sz="1000" b="0" i="0" u="none" strike="noStrike" baseline="0" dirty="0"/>
              <a:t> from target comp to examiner. May unlock if pairing cert valid</a:t>
            </a:r>
          </a:p>
          <a:p>
            <a:pPr marL="171450" indent="-171450" algn="l">
              <a:buFont typeface="Arial" panose="020B0604020202020204" pitchFamily="34" charset="0"/>
              <a:buChar char="•"/>
            </a:pPr>
            <a:r>
              <a:rPr lang="en-US" sz="1000" dirty="0"/>
              <a:t>Jailbroken devices will reveal all of logical data </a:t>
            </a:r>
            <a:r>
              <a:rPr lang="en-US" sz="1000" dirty="0" err="1"/>
              <a:t>tho</a:t>
            </a:r>
            <a:r>
              <a:rPr lang="en-US" sz="1000" dirty="0"/>
              <a:t> may be encrypted</a:t>
            </a:r>
          </a:p>
          <a:p>
            <a:pPr marL="171450" indent="-171450" algn="l">
              <a:buFont typeface="Arial" panose="020B0604020202020204" pitchFamily="34" charset="0"/>
              <a:buChar char="•"/>
            </a:pPr>
            <a:r>
              <a:rPr lang="en-US" sz="1000" b="0" i="0" u="none" strike="noStrike" baseline="0" dirty="0"/>
              <a:t>Email and other artifacts may also be available.</a:t>
            </a:r>
          </a:p>
          <a:p>
            <a:pPr algn="l"/>
            <a:r>
              <a:rPr lang="en-US" sz="1000" dirty="0"/>
              <a:t>Mobile Artifacts</a:t>
            </a:r>
          </a:p>
          <a:p>
            <a:pPr marL="228600" indent="-228600" algn="l">
              <a:buFont typeface="+mj-lt"/>
              <a:buAutoNum type="arabicPeriod"/>
            </a:pPr>
            <a:r>
              <a:rPr lang="en-US" sz="1000" b="0" i="0" u="none" strike="noStrike" baseline="0" dirty="0"/>
              <a:t>SQLite </a:t>
            </a:r>
            <a:r>
              <a:rPr lang="en-US" sz="1000" b="0" i="0" u="none" strike="noStrike" baseline="0" dirty="0" err="1"/>
              <a:t>db</a:t>
            </a:r>
            <a:r>
              <a:rPr lang="en-US" sz="1000" b="0" i="0" u="none" strike="noStrike" baseline="0" dirty="0"/>
              <a:t> 2. property list (xml or binary </a:t>
            </a:r>
            <a:r>
              <a:rPr lang="en-US" sz="1000" b="0" i="0" u="none" strike="noStrike" baseline="0" dirty="0" err="1"/>
              <a:t>plist</a:t>
            </a:r>
            <a:r>
              <a:rPr lang="en-US" sz="1000" b="0" i="0" u="none" strike="noStrike" baseline="0" dirty="0"/>
              <a:t>) files</a:t>
            </a:r>
          </a:p>
        </p:txBody>
      </p:sp>
      <p:sp>
        <p:nvSpPr>
          <p:cNvPr id="8" name="TextBox 7">
            <a:extLst>
              <a:ext uri="{FF2B5EF4-FFF2-40B4-BE49-F238E27FC236}">
                <a16:creationId xmlns:a16="http://schemas.microsoft.com/office/drawing/2014/main" id="{11505503-DE13-46AA-94D8-693E7CA2D0BA}"/>
              </a:ext>
            </a:extLst>
          </p:cNvPr>
          <p:cNvSpPr txBox="1"/>
          <p:nvPr/>
        </p:nvSpPr>
        <p:spPr>
          <a:xfrm>
            <a:off x="100584" y="330297"/>
            <a:ext cx="3913632" cy="6247864"/>
          </a:xfrm>
          <a:prstGeom prst="rect">
            <a:avLst/>
          </a:prstGeom>
          <a:noFill/>
          <a:ln>
            <a:noFill/>
          </a:ln>
        </p:spPr>
        <p:txBody>
          <a:bodyPr wrap="square">
            <a:spAutoFit/>
          </a:bodyPr>
          <a:lstStyle/>
          <a:p>
            <a:pPr algn="l"/>
            <a:r>
              <a:rPr lang="en-US" sz="1000" b="0" i="0" u="none" strike="noStrike" baseline="0" dirty="0"/>
              <a:t>iOS updates that affect backup facility affects AXIOM</a:t>
            </a:r>
            <a:r>
              <a:rPr lang="en-US" sz="1000" b="0" i="0" u="none" strike="noStrike" baseline="0" dirty="0">
                <a:sym typeface="Wingdings" panose="05000000000000000000" pitchFamily="2" charset="2"/>
              </a:rPr>
              <a:t> artifact collection</a:t>
            </a:r>
            <a:endParaRPr lang="en-US" sz="1000" b="0" i="0" u="none" strike="noStrike" baseline="0" dirty="0"/>
          </a:p>
          <a:p>
            <a:pPr algn="l"/>
            <a:r>
              <a:rPr lang="en-US" sz="1000" b="0" i="0" u="none" strike="noStrike" baseline="0" dirty="0"/>
              <a:t>Apple devices have several identifying values:</a:t>
            </a:r>
          </a:p>
          <a:p>
            <a:pPr marL="171450" indent="-171450" algn="l">
              <a:buFont typeface="Arial" panose="020B0604020202020204" pitchFamily="34" charset="0"/>
              <a:buChar char="•"/>
            </a:pPr>
            <a:r>
              <a:rPr lang="en-US" sz="1000" b="0" i="0" u="none" strike="noStrike" baseline="0" dirty="0"/>
              <a:t>IMEI (international mobile equipment identity)</a:t>
            </a:r>
          </a:p>
          <a:p>
            <a:pPr marL="171450" indent="-171450" algn="l">
              <a:buFont typeface="Arial" panose="020B0604020202020204" pitchFamily="34" charset="0"/>
              <a:buChar char="•"/>
            </a:pPr>
            <a:r>
              <a:rPr lang="en-US" sz="1000" b="0" i="0" u="none" strike="noStrike" baseline="0" dirty="0"/>
              <a:t>MEID (mobile equipment identifier)</a:t>
            </a:r>
          </a:p>
          <a:p>
            <a:pPr marL="171450" indent="-171450" algn="l">
              <a:buFont typeface="Arial" panose="020B0604020202020204" pitchFamily="34" charset="0"/>
              <a:buChar char="•"/>
            </a:pPr>
            <a:r>
              <a:rPr lang="en-US" sz="1000" dirty="0"/>
              <a:t>S</a:t>
            </a:r>
            <a:r>
              <a:rPr lang="en-US" sz="1000" b="0" i="0" u="none" strike="noStrike" baseline="0" dirty="0"/>
              <a:t>erial number assigned by Apple</a:t>
            </a:r>
          </a:p>
          <a:p>
            <a:pPr marL="171450" indent="-171450" algn="l">
              <a:buFont typeface="Arial" panose="020B0604020202020204" pitchFamily="34" charset="0"/>
              <a:buChar char="•"/>
            </a:pPr>
            <a:r>
              <a:rPr lang="en-US" sz="1000" b="0" i="0" u="none" strike="noStrike" baseline="0" dirty="0"/>
              <a:t>Unique Device Identifier or UDID </a:t>
            </a:r>
            <a:r>
              <a:rPr lang="en-US" sz="1000" dirty="0"/>
              <a:t>(</a:t>
            </a:r>
            <a:r>
              <a:rPr lang="en-US" sz="1000" b="0" i="0" u="none" strike="noStrike" baseline="0" dirty="0"/>
              <a:t>uniquely ID each device Apple).</a:t>
            </a:r>
          </a:p>
          <a:p>
            <a:pPr algn="l"/>
            <a:r>
              <a:rPr lang="en-US" sz="1000" b="1" dirty="0"/>
              <a:t>UDID</a:t>
            </a:r>
          </a:p>
          <a:p>
            <a:pPr marL="171450" indent="-171450" algn="l">
              <a:buFont typeface="Arial" panose="020B0604020202020204" pitchFamily="34" charset="0"/>
              <a:buChar char="•"/>
            </a:pPr>
            <a:r>
              <a:rPr lang="en-US" sz="1000" dirty="0"/>
              <a:t>Hashed </a:t>
            </a:r>
            <a:r>
              <a:rPr lang="en-US" sz="1000" b="0" i="0" u="none" strike="noStrike" baseline="0" dirty="0"/>
              <a:t>unique values on device: chip ID, Wi-Fi/Bluetooth MAC</a:t>
            </a:r>
          </a:p>
          <a:p>
            <a:pPr marL="171450" indent="-171450" algn="l">
              <a:buFont typeface="Arial" panose="020B0604020202020204" pitchFamily="34" charset="0"/>
              <a:buChar char="•"/>
            </a:pPr>
            <a:r>
              <a:rPr lang="en-US" sz="1000" b="0" i="0" u="none" strike="noStrike" baseline="0" dirty="0"/>
              <a:t>The UDID is used by Apple to track devices. </a:t>
            </a:r>
          </a:p>
          <a:p>
            <a:pPr marL="171450" indent="-171450" algn="l">
              <a:buFont typeface="Arial" panose="020B0604020202020204" pitchFamily="34" charset="0"/>
              <a:buChar char="•"/>
            </a:pPr>
            <a:r>
              <a:rPr lang="en-US" sz="1000" b="0" i="0" u="none" strike="noStrike" baseline="0" dirty="0"/>
              <a:t>Uniquely identify a backup on PC. iOS plugged: UDID </a:t>
            </a:r>
            <a:r>
              <a:rPr lang="en-US" sz="1000" b="0" i="0" u="none" strike="noStrike" baseline="0" dirty="0">
                <a:sym typeface="Wingdings" panose="05000000000000000000" pitchFamily="2" charset="2"/>
              </a:rPr>
              <a:t> </a:t>
            </a:r>
            <a:r>
              <a:rPr lang="en-US" sz="1000" b="0" i="0" u="none" strike="noStrike" baseline="0" dirty="0"/>
              <a:t>registry</a:t>
            </a:r>
          </a:p>
          <a:p>
            <a:pPr marL="171450" indent="-171450" algn="l">
              <a:buFont typeface="Arial" panose="020B0604020202020204" pitchFamily="34" charset="0"/>
              <a:buChar char="•"/>
            </a:pPr>
            <a:r>
              <a:rPr lang="en-US" sz="1000" b="0" i="0" u="none" strike="noStrike" baseline="0" dirty="0"/>
              <a:t>The UDID is a 40-character alphanumeric value.</a:t>
            </a:r>
          </a:p>
          <a:p>
            <a:pPr marL="171450" indent="-171450" algn="l">
              <a:buFont typeface="Arial" panose="020B0604020202020204" pitchFamily="34" charset="0"/>
              <a:buChar char="•"/>
            </a:pPr>
            <a:r>
              <a:rPr lang="en-US" sz="1000" b="0" i="0" u="none" strike="noStrike" baseline="0" dirty="0"/>
              <a:t>There are two ways to find out a devices UDID:</a:t>
            </a:r>
          </a:p>
          <a:p>
            <a:pPr marL="228600" indent="-228600" algn="l">
              <a:buFont typeface="+mj-lt"/>
              <a:buAutoNum type="arabicPeriod"/>
            </a:pPr>
            <a:r>
              <a:rPr lang="en-US" sz="1000" dirty="0"/>
              <a:t>Unlocked/paired to PC: When iOS device connected iTunes can show UDID: device properties and clicking on Serial No. ==</a:t>
            </a:r>
            <a:r>
              <a:rPr lang="en-US" sz="1000" dirty="0">
                <a:sym typeface="Wingdings" panose="05000000000000000000" pitchFamily="2" charset="2"/>
              </a:rPr>
              <a:t> </a:t>
            </a:r>
            <a:r>
              <a:rPr lang="en-US" sz="1000" dirty="0"/>
              <a:t>UDID</a:t>
            </a:r>
          </a:p>
          <a:p>
            <a:pPr marL="228600" indent="-228600" algn="l">
              <a:buFont typeface="+mj-lt"/>
              <a:buAutoNum type="arabicPeriod"/>
            </a:pPr>
            <a:r>
              <a:rPr lang="en-US" sz="1000" i="0" u="none" strike="noStrike" baseline="0" dirty="0">
                <a:latin typeface="Calibri" panose="020F0502020204030204" pitchFamily="34" charset="0"/>
                <a:cs typeface="Calibri" panose="020F0502020204030204" pitchFamily="34" charset="0"/>
              </a:rPr>
              <a:t>Run </a:t>
            </a:r>
            <a:r>
              <a:rPr lang="en-US" sz="1000" i="0" u="none" strike="noStrike" baseline="0" dirty="0" err="1">
                <a:latin typeface="Calibri" panose="020F0502020204030204" pitchFamily="34" charset="0"/>
                <a:cs typeface="Calibri" panose="020F0502020204030204" pitchFamily="34" charset="0"/>
              </a:rPr>
              <a:t>devmgmt.msc</a:t>
            </a:r>
            <a:r>
              <a:rPr lang="en-US" sz="1000" i="0" u="none" strike="noStrike" baseline="0" dirty="0">
                <a:latin typeface="Calibri" panose="020F0502020204030204" pitchFamily="34" charset="0"/>
                <a:cs typeface="Calibri" panose="020F0502020204030204" pitchFamily="34" charset="0"/>
              </a:rPr>
              <a:t> (with </a:t>
            </a:r>
            <a:r>
              <a:rPr lang="en-US" sz="1000" i="0" u="none" strike="noStrike" baseline="0" dirty="0" err="1">
                <a:latin typeface="Calibri" panose="020F0502020204030204" pitchFamily="34" charset="0"/>
                <a:cs typeface="Calibri" panose="020F0502020204030204" pitchFamily="34" charset="0"/>
              </a:rPr>
              <a:t>iphone</a:t>
            </a:r>
            <a:r>
              <a:rPr lang="en-US" sz="1000" i="0" u="none" strike="noStrike" baseline="0" dirty="0">
                <a:latin typeface="Calibri" panose="020F0502020204030204" pitchFamily="34" charset="0"/>
                <a:cs typeface="Calibri" panose="020F0502020204030204" pitchFamily="34" charset="0"/>
              </a:rPr>
              <a:t> plugged in)</a:t>
            </a:r>
          </a:p>
          <a:p>
            <a:pPr marL="685800" lvl="1" indent="-228600">
              <a:buFont typeface="Arial" panose="020B0604020202020204" pitchFamily="34" charset="0"/>
              <a:buChar char="•"/>
            </a:pPr>
            <a:r>
              <a:rPr lang="en-US" sz="1000" dirty="0">
                <a:latin typeface="Calibri" panose="020F0502020204030204" pitchFamily="34" charset="0"/>
                <a:cs typeface="Calibri" panose="020F0502020204030204" pitchFamily="34" charset="0"/>
              </a:rPr>
              <a:t>Expand USB devices to find Apple</a:t>
            </a:r>
          </a:p>
          <a:p>
            <a:pPr marL="685800" lvl="1" indent="-228600">
              <a:buFont typeface="Arial" panose="020B0604020202020204" pitchFamily="34" charset="0"/>
              <a:buChar char="•"/>
            </a:pPr>
            <a:r>
              <a:rPr lang="en-US" sz="1000" i="0" u="none" strike="noStrike" baseline="0" dirty="0">
                <a:latin typeface="Calibri" panose="020F0502020204030204" pitchFamily="34" charset="0"/>
                <a:cs typeface="Calibri" panose="020F0502020204030204" pitchFamily="34" charset="0"/>
              </a:rPr>
              <a:t>Details &gt; Property submenu &gt; Device Instance Path</a:t>
            </a:r>
          </a:p>
          <a:p>
            <a:pPr marL="685800" lvl="1" indent="-228600">
              <a:buFont typeface="Arial" panose="020B0604020202020204" pitchFamily="34" charset="0"/>
              <a:buChar char="•"/>
            </a:pPr>
            <a:r>
              <a:rPr lang="en-US" sz="1000" dirty="0">
                <a:latin typeface="Calibri" panose="020F0502020204030204" pitchFamily="34" charset="0"/>
                <a:cs typeface="Calibri" panose="020F0502020204030204" pitchFamily="34" charset="0"/>
              </a:rPr>
              <a:t>Value after \ (should be 40 chars)</a:t>
            </a:r>
          </a:p>
          <a:p>
            <a:pPr marL="171450" indent="-171450">
              <a:buFont typeface="Arial" panose="020B0604020202020204" pitchFamily="34" charset="0"/>
              <a:buChar char="•"/>
            </a:pPr>
            <a:r>
              <a:rPr lang="en-US" sz="1000" b="0" i="0" u="none" strike="noStrike" baseline="0" dirty="0"/>
              <a:t>USB Devices VID/PID</a:t>
            </a:r>
            <a:endParaRPr lang="en-US" sz="1000" b="0" i="0" u="none" strike="noStrike" baseline="0" dirty="0">
              <a:solidFill>
                <a:srgbClr val="000000"/>
              </a:solidFill>
            </a:endParaRPr>
          </a:p>
          <a:p>
            <a:pPr marL="171450" indent="-171450" algn="l">
              <a:buFont typeface="Arial" panose="020B0604020202020204" pitchFamily="34" charset="0"/>
              <a:buChar char="•"/>
            </a:pPr>
            <a:r>
              <a:rPr lang="en-US" sz="1000" b="0" i="0" u="none" strike="noStrike" baseline="0" dirty="0">
                <a:solidFill>
                  <a:srgbClr val="000000"/>
                </a:solidFill>
              </a:rPr>
              <a:t>USB Devices Artifact</a:t>
            </a:r>
            <a:r>
              <a:rPr lang="en-US" sz="1000" dirty="0">
                <a:solidFill>
                  <a:srgbClr val="000000"/>
                </a:solidFill>
              </a:rPr>
              <a:t>: </a:t>
            </a:r>
            <a:r>
              <a:rPr lang="en-US" sz="1000" b="0" i="0" u="none" strike="noStrike" baseline="0" dirty="0">
                <a:solidFill>
                  <a:srgbClr val="000000"/>
                </a:solidFill>
              </a:rPr>
              <a:t>Device Class ID: “Filter column”. </a:t>
            </a:r>
            <a:r>
              <a:rPr lang="en-US" sz="1000" b="1" i="0" u="sng" strike="noStrike" baseline="0" dirty="0">
                <a:solidFill>
                  <a:srgbClr val="000000"/>
                </a:solidFill>
              </a:rPr>
              <a:t>Apple</a:t>
            </a:r>
            <a:r>
              <a:rPr lang="en-US" sz="1000" b="0" i="0" u="none" strike="noStrike" baseline="0" dirty="0">
                <a:solidFill>
                  <a:srgbClr val="000000"/>
                </a:solidFill>
              </a:rPr>
              <a:t> or </a:t>
            </a:r>
            <a:r>
              <a:rPr lang="en-US" sz="1000" b="1" u="sng" dirty="0">
                <a:solidFill>
                  <a:srgbClr val="000000"/>
                </a:solidFill>
                <a:cs typeface="Calibri" panose="020F0502020204030204" pitchFamily="34" charset="0"/>
              </a:rPr>
              <a:t>05AC</a:t>
            </a:r>
            <a:r>
              <a:rPr lang="en-US" sz="1000" dirty="0">
                <a:solidFill>
                  <a:srgbClr val="000000"/>
                </a:solidFill>
                <a:cs typeface="Calibri" panose="020F0502020204030204" pitchFamily="34" charset="0"/>
              </a:rPr>
              <a:t> </a:t>
            </a:r>
          </a:p>
          <a:p>
            <a:pPr algn="l"/>
            <a:r>
              <a:rPr lang="en-US" sz="1000" b="1" u="sng" dirty="0"/>
              <a:t>iTunes backup</a:t>
            </a:r>
          </a:p>
          <a:p>
            <a:r>
              <a:rPr lang="en-US" sz="1000" b="0" i="1" u="none" strike="noStrike" baseline="0" dirty="0"/>
              <a:t>C:\Users\&lt;username&gt;\AppData\Roaming\Apple Computer\</a:t>
            </a:r>
            <a:r>
              <a:rPr lang="en-US" sz="1000" b="0" i="1" u="none" strike="noStrike" baseline="0" dirty="0" err="1"/>
              <a:t>MobileSync</a:t>
            </a:r>
            <a:r>
              <a:rPr lang="en-US" sz="1000" b="0" i="1" u="none" strike="noStrike" baseline="0" dirty="0"/>
              <a:t>\Backup\</a:t>
            </a:r>
            <a:endParaRPr lang="en-US" sz="1000" b="1" u="sng" dirty="0"/>
          </a:p>
          <a:p>
            <a:pPr marL="171450" indent="-171450" algn="l">
              <a:buFont typeface="Arial" panose="020B0604020202020204" pitchFamily="34" charset="0"/>
              <a:buChar char="•"/>
            </a:pPr>
            <a:r>
              <a:rPr lang="en-US" sz="1000" b="0" i="0" u="none" strike="noStrike" baseline="0" dirty="0"/>
              <a:t>iOS devices can leave backups behind on PCs</a:t>
            </a:r>
            <a:r>
              <a:rPr lang="en-US" sz="1000" dirty="0"/>
              <a:t> (</a:t>
            </a:r>
            <a:r>
              <a:rPr lang="en-US" sz="1000" b="0" i="0" u="none" strike="noStrike" baseline="0" dirty="0"/>
              <a:t>iTunes backups)</a:t>
            </a:r>
          </a:p>
          <a:p>
            <a:pPr marL="171450" indent="-171450" algn="l">
              <a:buFont typeface="Arial" panose="020B0604020202020204" pitchFamily="34" charset="0"/>
              <a:buChar char="•"/>
            </a:pPr>
            <a:r>
              <a:rPr lang="en-US" sz="1000" b="0" i="0" u="none" strike="noStrike" baseline="0" dirty="0"/>
              <a:t>Essentially a copy of the iOS device frozen at a point and time.</a:t>
            </a:r>
          </a:p>
          <a:p>
            <a:pPr marL="171450" indent="-171450" algn="l">
              <a:buFont typeface="Arial" panose="020B0604020202020204" pitchFamily="34" charset="0"/>
              <a:buChar char="•"/>
            </a:pPr>
            <a:r>
              <a:rPr lang="en-US" sz="1000" dirty="0"/>
              <a:t>Device was plugged in (USB devices) not evidence was backed up.</a:t>
            </a:r>
          </a:p>
          <a:p>
            <a:pPr marL="171450" indent="-171450" algn="l">
              <a:buFont typeface="Arial" panose="020B0604020202020204" pitchFamily="34" charset="0"/>
              <a:buChar char="•"/>
            </a:pPr>
            <a:r>
              <a:rPr lang="en-US" sz="1000" b="0" i="0" u="none" strike="noStrike" baseline="0" dirty="0"/>
              <a:t>Backups stored in the User area of the </a:t>
            </a:r>
            <a:r>
              <a:rPr lang="en-US" sz="1000" b="1" i="0" u="sng" strike="noStrike" baseline="0" dirty="0"/>
              <a:t>file system</a:t>
            </a:r>
            <a:r>
              <a:rPr lang="en-US" sz="1000" b="0" i="0" u="none" strike="noStrike" baseline="0" dirty="0"/>
              <a:t>, </a:t>
            </a:r>
            <a:r>
              <a:rPr lang="en-US" sz="1000" b="0" i="0" u="none" strike="noStrike" baseline="0" dirty="0">
                <a:sym typeface="Wingdings" panose="05000000000000000000" pitchFamily="2" charset="2"/>
              </a:rPr>
              <a:t></a:t>
            </a:r>
            <a:r>
              <a:rPr lang="en-US" sz="1000" b="0" i="0" u="none" strike="noStrike" baseline="0" dirty="0"/>
              <a:t> may be possible to find multiple copies of same device under separate users.</a:t>
            </a:r>
          </a:p>
          <a:p>
            <a:pPr marL="171450" indent="-171450" algn="l">
              <a:buFont typeface="Arial" panose="020B0604020202020204" pitchFamily="34" charset="0"/>
              <a:buChar char="•"/>
            </a:pPr>
            <a:r>
              <a:rPr lang="en-US" sz="1000" b="0" i="1" u="none" strike="noStrike" baseline="0" dirty="0"/>
              <a:t>\Backup\ </a:t>
            </a:r>
            <a:r>
              <a:rPr lang="en-US" sz="1000" b="0" i="0" u="none" strike="noStrike" baseline="0" dirty="0"/>
              <a:t>folder, subfolder folders for each backed-up device/UDID. </a:t>
            </a:r>
          </a:p>
          <a:p>
            <a:pPr marL="171450" indent="-171450" algn="l">
              <a:buFont typeface="Arial" panose="020B0604020202020204" pitchFamily="34" charset="0"/>
              <a:buChar char="•"/>
            </a:pPr>
            <a:r>
              <a:rPr lang="en-US" sz="1000" b="0" i="0" u="none" strike="noStrike" baseline="0" dirty="0"/>
              <a:t>A UDID may be listed multiple times: appended by a 24hr date/time.</a:t>
            </a:r>
          </a:p>
          <a:p>
            <a:pPr marL="171450" indent="-171450" algn="l">
              <a:buFont typeface="Arial" panose="020B0604020202020204" pitchFamily="34" charset="0"/>
              <a:buChar char="•"/>
            </a:pPr>
            <a:r>
              <a:rPr lang="en-US" sz="1000" dirty="0"/>
              <a:t>F</a:t>
            </a:r>
            <a:r>
              <a:rPr lang="en-US" sz="1000" b="0" i="0" u="none" strike="noStrike" baseline="0" dirty="0"/>
              <a:t>iles will have no file extension</a:t>
            </a:r>
            <a:r>
              <a:rPr lang="en-US" sz="1000" dirty="0"/>
              <a:t> &amp; </a:t>
            </a:r>
            <a:r>
              <a:rPr lang="en-US" sz="1000" b="0" i="0" u="none" strike="noStrike" baseline="0" dirty="0"/>
              <a:t>represent a file on the iOS device. </a:t>
            </a:r>
          </a:p>
          <a:p>
            <a:pPr marL="171450" indent="-171450" algn="l">
              <a:buFont typeface="Arial" panose="020B0604020202020204" pitchFamily="34" charset="0"/>
              <a:buChar char="•"/>
            </a:pPr>
            <a:r>
              <a:rPr lang="en-US" sz="1000" b="0" i="0" u="none" strike="noStrike" baseline="0" dirty="0"/>
              <a:t>Filenames reflect a SHA1 value of the path of original device file. </a:t>
            </a:r>
          </a:p>
          <a:p>
            <a:pPr marL="171450" indent="-171450" algn="l">
              <a:buFont typeface="Arial" panose="020B0604020202020204" pitchFamily="34" charset="0"/>
              <a:buChar char="•"/>
            </a:pPr>
            <a:r>
              <a:rPr lang="en-US" sz="1000" b="0" i="0" u="none" strike="noStrike" baseline="0" dirty="0"/>
              <a:t>Apple does not store full path, uses a list of Domains (shortcuts) </a:t>
            </a:r>
            <a:r>
              <a:rPr lang="en-US" sz="1000" b="0" i="0" u="none" strike="noStrike" baseline="0" dirty="0" err="1"/>
              <a:t>eg</a:t>
            </a:r>
            <a:r>
              <a:rPr lang="en-US" sz="1000" b="0" i="0" u="none" strike="noStrike" baseline="0" dirty="0"/>
              <a:t>:</a:t>
            </a:r>
          </a:p>
          <a:p>
            <a:pPr marL="628650" lvl="1" indent="-171450">
              <a:buFont typeface="Arial" panose="020B0604020202020204" pitchFamily="34" charset="0"/>
              <a:buChar char="•"/>
            </a:pPr>
            <a:r>
              <a:rPr lang="en-US" sz="1000" b="0" i="0" u="none" strike="noStrike" baseline="0" dirty="0" err="1"/>
              <a:t>AppDomain-com.some.user.installed.app</a:t>
            </a:r>
            <a:endParaRPr lang="en-US" sz="1000" b="0" i="0" u="none" strike="noStrike" baseline="0" dirty="0"/>
          </a:p>
          <a:p>
            <a:pPr marL="171450" indent="-171450" algn="l">
              <a:buFont typeface="Arial" panose="020B0604020202020204" pitchFamily="34" charset="0"/>
              <a:buChar char="•"/>
            </a:pPr>
            <a:r>
              <a:rPr lang="en-US" sz="1000" b="0" i="0" u="none" strike="noStrike" baseline="0" dirty="0"/>
              <a:t>Apple calculates hash using domain followed by the rest of the path. </a:t>
            </a:r>
          </a:p>
          <a:p>
            <a:pPr marL="171450" indent="-171450" algn="l">
              <a:buFont typeface="Arial" panose="020B0604020202020204" pitchFamily="34" charset="0"/>
              <a:buChar char="•"/>
            </a:pPr>
            <a:r>
              <a:rPr lang="en-US" sz="1000" dirty="0" err="1"/>
              <a:t>eg</a:t>
            </a:r>
            <a:r>
              <a:rPr lang="en-US" sz="1000" dirty="0"/>
              <a:t>,</a:t>
            </a:r>
            <a:r>
              <a:rPr lang="en-US" sz="1000" b="0" i="0" u="none" strike="noStrike" baseline="0" dirty="0"/>
              <a:t> </a:t>
            </a:r>
            <a:r>
              <a:rPr lang="en-US" sz="1000" b="0" i="1" u="none" strike="noStrike" baseline="0" dirty="0"/>
              <a:t>/private/var/mobile/Library/SMS/</a:t>
            </a:r>
            <a:r>
              <a:rPr lang="en-US" sz="1000" b="0" i="1" u="none" strike="noStrike" baseline="0" dirty="0" err="1"/>
              <a:t>sms.db</a:t>
            </a:r>
            <a:r>
              <a:rPr lang="en-US" sz="1000" i="1" dirty="0"/>
              <a:t> </a:t>
            </a:r>
            <a:r>
              <a:rPr lang="en-US" sz="1000" b="0" i="0" u="none" strike="noStrike" baseline="0" dirty="0"/>
              <a:t>is represented in the backup as </a:t>
            </a:r>
            <a:r>
              <a:rPr lang="en-US" sz="1000" b="0" i="1" u="none" strike="noStrike" baseline="0" dirty="0" err="1"/>
              <a:t>HomeDomain</a:t>
            </a:r>
            <a:r>
              <a:rPr lang="en-US" sz="1000" b="0" i="1" u="none" strike="noStrike" baseline="0" dirty="0"/>
              <a:t>-Library/SMS/</a:t>
            </a:r>
            <a:r>
              <a:rPr lang="en-US" sz="1000" b="0" i="1" u="none" strike="noStrike" baseline="0" dirty="0" err="1"/>
              <a:t>sms.db</a:t>
            </a:r>
            <a:r>
              <a:rPr lang="en-US" sz="1000" b="0" i="1" u="none" strike="noStrike" baseline="0" dirty="0"/>
              <a:t> </a:t>
            </a:r>
            <a:r>
              <a:rPr lang="en-US" sz="1000" b="0" i="0" u="none" strike="noStrike" baseline="0" dirty="0"/>
              <a:t>whose hash is </a:t>
            </a:r>
            <a:r>
              <a:rPr lang="en-US" sz="1000" b="1" i="0" u="none" strike="noStrike" baseline="0" dirty="0"/>
              <a:t>3d0d7e5fb2ce288813306e4d4636395e047a3d28.</a:t>
            </a:r>
          </a:p>
          <a:p>
            <a:pPr marL="171450" indent="-171450" algn="l">
              <a:buFont typeface="Arial" panose="020B0604020202020204" pitchFamily="34" charset="0"/>
              <a:buChar char="•"/>
            </a:pPr>
            <a:r>
              <a:rPr lang="en-US" sz="1000" b="0" i="0" u="none" strike="noStrike" baseline="0" dirty="0"/>
              <a:t>This hash reflect the SQLite database containing these messages.</a:t>
            </a:r>
          </a:p>
          <a:p>
            <a:pPr marL="171450" indent="-171450" algn="l">
              <a:buFont typeface="Arial" panose="020B0604020202020204" pitchFamily="34" charset="0"/>
              <a:buChar char="•"/>
            </a:pPr>
            <a:r>
              <a:rPr lang="en-US" sz="1000" dirty="0"/>
              <a:t>It will be a common hash for many devices</a:t>
            </a:r>
            <a:endParaRPr lang="en-US" sz="1000" b="0" i="0" u="none" strike="noStrike" baseline="0" dirty="0"/>
          </a:p>
        </p:txBody>
      </p:sp>
      <p:sp>
        <p:nvSpPr>
          <p:cNvPr id="3" name="TextBox 2">
            <a:extLst>
              <a:ext uri="{FF2B5EF4-FFF2-40B4-BE49-F238E27FC236}">
                <a16:creationId xmlns:a16="http://schemas.microsoft.com/office/drawing/2014/main" id="{5309B99E-648C-4946-943D-DDC34147F1D0}"/>
              </a:ext>
            </a:extLst>
          </p:cNvPr>
          <p:cNvSpPr txBox="1"/>
          <p:nvPr/>
        </p:nvSpPr>
        <p:spPr>
          <a:xfrm>
            <a:off x="8155325" y="-590"/>
            <a:ext cx="3913632" cy="5940088"/>
          </a:xfrm>
          <a:prstGeom prst="rect">
            <a:avLst/>
          </a:prstGeom>
          <a:noFill/>
          <a:ln>
            <a:noFill/>
          </a:ln>
        </p:spPr>
        <p:txBody>
          <a:bodyPr wrap="square">
            <a:spAutoFit/>
          </a:bodyPr>
          <a:lstStyle/>
          <a:p>
            <a:pPr algn="l"/>
            <a:r>
              <a:rPr lang="en-US" sz="1000" b="1" i="0" u="sng" strike="noStrike" baseline="0" dirty="0"/>
              <a:t>Data on iOS</a:t>
            </a:r>
          </a:p>
          <a:p>
            <a:pPr marL="171450" indent="-171450" algn="l">
              <a:buFont typeface="Arial" panose="020B0604020202020204" pitchFamily="34" charset="0"/>
              <a:buChar char="•"/>
            </a:pPr>
            <a:r>
              <a:rPr lang="en-US" sz="1000" b="0" i="0" u="none" strike="noStrike" baseline="0" dirty="0"/>
              <a:t>Majority of data comes from directory </a:t>
            </a:r>
            <a:r>
              <a:rPr lang="en-US" sz="1000" i="0" u="none" strike="noStrike" baseline="0" dirty="0"/>
              <a:t>/private/var/mobile</a:t>
            </a:r>
          </a:p>
          <a:p>
            <a:pPr marL="171450" indent="-171450" algn="l">
              <a:buFont typeface="Arial" panose="020B0604020202020204" pitchFamily="34" charset="0"/>
              <a:buChar char="•"/>
            </a:pPr>
            <a:r>
              <a:rPr lang="en-US" sz="1000" b="0" i="1" u="none" strike="noStrike" baseline="0" dirty="0"/>
              <a:t>/Library</a:t>
            </a:r>
            <a:r>
              <a:rPr lang="en-US" sz="1000" b="0" i="0" u="none" strike="noStrike" baseline="0" dirty="0"/>
              <a:t>/ which holds most of the core user data; </a:t>
            </a:r>
          </a:p>
          <a:p>
            <a:pPr marL="171450" indent="-171450" algn="l">
              <a:buFont typeface="Arial" panose="020B0604020202020204" pitchFamily="34" charset="0"/>
              <a:buChar char="•"/>
            </a:pPr>
            <a:r>
              <a:rPr lang="en-US" sz="1000" b="0" i="1" u="none" strike="noStrike" baseline="0" dirty="0"/>
              <a:t>/Media/ </a:t>
            </a:r>
            <a:r>
              <a:rPr lang="en-US" sz="1000" b="0" i="0" u="none" strike="noStrike" baseline="0" dirty="0"/>
              <a:t>camera roll, pictures, and videos on the device;</a:t>
            </a:r>
          </a:p>
          <a:p>
            <a:pPr marL="171450" indent="-171450" algn="l">
              <a:buFont typeface="Arial" panose="020B0604020202020204" pitchFamily="34" charset="0"/>
              <a:buChar char="•"/>
            </a:pPr>
            <a:r>
              <a:rPr lang="en-US" sz="1000" b="0" i="1" u="none" strike="noStrike" baseline="0" dirty="0"/>
              <a:t>/Containers</a:t>
            </a:r>
            <a:r>
              <a:rPr lang="en-US" sz="1000" b="0" i="0" u="none" strike="noStrike" baseline="0" dirty="0"/>
              <a:t>/ third-party and core application data on the device.</a:t>
            </a:r>
          </a:p>
          <a:p>
            <a:pPr marL="171450" indent="-171450" algn="l">
              <a:buFont typeface="Arial" panose="020B0604020202020204" pitchFamily="34" charset="0"/>
              <a:buChar char="•"/>
            </a:pPr>
            <a:r>
              <a:rPr lang="en-US" sz="1000" b="0" i="0" u="none" strike="noStrike" baseline="0" dirty="0"/>
              <a:t>Both types of property list files will store text data and Base-64 encoded data. They may use the base-64 data to store other property list files, pictures, videos, or just additional text stores. </a:t>
            </a:r>
          </a:p>
          <a:p>
            <a:pPr marL="171450" indent="-171450" algn="l">
              <a:buFont typeface="Arial" panose="020B0604020202020204" pitchFamily="34" charset="0"/>
              <a:buChar char="•"/>
            </a:pPr>
            <a:r>
              <a:rPr lang="en-US" sz="1000" b="0" i="0" u="none" strike="noStrike" baseline="0" dirty="0" err="1"/>
              <a:t>Binary</a:t>
            </a:r>
            <a:r>
              <a:rPr lang="en-US" sz="1000" dirty="0" err="1"/>
              <a:t>&amp;</a:t>
            </a:r>
            <a:r>
              <a:rPr lang="en-US" sz="1000" b="0" i="0" u="none" strike="noStrike" baseline="0" dirty="0" err="1"/>
              <a:t>XML</a:t>
            </a:r>
            <a:r>
              <a:rPr lang="en-US" sz="1000" b="0" i="0" u="none" strike="noStrike" baseline="0" dirty="0"/>
              <a:t> </a:t>
            </a:r>
            <a:r>
              <a:rPr lang="en-US" sz="1000" b="0" i="0" u="none" strike="noStrike" baseline="0" dirty="0" err="1"/>
              <a:t>plist</a:t>
            </a:r>
            <a:r>
              <a:rPr lang="en-US" sz="1000" dirty="0"/>
              <a:t> </a:t>
            </a:r>
            <a:r>
              <a:rPr lang="en-US" sz="1000" b="0" i="0" u="none" strike="noStrike" baseline="0" dirty="0"/>
              <a:t>files: store </a:t>
            </a:r>
            <a:r>
              <a:rPr lang="en-US" sz="1000" b="0" i="0" u="none" strike="noStrike" baseline="0" dirty="0" err="1"/>
              <a:t>user</a:t>
            </a:r>
            <a:r>
              <a:rPr lang="en-US" sz="1000" dirty="0" err="1"/>
              <a:t>&amp;</a:t>
            </a:r>
            <a:r>
              <a:rPr lang="en-US" sz="1000" b="0" i="0" u="none" strike="noStrike" baseline="0" dirty="0" err="1"/>
              <a:t>config</a:t>
            </a:r>
            <a:r>
              <a:rPr lang="en-US" sz="1000" b="0" i="0" u="none" strike="noStrike" baseline="0" dirty="0"/>
              <a:t> info. </a:t>
            </a:r>
            <a:r>
              <a:rPr lang="en-US" sz="1000" b="0" i="0" u="none" strike="noStrike" baseline="0" dirty="0" err="1"/>
              <a:t>eg</a:t>
            </a:r>
            <a:r>
              <a:rPr lang="en-US" sz="1000" b="0" i="0" u="none" strike="noStrike" baseline="0" dirty="0"/>
              <a:t> </a:t>
            </a:r>
            <a:r>
              <a:rPr lang="en-US" sz="1000" b="0" i="0" u="none" strike="noStrike" baseline="0" dirty="0" err="1"/>
              <a:t>prev</a:t>
            </a:r>
            <a:r>
              <a:rPr lang="en-US" sz="1000" b="0" i="0" u="none" strike="noStrike" baseline="0" dirty="0"/>
              <a:t> conn </a:t>
            </a:r>
            <a:r>
              <a:rPr lang="en-US" sz="1000" b="0" i="0" u="none" strike="noStrike" baseline="0" dirty="0" err="1"/>
              <a:t>wifi</a:t>
            </a:r>
            <a:r>
              <a:rPr lang="en-US" sz="1000" b="0" i="0" u="none" strike="noStrike" baseline="0" dirty="0"/>
              <a:t> nets</a:t>
            </a:r>
          </a:p>
          <a:p>
            <a:pPr marL="171450" indent="-171450" algn="l">
              <a:buFont typeface="Arial" panose="020B0604020202020204" pitchFamily="34" charset="0"/>
              <a:buChar char="•"/>
            </a:pPr>
            <a:r>
              <a:rPr lang="en-US" sz="1000" dirty="0"/>
              <a:t>A</a:t>
            </a:r>
            <a:r>
              <a:rPr lang="en-US" sz="1000" b="0" i="0" u="none" strike="noStrike" baseline="0" dirty="0"/>
              <a:t>lso used in 3rd-party app data to store config info for each app (</a:t>
            </a:r>
            <a:r>
              <a:rPr lang="en-US" sz="1000" b="0" i="0" u="none" strike="noStrike" baseline="0" dirty="0" err="1"/>
              <a:t>eg</a:t>
            </a:r>
            <a:r>
              <a:rPr lang="en-US" sz="1000" b="0" i="0" u="none" strike="noStrike" baseline="0" dirty="0"/>
              <a:t> usernames, install date/times, last opened date/times </a:t>
            </a:r>
            <a:r>
              <a:rPr lang="en-US" sz="1000" b="0" i="0" u="none" strike="noStrike" baseline="0" dirty="0" err="1"/>
              <a:t>etc</a:t>
            </a:r>
            <a:r>
              <a:rPr lang="en-US" sz="1000" b="0" i="0" u="none" strike="noStrike" baseline="0" dirty="0"/>
              <a:t>)</a:t>
            </a:r>
          </a:p>
          <a:p>
            <a:pPr marL="171450" indent="-171450" algn="l">
              <a:buFont typeface="Arial" panose="020B0604020202020204" pitchFamily="34" charset="0"/>
              <a:buChar char="•"/>
            </a:pPr>
            <a:r>
              <a:rPr lang="en-US" sz="1000" b="0" i="0" u="none" strike="noStrike" baseline="0" dirty="0"/>
              <a:t>iOS uses </a:t>
            </a:r>
            <a:r>
              <a:rPr lang="en-US" sz="1000" b="0" i="0" u="none" strike="noStrike" baseline="0" dirty="0" err="1"/>
              <a:t>plist</a:t>
            </a:r>
            <a:r>
              <a:rPr lang="en-US" sz="1000" b="0" i="0" u="none" strike="noStrike" baseline="0" dirty="0"/>
              <a:t> files as registry files Contacts, Call Logs, SMS/</a:t>
            </a:r>
            <a:r>
              <a:rPr lang="en-US" sz="1000" b="0" i="0" u="none" strike="noStrike" baseline="0" dirty="0" err="1"/>
              <a:t>iMessages</a:t>
            </a:r>
            <a:endParaRPr lang="en-US" sz="1000" b="0" i="0" u="none" strike="noStrike" baseline="0" dirty="0"/>
          </a:p>
          <a:p>
            <a:pPr marL="171450" indent="-171450" algn="l">
              <a:buFont typeface="Arial" panose="020B0604020202020204" pitchFamily="34" charset="0"/>
              <a:buChar char="•"/>
            </a:pPr>
            <a:r>
              <a:rPr lang="en-US" sz="1000" b="0" i="0" u="none" strike="noStrike" baseline="0" dirty="0"/>
              <a:t>Emails, Web History, and more are stored within SQLite databases.</a:t>
            </a:r>
          </a:p>
          <a:p>
            <a:pPr marL="228600" indent="-228600" algn="l">
              <a:buFont typeface="+mj-lt"/>
              <a:buAutoNum type="arabicPeriod"/>
            </a:pPr>
            <a:r>
              <a:rPr lang="en-US" sz="1000" dirty="0" err="1"/>
              <a:t>plist</a:t>
            </a:r>
            <a:r>
              <a:rPr lang="en-US" sz="1000" dirty="0"/>
              <a:t> xml header/footer:</a:t>
            </a:r>
          </a:p>
          <a:p>
            <a:pPr lvl="1"/>
            <a:r>
              <a:rPr lang="en-US" sz="1000" b="0" i="0" u="none" strike="noStrike" baseline="0" dirty="0">
                <a:latin typeface="Consolas" panose="020B0609020204030204" pitchFamily="49" charset="0"/>
              </a:rPr>
              <a:t>&lt;?xml version=”1.0” encoding=”UTF-8”?&gt;</a:t>
            </a:r>
          </a:p>
          <a:p>
            <a:pPr lvl="1"/>
            <a:r>
              <a:rPr lang="en-US" sz="1000" b="0" i="0" u="none" strike="noStrike" baseline="0" dirty="0">
                <a:latin typeface="Consolas" panose="020B0609020204030204" pitchFamily="49" charset="0"/>
              </a:rPr>
              <a:t>&lt;!DOCTYPE </a:t>
            </a:r>
            <a:r>
              <a:rPr lang="en-US" sz="1000" b="0" i="0" u="none" strike="noStrike" baseline="0" dirty="0" err="1">
                <a:latin typeface="Consolas" panose="020B0609020204030204" pitchFamily="49" charset="0"/>
              </a:rPr>
              <a:t>plist</a:t>
            </a:r>
            <a:r>
              <a:rPr lang="en-US" sz="1000" b="0" i="0" u="none" strike="noStrike" baseline="0" dirty="0">
                <a:latin typeface="Consolas" panose="020B0609020204030204" pitchFamily="49" charset="0"/>
              </a:rPr>
              <a:t> SYSTEM “file://localhost/System/Library/DTDs/ PropertyList.dtd”&gt;</a:t>
            </a:r>
          </a:p>
          <a:p>
            <a:pPr lvl="1"/>
            <a:r>
              <a:rPr lang="en-US" sz="1000" b="0" i="0" u="none" strike="noStrike" baseline="0" dirty="0">
                <a:latin typeface="Consolas" panose="020B0609020204030204" pitchFamily="49" charset="0"/>
              </a:rPr>
              <a:t>&lt;</a:t>
            </a:r>
            <a:r>
              <a:rPr lang="en-US" sz="1000" b="0" i="0" u="none" strike="noStrike" baseline="0" dirty="0" err="1">
                <a:latin typeface="Consolas" panose="020B0609020204030204" pitchFamily="49" charset="0"/>
              </a:rPr>
              <a:t>plist</a:t>
            </a:r>
            <a:r>
              <a:rPr lang="en-US" sz="1000" b="0" i="0" u="none" strike="noStrike" baseline="0" dirty="0">
                <a:latin typeface="Consolas" panose="020B0609020204030204" pitchFamily="49" charset="0"/>
              </a:rPr>
              <a:t> version=”1.0&gt;.</a:t>
            </a:r>
          </a:p>
          <a:p>
            <a:pPr lvl="1"/>
            <a:r>
              <a:rPr lang="en-US" sz="1000" b="0" i="0" u="none" strike="noStrike" baseline="0" dirty="0">
                <a:latin typeface="Consolas" panose="020B0609020204030204" pitchFamily="49" charset="0"/>
              </a:rPr>
              <a:t>&lt;/</a:t>
            </a:r>
            <a:r>
              <a:rPr lang="en-US" sz="1000" b="0" i="0" u="none" strike="noStrike" baseline="0" dirty="0" err="1">
                <a:latin typeface="Consolas" panose="020B0609020204030204" pitchFamily="49" charset="0"/>
              </a:rPr>
              <a:t>plist</a:t>
            </a:r>
            <a:r>
              <a:rPr lang="en-US" sz="1000" b="0" i="0" u="none" strike="noStrike" baseline="0" dirty="0">
                <a:latin typeface="Consolas" panose="020B0609020204030204" pitchFamily="49" charset="0"/>
              </a:rPr>
              <a:t>&gt;</a:t>
            </a:r>
            <a:endParaRPr lang="en-US" sz="1000" dirty="0">
              <a:latin typeface="Arial" panose="020B0604020202020204" pitchFamily="34" charset="0"/>
            </a:endParaRPr>
          </a:p>
          <a:p>
            <a:pPr marL="228600" indent="-228600" algn="l">
              <a:buFont typeface="+mj-lt"/>
              <a:buAutoNum type="arabicPeriod" startAt="2"/>
            </a:pPr>
            <a:r>
              <a:rPr lang="en-US" sz="1000" dirty="0" err="1"/>
              <a:t>plist</a:t>
            </a:r>
            <a:r>
              <a:rPr lang="en-US" sz="1000" dirty="0"/>
              <a:t> binary header “bplist00” (AXIOM has a built in </a:t>
            </a:r>
            <a:r>
              <a:rPr lang="en-US" sz="1000" dirty="0" err="1"/>
              <a:t>plist</a:t>
            </a:r>
            <a:r>
              <a:rPr lang="en-US" sz="1000" dirty="0"/>
              <a:t> viewer)</a:t>
            </a:r>
          </a:p>
          <a:p>
            <a:pPr marL="228600" indent="-228600" algn="l">
              <a:buFont typeface="+mj-lt"/>
              <a:buAutoNum type="arabicPeriod" startAt="2"/>
            </a:pPr>
            <a:r>
              <a:rPr lang="en-US" sz="1000" dirty="0"/>
              <a:t>SQLite3 header “ SQLite format3” in ASCII</a:t>
            </a:r>
          </a:p>
          <a:p>
            <a:pPr marL="171450" indent="-171450" algn="l">
              <a:buFont typeface="Arial" panose="020B0604020202020204" pitchFamily="34" charset="0"/>
              <a:buChar char="•"/>
            </a:pPr>
            <a:r>
              <a:rPr lang="en-US" sz="1000" b="0" i="0" u="none" strike="noStrike" baseline="0" dirty="0"/>
              <a:t>iOS uses SQLite version 3.7 which means they use write-ahead logs</a:t>
            </a:r>
          </a:p>
          <a:p>
            <a:pPr marL="171450" indent="-171450">
              <a:buFont typeface="Arial" panose="020B0604020202020204" pitchFamily="34" charset="0"/>
              <a:buChar char="•"/>
            </a:pPr>
            <a:r>
              <a:rPr lang="en-US" sz="1000" dirty="0"/>
              <a:t>AXIOM parses data from </a:t>
            </a:r>
            <a:r>
              <a:rPr lang="en-US" sz="1000" dirty="0" err="1"/>
              <a:t>plists</a:t>
            </a:r>
            <a:r>
              <a:rPr lang="en-US" sz="1000" dirty="0"/>
              <a:t> adnSQLite3 and puts into artifacts</a:t>
            </a:r>
            <a:endParaRPr lang="en-US" sz="1000" b="0" i="0" u="none" strike="noStrike" baseline="0" dirty="0"/>
          </a:p>
          <a:p>
            <a:pPr algn="l"/>
            <a:endParaRPr lang="en-US" sz="1000" b="1" i="0" u="sng" strike="noStrike" baseline="0" dirty="0"/>
          </a:p>
          <a:p>
            <a:pPr algn="l"/>
            <a:r>
              <a:rPr lang="en-US" sz="1000" b="1" i="0" u="sng" strike="noStrike" baseline="0" dirty="0"/>
              <a:t>More apps</a:t>
            </a:r>
          </a:p>
          <a:p>
            <a:pPr marL="171450" indent="-171450" algn="l">
              <a:buFont typeface="Arial" panose="020B0604020202020204" pitchFamily="34" charset="0"/>
              <a:buChar char="•"/>
            </a:pPr>
            <a:r>
              <a:rPr lang="en-US" sz="1000" b="0" i="0" u="none" strike="noStrike" baseline="0" dirty="0"/>
              <a:t>Dynamic App</a:t>
            </a:r>
            <a:r>
              <a:rPr lang="en-US" sz="1000" dirty="0"/>
              <a:t> </a:t>
            </a:r>
            <a:r>
              <a:rPr lang="en-US" sz="1000" b="0" i="0" u="none" strike="noStrike" baseline="0" dirty="0"/>
              <a:t>Finder will parse through SQLite database tables</a:t>
            </a:r>
          </a:p>
          <a:p>
            <a:pPr marL="171450" indent="-171450" algn="l">
              <a:buFont typeface="Arial" panose="020B0604020202020204" pitchFamily="34" charset="0"/>
              <a:buChar char="•"/>
            </a:pPr>
            <a:r>
              <a:rPr lang="en-US" sz="1000" dirty="0"/>
              <a:t>Increases processing time</a:t>
            </a:r>
          </a:p>
          <a:p>
            <a:pPr marL="171450" indent="-171450" algn="l">
              <a:buFont typeface="Arial" panose="020B0604020202020204" pitchFamily="34" charset="0"/>
              <a:buChar char="•"/>
            </a:pPr>
            <a:r>
              <a:rPr lang="en-US" sz="1000" b="0" i="0" u="none" strike="noStrike" baseline="0" dirty="0"/>
              <a:t>If </a:t>
            </a:r>
            <a:r>
              <a:rPr lang="en-US" sz="1000" dirty="0"/>
              <a:t>SQL</a:t>
            </a:r>
            <a:r>
              <a:rPr lang="en-US" sz="1000" b="0" i="0" u="none" strike="noStrike" baseline="0" dirty="0"/>
              <a:t>ite3 databases found you may be asked to look through tables after processing</a:t>
            </a:r>
          </a:p>
          <a:p>
            <a:pPr marL="171450" indent="-171450" algn="l">
              <a:buFont typeface="Arial" panose="020B0604020202020204" pitchFamily="34" charset="0"/>
              <a:buChar char="•"/>
            </a:pPr>
            <a:r>
              <a:rPr lang="en-US" sz="1000" b="0" i="0" u="none" strike="noStrike" baseline="0" dirty="0"/>
              <a:t>Custom Artifacts</a:t>
            </a:r>
          </a:p>
          <a:p>
            <a:pPr marL="628650" lvl="1" indent="-171450">
              <a:buFont typeface="Arial" panose="020B0604020202020204" pitchFamily="34" charset="0"/>
              <a:buChar char="•"/>
            </a:pPr>
            <a:r>
              <a:rPr lang="en-US" sz="1000" dirty="0"/>
              <a:t>Make yourself</a:t>
            </a:r>
          </a:p>
          <a:p>
            <a:pPr marL="628650" lvl="1" indent="-171450">
              <a:buFont typeface="Arial" panose="020B0604020202020204" pitchFamily="34" charset="0"/>
              <a:buChar char="•"/>
            </a:pPr>
            <a:r>
              <a:rPr lang="en-US" sz="1000" b="0" i="0" u="none" strike="noStrike" baseline="0" dirty="0"/>
              <a:t>Download from Artifact Exchange</a:t>
            </a:r>
          </a:p>
          <a:p>
            <a:pPr marL="1085850" lvl="2" indent="-171450">
              <a:buFont typeface="Arial" panose="020B0604020202020204" pitchFamily="34" charset="0"/>
              <a:buChar char="•"/>
            </a:pPr>
            <a:r>
              <a:rPr lang="en-US" sz="1000" dirty="0"/>
              <a:t>View all</a:t>
            </a:r>
          </a:p>
          <a:p>
            <a:pPr marL="1085850" lvl="2" indent="-171450">
              <a:buFont typeface="Arial" panose="020B0604020202020204" pitchFamily="34" charset="0"/>
              <a:buChar char="•"/>
            </a:pPr>
            <a:r>
              <a:rPr lang="en-US" sz="1000" b="0" i="0" u="none" strike="noStrike" baseline="0" dirty="0"/>
              <a:t>Download all</a:t>
            </a:r>
          </a:p>
          <a:p>
            <a:pPr marL="1085850" lvl="2" indent="-171450">
              <a:buFont typeface="Arial" panose="020B0604020202020204" pitchFamily="34" charset="0"/>
              <a:buChar char="•"/>
            </a:pPr>
            <a:r>
              <a:rPr lang="en-US" sz="1000" dirty="0"/>
              <a:t>Extract</a:t>
            </a:r>
          </a:p>
          <a:p>
            <a:pPr marL="1085850" lvl="2" indent="-171450">
              <a:buFont typeface="Arial" panose="020B0604020202020204" pitchFamily="34" charset="0"/>
              <a:buChar char="•"/>
            </a:pPr>
            <a:r>
              <a:rPr lang="en-US" sz="1000" b="0" i="0" u="none" strike="noStrike" baseline="0" dirty="0"/>
              <a:t>AXIOM &gt; Tools &gt; Manage Custom Artifacts &gt; Add &gt; Select All &gt; OKAY</a:t>
            </a:r>
          </a:p>
        </p:txBody>
      </p:sp>
    </p:spTree>
    <p:extLst>
      <p:ext uri="{BB962C8B-B14F-4D97-AF65-F5344CB8AC3E}">
        <p14:creationId xmlns:p14="http://schemas.microsoft.com/office/powerpoint/2010/main" val="23180063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AD3753D-87A5-4C52-9AE9-A1B8F8EA4AE0}"/>
              </a:ext>
            </a:extLst>
          </p:cNvPr>
          <p:cNvSpPr txBox="1"/>
          <p:nvPr/>
        </p:nvSpPr>
        <p:spPr>
          <a:xfrm>
            <a:off x="129301" y="123109"/>
            <a:ext cx="3913632" cy="6678751"/>
          </a:xfrm>
          <a:prstGeom prst="rect">
            <a:avLst/>
          </a:prstGeom>
          <a:noFill/>
          <a:ln>
            <a:noFill/>
          </a:ln>
        </p:spPr>
        <p:txBody>
          <a:bodyPr wrap="square">
            <a:spAutoFit/>
          </a:bodyPr>
          <a:lstStyle/>
          <a:p>
            <a:pPr algn="l"/>
            <a:r>
              <a:rPr lang="en-US" b="1" i="0" u="sng" strike="noStrike" baseline="0" dirty="0"/>
              <a:t>4. Mobile (Android)</a:t>
            </a:r>
          </a:p>
          <a:p>
            <a:pPr marL="228600" indent="-228600" algn="l">
              <a:buFont typeface="+mj-lt"/>
              <a:buAutoNum type="arabicPeriod"/>
            </a:pPr>
            <a:r>
              <a:rPr lang="en-US" sz="1000" b="0" i="0" u="none" strike="noStrike" baseline="0" dirty="0"/>
              <a:t>A driver needs to be on host to allow communication with device</a:t>
            </a:r>
          </a:p>
          <a:p>
            <a:pPr marL="228600" indent="-228600" algn="l">
              <a:buFont typeface="+mj-lt"/>
              <a:buAutoNum type="arabicPeriod"/>
            </a:pPr>
            <a:r>
              <a:rPr lang="en-US" sz="1000" b="0" i="0" u="none" strike="noStrike" baseline="0" dirty="0"/>
              <a:t>USB debugging needs to be enabled</a:t>
            </a:r>
            <a:endParaRPr lang="en-US" sz="1000" dirty="0"/>
          </a:p>
          <a:p>
            <a:pPr marL="228600" indent="-228600" algn="l">
              <a:buFont typeface="+mj-lt"/>
              <a:buAutoNum type="arabicPeriod"/>
            </a:pPr>
            <a:r>
              <a:rPr lang="en-US" sz="1000" b="0" i="0" u="none" strike="noStrike" baseline="0" dirty="0"/>
              <a:t>root level authority may also be required</a:t>
            </a:r>
          </a:p>
          <a:p>
            <a:pPr algn="l"/>
            <a:r>
              <a:rPr lang="en-US" sz="1000" b="0" i="0" u="none" strike="noStrike" baseline="0" dirty="0"/>
              <a:t>Many drivers, but Android Debug Bridge (ADB) driver most important:</a:t>
            </a:r>
          </a:p>
          <a:p>
            <a:pPr algn="l"/>
            <a:r>
              <a:rPr lang="en-US" sz="1000" dirty="0"/>
              <a:t>ADB has 3 parts, client &amp; server (both on host), daemon (on device)</a:t>
            </a:r>
            <a:endParaRPr lang="en-US" sz="1000" b="0" i="0" u="none" strike="noStrike" baseline="0" dirty="0"/>
          </a:p>
          <a:p>
            <a:pPr marL="228600" indent="-228600" algn="l">
              <a:buFont typeface="+mj-lt"/>
              <a:buAutoNum type="arabicPeriod"/>
            </a:pPr>
            <a:r>
              <a:rPr lang="en-US" sz="1000" dirty="0"/>
              <a:t>Place device in USB debugging mode</a:t>
            </a:r>
          </a:p>
          <a:p>
            <a:pPr marL="228600" indent="-228600" algn="l">
              <a:buFont typeface="+mj-lt"/>
              <a:buAutoNum type="arabicPeriod"/>
            </a:pPr>
            <a:r>
              <a:rPr lang="en-US" sz="1000" b="0" i="0" u="none" strike="noStrike" baseline="0" dirty="0"/>
              <a:t>Install ADB debug driver (from manufacturer or third-party)</a:t>
            </a:r>
          </a:p>
          <a:p>
            <a:pPr algn="l"/>
            <a:r>
              <a:rPr lang="en-US" sz="1000" b="0" i="1" u="none" strike="noStrike" baseline="0" dirty="0">
                <a:latin typeface="Calibri" panose="020F0502020204030204" pitchFamily="34" charset="0"/>
                <a:cs typeface="Calibri" panose="020F0502020204030204" pitchFamily="34" charset="0"/>
              </a:rPr>
              <a:t>C:\Program Files\Magnet Forensics\Magnet AXIOM\AXIOM Process\Local ADB Driver\</a:t>
            </a:r>
          </a:p>
          <a:p>
            <a:pPr algn="l"/>
            <a:r>
              <a:rPr lang="en-US" sz="1000" b="0" i="0" u="none" strike="noStrike" baseline="0" dirty="0"/>
              <a:t>Magnet AXIOM has also included a version of the ADB setup to</a:t>
            </a:r>
          </a:p>
          <a:p>
            <a:pPr algn="l"/>
            <a:r>
              <a:rPr lang="en-US" sz="1000" b="0" i="0" u="none" strike="noStrike" baseline="0" dirty="0"/>
              <a:t>allow it to communicate with plugged in devices. This is found under:</a:t>
            </a:r>
          </a:p>
          <a:p>
            <a:pPr algn="l"/>
            <a:r>
              <a:rPr lang="fr-FR" sz="1000" b="0" i="1" u="none" strike="noStrike" baseline="0" dirty="0"/>
              <a:t>C:\Program Files (x86)\Magnet </a:t>
            </a:r>
            <a:r>
              <a:rPr lang="fr-FR" sz="1000" b="0" i="1" u="none" strike="noStrike" baseline="0" dirty="0" err="1"/>
              <a:t>Acquire</a:t>
            </a:r>
            <a:r>
              <a:rPr lang="fr-FR" sz="1000" b="0" i="1" u="none" strike="noStrike" baseline="0" dirty="0"/>
              <a:t>\ADB\ </a:t>
            </a:r>
            <a:endParaRPr lang="fr-FR" sz="1000" i="1" dirty="0"/>
          </a:p>
          <a:p>
            <a:pPr algn="l"/>
            <a:r>
              <a:rPr lang="fr-FR" sz="1000" dirty="0" err="1"/>
              <a:t>From</a:t>
            </a:r>
            <a:r>
              <a:rPr lang="fr-FR" sz="1000" dirty="0"/>
              <a:t> </a:t>
            </a:r>
            <a:r>
              <a:rPr lang="fr-FR" sz="1000" dirty="0" err="1"/>
              <a:t>this</a:t>
            </a:r>
            <a:r>
              <a:rPr lang="fr-FR" sz="1000" dirty="0"/>
              <a:t> directory: </a:t>
            </a:r>
            <a:r>
              <a:rPr lang="fr-FR" sz="1000" b="1" i="0" u="none" strike="noStrike" baseline="0" dirty="0"/>
              <a:t>cmd: ADB help</a:t>
            </a:r>
          </a:p>
          <a:p>
            <a:pPr algn="l"/>
            <a:r>
              <a:rPr lang="en-US" sz="1000" b="1" i="0" u="none" strike="noStrike" baseline="0" dirty="0" err="1"/>
              <a:t>adb</a:t>
            </a:r>
            <a:r>
              <a:rPr lang="en-US" sz="1000" b="1" i="0" u="none" strike="noStrike" baseline="0" dirty="0"/>
              <a:t> devices </a:t>
            </a:r>
            <a:r>
              <a:rPr lang="en-US" sz="1000" dirty="0"/>
              <a:t>Q</a:t>
            </a:r>
            <a:r>
              <a:rPr lang="en-US" sz="1000" b="0" i="0" u="none" strike="noStrike" baseline="0" dirty="0"/>
              <a:t>ueries device to make sure it is connected. Will return the Android ID for any connected device as well as a status for the device</a:t>
            </a:r>
          </a:p>
          <a:p>
            <a:pPr algn="l"/>
            <a:r>
              <a:rPr lang="en-US" sz="1000" b="1" i="0" u="none" strike="noStrike" baseline="0" dirty="0" err="1"/>
              <a:t>adb</a:t>
            </a:r>
            <a:r>
              <a:rPr lang="en-US" sz="1000" b="1" i="0" u="none" strike="noStrike" baseline="0" dirty="0"/>
              <a:t> shell:</a:t>
            </a:r>
            <a:r>
              <a:rPr lang="en-US" sz="1000" b="0" i="0" u="none" strike="noStrike" baseline="0" dirty="0"/>
              <a:t> Linux shell into device: used to check root level permission or if the device using a superuser app to manage root permissions</a:t>
            </a:r>
          </a:p>
          <a:p>
            <a:pPr algn="l"/>
            <a:r>
              <a:rPr lang="en-US" sz="1000" b="1" i="0" u="none" strike="noStrike" baseline="0" dirty="0" err="1"/>
              <a:t>adb</a:t>
            </a:r>
            <a:r>
              <a:rPr lang="en-US" sz="1000" b="1" i="0" u="none" strike="noStrike" baseline="0" dirty="0"/>
              <a:t> install [path to </a:t>
            </a:r>
            <a:r>
              <a:rPr lang="en-US" sz="1000" b="1" i="0" u="none" strike="noStrike" baseline="0" dirty="0" err="1"/>
              <a:t>apk</a:t>
            </a:r>
            <a:r>
              <a:rPr lang="en-US" sz="1000" b="1" i="0" u="none" strike="noStrike" baseline="0" dirty="0"/>
              <a:t>] </a:t>
            </a:r>
            <a:r>
              <a:rPr lang="en-US" sz="1000" b="0" i="0" u="none" strike="noStrike" baseline="0" dirty="0"/>
              <a:t>installs an app by pointing to an .</a:t>
            </a:r>
            <a:r>
              <a:rPr lang="en-US" sz="1000" b="0" i="0" u="none" strike="noStrike" baseline="0" dirty="0" err="1"/>
              <a:t>apk</a:t>
            </a:r>
            <a:r>
              <a:rPr lang="en-US" sz="1000" b="0" i="0" u="none" strike="noStrike" baseline="0" dirty="0"/>
              <a:t> on system</a:t>
            </a:r>
          </a:p>
          <a:p>
            <a:pPr algn="l"/>
            <a:r>
              <a:rPr lang="en-US" sz="1000" b="1" i="0" u="none" strike="noStrike" baseline="0" dirty="0" err="1"/>
              <a:t>adb</a:t>
            </a:r>
            <a:r>
              <a:rPr lang="en-US" sz="1000" b="1" i="0" u="none" strike="noStrike" baseline="0" dirty="0"/>
              <a:t> pull [path on device] [path on local machine] </a:t>
            </a:r>
            <a:r>
              <a:rPr lang="en-US" sz="1000" b="0" i="0" u="none" strike="noStrike" baseline="0" dirty="0"/>
              <a:t>This will pull files from the android device. (File system permission dependent)</a:t>
            </a:r>
          </a:p>
          <a:p>
            <a:pPr algn="l"/>
            <a:r>
              <a:rPr lang="en-US" sz="1000" b="1" i="0" u="none" strike="noStrike" baseline="0" dirty="0" err="1"/>
              <a:t>adb</a:t>
            </a:r>
            <a:r>
              <a:rPr lang="en-US" sz="1000" b="1" i="0" u="none" strike="noStrike" baseline="0" dirty="0"/>
              <a:t> push [path on local machine] [path on device] </a:t>
            </a:r>
            <a:r>
              <a:rPr lang="en-US" sz="1000" b="0" i="0" u="none" strike="noStrike" baseline="0" dirty="0"/>
              <a:t>This will push files to the android device. (File system permission dependent)</a:t>
            </a:r>
            <a:endParaRPr lang="fr-FR" sz="1000" b="0" i="0" u="none" strike="noStrike" baseline="0" dirty="0"/>
          </a:p>
          <a:p>
            <a:pPr marL="171450" indent="-171450" algn="l">
              <a:buFont typeface="Arial" panose="020B0604020202020204" pitchFamily="34" charset="0"/>
              <a:buChar char="•"/>
            </a:pPr>
            <a:r>
              <a:rPr lang="fr-FR" sz="1000" dirty="0">
                <a:cs typeface="Calibri" panose="020F0502020204030204" pitchFamily="34" charset="0"/>
              </a:rPr>
              <a:t>For ADB </a:t>
            </a:r>
            <a:r>
              <a:rPr lang="fr-FR" sz="1000" dirty="0" err="1">
                <a:cs typeface="Calibri" panose="020F0502020204030204" pitchFamily="34" charset="0"/>
              </a:rPr>
              <a:t>protocol</a:t>
            </a:r>
            <a:r>
              <a:rPr lang="fr-FR" sz="1000" dirty="0">
                <a:cs typeface="Calibri" panose="020F0502020204030204" pitchFamily="34" charset="0"/>
              </a:rPr>
              <a:t> to </a:t>
            </a:r>
            <a:r>
              <a:rPr lang="fr-FR" sz="1000" dirty="0" err="1">
                <a:cs typeface="Calibri" panose="020F0502020204030204" pitchFamily="34" charset="0"/>
              </a:rPr>
              <a:t>work</a:t>
            </a:r>
            <a:r>
              <a:rPr lang="fr-FR" sz="1000" dirty="0">
                <a:cs typeface="Calibri" panose="020F0502020204030204" pitchFamily="34" charset="0"/>
              </a:rPr>
              <a:t>, </a:t>
            </a:r>
            <a:r>
              <a:rPr lang="fr-FR" sz="1000" dirty="0" err="1">
                <a:cs typeface="Calibri" panose="020F0502020204030204" pitchFamily="34" charset="0"/>
              </a:rPr>
              <a:t>developer</a:t>
            </a:r>
            <a:r>
              <a:rPr lang="fr-FR" sz="1000" dirty="0">
                <a:cs typeface="Calibri" panose="020F0502020204030204" pitchFamily="34" charset="0"/>
              </a:rPr>
              <a:t> options must </a:t>
            </a:r>
            <a:r>
              <a:rPr lang="fr-FR" sz="1000" dirty="0" err="1">
                <a:cs typeface="Calibri" panose="020F0502020204030204" pitchFamily="34" charset="0"/>
              </a:rPr>
              <a:t>be</a:t>
            </a:r>
            <a:r>
              <a:rPr lang="fr-FR" sz="1000" dirty="0">
                <a:cs typeface="Calibri" panose="020F0502020204030204" pitchFamily="34" charset="0"/>
              </a:rPr>
              <a:t> </a:t>
            </a:r>
            <a:r>
              <a:rPr lang="fr-FR" sz="1000" dirty="0" err="1">
                <a:cs typeface="Calibri" panose="020F0502020204030204" pitchFamily="34" charset="0"/>
              </a:rPr>
              <a:t>enabled</a:t>
            </a:r>
            <a:r>
              <a:rPr lang="fr-FR" sz="1000" dirty="0">
                <a:cs typeface="Calibri" panose="020F0502020204030204" pitchFamily="34" charset="0"/>
              </a:rPr>
              <a:t> </a:t>
            </a:r>
          </a:p>
          <a:p>
            <a:pPr marL="171450" indent="-171450" algn="l">
              <a:buFont typeface="Arial" panose="020B0604020202020204" pitchFamily="34" charset="0"/>
              <a:buChar char="•"/>
            </a:pPr>
            <a:r>
              <a:rPr lang="en-US" sz="1000" b="0" i="0" u="none" strike="noStrike" baseline="0" dirty="0"/>
              <a:t>By default, USB Debugging is turned off</a:t>
            </a:r>
          </a:p>
          <a:p>
            <a:pPr marL="171450" indent="-171450" algn="l">
              <a:buFont typeface="Arial" panose="020B0604020202020204" pitchFamily="34" charset="0"/>
              <a:buChar char="•"/>
            </a:pPr>
            <a:r>
              <a:rPr lang="en-US" sz="1000" b="0" i="0" u="none" strike="noStrike" baseline="0" dirty="0"/>
              <a:t>USB debugging option cannot be turned on unless device is unlocked</a:t>
            </a:r>
          </a:p>
          <a:p>
            <a:pPr marL="171450" indent="-171450" algn="l">
              <a:buFont typeface="Arial" panose="020B0604020202020204" pitchFamily="34" charset="0"/>
              <a:buChar char="•"/>
            </a:pPr>
            <a:r>
              <a:rPr lang="en-US" sz="1000" b="0" i="0" u="none" strike="noStrike" baseline="0" dirty="0"/>
              <a:t>Without debugging option ADB communication can’t be enabled</a:t>
            </a:r>
          </a:p>
          <a:p>
            <a:pPr marL="171450" indent="-171450" algn="l">
              <a:buFont typeface="Arial" panose="020B0604020202020204" pitchFamily="34" charset="0"/>
              <a:buChar char="•"/>
            </a:pPr>
            <a:r>
              <a:rPr lang="en-US" sz="1000" dirty="0">
                <a:cs typeface="Calibri" panose="020F0502020204030204" pitchFamily="34" charset="0"/>
              </a:rPr>
              <a:t>First responders: Stay Awake screen option turned on…</a:t>
            </a:r>
            <a:endParaRPr lang="en-US" sz="1000" b="0" i="0" u="none" strike="noStrike" baseline="0" dirty="0">
              <a:latin typeface="Calibri" panose="020F0502020204030204" pitchFamily="34" charset="0"/>
              <a:cs typeface="Calibri" panose="020F0502020204030204" pitchFamily="34" charset="0"/>
            </a:endParaRPr>
          </a:p>
          <a:p>
            <a:pPr marL="171450" indent="-171450">
              <a:buFont typeface="Arial" panose="020B0604020202020204" pitchFamily="34" charset="0"/>
              <a:buChar char="•"/>
            </a:pPr>
            <a:r>
              <a:rPr lang="en-US" sz="1000" dirty="0"/>
              <a:t>Run </a:t>
            </a:r>
            <a:r>
              <a:rPr lang="en-US" sz="1000" b="1" i="0" u="none" strike="noStrike" baseline="0" dirty="0" err="1"/>
              <a:t>adb</a:t>
            </a:r>
            <a:r>
              <a:rPr lang="en-US" sz="1000" b="1" i="0" u="none" strike="noStrike" baseline="0" dirty="0"/>
              <a:t> devices</a:t>
            </a:r>
            <a:r>
              <a:rPr lang="en-US" sz="1000" dirty="0"/>
              <a:t> t</a:t>
            </a:r>
            <a:r>
              <a:rPr lang="en-US" sz="1000" b="0" i="0" u="none" strike="noStrike" baseline="0" dirty="0"/>
              <a:t>o check if the prompt has been accepted</a:t>
            </a:r>
          </a:p>
          <a:p>
            <a:pPr marL="171450" indent="-171450">
              <a:buFont typeface="Arial" panose="020B0604020202020204" pitchFamily="34" charset="0"/>
              <a:buChar char="•"/>
            </a:pPr>
            <a:r>
              <a:rPr lang="en-US" sz="1000" b="0" i="0" u="none" strike="noStrike" baseline="0" dirty="0"/>
              <a:t>If the prompt doesn’t display:</a:t>
            </a:r>
          </a:p>
          <a:p>
            <a:pPr marL="228600" indent="-228600" algn="l">
              <a:buFont typeface="+mj-lt"/>
              <a:buAutoNum type="arabicPeriod"/>
            </a:pPr>
            <a:r>
              <a:rPr lang="en-US" sz="1000" b="0" i="0" u="none" strike="noStrike" baseline="0" dirty="0"/>
              <a:t>Rebooting the Device</a:t>
            </a:r>
          </a:p>
          <a:p>
            <a:pPr marL="228600" indent="-228600" algn="l">
              <a:buFont typeface="+mj-lt"/>
              <a:buAutoNum type="arabicPeriod"/>
            </a:pPr>
            <a:r>
              <a:rPr lang="en-US" sz="1000" i="0" u="none" strike="noStrike" baseline="0" dirty="0"/>
              <a:t>Run</a:t>
            </a:r>
            <a:r>
              <a:rPr lang="en-US" sz="1000" b="1" i="0" u="none" strike="noStrike" baseline="0" dirty="0"/>
              <a:t> </a:t>
            </a:r>
            <a:r>
              <a:rPr lang="en-US" sz="1000" b="1" i="0" u="none" strike="noStrike" baseline="0" dirty="0" err="1"/>
              <a:t>adb</a:t>
            </a:r>
            <a:r>
              <a:rPr lang="en-US" sz="1000" b="1" i="0" u="none" strike="noStrike" baseline="0" dirty="0"/>
              <a:t> kill-server </a:t>
            </a:r>
            <a:r>
              <a:rPr lang="en-US" sz="1000" i="0" u="none" strike="noStrike" baseline="0" dirty="0"/>
              <a:t>and </a:t>
            </a:r>
            <a:r>
              <a:rPr lang="en-US" sz="1000" b="1" i="0" u="none" strike="noStrike" baseline="0" dirty="0" err="1"/>
              <a:t>adb</a:t>
            </a:r>
            <a:r>
              <a:rPr lang="en-US" sz="1000" b="1" i="0" u="none" strike="noStrike" baseline="0" dirty="0"/>
              <a:t> devices </a:t>
            </a:r>
            <a:r>
              <a:rPr lang="en-US" sz="1000" i="0" u="none" strike="noStrike" baseline="0" dirty="0"/>
              <a:t>from Command Prompt</a:t>
            </a:r>
          </a:p>
          <a:p>
            <a:pPr marL="228600" indent="-228600" algn="l">
              <a:buFont typeface="+mj-lt"/>
              <a:buAutoNum type="arabicPeriod"/>
            </a:pPr>
            <a:r>
              <a:rPr lang="en-US" sz="1000" b="0" i="0" u="none" strike="noStrike" baseline="0" dirty="0"/>
              <a:t>Press Revoke USB Debugging authorizations from the Dev Options</a:t>
            </a:r>
          </a:p>
          <a:p>
            <a:pPr marL="171450" indent="-171450" algn="l">
              <a:buFont typeface="Arial" panose="020B0604020202020204" pitchFamily="34" charset="0"/>
              <a:buChar char="•"/>
            </a:pPr>
            <a:r>
              <a:rPr lang="en-US" sz="1000" dirty="0"/>
              <a:t>P</a:t>
            </a:r>
            <a:r>
              <a:rPr lang="en-US" sz="1000" b="0" i="0" u="none" strike="noStrike" baseline="0" dirty="0"/>
              <a:t>revious options are needed to enable communication, an additional option is needed for enable logical extractions. </a:t>
            </a:r>
          </a:p>
          <a:p>
            <a:pPr marL="171450" indent="-171450" algn="l">
              <a:buFont typeface="Arial" panose="020B0604020202020204" pitchFamily="34" charset="0"/>
              <a:buChar char="•"/>
            </a:pPr>
            <a:r>
              <a:rPr lang="en-US" sz="1000" b="0" i="0" u="none" strike="noStrike" baseline="0" dirty="0"/>
              <a:t>By default, Android only allows for approved sources to install apps.</a:t>
            </a:r>
          </a:p>
          <a:p>
            <a:pPr marL="171450" indent="-171450" algn="l">
              <a:buFont typeface="Arial" panose="020B0604020202020204" pitchFamily="34" charset="0"/>
              <a:buChar char="•"/>
            </a:pPr>
            <a:r>
              <a:rPr lang="en-US" sz="1000" b="0" i="0" u="none" strike="noStrike" baseline="0" dirty="0"/>
              <a:t>The whitelist is provided as part of the Google Play store. </a:t>
            </a:r>
          </a:p>
          <a:p>
            <a:pPr marL="171450" indent="-171450" algn="l">
              <a:buFont typeface="Arial" panose="020B0604020202020204" pitchFamily="34" charset="0"/>
              <a:buChar char="•"/>
            </a:pPr>
            <a:r>
              <a:rPr lang="en-US" sz="1000" b="1" i="0" u="none" strike="noStrike" baseline="0" dirty="0"/>
              <a:t>Unknown Sources </a:t>
            </a:r>
            <a:r>
              <a:rPr lang="en-US" sz="1000" b="0" i="0" u="none" strike="noStrike" baseline="0" dirty="0"/>
              <a:t>option must be enabled. </a:t>
            </a:r>
          </a:p>
          <a:p>
            <a:pPr marL="171450" indent="-171450" algn="l">
              <a:buFont typeface="Arial" panose="020B0604020202020204" pitchFamily="34" charset="0"/>
              <a:buChar char="•"/>
            </a:pPr>
            <a:r>
              <a:rPr lang="en-US" sz="1000" b="0" i="0" u="none" strike="noStrike" baseline="0" dirty="0"/>
              <a:t>Settings → Security.</a:t>
            </a:r>
          </a:p>
          <a:p>
            <a:pPr marL="171450" indent="-171450" algn="l">
              <a:buFont typeface="Arial" panose="020B0604020202020204" pitchFamily="34" charset="0"/>
              <a:buChar char="•"/>
            </a:pPr>
            <a:r>
              <a:rPr lang="en-US" sz="1000" b="0" i="0" u="none" strike="noStrike" baseline="0" dirty="0"/>
              <a:t>Now: any app can be installed into an Android device</a:t>
            </a:r>
          </a:p>
          <a:p>
            <a:pPr marL="171450" indent="-171450" algn="l">
              <a:buFont typeface="Arial" panose="020B0604020202020204" pitchFamily="34" charset="0"/>
              <a:buChar char="•"/>
            </a:pPr>
            <a:r>
              <a:rPr lang="en-US" sz="1000" dirty="0"/>
              <a:t>Allows f</a:t>
            </a:r>
            <a:r>
              <a:rPr lang="en-US" sz="1000" b="0" i="0" u="none" strike="noStrike" baseline="0" dirty="0"/>
              <a:t>orensic suites to inject an app to recover info from Android</a:t>
            </a:r>
          </a:p>
          <a:p>
            <a:pPr marL="171450" indent="-171450" algn="l">
              <a:buFont typeface="Arial" panose="020B0604020202020204" pitchFamily="34" charset="0"/>
              <a:buChar char="•"/>
            </a:pPr>
            <a:r>
              <a:rPr lang="en-US" sz="1000" b="0" i="0" u="none" strike="noStrike" baseline="0" dirty="0"/>
              <a:t>The Verify apps option should also be unchecked</a:t>
            </a:r>
          </a:p>
        </p:txBody>
      </p:sp>
      <p:sp>
        <p:nvSpPr>
          <p:cNvPr id="7" name="TextBox 6">
            <a:extLst>
              <a:ext uri="{FF2B5EF4-FFF2-40B4-BE49-F238E27FC236}">
                <a16:creationId xmlns:a16="http://schemas.microsoft.com/office/drawing/2014/main" id="{4C8D72F5-6612-43CC-804E-C0FF387053F5}"/>
              </a:ext>
            </a:extLst>
          </p:cNvPr>
          <p:cNvSpPr txBox="1"/>
          <p:nvPr/>
        </p:nvSpPr>
        <p:spPr>
          <a:xfrm>
            <a:off x="4139184" y="26856"/>
            <a:ext cx="3913632" cy="6709529"/>
          </a:xfrm>
          <a:prstGeom prst="rect">
            <a:avLst/>
          </a:prstGeom>
          <a:noFill/>
          <a:ln>
            <a:noFill/>
          </a:ln>
        </p:spPr>
        <p:txBody>
          <a:bodyPr wrap="square">
            <a:spAutoFit/>
          </a:bodyPr>
          <a:lstStyle/>
          <a:p>
            <a:pPr algn="l"/>
            <a:r>
              <a:rPr lang="en-US" sz="1000" b="1" i="0" u="sng" strike="noStrike" baseline="0" dirty="0"/>
              <a:t>Android Image Types</a:t>
            </a:r>
          </a:p>
          <a:p>
            <a:pPr marL="171450" indent="-171450" algn="l">
              <a:buFont typeface="Arial" panose="020B0604020202020204" pitchFamily="34" charset="0"/>
              <a:buChar char="•"/>
            </a:pPr>
            <a:r>
              <a:rPr lang="en-US" sz="1000" i="0" strike="noStrike" baseline="0" dirty="0"/>
              <a:t>Now the Android device should be visible in AXIOM Process</a:t>
            </a:r>
          </a:p>
          <a:p>
            <a:pPr marL="228600" indent="-228600" algn="l">
              <a:buFont typeface="+mj-lt"/>
              <a:buAutoNum type="arabicPeriod"/>
            </a:pPr>
            <a:r>
              <a:rPr lang="en-US" sz="1000" dirty="0"/>
              <a:t>Quick. Gets Active data.</a:t>
            </a:r>
          </a:p>
          <a:p>
            <a:pPr marL="685800" lvl="1" indent="-228600">
              <a:buFont typeface="+mj-lt"/>
              <a:buAutoNum type="arabicPeriod"/>
            </a:pPr>
            <a:r>
              <a:rPr lang="en-US" sz="1000" dirty="0"/>
              <a:t>SMS/MMS from </a:t>
            </a:r>
            <a:r>
              <a:rPr lang="en-US" sz="1000" b="1" dirty="0" err="1"/>
              <a:t>mmssms.db</a:t>
            </a:r>
            <a:endParaRPr lang="en-US" sz="1000" b="1" dirty="0"/>
          </a:p>
          <a:p>
            <a:pPr marL="685800" lvl="1" indent="-228600">
              <a:buFont typeface="+mj-lt"/>
              <a:buAutoNum type="arabicPeriod"/>
            </a:pPr>
            <a:r>
              <a:rPr lang="en-US" sz="1000" dirty="0"/>
              <a:t>contact/call logs from </a:t>
            </a:r>
            <a:r>
              <a:rPr lang="en-US" sz="1000" b="1" dirty="0"/>
              <a:t>Contacts3.db </a:t>
            </a:r>
            <a:r>
              <a:rPr lang="en-US" sz="1000" dirty="0"/>
              <a:t>file</a:t>
            </a:r>
          </a:p>
          <a:p>
            <a:pPr marL="228600" indent="-228600" algn="l">
              <a:buFont typeface="+mj-lt"/>
              <a:buAutoNum type="arabicPeriod"/>
            </a:pPr>
            <a:r>
              <a:rPr lang="en-US" sz="1000" i="0" strike="noStrike" baseline="0" dirty="0"/>
              <a:t>Full. Entire block of memory (requires root)</a:t>
            </a:r>
          </a:p>
          <a:p>
            <a:pPr marL="685800" lvl="1" indent="-228600">
              <a:buFont typeface="Arial" panose="020B0604020202020204" pitchFamily="34" charset="0"/>
              <a:buChar char="•"/>
            </a:pPr>
            <a:r>
              <a:rPr lang="en-US" sz="1000" dirty="0"/>
              <a:t>Needs installation of a security exception which removes protection put in by OS designers</a:t>
            </a:r>
          </a:p>
          <a:p>
            <a:pPr marL="228600" indent="-228600">
              <a:buFont typeface="Arial" panose="020B0604020202020204" pitchFamily="34" charset="0"/>
              <a:buChar char="•"/>
            </a:pPr>
            <a:r>
              <a:rPr lang="en-US" sz="1000" i="0" strike="noStrike" baseline="0" dirty="0"/>
              <a:t>In AXIOM Process “Restore Device State” removes the </a:t>
            </a:r>
            <a:r>
              <a:rPr lang="en-US" sz="1000" b="1" i="0" strike="noStrike" baseline="0" dirty="0"/>
              <a:t>.</a:t>
            </a:r>
            <a:r>
              <a:rPr lang="en-US" sz="1000" b="1" i="0" strike="noStrike" baseline="0" dirty="0" err="1"/>
              <a:t>apk</a:t>
            </a:r>
            <a:r>
              <a:rPr lang="en-US" sz="1000" b="1" i="0" strike="noStrike" baseline="0" dirty="0"/>
              <a:t> </a:t>
            </a:r>
            <a:r>
              <a:rPr lang="en-US" sz="1000" i="0" strike="noStrike" baseline="0" dirty="0"/>
              <a:t>file installed for quick imaging after processing</a:t>
            </a:r>
          </a:p>
          <a:p>
            <a:pPr marL="228600" indent="-228600">
              <a:buFont typeface="Arial" panose="020B0604020202020204" pitchFamily="34" charset="0"/>
              <a:buChar char="•"/>
            </a:pPr>
            <a:r>
              <a:rPr lang="en-US" sz="1000" dirty="0"/>
              <a:t>Rooting: gaining elevated user permissions to file system of device.</a:t>
            </a:r>
          </a:p>
          <a:p>
            <a:pPr marL="228600" indent="-228600">
              <a:buFont typeface="Arial" panose="020B0604020202020204" pitchFamily="34" charset="0"/>
              <a:buChar char="•"/>
            </a:pPr>
            <a:r>
              <a:rPr lang="en-US" sz="1000" i="0" strike="noStrike" baseline="0" dirty="0"/>
              <a:t>Android locks most storage </a:t>
            </a:r>
            <a:r>
              <a:rPr lang="en-US" sz="1000" i="1" strike="noStrike" baseline="0" dirty="0"/>
              <a:t>/data/ </a:t>
            </a:r>
            <a:r>
              <a:rPr lang="en-US" sz="1000" i="0" strike="noStrike" baseline="0" dirty="0"/>
              <a:t>behind elevated permissions.</a:t>
            </a:r>
          </a:p>
          <a:p>
            <a:pPr marL="228600" indent="-228600">
              <a:buFont typeface="Arial" panose="020B0604020202020204" pitchFamily="34" charset="0"/>
              <a:buChar char="•"/>
            </a:pPr>
            <a:r>
              <a:rPr lang="en-US" sz="1000" dirty="0"/>
              <a:t>Two types of root</a:t>
            </a:r>
          </a:p>
          <a:p>
            <a:pPr marL="685800" lvl="1" indent="-228600">
              <a:buFont typeface="Arial" panose="020B0604020202020204" pitchFamily="34" charset="0"/>
              <a:buChar char="•"/>
            </a:pPr>
            <a:r>
              <a:rPr lang="en-US" sz="1000" i="0" strike="noStrike" baseline="0" dirty="0"/>
              <a:t>Shell (rooted until reboot, forensically sound)</a:t>
            </a:r>
          </a:p>
          <a:p>
            <a:pPr marL="685800" lvl="1" indent="-228600">
              <a:buFont typeface="Arial" panose="020B0604020202020204" pitchFamily="34" charset="0"/>
              <a:buChar char="•"/>
            </a:pPr>
            <a:r>
              <a:rPr lang="en-US" sz="1000" dirty="0"/>
              <a:t>Permanent (</a:t>
            </a:r>
            <a:r>
              <a:rPr lang="nl-NL" sz="1000" b="0" i="0" u="none" strike="noStrike" baseline="0" dirty="0"/>
              <a:t>KingRoot, PingPong Root, StumpRoot)</a:t>
            </a:r>
            <a:endParaRPr lang="en-US" sz="1000" dirty="0"/>
          </a:p>
          <a:p>
            <a:pPr marL="228600" indent="-228600">
              <a:buFont typeface="Arial" panose="020B0604020202020204" pitchFamily="34" charset="0"/>
              <a:buChar char="•"/>
            </a:pPr>
            <a:r>
              <a:rPr lang="en-US" sz="1000" b="0" i="0" u="none" strike="noStrike" baseline="0" dirty="0">
                <a:latin typeface="Calibri" panose="020F0502020204030204" pitchFamily="34" charset="0"/>
                <a:cs typeface="Calibri" panose="020F0502020204030204" pitchFamily="34" charset="0"/>
              </a:rPr>
              <a:t>Many root level exploits will attempt to place files in the </a:t>
            </a:r>
            <a:r>
              <a:rPr lang="en-US" sz="1000" b="0" i="1" u="none" strike="noStrike" baseline="0" dirty="0">
                <a:latin typeface="Calibri" panose="020F0502020204030204" pitchFamily="34" charset="0"/>
                <a:cs typeface="Calibri" panose="020F0502020204030204" pitchFamily="34" charset="0"/>
              </a:rPr>
              <a:t>/system </a:t>
            </a:r>
            <a:r>
              <a:rPr lang="en-US" sz="1000" b="0" i="0" u="none" strike="noStrike" baseline="0" dirty="0">
                <a:cs typeface="Calibri" panose="020F0502020204030204" pitchFamily="34" charset="0"/>
              </a:rPr>
              <a:t>partition which is write-protected by default. </a:t>
            </a:r>
          </a:p>
          <a:p>
            <a:pPr marL="228600" indent="-228600">
              <a:buFont typeface="Arial" panose="020B0604020202020204" pitchFamily="34" charset="0"/>
              <a:buChar char="•"/>
            </a:pPr>
            <a:r>
              <a:rPr lang="en-US" sz="1000" dirty="0">
                <a:cs typeface="Calibri" panose="020F0502020204030204" pitchFamily="34" charset="0"/>
              </a:rPr>
              <a:t>T</a:t>
            </a:r>
            <a:r>
              <a:rPr lang="en-US" sz="1000" b="0" i="0" u="none" strike="noStrike" baseline="0" dirty="0">
                <a:cs typeface="Calibri" panose="020F0502020204030204" pitchFamily="34" charset="0"/>
              </a:rPr>
              <a:t>o do this, they must first change the permissions on this directory</a:t>
            </a:r>
          </a:p>
          <a:p>
            <a:pPr marL="228600" indent="-228600">
              <a:buFont typeface="Arial" panose="020B0604020202020204" pitchFamily="34" charset="0"/>
              <a:buChar char="•"/>
            </a:pPr>
            <a:r>
              <a:rPr lang="en-US" sz="1000" dirty="0"/>
              <a:t>M</a:t>
            </a:r>
            <a:r>
              <a:rPr lang="en-US" sz="1000" b="0" i="0" u="none" strike="noStrike" baseline="0" dirty="0"/>
              <a:t>ay have to find own 3</a:t>
            </a:r>
            <a:r>
              <a:rPr lang="en-US" sz="1000" b="0" i="0" u="none" strike="noStrike" baseline="30000" dirty="0"/>
              <a:t>rd</a:t>
            </a:r>
            <a:r>
              <a:rPr lang="en-US" sz="1000" b="0" i="0" u="none" strike="noStrike" baseline="0" dirty="0"/>
              <a:t> party root exploits </a:t>
            </a:r>
            <a:r>
              <a:rPr lang="en-US" sz="1000" b="0" i="0" u="none" strike="noStrike" baseline="0" dirty="0">
                <a:hlinkClick r:id="rId2"/>
              </a:rPr>
              <a:t>xda-developers.com</a:t>
            </a:r>
            <a:endParaRPr lang="en-US" sz="1000" dirty="0">
              <a:cs typeface="Calibri" panose="020F0502020204030204" pitchFamily="34" charset="0"/>
            </a:endParaRPr>
          </a:p>
          <a:p>
            <a:pPr marL="228600" indent="-228600">
              <a:buFont typeface="Arial" panose="020B0604020202020204" pitchFamily="34" charset="0"/>
              <a:buChar char="•"/>
            </a:pPr>
            <a:r>
              <a:rPr lang="en-US" sz="1000" i="0" strike="noStrike" baseline="0" dirty="0">
                <a:cs typeface="Calibri" panose="020F0502020204030204" pitchFamily="34" charset="0"/>
              </a:rPr>
              <a:t>Axiom attempts to shell root up to Android version 4.4.2. </a:t>
            </a:r>
          </a:p>
          <a:p>
            <a:pPr marL="228600" indent="-228600">
              <a:buFont typeface="Arial" panose="020B0604020202020204" pitchFamily="34" charset="0"/>
              <a:buChar char="•"/>
            </a:pPr>
            <a:r>
              <a:rPr lang="en-US" sz="1000" i="0" strike="noStrike" baseline="0" dirty="0">
                <a:cs typeface="Calibri" panose="020F0502020204030204" pitchFamily="34" charset="0"/>
              </a:rPr>
              <a:t>Rebooting undoes the AXIOM root.</a:t>
            </a:r>
          </a:p>
          <a:p>
            <a:r>
              <a:rPr lang="en-US" sz="1000" dirty="0">
                <a:solidFill>
                  <a:srgbClr val="0070C0"/>
                </a:solidFill>
                <a:cs typeface="Calibri" panose="020F0502020204030204" pitchFamily="34" charset="0"/>
              </a:rPr>
              <a:t>ARTIFACTS IN A FULL IMAGE</a:t>
            </a:r>
          </a:p>
          <a:p>
            <a:pPr marL="171450" indent="-171450" algn="l">
              <a:buFont typeface="Arial" panose="020B0604020202020204" pitchFamily="34" charset="0"/>
              <a:buChar char="•"/>
            </a:pPr>
            <a:r>
              <a:rPr lang="en-US" sz="1000" b="0" i="0" u="none" strike="noStrike" baseline="0" dirty="0"/>
              <a:t>The Full Image acquisition by AXIOM will image each partition on the Android device. </a:t>
            </a:r>
          </a:p>
          <a:p>
            <a:pPr marL="171450" indent="-171450" algn="l">
              <a:buFont typeface="Arial" panose="020B0604020202020204" pitchFamily="34" charset="0"/>
              <a:buChar char="•"/>
            </a:pPr>
            <a:r>
              <a:rPr lang="en-US" sz="1000" b="0" i="0" u="none" strike="noStrike" baseline="0" dirty="0"/>
              <a:t>Each of these partitions will be added to the full image .raw file. </a:t>
            </a:r>
          </a:p>
          <a:p>
            <a:pPr marL="171450" indent="-171450" algn="l">
              <a:buFont typeface="Arial" panose="020B0604020202020204" pitchFamily="34" charset="0"/>
              <a:buChar char="•"/>
            </a:pPr>
            <a:r>
              <a:rPr lang="en-US" sz="1000" b="0" i="0" u="none" strike="noStrike" baseline="0" dirty="0"/>
              <a:t>While most of the data comes from the user </a:t>
            </a:r>
            <a:r>
              <a:rPr lang="en-US" sz="1000" b="0" i="1" u="none" strike="noStrike" baseline="0" dirty="0"/>
              <a:t>data</a:t>
            </a:r>
            <a:r>
              <a:rPr lang="en-US" sz="1000" b="0" i="0" u="none" strike="noStrike" baseline="0" dirty="0"/>
              <a:t> partition, other important partitions including system, cache, and recovery store data for the examiner to review. </a:t>
            </a:r>
          </a:p>
          <a:p>
            <a:pPr marL="171450" indent="-171450" algn="l">
              <a:buFont typeface="Arial" panose="020B0604020202020204" pitchFamily="34" charset="0"/>
              <a:buChar char="•"/>
            </a:pPr>
            <a:r>
              <a:rPr lang="en-US" sz="1000" b="0" i="0" u="none" strike="noStrike" baseline="0" dirty="0"/>
              <a:t>When</a:t>
            </a:r>
            <a:r>
              <a:rPr lang="en-US" sz="1000" dirty="0"/>
              <a:t> </a:t>
            </a:r>
            <a:r>
              <a:rPr lang="en-US" sz="1000" b="0" i="0" u="none" strike="noStrike" baseline="0" dirty="0"/>
              <a:t>loaded into AXIOM Examine, partitions can be expanded, and additional artifacts can be generated out of the data found within.</a:t>
            </a:r>
          </a:p>
          <a:p>
            <a:pPr algn="l"/>
            <a:r>
              <a:rPr lang="en-US" sz="1000" b="0" i="0" u="none" strike="noStrike" baseline="0" dirty="0"/>
              <a:t>Important areas include:</a:t>
            </a:r>
          </a:p>
          <a:p>
            <a:pPr marL="171450" indent="-171450" algn="l">
              <a:buFont typeface="Arial" panose="020B0604020202020204" pitchFamily="34" charset="0"/>
              <a:buChar char="•"/>
            </a:pPr>
            <a:r>
              <a:rPr lang="en-US" sz="1000" b="0" i="0" u="none" strike="noStrike" baseline="0" dirty="0"/>
              <a:t>/data/app/ -- Storage area for installed applications (APKs)</a:t>
            </a:r>
          </a:p>
          <a:p>
            <a:pPr marL="171450" indent="-171450" algn="l">
              <a:buFont typeface="Arial" panose="020B0604020202020204" pitchFamily="34" charset="0"/>
              <a:buChar char="•"/>
            </a:pPr>
            <a:r>
              <a:rPr lang="en-US" sz="1000" b="0" i="0" u="none" strike="noStrike" baseline="0" dirty="0"/>
              <a:t>/data/app-private/ -- Storage area for pre-installed applications by</a:t>
            </a:r>
          </a:p>
          <a:p>
            <a:pPr marL="171450" indent="-171450" algn="l">
              <a:buFont typeface="Arial" panose="020B0604020202020204" pitchFamily="34" charset="0"/>
              <a:buChar char="•"/>
            </a:pPr>
            <a:r>
              <a:rPr lang="en-US" sz="1000" b="0" i="0" u="none" strike="noStrike" baseline="0" dirty="0"/>
              <a:t>carriers/manufactures</a:t>
            </a:r>
          </a:p>
          <a:p>
            <a:pPr marL="171450" indent="-171450" algn="l">
              <a:buFont typeface="Arial" panose="020B0604020202020204" pitchFamily="34" charset="0"/>
              <a:buChar char="•"/>
            </a:pPr>
            <a:r>
              <a:rPr lang="en-US" sz="1000" b="0" i="0" u="none" strike="noStrike" baseline="0" dirty="0"/>
              <a:t>/data/data/ --Main user data storage area</a:t>
            </a:r>
          </a:p>
          <a:p>
            <a:pPr marL="171450" indent="-171450" algn="l">
              <a:buFont typeface="Arial" panose="020B0604020202020204" pitchFamily="34" charset="0"/>
              <a:buChar char="•"/>
            </a:pPr>
            <a:r>
              <a:rPr lang="en-US" sz="1000" b="0" i="0" u="none" strike="noStrike" baseline="0" dirty="0"/>
              <a:t>/data/system/ -- Storage area for handset locks </a:t>
            </a:r>
            <a:r>
              <a:rPr lang="en-US" sz="1000" dirty="0"/>
              <a:t>&amp;</a:t>
            </a:r>
            <a:r>
              <a:rPr lang="en-US" sz="1000" b="0" i="0" u="none" strike="noStrike" baseline="0" dirty="0"/>
              <a:t> other security info</a:t>
            </a:r>
          </a:p>
          <a:p>
            <a:pPr marL="171450" indent="-171450" algn="l">
              <a:buFont typeface="Arial" panose="020B0604020202020204" pitchFamily="34" charset="0"/>
              <a:buChar char="•"/>
            </a:pPr>
            <a:r>
              <a:rPr lang="en-US" sz="1000" b="0" i="0" u="none" strike="noStrike" baseline="0" dirty="0"/>
              <a:t>/data/media/ -- Mounted area for internal or emulated MicroSD storage</a:t>
            </a:r>
          </a:p>
          <a:p>
            <a:pPr marL="171450" indent="-171450" algn="l">
              <a:buFont typeface="Arial" panose="020B0604020202020204" pitchFamily="34" charset="0"/>
              <a:buChar char="•"/>
            </a:pPr>
            <a:r>
              <a:rPr lang="en-US" sz="1000" b="0" i="0" u="none" strike="noStrike" baseline="0" dirty="0"/>
              <a:t>/data/</a:t>
            </a:r>
            <a:r>
              <a:rPr lang="en-US" sz="1000" b="0" i="0" u="none" strike="noStrike" baseline="0" dirty="0" err="1"/>
              <a:t>misc</a:t>
            </a:r>
            <a:r>
              <a:rPr lang="en-US" sz="1000" b="0" i="0" u="none" strike="noStrike" baseline="0" dirty="0"/>
              <a:t> Storage area for logs such as the Wi-Fi profiles</a:t>
            </a:r>
          </a:p>
          <a:p>
            <a:pPr marL="171450" indent="-171450" algn="l">
              <a:buFont typeface="Arial" panose="020B0604020202020204" pitchFamily="34" charset="0"/>
              <a:buChar char="•"/>
            </a:pPr>
            <a:r>
              <a:rPr lang="en-US" sz="1000" b="0" i="0" u="none" strike="noStrike" baseline="0" dirty="0"/>
              <a:t>/data/user Listing of all users on the device</a:t>
            </a:r>
          </a:p>
          <a:p>
            <a:pPr marL="171450" indent="-171450" algn="l">
              <a:buFont typeface="Arial" panose="020B0604020202020204" pitchFamily="34" charset="0"/>
              <a:buChar char="•"/>
            </a:pPr>
            <a:r>
              <a:rPr lang="en-US" sz="1000" b="0" i="0" u="none" strike="noStrike" baseline="0" dirty="0"/>
              <a:t>/system/app-private Another storage area for pre-installed apps</a:t>
            </a:r>
          </a:p>
          <a:p>
            <a:pPr marL="171450" indent="-171450" algn="l">
              <a:buFont typeface="Arial" panose="020B0604020202020204" pitchFamily="34" charset="0"/>
              <a:buChar char="•"/>
            </a:pPr>
            <a:r>
              <a:rPr lang="en-US" sz="1000" b="0" i="0" u="none" strike="noStrike" baseline="0" dirty="0"/>
              <a:t>/system/app</a:t>
            </a:r>
          </a:p>
        </p:txBody>
      </p:sp>
      <p:sp>
        <p:nvSpPr>
          <p:cNvPr id="9" name="TextBox 8">
            <a:extLst>
              <a:ext uri="{FF2B5EF4-FFF2-40B4-BE49-F238E27FC236}">
                <a16:creationId xmlns:a16="http://schemas.microsoft.com/office/drawing/2014/main" id="{879C1BBF-B209-4356-8D8E-008AADBF26DB}"/>
              </a:ext>
            </a:extLst>
          </p:cNvPr>
          <p:cNvSpPr txBox="1"/>
          <p:nvPr/>
        </p:nvSpPr>
        <p:spPr>
          <a:xfrm>
            <a:off x="8149067" y="26856"/>
            <a:ext cx="3913632" cy="6401753"/>
          </a:xfrm>
          <a:prstGeom prst="rect">
            <a:avLst/>
          </a:prstGeom>
          <a:noFill/>
          <a:ln>
            <a:noFill/>
          </a:ln>
        </p:spPr>
        <p:txBody>
          <a:bodyPr wrap="square">
            <a:spAutoFit/>
          </a:bodyPr>
          <a:lstStyle/>
          <a:p>
            <a:pPr marL="171450" indent="-171450" algn="l">
              <a:buFont typeface="Arial" panose="020B0604020202020204" pitchFamily="34" charset="0"/>
              <a:buChar char="•"/>
            </a:pPr>
            <a:r>
              <a:rPr lang="en-US" sz="1000" b="0" i="0" u="none" strike="noStrike" baseline="0" dirty="0"/>
              <a:t>The Android device memory is divided into multiple partitions. </a:t>
            </a:r>
          </a:p>
          <a:p>
            <a:pPr marL="171450" indent="-171450" algn="l">
              <a:buFont typeface="Arial" panose="020B0604020202020204" pitchFamily="34" charset="0"/>
              <a:buChar char="•"/>
            </a:pPr>
            <a:r>
              <a:rPr lang="en-US" sz="1000" b="0" i="0" u="none" strike="noStrike" baseline="0" dirty="0"/>
              <a:t>There is no limit on how many partitions a device can have, and typically differs from device to device. </a:t>
            </a:r>
          </a:p>
          <a:p>
            <a:pPr algn="l"/>
            <a:r>
              <a:rPr lang="en-US" sz="1000" b="0" i="0" u="none" strike="noStrike" baseline="0" dirty="0"/>
              <a:t>The most common partitions found on a device are:</a:t>
            </a:r>
          </a:p>
          <a:p>
            <a:pPr marL="628650" lvl="1" indent="-171450">
              <a:buFont typeface="Arial" panose="020B0604020202020204" pitchFamily="34" charset="0"/>
              <a:buChar char="•"/>
            </a:pPr>
            <a:r>
              <a:rPr lang="en-US" sz="1000" b="0" i="0" u="none" strike="noStrike" baseline="0" dirty="0"/>
              <a:t>Data (</a:t>
            </a:r>
            <a:r>
              <a:rPr lang="en-US" sz="1000" b="0" i="0" u="none" strike="noStrike" baseline="0" dirty="0" err="1"/>
              <a:t>Userdata</a:t>
            </a:r>
            <a:r>
              <a:rPr lang="en-US" sz="1000" b="0" i="0" u="none" strike="noStrike" baseline="0" dirty="0"/>
              <a:t>)</a:t>
            </a:r>
          </a:p>
          <a:p>
            <a:pPr marL="628650" lvl="1" indent="-171450">
              <a:buFont typeface="Arial" panose="020B0604020202020204" pitchFamily="34" charset="0"/>
              <a:buChar char="•"/>
            </a:pPr>
            <a:r>
              <a:rPr lang="en-US" sz="1000" b="0" i="0" u="none" strike="noStrike" baseline="0" dirty="0"/>
              <a:t>System</a:t>
            </a:r>
          </a:p>
          <a:p>
            <a:pPr marL="628650" lvl="1" indent="-171450">
              <a:buFont typeface="Arial" panose="020B0604020202020204" pitchFamily="34" charset="0"/>
              <a:buChar char="•"/>
            </a:pPr>
            <a:r>
              <a:rPr lang="en-US" sz="1000" b="0" i="0" u="none" strike="noStrike" baseline="0" dirty="0"/>
              <a:t>Recovery</a:t>
            </a:r>
          </a:p>
          <a:p>
            <a:pPr marL="628650" lvl="1" indent="-171450">
              <a:buFont typeface="Arial" panose="020B0604020202020204" pitchFamily="34" charset="0"/>
              <a:buChar char="•"/>
            </a:pPr>
            <a:r>
              <a:rPr lang="en-US" sz="1000" b="0" i="0" u="none" strike="noStrike" baseline="0" dirty="0"/>
              <a:t>Cache</a:t>
            </a:r>
          </a:p>
          <a:p>
            <a:pPr marL="628650" lvl="1" indent="-171450">
              <a:buFont typeface="Arial" panose="020B0604020202020204" pitchFamily="34" charset="0"/>
              <a:buChar char="•"/>
            </a:pPr>
            <a:r>
              <a:rPr lang="en-US" sz="1000" b="0" i="0" u="none" strike="noStrike" baseline="0" dirty="0"/>
              <a:t>Modem</a:t>
            </a:r>
          </a:p>
          <a:p>
            <a:pPr marL="628650" lvl="1" indent="-171450">
              <a:buFont typeface="Arial" panose="020B0604020202020204" pitchFamily="34" charset="0"/>
              <a:buChar char="•"/>
            </a:pPr>
            <a:r>
              <a:rPr lang="en-US" sz="1000" b="0" i="0" u="none" strike="noStrike" baseline="0" dirty="0"/>
              <a:t>Boot</a:t>
            </a:r>
          </a:p>
          <a:p>
            <a:pPr marL="628650" lvl="1" indent="-171450">
              <a:buFont typeface="Arial" panose="020B0604020202020204" pitchFamily="34" charset="0"/>
              <a:buChar char="•"/>
            </a:pPr>
            <a:r>
              <a:rPr lang="en-US" sz="1000" b="0" i="0" u="none" strike="noStrike" baseline="0" dirty="0"/>
              <a:t>Etc.</a:t>
            </a:r>
          </a:p>
          <a:p>
            <a:pPr marL="171450" indent="-171450" algn="l">
              <a:buFont typeface="Arial" panose="020B0604020202020204" pitchFamily="34" charset="0"/>
              <a:buChar char="•"/>
            </a:pPr>
            <a:r>
              <a:rPr lang="en-US" sz="1000" b="0" i="0" u="none" strike="noStrike" baseline="0" dirty="0"/>
              <a:t>A physical image will typically attempt to capture the entire memory image which will include each of these partitions</a:t>
            </a:r>
          </a:p>
          <a:p>
            <a:pPr marL="171450" indent="-171450" algn="l">
              <a:buFont typeface="Arial" panose="020B0604020202020204" pitchFamily="34" charset="0"/>
              <a:buChar char="•"/>
            </a:pPr>
            <a:r>
              <a:rPr lang="en-US" sz="1000" b="0" i="0" u="none" strike="noStrike" baseline="0" dirty="0"/>
              <a:t>Magnet Acquire will obtain a single image file using the dd command which contains all the partitions on the device</a:t>
            </a:r>
          </a:p>
          <a:p>
            <a:pPr algn="l"/>
            <a:r>
              <a:rPr lang="en-US" sz="1000" b="0" i="0" u="none" strike="noStrike" baseline="0" dirty="0">
                <a:solidFill>
                  <a:srgbClr val="2F5497"/>
                </a:solidFill>
              </a:rPr>
              <a:t>DATA FROM OTHER SOURCES</a:t>
            </a:r>
          </a:p>
          <a:p>
            <a:pPr marL="171450" indent="-171450" algn="l">
              <a:buFont typeface="Arial" panose="020B0604020202020204" pitchFamily="34" charset="0"/>
              <a:buChar char="•"/>
            </a:pPr>
            <a:r>
              <a:rPr lang="en-US" sz="1000" b="0" i="0" u="none" strike="noStrike" baseline="0" dirty="0">
                <a:solidFill>
                  <a:srgbClr val="000000"/>
                </a:solidFill>
              </a:rPr>
              <a:t>Magnet AXIOM can accept image files from multiple mobile tools including </a:t>
            </a:r>
            <a:r>
              <a:rPr lang="en-US" sz="1000" b="0" i="0" u="none" strike="noStrike" baseline="0" dirty="0" err="1">
                <a:solidFill>
                  <a:srgbClr val="000000"/>
                </a:solidFill>
              </a:rPr>
              <a:t>Cellebrite</a:t>
            </a:r>
            <a:r>
              <a:rPr lang="en-US" sz="1000" b="0" i="0" u="none" strike="noStrike" baseline="0" dirty="0">
                <a:solidFill>
                  <a:srgbClr val="000000"/>
                </a:solidFill>
              </a:rPr>
              <a:t> UFED, XRY, </a:t>
            </a:r>
            <a:r>
              <a:rPr lang="en-US" sz="1000" b="0" i="0" u="none" strike="noStrike" baseline="0" dirty="0" err="1">
                <a:solidFill>
                  <a:srgbClr val="000000"/>
                </a:solidFill>
              </a:rPr>
              <a:t>Lantern,MPE</a:t>
            </a:r>
            <a:r>
              <a:rPr lang="en-US" sz="1000" b="0" i="0" u="none" strike="noStrike" baseline="0" dirty="0">
                <a:solidFill>
                  <a:srgbClr val="000000"/>
                </a:solidFill>
              </a:rPr>
              <a:t>, and more. </a:t>
            </a:r>
          </a:p>
          <a:p>
            <a:pPr marL="171450" indent="-171450" algn="l">
              <a:buFont typeface="Arial" panose="020B0604020202020204" pitchFamily="34" charset="0"/>
              <a:buChar char="•"/>
            </a:pPr>
            <a:r>
              <a:rPr lang="en-US" sz="1000" b="0" i="0" u="none" strike="noStrike" baseline="0" dirty="0">
                <a:solidFill>
                  <a:srgbClr val="000000"/>
                </a:solidFill>
              </a:rPr>
              <a:t>While the proprietary files can be selected, for best results, selecting the raw image files such as .bin or .z01 files will yield the most data.</a:t>
            </a:r>
          </a:p>
          <a:p>
            <a:pPr marL="171450" indent="-171450" algn="l">
              <a:buFont typeface="Arial" panose="020B0604020202020204" pitchFamily="34" charset="0"/>
              <a:buChar char="•"/>
            </a:pPr>
            <a:r>
              <a:rPr lang="en-US" sz="1000" b="0" i="0" u="none" strike="noStrike" baseline="0" dirty="0">
                <a:solidFill>
                  <a:srgbClr val="000000"/>
                </a:solidFill>
              </a:rPr>
              <a:t>AXIOM will be able to accept these images the same way as if they were acquired using AXIOM Process, just by selecting the files from SELECT EVIDENCE SOURCE → MOBILE → [Operating System] → LOAD EVIDENCE → IMAGE.</a:t>
            </a:r>
          </a:p>
          <a:p>
            <a:pPr marL="171450" indent="-171450" algn="l">
              <a:buFont typeface="Arial" panose="020B0604020202020204" pitchFamily="34" charset="0"/>
              <a:buChar char="•"/>
            </a:pPr>
            <a:r>
              <a:rPr lang="en-US" sz="1000" b="0" i="0" u="none" strike="noStrike" baseline="0" dirty="0">
                <a:solidFill>
                  <a:srgbClr val="000000"/>
                </a:solidFill>
              </a:rPr>
              <a:t>In addition, other methods such as JTAG, Direct eMMC (ISP), or Chip-off extractions of Android or Windows Phone devices can also be added as raw files for processing. </a:t>
            </a:r>
          </a:p>
          <a:p>
            <a:pPr marL="171450" indent="-171450" algn="l">
              <a:buFont typeface="Arial" panose="020B0604020202020204" pitchFamily="34" charset="0"/>
              <a:buChar char="•"/>
            </a:pPr>
            <a:r>
              <a:rPr lang="en-US" sz="1000" b="0" i="0" u="none" strike="noStrike" baseline="0" dirty="0">
                <a:solidFill>
                  <a:srgbClr val="000000"/>
                </a:solidFill>
              </a:rPr>
              <a:t>AXIOM will fully process these data points as well as give the examiner the ability to review the data in the File system explorer.</a:t>
            </a:r>
          </a:p>
          <a:p>
            <a:pPr marL="171450" indent="-171450" algn="l">
              <a:buFont typeface="Arial" panose="020B0604020202020204" pitchFamily="34" charset="0"/>
              <a:buChar char="•"/>
            </a:pPr>
            <a:r>
              <a:rPr lang="en-US" sz="1000" b="0" i="0" u="none" strike="noStrike" baseline="0" dirty="0">
                <a:solidFill>
                  <a:srgbClr val="000000"/>
                </a:solidFill>
              </a:rPr>
              <a:t>The Android operating system has similar offerings to iOS devices. Many of the same core artifact offerings such as SMS/MMS, Call Logs, Contacts, Web History, and more is parsed, however, they come from different sources. </a:t>
            </a:r>
          </a:p>
          <a:p>
            <a:pPr marL="171450" indent="-171450" algn="l">
              <a:buFont typeface="Arial" panose="020B0604020202020204" pitchFamily="34" charset="0"/>
              <a:buChar char="•"/>
            </a:pPr>
            <a:r>
              <a:rPr lang="en-US" sz="1000" b="0" i="0" u="none" strike="noStrike" baseline="0" dirty="0">
                <a:solidFill>
                  <a:srgbClr val="000000"/>
                </a:solidFill>
              </a:rPr>
              <a:t>And while some applications are supported on both operating systems, their storage locations and database schemas may differ widely. </a:t>
            </a:r>
          </a:p>
          <a:p>
            <a:pPr marL="171450" indent="-171450" algn="l">
              <a:buFont typeface="Arial" panose="020B0604020202020204" pitchFamily="34" charset="0"/>
              <a:buChar char="•"/>
            </a:pPr>
            <a:r>
              <a:rPr lang="en-US" sz="1000" b="0" i="0" u="none" strike="noStrike" baseline="0" dirty="0">
                <a:solidFill>
                  <a:srgbClr val="000000"/>
                </a:solidFill>
              </a:rPr>
              <a:t>Even though the examiner will select iOS or Android for the operating system, AXIOM Process will also scan the image to ensure that the right set of artifacts and parsers for those artifacts are loaded.</a:t>
            </a:r>
            <a:endParaRPr lang="en-US" sz="1000" dirty="0">
              <a:cs typeface="Calibri" panose="020F0502020204030204" pitchFamily="34" charset="0"/>
            </a:endParaRPr>
          </a:p>
        </p:txBody>
      </p:sp>
    </p:spTree>
    <p:extLst>
      <p:ext uri="{BB962C8B-B14F-4D97-AF65-F5344CB8AC3E}">
        <p14:creationId xmlns:p14="http://schemas.microsoft.com/office/powerpoint/2010/main" val="2126761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A61B225-7E07-4146-B9D0-0A8EF94782DA}"/>
              </a:ext>
            </a:extLst>
          </p:cNvPr>
          <p:cNvSpPr txBox="1"/>
          <p:nvPr/>
        </p:nvSpPr>
        <p:spPr>
          <a:xfrm>
            <a:off x="0" y="0"/>
            <a:ext cx="896399" cy="369332"/>
          </a:xfrm>
          <a:prstGeom prst="rect">
            <a:avLst/>
          </a:prstGeom>
          <a:noFill/>
        </p:spPr>
        <p:txBody>
          <a:bodyPr wrap="none" rtlCol="0">
            <a:spAutoFit/>
          </a:bodyPr>
          <a:lstStyle/>
          <a:p>
            <a:r>
              <a:rPr lang="en-US" b="1" u="sng" dirty="0"/>
              <a:t>5 Cloud</a:t>
            </a:r>
          </a:p>
        </p:txBody>
      </p:sp>
      <p:sp>
        <p:nvSpPr>
          <p:cNvPr id="4" name="TextBox 3">
            <a:extLst>
              <a:ext uri="{FF2B5EF4-FFF2-40B4-BE49-F238E27FC236}">
                <a16:creationId xmlns:a16="http://schemas.microsoft.com/office/drawing/2014/main" id="{A15D4D2F-DFC9-40F0-9B83-9D3188A260E9}"/>
              </a:ext>
            </a:extLst>
          </p:cNvPr>
          <p:cNvSpPr txBox="1"/>
          <p:nvPr/>
        </p:nvSpPr>
        <p:spPr>
          <a:xfrm>
            <a:off x="4139184" y="42827"/>
            <a:ext cx="3913632" cy="6740307"/>
          </a:xfrm>
          <a:prstGeom prst="rect">
            <a:avLst/>
          </a:prstGeom>
          <a:noFill/>
          <a:ln>
            <a:noFill/>
          </a:ln>
        </p:spPr>
        <p:txBody>
          <a:bodyPr wrap="square">
            <a:spAutoFit/>
          </a:bodyPr>
          <a:lstStyle/>
          <a:p>
            <a:pPr algn="l"/>
            <a:r>
              <a:rPr lang="en-US" sz="1200" b="1" u="sng" dirty="0"/>
              <a:t>ARTIFACTS</a:t>
            </a:r>
            <a:endParaRPr lang="en-US" sz="1200" b="1" i="0" u="sng" strike="noStrike" baseline="0" dirty="0"/>
          </a:p>
          <a:p>
            <a:pPr marL="171450" indent="-171450" algn="l">
              <a:buFont typeface="Arial" panose="020B0604020202020204" pitchFamily="34" charset="0"/>
              <a:buChar char="•"/>
            </a:pPr>
            <a:r>
              <a:rPr lang="en-US" sz="1000" b="0" i="0" u="none" strike="noStrike" baseline="0" dirty="0"/>
              <a:t>The Cloud Passwords and Tokens artifact is actually a Refined Result but it is stored within the CLOUD category. </a:t>
            </a:r>
          </a:p>
          <a:p>
            <a:pPr marL="171450" indent="-171450" algn="l">
              <a:buFont typeface="Arial" panose="020B0604020202020204" pitchFamily="34" charset="0"/>
              <a:buChar char="•"/>
            </a:pPr>
            <a:r>
              <a:rPr lang="en-US" sz="1000" b="0" i="0" u="none" strike="noStrike" baseline="0" dirty="0"/>
              <a:t>From the Cloud Passwords and Tokens category, examiner can right-click an artifact &amp; select Add new evidence using passwords/tokens</a:t>
            </a:r>
          </a:p>
          <a:p>
            <a:pPr marL="171450" indent="-171450" algn="l">
              <a:buFont typeface="Arial" panose="020B0604020202020204" pitchFamily="34" charset="0"/>
              <a:buChar char="•"/>
            </a:pPr>
            <a:r>
              <a:rPr lang="en-US" sz="1000" b="0" i="0" u="none" strike="noStrike" baseline="0" dirty="0"/>
              <a:t>This automatically launches AXIOM Process with the artifact data pre-populated for the account. </a:t>
            </a:r>
          </a:p>
          <a:p>
            <a:pPr marL="171450" indent="-171450" algn="l">
              <a:buFont typeface="Arial" panose="020B0604020202020204" pitchFamily="34" charset="0"/>
              <a:buChar char="•"/>
            </a:pPr>
            <a:r>
              <a:rPr lang="en-US" sz="1000" dirty="0"/>
              <a:t>P</a:t>
            </a:r>
            <a:r>
              <a:rPr lang="en-US" sz="1000" b="0" i="0" u="none" strike="noStrike" baseline="0" dirty="0"/>
              <a:t>revents typographic errors when entering account credentials removing the risk of locking the account due to mis-typed password</a:t>
            </a:r>
          </a:p>
          <a:p>
            <a:pPr algn="l"/>
            <a:r>
              <a:rPr lang="en-US" sz="1000" b="1" u="sng" dirty="0"/>
              <a:t>iCloud Photos</a:t>
            </a:r>
            <a:endParaRPr lang="en-US" sz="1000" b="1" i="0" u="sng" strike="noStrike" baseline="0" dirty="0"/>
          </a:p>
          <a:p>
            <a:pPr marL="171450" indent="-171450" algn="l">
              <a:buFont typeface="Arial" panose="020B0604020202020204" pitchFamily="34" charset="0"/>
              <a:buChar char="•"/>
            </a:pPr>
            <a:r>
              <a:rPr lang="en-US" sz="1000" b="0" i="0" u="none" strike="noStrike" baseline="0" dirty="0"/>
              <a:t>includes: .JPG; .PNG; .MOV; and .HEIC files. </a:t>
            </a:r>
          </a:p>
          <a:p>
            <a:pPr marL="171450" indent="-171450" algn="l">
              <a:buFont typeface="Arial" panose="020B0604020202020204" pitchFamily="34" charset="0"/>
              <a:buChar char="•"/>
            </a:pPr>
            <a:r>
              <a:rPr lang="en-US" sz="1000" b="0" i="0" u="none" strike="noStrike" baseline="0" dirty="0"/>
              <a:t>Camera Roll: not necessarily taken using the iOS device itself.</a:t>
            </a:r>
          </a:p>
          <a:p>
            <a:pPr algn="l"/>
            <a:r>
              <a:rPr lang="en-US" sz="1000" b="1" i="0" u="sng" strike="noStrike" baseline="0" dirty="0"/>
              <a:t>Dropbox</a:t>
            </a:r>
          </a:p>
          <a:p>
            <a:pPr marL="171450" indent="-171450" algn="l">
              <a:buFont typeface="Arial" panose="020B0604020202020204" pitchFamily="34" charset="0"/>
              <a:buChar char="•"/>
            </a:pPr>
            <a:r>
              <a:rPr lang="en-US" sz="1000" b="0" i="0" u="none" strike="noStrike" baseline="0" dirty="0">
                <a:solidFill>
                  <a:srgbClr val="000000"/>
                </a:solidFill>
              </a:rPr>
              <a:t>ARTIFACT INFO includes: location of file within the </a:t>
            </a:r>
            <a:r>
              <a:rPr lang="en-US" sz="1000" b="0" i="0" u="none" strike="noStrike" baseline="0" dirty="0" err="1">
                <a:solidFill>
                  <a:srgbClr val="000000"/>
                </a:solidFill>
              </a:rPr>
              <a:t>dropbox</a:t>
            </a:r>
            <a:r>
              <a:rPr lang="en-US" sz="1000" dirty="0">
                <a:solidFill>
                  <a:srgbClr val="000000"/>
                </a:solidFill>
              </a:rPr>
              <a:t> </a:t>
            </a:r>
            <a:r>
              <a:rPr lang="en-US" sz="1000" b="0" i="0" u="none" strike="noStrike" baseline="0" dirty="0">
                <a:solidFill>
                  <a:srgbClr val="000000"/>
                </a:solidFill>
              </a:rPr>
              <a:t>account; a File ID; a File Version ID; the server and client last modified date and time; original photo timestamp if present; a preview of the file</a:t>
            </a:r>
            <a:r>
              <a:rPr lang="en-US" sz="1000" b="0" i="0" u="none" strike="noStrike" baseline="0" dirty="0"/>
              <a:t> </a:t>
            </a:r>
          </a:p>
          <a:p>
            <a:pPr marL="171450" indent="-171450" algn="l">
              <a:buFont typeface="Arial" panose="020B0604020202020204" pitchFamily="34" charset="0"/>
              <a:buChar char="•"/>
            </a:pPr>
            <a:r>
              <a:rPr lang="en-US" sz="1000" b="0" i="0" u="none" strike="noStrike" baseline="0" dirty="0"/>
              <a:t>All the files/folders extracted from Dropbox are displayed in File system explorer in </a:t>
            </a:r>
            <a:r>
              <a:rPr lang="en-US" sz="1000" b="1" i="0" u="none" strike="noStrike" baseline="0" dirty="0"/>
              <a:t>.zip </a:t>
            </a:r>
            <a:r>
              <a:rPr lang="en-US" sz="1000" b="0" i="0" u="none" strike="noStrike" baseline="0" dirty="0"/>
              <a:t>evidence file generated during acquisition. </a:t>
            </a:r>
          </a:p>
          <a:p>
            <a:pPr marL="171450" indent="-171450" algn="l">
              <a:buFont typeface="Arial" panose="020B0604020202020204" pitchFamily="34" charset="0"/>
              <a:buChar char="•"/>
            </a:pPr>
            <a:r>
              <a:rPr lang="en-US" sz="1000" b="0" i="0" u="none" strike="noStrike" baseline="0" dirty="0"/>
              <a:t>May be connections from Dropbox files e.g. the MD5 hash value. </a:t>
            </a:r>
          </a:p>
          <a:p>
            <a:pPr marL="171450" indent="-171450" algn="l">
              <a:buFont typeface="Arial" panose="020B0604020202020204" pitchFamily="34" charset="0"/>
              <a:buChar char="•"/>
            </a:pPr>
            <a:r>
              <a:rPr lang="en-US" sz="1000" dirty="0"/>
              <a:t>A</a:t>
            </a:r>
            <a:r>
              <a:rPr lang="en-US" sz="1000" b="0" i="0" u="none" strike="noStrike" baseline="0" dirty="0"/>
              <a:t>scertain if these cloud-stored files also stored on other devices</a:t>
            </a:r>
          </a:p>
          <a:p>
            <a:pPr algn="l"/>
            <a:r>
              <a:rPr lang="en-US" sz="1000" b="1" u="sng" dirty="0"/>
              <a:t>Facebook</a:t>
            </a:r>
          </a:p>
          <a:p>
            <a:pPr marL="171450" indent="-171450" algn="l">
              <a:buFont typeface="Arial" panose="020B0604020202020204" pitchFamily="34" charset="0"/>
              <a:buChar char="•"/>
            </a:pPr>
            <a:r>
              <a:rPr lang="en-US" sz="1000" b="0" i="0" u="none" strike="noStrike" baseline="0" dirty="0"/>
              <a:t>Cloud Facebook Messenger Messages captured are processed same as chat messages sourced from other platforms. </a:t>
            </a:r>
          </a:p>
          <a:p>
            <a:pPr marL="171450" indent="-171450" algn="l">
              <a:buFont typeface="Arial" panose="020B0604020202020204" pitchFamily="34" charset="0"/>
              <a:buChar char="•"/>
            </a:pPr>
            <a:r>
              <a:rPr lang="en-US" sz="1000" b="0" i="0" u="none" strike="noStrike" baseline="0" dirty="0"/>
              <a:t>Identifiers are extracted and compiled into the </a:t>
            </a:r>
            <a:r>
              <a:rPr lang="en-US" sz="1000" b="1" i="0" u="none" strike="noStrike" baseline="0" dirty="0"/>
              <a:t>REFINED RESULTS → Identifiers </a:t>
            </a:r>
            <a:r>
              <a:rPr lang="en-US" sz="1000" b="0" i="0" u="none" strike="noStrike" baseline="0" dirty="0"/>
              <a:t>category</a:t>
            </a:r>
          </a:p>
          <a:p>
            <a:pPr marL="171450" indent="-171450" algn="l">
              <a:buFont typeface="Arial" panose="020B0604020202020204" pitchFamily="34" charset="0"/>
              <a:buChar char="•"/>
            </a:pPr>
            <a:r>
              <a:rPr lang="en-US" sz="1000" b="0" i="0" u="none" strike="noStrike" baseline="0" dirty="0"/>
              <a:t>Connections are created to map links between individuals</a:t>
            </a:r>
          </a:p>
          <a:p>
            <a:pPr algn="l"/>
            <a:r>
              <a:rPr lang="en-US" sz="1000" b="1" u="sng" dirty="0"/>
              <a:t>Google</a:t>
            </a:r>
            <a:r>
              <a:rPr lang="en-US" sz="1000" dirty="0"/>
              <a:t>	</a:t>
            </a:r>
          </a:p>
          <a:p>
            <a:pPr marL="171450" indent="-171450" algn="l">
              <a:buFont typeface="Arial" panose="020B0604020202020204" pitchFamily="34" charset="0"/>
              <a:buChar char="•"/>
            </a:pPr>
            <a:r>
              <a:rPr lang="en-US" sz="1000" b="0" i="0" u="none" strike="noStrike" baseline="0" dirty="0"/>
              <a:t>Cloud Google Recent Devices artifact: details other devices used to access the Google account</a:t>
            </a:r>
          </a:p>
          <a:p>
            <a:pPr marL="171450" indent="-171450" algn="l">
              <a:buFont typeface="Arial" panose="020B0604020202020204" pitchFamily="34" charset="0"/>
              <a:buChar char="•"/>
            </a:pPr>
            <a:r>
              <a:rPr lang="en-US" sz="1000" b="0" i="0" u="none" strike="noStrike" baseline="0" dirty="0">
                <a:solidFill>
                  <a:srgbClr val="000000"/>
                </a:solidFill>
              </a:rPr>
              <a:t>Cloud Google Connected Apps: apps with access to Google account.</a:t>
            </a:r>
          </a:p>
          <a:p>
            <a:pPr marL="171450" indent="-171450" algn="l">
              <a:buFont typeface="Arial" panose="020B0604020202020204" pitchFamily="34" charset="0"/>
              <a:buChar char="•"/>
            </a:pPr>
            <a:r>
              <a:rPr lang="en-US" sz="1000" b="0" i="0" u="none" strike="noStrike" baseline="0" dirty="0"/>
              <a:t>If the user signs in to their Google account from an Android device or utilizes Google location services: any info recorded by Google will be located in the Cloud Google Timeline Locations category</a:t>
            </a:r>
          </a:p>
          <a:p>
            <a:pPr marL="171450" indent="-171450" algn="l">
              <a:buFont typeface="Arial" panose="020B0604020202020204" pitchFamily="34" charset="0"/>
              <a:buChar char="•"/>
            </a:pPr>
            <a:r>
              <a:rPr lang="en-US" sz="1000" dirty="0"/>
              <a:t>T</a:t>
            </a:r>
            <a:r>
              <a:rPr lang="en-US" sz="1000" b="0" i="0" u="none" strike="noStrike" baseline="0" dirty="0"/>
              <a:t>hese locations often logged without any outside action by the user.</a:t>
            </a:r>
          </a:p>
          <a:p>
            <a:pPr marL="171450" indent="-171450" algn="l">
              <a:buFont typeface="Arial" panose="020B0604020202020204" pitchFamily="34" charset="0"/>
              <a:buChar char="•"/>
            </a:pPr>
            <a:r>
              <a:rPr lang="en-US" sz="1000" b="0" i="0" u="none" strike="noStrike" baseline="0" dirty="0"/>
              <a:t>When a user accesses one of the services within the Google platform while logged into their Google account data is recorded and stored. </a:t>
            </a:r>
          </a:p>
          <a:p>
            <a:pPr marL="171450" indent="-171450" algn="l">
              <a:buFont typeface="Arial" panose="020B0604020202020204" pitchFamily="34" charset="0"/>
              <a:buChar char="•"/>
            </a:pPr>
            <a:r>
              <a:rPr lang="en-US" sz="1000" b="0" i="0" u="none" strike="noStrike" baseline="0" dirty="0"/>
              <a:t>Google ‘My Activity’ page. AXIOM </a:t>
            </a:r>
            <a:r>
              <a:rPr lang="en-US" sz="1000" b="0" i="0" u="none" strike="noStrike" baseline="0" dirty="0">
                <a:sym typeface="Wingdings" panose="05000000000000000000" pitchFamily="2" charset="2"/>
              </a:rPr>
              <a:t> </a:t>
            </a:r>
            <a:r>
              <a:rPr lang="en-US" sz="1000" b="0" i="0" u="none" strike="noStrike" baseline="0" dirty="0"/>
              <a:t>Cloud Google Activity category. </a:t>
            </a:r>
          </a:p>
          <a:p>
            <a:pPr marL="171450" indent="-171450" algn="l">
              <a:buFont typeface="Arial" panose="020B0604020202020204" pitchFamily="34" charset="0"/>
              <a:buChar char="•"/>
            </a:pPr>
            <a:r>
              <a:rPr lang="en-US" sz="1000" b="0" i="0" u="none" strike="noStrike" baseline="0" dirty="0"/>
              <a:t>Includes: browsing history/searches; YouTube search/watch history; searches for locations or directions; Google Assistant activity from Google Home </a:t>
            </a:r>
            <a:r>
              <a:rPr lang="en-US" sz="1000" b="0" i="0" u="none" strike="noStrike" baseline="0"/>
              <a:t>devices; applications </a:t>
            </a:r>
            <a:r>
              <a:rPr lang="en-US" sz="1000" b="0" i="0" u="none" strike="noStrike" baseline="0" dirty="0"/>
              <a:t>that were downloaded and used. </a:t>
            </a:r>
          </a:p>
          <a:p>
            <a:pPr marL="171450" indent="-171450" algn="l">
              <a:buFont typeface="Arial" panose="020B0604020202020204" pitchFamily="34" charset="0"/>
              <a:buChar char="•"/>
            </a:pPr>
            <a:r>
              <a:rPr lang="en-US" sz="1000" b="0" i="0" u="none" strike="noStrike" baseline="0" dirty="0"/>
              <a:t>Many of these actions include date and timestamps, and in some cases geolocation data detailing where the device was when the activity occurred </a:t>
            </a:r>
            <a:r>
              <a:rPr lang="en-US" sz="1000" b="0" i="1" u="none" strike="noStrike" baseline="0" dirty="0">
                <a:latin typeface="Calibri" panose="020F0502020204030204" pitchFamily="34" charset="0"/>
                <a:cs typeface="Calibri" panose="020F0502020204030204" pitchFamily="34" charset="0"/>
              </a:rPr>
              <a:t>\Google\Drive Files\Attachments\</a:t>
            </a:r>
            <a:endParaRPr lang="en-US" sz="1000" b="1" i="1"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E227D081-46A2-47C6-911A-C3DAD9359193}"/>
              </a:ext>
            </a:extLst>
          </p:cNvPr>
          <p:cNvSpPr txBox="1"/>
          <p:nvPr/>
        </p:nvSpPr>
        <p:spPr>
          <a:xfrm>
            <a:off x="100584" y="330297"/>
            <a:ext cx="3913632" cy="6586418"/>
          </a:xfrm>
          <a:prstGeom prst="rect">
            <a:avLst/>
          </a:prstGeom>
          <a:noFill/>
          <a:ln>
            <a:noFill/>
          </a:ln>
        </p:spPr>
        <p:txBody>
          <a:bodyPr wrap="square">
            <a:spAutoFit/>
          </a:bodyPr>
          <a:lstStyle/>
          <a:p>
            <a:pPr marL="171450" indent="-171450" algn="l">
              <a:buFont typeface="Arial" panose="020B0604020202020204" pitchFamily="34" charset="0"/>
              <a:buChar char="•"/>
            </a:pPr>
            <a:r>
              <a:rPr lang="en-US" sz="1000" b="0" i="0" u="none" strike="noStrike" baseline="0" dirty="0"/>
              <a:t>Data that is coming from the cloud simply refers to information that is coming from server-stored locations</a:t>
            </a:r>
          </a:p>
          <a:p>
            <a:pPr algn="l"/>
            <a:r>
              <a:rPr lang="en-US" sz="1000" b="1" u="sng" dirty="0"/>
              <a:t>ACQUISITION/LOAD EVIDENCE</a:t>
            </a:r>
            <a:endParaRPr lang="en-US" sz="1000" b="1" i="0" u="sng" strike="noStrike" baseline="0" dirty="0"/>
          </a:p>
          <a:p>
            <a:pPr marL="171450" indent="-171450" algn="l">
              <a:buFont typeface="Arial" panose="020B0604020202020204" pitchFamily="34" charset="0"/>
              <a:buChar char="•"/>
            </a:pPr>
            <a:r>
              <a:rPr lang="en-US" sz="1000" b="0" i="0" u="none" strike="noStrike" baseline="0" dirty="0"/>
              <a:t>ACQUIRE EVIDENCE platforms supported by AXIOM are displayed. </a:t>
            </a:r>
          </a:p>
          <a:p>
            <a:pPr marL="171450" indent="-171450" algn="l">
              <a:buFont typeface="Arial" panose="020B0604020202020204" pitchFamily="34" charset="0"/>
              <a:buChar char="•"/>
            </a:pPr>
            <a:r>
              <a:rPr lang="en-US" sz="1000" b="0" i="0" u="none" strike="noStrike" baseline="0" dirty="0"/>
              <a:t>Select targeted info from each cloud platform using either a username/password combination or a recovered token. The LOAD EVIDENCE option allows the examiner to add data previously acquired using AXIOM Cloud, or to add data from other sources</a:t>
            </a:r>
          </a:p>
          <a:p>
            <a:pPr marL="171450" indent="-171450" algn="l">
              <a:buFont typeface="Arial" panose="020B0604020202020204" pitchFamily="34" charset="0"/>
              <a:buChar char="•"/>
            </a:pPr>
            <a:r>
              <a:rPr lang="en-US" sz="1000" b="0" i="0" u="none" strike="noStrike" baseline="0" dirty="0"/>
              <a:t>Google Takeout a valuable source of cloud stored information.</a:t>
            </a:r>
          </a:p>
          <a:p>
            <a:pPr marL="171450" indent="-171450" algn="l">
              <a:buFont typeface="Arial" panose="020B0604020202020204" pitchFamily="34" charset="0"/>
              <a:buChar char="•"/>
            </a:pPr>
            <a:r>
              <a:rPr lang="en-US" sz="1000" dirty="0"/>
              <a:t>AXIOM asks if you have authority (country-by-country basis)</a:t>
            </a:r>
          </a:p>
          <a:p>
            <a:pPr marL="171450" indent="-171450">
              <a:buFont typeface="Arial" panose="020B0604020202020204" pitchFamily="34" charset="0"/>
              <a:buChar char="•"/>
            </a:pPr>
            <a:r>
              <a:rPr lang="en-US" sz="1000" dirty="0"/>
              <a:t>AXIOM asks for warrant number</a:t>
            </a:r>
          </a:p>
          <a:p>
            <a:pPr marL="171450" indent="-171450">
              <a:buFont typeface="Arial" panose="020B0604020202020204" pitchFamily="34" charset="0"/>
              <a:buChar char="•"/>
            </a:pPr>
            <a:r>
              <a:rPr lang="en-US" sz="1000" b="0" i="0" u="none" strike="noStrike" baseline="0" dirty="0"/>
              <a:t>Account credentials</a:t>
            </a:r>
          </a:p>
          <a:p>
            <a:pPr marL="171450" indent="-171450">
              <a:buFont typeface="Arial" panose="020B0604020202020204" pitchFamily="34" charset="0"/>
              <a:buChar char="•"/>
            </a:pPr>
            <a:r>
              <a:rPr lang="en-US" sz="1000" b="0" i="0" u="none" strike="noStrike" baseline="0" dirty="0"/>
              <a:t>A token is part of a procedure known as “Token Based Authentication” where a service will generate a key that can be used to reauthenticate to a service without the user constantly needing to enter their credentials over and over within the same session.</a:t>
            </a:r>
          </a:p>
          <a:p>
            <a:pPr marL="171450" indent="-171450">
              <a:buFont typeface="Arial" panose="020B0604020202020204" pitchFamily="34" charset="0"/>
              <a:buChar char="•"/>
            </a:pPr>
            <a:r>
              <a:rPr lang="en-US" sz="1000" dirty="0"/>
              <a:t>Tokens do not need 2FA nor security checks notifying end user when someone is accessing their data.</a:t>
            </a:r>
          </a:p>
          <a:p>
            <a:pPr marL="171450" indent="-171450">
              <a:buFont typeface="Arial" panose="020B0604020202020204" pitchFamily="34" charset="0"/>
              <a:buChar char="•"/>
            </a:pPr>
            <a:r>
              <a:rPr lang="en-US" sz="1000" b="0" i="0" u="none" strike="noStrike" baseline="0" dirty="0"/>
              <a:t>Most commonly tokens can be recovered from an Android </a:t>
            </a:r>
            <a:r>
              <a:rPr lang="en-US" sz="1000" b="1" i="0" u="none" strike="noStrike" baseline="0" dirty="0" err="1"/>
              <a:t>accounts.db</a:t>
            </a:r>
            <a:r>
              <a:rPr lang="en-US" sz="1000" b="1" i="0" u="none" strike="noStrike" baseline="0" dirty="0"/>
              <a:t> </a:t>
            </a:r>
            <a:r>
              <a:rPr lang="en-US" sz="1000" b="0" i="0" u="none" strike="noStrike" baseline="0" dirty="0"/>
              <a:t>file or the iOS/macOS keychain.</a:t>
            </a:r>
          </a:p>
          <a:p>
            <a:pPr algn="l"/>
            <a:r>
              <a:rPr lang="en-US" sz="1200" b="1" u="sng" dirty="0"/>
              <a:t>Apple</a:t>
            </a:r>
          </a:p>
          <a:p>
            <a:pPr algn="l"/>
            <a:r>
              <a:rPr lang="en-US" sz="1000" dirty="0"/>
              <a:t>Apple ID is the centralized login service on both iOS and macOS devices. It can contain data backed up from iOS devices incl. full device backups; photos; application; e-mail stored within iCloud; and files that are stored in the user’s iCloud Drive service.</a:t>
            </a:r>
          </a:p>
          <a:p>
            <a:pPr algn="l"/>
            <a:r>
              <a:rPr lang="en-US" sz="1000" b="0" i="0" u="none" strike="noStrike" baseline="0" dirty="0"/>
              <a:t>AXIOM Process also supports sign into the Apple iCloud using 2FA. </a:t>
            </a:r>
          </a:p>
          <a:p>
            <a:pPr algn="l"/>
            <a:r>
              <a:rPr lang="en-US" sz="1000" b="0" i="0" u="none" strike="noStrike" baseline="0" dirty="0"/>
              <a:t>Once the APPLE platform is selected, a sign-in window is displayed and the examiner can enter the credentials for the account to be acquired.</a:t>
            </a:r>
          </a:p>
          <a:p>
            <a:pPr algn="l"/>
            <a:r>
              <a:rPr lang="en-US" sz="1000" b="0" i="0" u="none" strike="noStrike" baseline="0" dirty="0"/>
              <a:t>If 2FA is activated on the account an addition window is displayed and the verification code must be entered before AXIOM Process can continue.</a:t>
            </a:r>
            <a:endParaRPr lang="en-US" sz="1000" dirty="0"/>
          </a:p>
          <a:p>
            <a:pPr algn="l"/>
            <a:r>
              <a:rPr lang="en-US" sz="1000" b="0" i="0" u="none" strike="noStrike" baseline="0" dirty="0"/>
              <a:t>To authenticate to the FACEBOOK credentials or a previously acquired token are needed.</a:t>
            </a:r>
          </a:p>
          <a:p>
            <a:pPr algn="l"/>
            <a:r>
              <a:rPr lang="en-US" sz="1000" b="0" i="0" u="none" strike="noStrike" baseline="0" dirty="0"/>
              <a:t>DROPBOX authenticating to the account using either the account credentials or a previously acquired token Google stores a token file on Android devices within the </a:t>
            </a:r>
            <a:r>
              <a:rPr lang="en-US" sz="1000" b="1" i="0" u="none" strike="noStrike" baseline="0" dirty="0" err="1"/>
              <a:t>accounts.db</a:t>
            </a:r>
            <a:r>
              <a:rPr lang="en-US" sz="1000" b="1" i="0" u="none" strike="noStrike" baseline="0" dirty="0"/>
              <a:t> </a:t>
            </a:r>
            <a:r>
              <a:rPr lang="en-US" sz="1000" b="0" i="0" u="none" strike="noStrike" baseline="0" dirty="0"/>
              <a:t>database file.</a:t>
            </a:r>
            <a:endParaRPr lang="en-US" sz="1000" dirty="0"/>
          </a:p>
          <a:p>
            <a:pPr algn="l"/>
            <a:r>
              <a:rPr lang="en-US" sz="1000" b="0" i="0" u="none" strike="noStrike" baseline="0" dirty="0"/>
              <a:t>This token can be used to access almost all the information stored by Google. Additionally, this token does not seem to expire for an extended period of time so is a prime example of using a token to access information stored in the cloud. </a:t>
            </a:r>
          </a:p>
          <a:p>
            <a:pPr algn="l"/>
            <a:r>
              <a:rPr lang="en-US" sz="1000" b="0" i="0" u="none" strike="noStrike" baseline="0" dirty="0"/>
              <a:t>A list of all Google Services is displayed for forensic collection.</a:t>
            </a:r>
          </a:p>
        </p:txBody>
      </p:sp>
      <p:sp>
        <p:nvSpPr>
          <p:cNvPr id="13" name="TextBox 12">
            <a:extLst>
              <a:ext uri="{FF2B5EF4-FFF2-40B4-BE49-F238E27FC236}">
                <a16:creationId xmlns:a16="http://schemas.microsoft.com/office/drawing/2014/main" id="{F554C2EF-8139-4038-87FF-E33DCD7599E5}"/>
              </a:ext>
            </a:extLst>
          </p:cNvPr>
          <p:cNvSpPr txBox="1"/>
          <p:nvPr/>
        </p:nvSpPr>
        <p:spPr>
          <a:xfrm>
            <a:off x="8052816" y="-39035"/>
            <a:ext cx="1293752" cy="369332"/>
          </a:xfrm>
          <a:prstGeom prst="rect">
            <a:avLst/>
          </a:prstGeom>
          <a:noFill/>
        </p:spPr>
        <p:txBody>
          <a:bodyPr wrap="none" rtlCol="0">
            <a:spAutoFit/>
          </a:bodyPr>
          <a:lstStyle/>
          <a:p>
            <a:r>
              <a:rPr lang="en-US" b="1" u="sng" dirty="0"/>
              <a:t>6 Reporting</a:t>
            </a:r>
          </a:p>
        </p:txBody>
      </p:sp>
      <p:sp>
        <p:nvSpPr>
          <p:cNvPr id="15" name="TextBox 14">
            <a:extLst>
              <a:ext uri="{FF2B5EF4-FFF2-40B4-BE49-F238E27FC236}">
                <a16:creationId xmlns:a16="http://schemas.microsoft.com/office/drawing/2014/main" id="{9367EAC9-D4EA-4407-B2D8-0B5DAC3F72B9}"/>
              </a:ext>
            </a:extLst>
          </p:cNvPr>
          <p:cNvSpPr txBox="1"/>
          <p:nvPr/>
        </p:nvSpPr>
        <p:spPr>
          <a:xfrm>
            <a:off x="8124524" y="330297"/>
            <a:ext cx="3913632" cy="6124754"/>
          </a:xfrm>
          <a:prstGeom prst="rect">
            <a:avLst/>
          </a:prstGeom>
          <a:noFill/>
          <a:ln>
            <a:noFill/>
          </a:ln>
        </p:spPr>
        <p:txBody>
          <a:bodyPr wrap="square">
            <a:spAutoFit/>
          </a:bodyPr>
          <a:lstStyle/>
          <a:p>
            <a:r>
              <a:rPr lang="en-US" sz="1200" b="1" u="sng" dirty="0"/>
              <a:t>Export vs Save</a:t>
            </a:r>
          </a:p>
          <a:p>
            <a:pPr marL="171450" indent="-171450">
              <a:buFont typeface="Arial" panose="020B0604020202020204" pitchFamily="34" charset="0"/>
              <a:buChar char="•"/>
            </a:pPr>
            <a:r>
              <a:rPr lang="en-US" sz="1000" i="0" strike="noStrike" baseline="0" dirty="0"/>
              <a:t>Exporting creates an output file with artifact attributes/metadata</a:t>
            </a:r>
          </a:p>
          <a:p>
            <a:pPr marL="171450" indent="-171450">
              <a:buFont typeface="Arial" panose="020B0604020202020204" pitchFamily="34" charset="0"/>
              <a:buChar char="•"/>
            </a:pPr>
            <a:r>
              <a:rPr lang="en-US" sz="1000" dirty="0"/>
              <a:t>Saving will save a copy of the artifact</a:t>
            </a:r>
          </a:p>
          <a:p>
            <a:pPr algn="l"/>
            <a:r>
              <a:rPr lang="en-US" sz="1000" b="0" i="0" u="none" strike="noStrike" baseline="0" dirty="0"/>
              <a:t>File menu &gt; Create portable case option allows for the exporting of artifact details from the column values in the EVIDENCE pane.</a:t>
            </a:r>
          </a:p>
          <a:p>
            <a:pPr algn="l"/>
            <a:r>
              <a:rPr lang="en-US" sz="1000" b="0" i="0" u="none" strike="noStrike" baseline="0" dirty="0"/>
              <a:t>Create report / export popup window appears. </a:t>
            </a:r>
          </a:p>
          <a:p>
            <a:pPr algn="l"/>
            <a:r>
              <a:rPr lang="en-US" sz="1000" b="0" i="0" u="none" strike="noStrike" baseline="0" dirty="0"/>
              <a:t>Within the window, users have the option of selecting the output file path, the output file type, and the items to be included in the export. </a:t>
            </a:r>
          </a:p>
          <a:p>
            <a:pPr algn="l"/>
            <a:r>
              <a:rPr lang="en-US" sz="1000" b="0" i="0" u="none" strike="noStrike" baseline="0" dirty="0"/>
              <a:t>By default, AXIOM will label the output file with th</a:t>
            </a:r>
            <a:r>
              <a:rPr lang="en-US" sz="1000" dirty="0"/>
              <a:t>e </a:t>
            </a:r>
            <a:r>
              <a:rPr lang="en-US" sz="1000" b="0" i="0" u="none" strike="noStrike" baseline="0" dirty="0"/>
              <a:t>prefix and an extension based on the file type selected, such as export.csv.</a:t>
            </a:r>
            <a:endParaRPr lang="en-US" sz="1000" dirty="0"/>
          </a:p>
          <a:p>
            <a:pPr algn="l"/>
            <a:endParaRPr lang="en-US" sz="1000" b="1" i="0" u="sng" strike="noStrike" baseline="0" dirty="0"/>
          </a:p>
          <a:p>
            <a:pPr algn="l"/>
            <a:r>
              <a:rPr lang="en-US" sz="1000" b="1" i="0" u="sng" strike="noStrike" baseline="0" dirty="0"/>
              <a:t>True view export</a:t>
            </a:r>
          </a:p>
          <a:p>
            <a:pPr marL="171450" indent="-171450" algn="l">
              <a:buFont typeface="Arial" panose="020B0604020202020204" pitchFamily="34" charset="0"/>
              <a:buChar char="•"/>
            </a:pPr>
            <a:r>
              <a:rPr lang="en-US" sz="1000" dirty="0"/>
              <a:t>In</a:t>
            </a:r>
            <a:r>
              <a:rPr lang="en-US" sz="1000" b="0" i="0" u="none" strike="noStrike" baseline="0" dirty="0"/>
              <a:t> AXIOM, the columns included in the export operation are only those currently displayed in the EVIDENCE pane</a:t>
            </a:r>
          </a:p>
          <a:p>
            <a:pPr marL="171450" indent="-171450" algn="l">
              <a:buFont typeface="Arial" panose="020B0604020202020204" pitchFamily="34" charset="0"/>
              <a:buChar char="•"/>
            </a:pPr>
            <a:r>
              <a:rPr lang="en-US" sz="1000" b="0" i="0" u="none" strike="noStrike" baseline="0" dirty="0"/>
              <a:t>Prior to creating the export, examiners can hide or reorder the columns from the EVIDENCE pane</a:t>
            </a:r>
          </a:p>
          <a:p>
            <a:pPr marL="171450" indent="-171450" algn="l">
              <a:buFont typeface="Arial" panose="020B0604020202020204" pitchFamily="34" charset="0"/>
              <a:buChar char="•"/>
            </a:pPr>
            <a:r>
              <a:rPr lang="en-US" sz="1000" b="0" i="0" u="none" strike="noStrike" baseline="0" dirty="0"/>
              <a:t>When the export is complete, the resulting file will include a “true view” of the columns selected by the examiner</a:t>
            </a:r>
          </a:p>
          <a:p>
            <a:pPr marL="171450" indent="-171450" algn="l">
              <a:buFont typeface="Arial" panose="020B0604020202020204" pitchFamily="34" charset="0"/>
              <a:buChar char="•"/>
            </a:pPr>
            <a:r>
              <a:rPr lang="en-US" sz="1000" dirty="0"/>
              <a:t>Can export </a:t>
            </a:r>
            <a:r>
              <a:rPr lang="en-US" sz="1000" dirty="0" err="1"/>
              <a:t>pst</a:t>
            </a:r>
            <a:endParaRPr lang="en-US" sz="1000" dirty="0"/>
          </a:p>
          <a:p>
            <a:pPr marL="171450" indent="-171450" algn="l">
              <a:buFont typeface="Arial" panose="020B0604020202020204" pitchFamily="34" charset="0"/>
              <a:buChar char="•"/>
            </a:pPr>
            <a:r>
              <a:rPr lang="en-US" sz="1000" i="0" strike="noStrike" baseline="0" dirty="0"/>
              <a:t>Export from File System must be to csv</a:t>
            </a:r>
          </a:p>
          <a:p>
            <a:pPr algn="l"/>
            <a:endParaRPr lang="en-US" sz="1000" b="1" u="sng" dirty="0"/>
          </a:p>
          <a:p>
            <a:pPr algn="l"/>
            <a:r>
              <a:rPr lang="en-US" sz="1000" b="1" u="sng" dirty="0"/>
              <a:t>Portable Case</a:t>
            </a:r>
          </a:p>
          <a:p>
            <a:pPr marL="171450" indent="-171450" algn="l">
              <a:buFont typeface="Arial" panose="020B0604020202020204" pitchFamily="34" charset="0"/>
              <a:buChar char="•"/>
            </a:pPr>
            <a:r>
              <a:rPr lang="en-US" sz="1000" i="0" strike="noStrike" baseline="0" dirty="0" err="1"/>
              <a:t>eg</a:t>
            </a:r>
            <a:r>
              <a:rPr lang="en-US" sz="1000" i="0" strike="noStrike" baseline="0" dirty="0"/>
              <a:t> just share skype artifacts so another investigator can work on those</a:t>
            </a:r>
          </a:p>
          <a:p>
            <a:pPr marL="171450" indent="-171450" algn="l">
              <a:buFont typeface="Arial" panose="020B0604020202020204" pitchFamily="34" charset="0"/>
              <a:buChar char="•"/>
            </a:pPr>
            <a:r>
              <a:rPr lang="en-US" sz="1000" dirty="0"/>
              <a:t>select Skype artifacts</a:t>
            </a:r>
          </a:p>
          <a:p>
            <a:pPr marL="171450" indent="-171450" algn="l">
              <a:buFont typeface="Arial" panose="020B0604020202020204" pitchFamily="34" charset="0"/>
              <a:buChar char="•"/>
            </a:pPr>
            <a:r>
              <a:rPr lang="en-US" sz="1000" i="0" strike="noStrike" baseline="0" dirty="0"/>
              <a:t>File &gt; Create Portable Case &gt; Current View </a:t>
            </a:r>
            <a:r>
              <a:rPr lang="en-US" sz="1000" i="0" strike="noStrike" baseline="0" dirty="0">
                <a:sym typeface="Wingdings" panose="05000000000000000000" pitchFamily="2" charset="2"/>
              </a:rPr>
              <a:t> </a:t>
            </a:r>
            <a:r>
              <a:rPr lang="en-US" sz="1000" i="0" strike="noStrike" baseline="0" dirty="0" err="1">
                <a:sym typeface="Wingdings" panose="05000000000000000000" pitchFamily="2" charset="2"/>
              </a:rPr>
              <a:t>PortableCase</a:t>
            </a:r>
            <a:r>
              <a:rPr lang="en-US" sz="1000" i="0" strike="noStrike" baseline="0" dirty="0">
                <a:sym typeface="Wingdings" panose="05000000000000000000" pitchFamily="2" charset="2"/>
              </a:rPr>
              <a:t> folder &amp; OpenCase.bat (for non-</a:t>
            </a:r>
            <a:r>
              <a:rPr lang="en-US" sz="1000" i="0" strike="noStrike" baseline="0" dirty="0" err="1">
                <a:sym typeface="Wingdings" panose="05000000000000000000" pitchFamily="2" charset="2"/>
              </a:rPr>
              <a:t>lic</a:t>
            </a:r>
            <a:r>
              <a:rPr lang="en-US" sz="1000" i="0" strike="noStrike" baseline="0" dirty="0">
                <a:sym typeface="Wingdings" panose="05000000000000000000" pitchFamily="2" charset="2"/>
              </a:rPr>
              <a:t> users) to launch Axiom lite</a:t>
            </a:r>
          </a:p>
          <a:p>
            <a:pPr marL="171450" indent="-171450" algn="l">
              <a:buFont typeface="Arial" panose="020B0604020202020204" pitchFamily="34" charset="0"/>
              <a:buChar char="•"/>
            </a:pPr>
            <a:r>
              <a:rPr lang="en-US" sz="1000" dirty="0">
                <a:sym typeface="Wingdings" panose="05000000000000000000" pitchFamily="2" charset="2"/>
              </a:rPr>
              <a:t>File &gt; Merge portable case</a:t>
            </a:r>
          </a:p>
          <a:p>
            <a:pPr marL="171450" indent="-171450" algn="l">
              <a:buFont typeface="Arial" panose="020B0604020202020204" pitchFamily="34" charset="0"/>
              <a:buChar char="•"/>
            </a:pPr>
            <a:r>
              <a:rPr lang="en-US" sz="1000" i="0" strike="noStrike" baseline="0" dirty="0">
                <a:sym typeface="Wingdings" panose="05000000000000000000" pitchFamily="2" charset="2"/>
              </a:rPr>
              <a:t>Merge Comments</a:t>
            </a:r>
          </a:p>
          <a:p>
            <a:pPr marL="171450" indent="-171450" algn="l">
              <a:buFont typeface="Arial" panose="020B0604020202020204" pitchFamily="34" charset="0"/>
              <a:buChar char="•"/>
            </a:pPr>
            <a:endParaRPr lang="en-US" sz="1000" dirty="0">
              <a:sym typeface="Wingdings" panose="05000000000000000000" pitchFamily="2" charset="2"/>
            </a:endParaRPr>
          </a:p>
          <a:p>
            <a:pPr algn="l"/>
            <a:r>
              <a:rPr lang="en-US" sz="1000" b="1" i="0" u="sng" strike="noStrike" baseline="0" dirty="0">
                <a:sym typeface="Wingdings" panose="05000000000000000000" pitchFamily="2" charset="2"/>
              </a:rPr>
              <a:t>Export Identifiers</a:t>
            </a:r>
          </a:p>
          <a:p>
            <a:pPr algn="l"/>
            <a:r>
              <a:rPr lang="en-US" sz="1000" dirty="0">
                <a:sym typeface="Wingdings" panose="05000000000000000000" pitchFamily="2" charset="2"/>
              </a:rPr>
              <a:t>Yields json file</a:t>
            </a:r>
          </a:p>
          <a:p>
            <a:r>
              <a:rPr lang="en-US" sz="1000" b="1" i="0" u="sng" strike="noStrike" baseline="0" dirty="0">
                <a:sym typeface="Wingdings" panose="05000000000000000000" pitchFamily="2" charset="2"/>
              </a:rPr>
              <a:t>Export Pics</a:t>
            </a:r>
          </a:p>
          <a:p>
            <a:pPr algn="l"/>
            <a:r>
              <a:rPr lang="en-US" sz="1000" i="0" strike="noStrike" baseline="0" dirty="0">
                <a:sym typeface="Wingdings" panose="05000000000000000000" pitchFamily="2" charset="2"/>
              </a:rPr>
              <a:t>Project VIC/CAID &gt; </a:t>
            </a:r>
            <a:r>
              <a:rPr lang="en-US" sz="1000" i="0" strike="noStrike" baseline="0" dirty="0" err="1">
                <a:sym typeface="Wingdings" panose="05000000000000000000" pitchFamily="2" charset="2"/>
              </a:rPr>
              <a:t>target.json</a:t>
            </a:r>
            <a:endParaRPr lang="en-US" sz="1000" i="0" strike="noStrike" baseline="0" dirty="0">
              <a:sym typeface="Wingdings" panose="05000000000000000000" pitchFamily="2" charset="2"/>
            </a:endParaRPr>
          </a:p>
          <a:p>
            <a:pPr algn="l"/>
            <a:r>
              <a:rPr lang="en-US" sz="1000" dirty="0">
                <a:sym typeface="Wingdings" panose="05000000000000000000" pitchFamily="2" charset="2"/>
              </a:rPr>
              <a:t>Can be used as an alert set in other </a:t>
            </a:r>
            <a:r>
              <a:rPr lang="en-US" sz="1000" dirty="0" err="1">
                <a:sym typeface="Wingdings" panose="05000000000000000000" pitchFamily="2" charset="2"/>
              </a:rPr>
              <a:t>inestigations</a:t>
            </a:r>
            <a:endParaRPr lang="en-US" sz="1000" dirty="0">
              <a:sym typeface="Wingdings" panose="05000000000000000000" pitchFamily="2" charset="2"/>
            </a:endParaRPr>
          </a:p>
          <a:p>
            <a:pPr algn="l"/>
            <a:r>
              <a:rPr lang="en-US" sz="1000" i="0" strike="noStrike" baseline="0" dirty="0">
                <a:sym typeface="Wingdings" panose="05000000000000000000" pitchFamily="2" charset="2"/>
              </a:rPr>
              <a:t>AXIOM Process &gt; Processing Details, Categorize pictures &gt; Add json file &gt; </a:t>
            </a:r>
            <a:r>
              <a:rPr lang="en-US" sz="1000" i="0" strike="noStrike" baseline="0" dirty="0" err="1">
                <a:sym typeface="Wingdings" panose="05000000000000000000" pitchFamily="2" charset="2"/>
              </a:rPr>
              <a:t>target.json</a:t>
            </a:r>
            <a:endParaRPr lang="en-US" sz="1000" i="0" strike="noStrike" baseline="0" dirty="0">
              <a:sym typeface="Wingdings" panose="05000000000000000000" pitchFamily="2" charset="2"/>
            </a:endParaRPr>
          </a:p>
          <a:p>
            <a:pPr algn="l"/>
            <a:r>
              <a:rPr lang="en-US" sz="1000" i="0" strike="noStrike" baseline="0" dirty="0"/>
              <a:t>Final Case</a:t>
            </a:r>
          </a:p>
          <a:p>
            <a:pPr algn="l"/>
            <a:r>
              <a:rPr lang="en-US" sz="1000" dirty="0"/>
              <a:t>Create report/export &gt; html &gt; tagged</a:t>
            </a:r>
            <a:endParaRPr lang="en-US" sz="1000" i="0" strike="noStrike" baseline="0" dirty="0"/>
          </a:p>
        </p:txBody>
      </p:sp>
    </p:spTree>
    <p:extLst>
      <p:ext uri="{BB962C8B-B14F-4D97-AF65-F5344CB8AC3E}">
        <p14:creationId xmlns:p14="http://schemas.microsoft.com/office/powerpoint/2010/main" val="29645527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02FB4EE-16FE-4073-98B0-F0C0301881B5}"/>
              </a:ext>
            </a:extLst>
          </p:cNvPr>
          <p:cNvSpPr txBox="1"/>
          <p:nvPr/>
        </p:nvSpPr>
        <p:spPr>
          <a:xfrm>
            <a:off x="4479721" y="-21258"/>
            <a:ext cx="1302280" cy="369332"/>
          </a:xfrm>
          <a:prstGeom prst="rect">
            <a:avLst/>
          </a:prstGeom>
          <a:noFill/>
        </p:spPr>
        <p:txBody>
          <a:bodyPr wrap="none" rtlCol="0">
            <a:spAutoFit/>
          </a:bodyPr>
          <a:lstStyle/>
          <a:p>
            <a:r>
              <a:rPr lang="en-US" b="1" u="sng" dirty="0"/>
              <a:t>QUESTIONS</a:t>
            </a:r>
          </a:p>
        </p:txBody>
      </p:sp>
      <p:sp>
        <p:nvSpPr>
          <p:cNvPr id="5" name="TextBox 4">
            <a:extLst>
              <a:ext uri="{FF2B5EF4-FFF2-40B4-BE49-F238E27FC236}">
                <a16:creationId xmlns:a16="http://schemas.microsoft.com/office/drawing/2014/main" id="{FD310551-68D4-43B9-BA49-E2E1E335D8C9}"/>
              </a:ext>
            </a:extLst>
          </p:cNvPr>
          <p:cNvSpPr txBox="1"/>
          <p:nvPr/>
        </p:nvSpPr>
        <p:spPr>
          <a:xfrm>
            <a:off x="0" y="210026"/>
            <a:ext cx="6117336" cy="3847207"/>
          </a:xfrm>
          <a:prstGeom prst="rect">
            <a:avLst/>
          </a:prstGeom>
          <a:noFill/>
        </p:spPr>
        <p:txBody>
          <a:bodyPr wrap="square">
            <a:spAutoFit/>
          </a:bodyPr>
          <a:lstStyle/>
          <a:p>
            <a:pPr algn="l" rtl="0" fontAlgn="base"/>
            <a:r>
              <a:rPr lang="en-US" sz="1100" b="0" i="0" dirty="0">
                <a:solidFill>
                  <a:srgbClr val="1E4E79"/>
                </a:solidFill>
                <a:effectLst/>
              </a:rPr>
              <a:t>REFINED RESULTS </a:t>
            </a:r>
          </a:p>
          <a:p>
            <a:pPr marL="228600" indent="-228600" algn="l" rtl="0" fontAlgn="base">
              <a:buFont typeface="+mj-lt"/>
              <a:buAutoNum type="arabicPeriod"/>
            </a:pPr>
            <a:r>
              <a:rPr lang="en-US" sz="1000" b="0" i="0" dirty="0">
                <a:solidFill>
                  <a:srgbClr val="000000"/>
                </a:solidFill>
                <a:effectLst/>
              </a:rPr>
              <a:t>Process is capable of auto-locating screen names within an evidence source for which instant chat client? </a:t>
            </a:r>
          </a:p>
          <a:p>
            <a:pPr marL="228600" indent="-228600" algn="l" rtl="0" fontAlgn="base">
              <a:buFont typeface="+mj-lt"/>
              <a:buAutoNum type="arabicPeriod"/>
            </a:pPr>
            <a:r>
              <a:rPr lang="en-US" sz="1000" b="0" i="0" dirty="0">
                <a:solidFill>
                  <a:srgbClr val="000000"/>
                </a:solidFill>
                <a:effectLst/>
              </a:rPr>
              <a:t>What is the name of the Skype database that provides most of the client artifacts in AXIOM? </a:t>
            </a:r>
          </a:p>
          <a:p>
            <a:pPr marL="228600" indent="-228600" algn="l" rtl="0" fontAlgn="base">
              <a:buFont typeface="+mj-lt"/>
              <a:buAutoNum type="arabicPeriod"/>
            </a:pPr>
            <a:r>
              <a:rPr lang="en-US" sz="1000" b="0" i="0" dirty="0">
                <a:solidFill>
                  <a:srgbClr val="000000"/>
                </a:solidFill>
                <a:effectLst/>
              </a:rPr>
              <a:t>How do you verify the IP address provided in the Artifacts view in AXIOM? </a:t>
            </a:r>
          </a:p>
          <a:p>
            <a:pPr marL="228600" indent="-228600" algn="l" rtl="0" fontAlgn="base">
              <a:buFont typeface="+mj-lt"/>
              <a:buAutoNum type="arabicPeriod"/>
            </a:pPr>
            <a:r>
              <a:rPr lang="en-US" sz="1000" b="0" i="0" dirty="0">
                <a:solidFill>
                  <a:srgbClr val="000000"/>
                </a:solidFill>
                <a:effectLst/>
              </a:rPr>
              <a:t>What application requires you to input an email address to decrypt the application in AXIOM process? </a:t>
            </a:r>
          </a:p>
          <a:p>
            <a:pPr marL="228600" indent="-228600" algn="l" rtl="0" fontAlgn="base">
              <a:buFont typeface="+mj-lt"/>
              <a:buAutoNum type="arabicPeriod"/>
            </a:pPr>
            <a:r>
              <a:rPr lang="en-US" sz="1000" b="0" i="0" dirty="0">
                <a:solidFill>
                  <a:srgbClr val="000000"/>
                </a:solidFill>
                <a:effectLst/>
              </a:rPr>
              <a:t>What free Magnet Axiom tool can help you discover passwords to decrypt Signal? </a:t>
            </a:r>
          </a:p>
          <a:p>
            <a:pPr marL="228600" indent="-228600" algn="l" rtl="0" fontAlgn="base">
              <a:buFont typeface="+mj-lt"/>
              <a:buAutoNum type="arabicPeriod"/>
            </a:pPr>
            <a:r>
              <a:rPr lang="en-US" sz="1000" b="0" i="0" dirty="0">
                <a:solidFill>
                  <a:srgbClr val="000000"/>
                </a:solidFill>
                <a:effectLst/>
              </a:rPr>
              <a:t>What two Magnet.AI features can be enabled for searching chat artifacts? </a:t>
            </a:r>
            <a:endParaRPr lang="en-US" sz="1000" dirty="0">
              <a:solidFill>
                <a:srgbClr val="000000"/>
              </a:solidFill>
            </a:endParaRPr>
          </a:p>
          <a:p>
            <a:pPr algn="l" rtl="0" fontAlgn="base"/>
            <a:endParaRPr lang="en-US" sz="1000" dirty="0">
              <a:solidFill>
                <a:srgbClr val="000000"/>
              </a:solidFill>
            </a:endParaRPr>
          </a:p>
          <a:p>
            <a:pPr algn="l" rtl="0" fontAlgn="base"/>
            <a:r>
              <a:rPr lang="en-US" sz="1100" b="0" i="0" dirty="0">
                <a:solidFill>
                  <a:srgbClr val="1E4E79"/>
                </a:solidFill>
                <a:effectLst/>
              </a:rPr>
              <a:t>CHAT</a:t>
            </a:r>
          </a:p>
          <a:p>
            <a:pPr marL="228600" indent="-228600" algn="l" rtl="0" fontAlgn="base">
              <a:buAutoNum type="arabicPeriod"/>
            </a:pPr>
            <a:r>
              <a:rPr lang="en-US" sz="1000" b="0" i="0" dirty="0">
                <a:solidFill>
                  <a:srgbClr val="000000"/>
                </a:solidFill>
                <a:effectLst/>
                <a:latin typeface="Calibri" panose="020F0502020204030204" pitchFamily="34" charset="0"/>
              </a:rPr>
              <a:t>AXIOM Process is capable of auto-locating screen names within an evidence source for which chat client</a:t>
            </a:r>
            <a:endParaRPr lang="en-US" sz="1000" dirty="0">
              <a:solidFill>
                <a:srgbClr val="000000"/>
              </a:solidFill>
              <a:latin typeface="Calibri" panose="020F0502020204030204" pitchFamily="34" charset="0"/>
            </a:endParaRPr>
          </a:p>
          <a:p>
            <a:pPr marL="228600" indent="-228600" algn="l" rtl="0" fontAlgn="base">
              <a:buAutoNum type="arabicPeriod"/>
            </a:pPr>
            <a:r>
              <a:rPr lang="en-US" sz="1000" b="0" i="0" dirty="0">
                <a:solidFill>
                  <a:srgbClr val="000000"/>
                </a:solidFill>
                <a:effectLst/>
                <a:latin typeface="Calibri" panose="020F0502020204030204" pitchFamily="34" charset="0"/>
              </a:rPr>
              <a:t>What is the name of the Skype database that provides most of the client artifacts in AXIOM? </a:t>
            </a:r>
            <a:endParaRPr lang="en-US" sz="1000" dirty="0">
              <a:solidFill>
                <a:srgbClr val="000000"/>
              </a:solidFill>
              <a:latin typeface="Segoe UI" panose="020B0502040204020203" pitchFamily="34" charset="0"/>
            </a:endParaRPr>
          </a:p>
          <a:p>
            <a:pPr marL="228600" indent="-228600" algn="l" rtl="0" fontAlgn="base">
              <a:buAutoNum type="arabicPeriod"/>
            </a:pPr>
            <a:r>
              <a:rPr lang="en-US" sz="1000" b="0" i="0" dirty="0">
                <a:solidFill>
                  <a:srgbClr val="000000"/>
                </a:solidFill>
                <a:effectLst/>
                <a:latin typeface="Calibri" panose="020F0502020204030204" pitchFamily="34" charset="0"/>
              </a:rPr>
              <a:t>How do you verify the IP address provided in the Artifacts view in AXIOM? </a:t>
            </a:r>
            <a:endParaRPr lang="en-US" sz="1000" dirty="0">
              <a:solidFill>
                <a:srgbClr val="000000"/>
              </a:solidFill>
              <a:latin typeface="Segoe UI" panose="020B0502040204020203" pitchFamily="34" charset="0"/>
            </a:endParaRPr>
          </a:p>
          <a:p>
            <a:pPr marL="228600" indent="-228600" algn="l" rtl="0" fontAlgn="base">
              <a:buAutoNum type="arabicPeriod"/>
            </a:pPr>
            <a:r>
              <a:rPr lang="en-US" sz="1000" b="0" i="0" dirty="0">
                <a:solidFill>
                  <a:srgbClr val="000000"/>
                </a:solidFill>
                <a:effectLst/>
                <a:latin typeface="Calibri" panose="020F0502020204030204" pitchFamily="34" charset="0"/>
              </a:rPr>
              <a:t>What application requires you to input an email address to decrypt the application in AXIOM process? </a:t>
            </a:r>
            <a:endParaRPr lang="en-US" sz="1000" dirty="0">
              <a:solidFill>
                <a:srgbClr val="000000"/>
              </a:solidFill>
              <a:latin typeface="Segoe UI" panose="020B0502040204020203" pitchFamily="34" charset="0"/>
            </a:endParaRPr>
          </a:p>
          <a:p>
            <a:pPr marL="228600" indent="-228600" algn="l" rtl="0" fontAlgn="base">
              <a:buAutoNum type="arabicPeriod"/>
            </a:pPr>
            <a:r>
              <a:rPr lang="en-US" sz="1000" b="0" i="0" dirty="0">
                <a:solidFill>
                  <a:srgbClr val="000000"/>
                </a:solidFill>
                <a:effectLst/>
                <a:latin typeface="Calibri" panose="020F0502020204030204" pitchFamily="34" charset="0"/>
              </a:rPr>
              <a:t>What free Magnet Axiom tool can help you discover passwords to decrypt Signal? </a:t>
            </a:r>
            <a:endParaRPr lang="en-US" sz="1000" dirty="0">
              <a:solidFill>
                <a:srgbClr val="000000"/>
              </a:solidFill>
              <a:latin typeface="Segoe UI" panose="020B0502040204020203" pitchFamily="34" charset="0"/>
            </a:endParaRPr>
          </a:p>
          <a:p>
            <a:pPr marL="228600" indent="-228600" algn="l" rtl="0" fontAlgn="base">
              <a:buAutoNum type="arabicPeriod"/>
            </a:pPr>
            <a:r>
              <a:rPr lang="en-US" sz="1000" b="0" i="0" dirty="0">
                <a:solidFill>
                  <a:srgbClr val="000000"/>
                </a:solidFill>
                <a:effectLst/>
                <a:latin typeface="Calibri" panose="020F0502020204030204" pitchFamily="34" charset="0"/>
              </a:rPr>
              <a:t>What two Magnet.AI features can be enabled for searching chat artifacts? </a:t>
            </a:r>
            <a:endParaRPr lang="en-US" sz="1000" b="0" i="0" dirty="0">
              <a:solidFill>
                <a:srgbClr val="000000"/>
              </a:solidFill>
              <a:effectLst/>
            </a:endParaRPr>
          </a:p>
          <a:p>
            <a:pPr algn="l" rtl="0" fontAlgn="base"/>
            <a:endParaRPr lang="en-US" sz="1000" b="0" i="0" dirty="0">
              <a:solidFill>
                <a:srgbClr val="000000"/>
              </a:solidFill>
              <a:effectLst/>
            </a:endParaRPr>
          </a:p>
          <a:p>
            <a:pPr algn="l" rtl="0" fontAlgn="base"/>
            <a:r>
              <a:rPr lang="en-US" sz="1100" b="0" i="0" dirty="0">
                <a:solidFill>
                  <a:srgbClr val="1E4E79"/>
                </a:solidFill>
                <a:effectLst/>
              </a:rPr>
              <a:t>DOCUMENTS</a:t>
            </a:r>
          </a:p>
          <a:p>
            <a:pPr marL="228600" indent="-228600" algn="l" rtl="0" fontAlgn="base">
              <a:buFont typeface="+mj-lt"/>
              <a:buAutoNum type="arabicPeriod"/>
            </a:pPr>
            <a:r>
              <a:rPr lang="en-US" sz="1000" b="0" i="0" dirty="0">
                <a:solidFill>
                  <a:srgbClr val="000000"/>
                </a:solidFill>
                <a:effectLst/>
                <a:latin typeface="Calibri" panose="020F0502020204030204" pitchFamily="34" charset="0"/>
              </a:rPr>
              <a:t> Where is the content of a document displayed in AXIOM Examine? </a:t>
            </a:r>
          </a:p>
          <a:p>
            <a:pPr marL="228600" indent="-228600" algn="l" rtl="0" fontAlgn="base">
              <a:buFont typeface="+mj-lt"/>
              <a:buAutoNum type="arabicPeriod"/>
            </a:pPr>
            <a:r>
              <a:rPr lang="en-US" sz="1000" b="0" i="0" dirty="0">
                <a:solidFill>
                  <a:srgbClr val="000000"/>
                </a:solidFill>
                <a:effectLst/>
                <a:latin typeface="Calibri" panose="020F0502020204030204" pitchFamily="34" charset="0"/>
              </a:rPr>
              <a:t> DETAILS, what is the difference between the Created Date/Time and the File System Created Date/Time </a:t>
            </a:r>
          </a:p>
          <a:p>
            <a:pPr marL="228600" indent="-228600" algn="l" rtl="0" fontAlgn="base">
              <a:buFont typeface="+mj-lt"/>
              <a:buAutoNum type="arabicPeriod"/>
            </a:pPr>
            <a:r>
              <a:rPr lang="en-US" sz="1000" b="0" i="0" dirty="0">
                <a:solidFill>
                  <a:srgbClr val="000000"/>
                </a:solidFill>
                <a:effectLst/>
                <a:latin typeface="Calibri" panose="020F0502020204030204" pitchFamily="34" charset="0"/>
              </a:rPr>
              <a:t> Name three document formats searched for and categorized by AXIOM. </a:t>
            </a:r>
          </a:p>
          <a:p>
            <a:pPr marL="228600" indent="-228600" algn="l" rtl="0" fontAlgn="base">
              <a:buFont typeface="+mj-lt"/>
              <a:buAutoNum type="arabicPeriod"/>
            </a:pPr>
            <a:r>
              <a:rPr lang="en-US" sz="1000" b="0" i="0" dirty="0">
                <a:solidFill>
                  <a:srgbClr val="000000"/>
                </a:solidFill>
                <a:effectLst/>
                <a:latin typeface="Calibri" panose="020F0502020204030204" pitchFamily="34" charset="0"/>
              </a:rPr>
              <a:t> What is the difference between the Create report / export and the Save artifact to… functions? </a:t>
            </a:r>
          </a:p>
          <a:p>
            <a:pPr marL="228600" indent="-228600" algn="l" rtl="0" fontAlgn="base">
              <a:buFont typeface="+mj-lt"/>
              <a:buAutoNum type="arabicPeriod"/>
            </a:pPr>
            <a:r>
              <a:rPr lang="en-US" sz="1000" b="0" i="0" dirty="0">
                <a:solidFill>
                  <a:srgbClr val="000000"/>
                </a:solidFill>
                <a:effectLst/>
                <a:latin typeface="Calibri" panose="020F0502020204030204" pitchFamily="34" charset="0"/>
              </a:rPr>
              <a:t> Will a keyword search conducted across the DOCUMENTS category find a word within a PDF? </a:t>
            </a:r>
          </a:p>
          <a:p>
            <a:pPr algn="l" rtl="0" fontAlgn="base"/>
            <a:endParaRPr lang="en-US" sz="1000" dirty="0">
              <a:solidFill>
                <a:srgbClr val="000000"/>
              </a:solidFill>
            </a:endParaRPr>
          </a:p>
          <a:p>
            <a:pPr algn="l" rtl="0" fontAlgn="base"/>
            <a:endParaRPr lang="en-US" sz="1100" b="0" i="0" dirty="0">
              <a:solidFill>
                <a:srgbClr val="000000"/>
              </a:solidFill>
              <a:effectLst/>
            </a:endParaRPr>
          </a:p>
        </p:txBody>
      </p:sp>
      <p:sp>
        <p:nvSpPr>
          <p:cNvPr id="6" name="TextBox 5">
            <a:extLst>
              <a:ext uri="{FF2B5EF4-FFF2-40B4-BE49-F238E27FC236}">
                <a16:creationId xmlns:a16="http://schemas.microsoft.com/office/drawing/2014/main" id="{1C46B786-CA8E-4DD0-833D-96238BDCBFD0}"/>
              </a:ext>
            </a:extLst>
          </p:cNvPr>
          <p:cNvSpPr txBox="1"/>
          <p:nvPr/>
        </p:nvSpPr>
        <p:spPr>
          <a:xfrm>
            <a:off x="6094396" y="271581"/>
            <a:ext cx="6097604" cy="4247317"/>
          </a:xfrm>
          <a:prstGeom prst="rect">
            <a:avLst/>
          </a:prstGeom>
          <a:noFill/>
        </p:spPr>
        <p:txBody>
          <a:bodyPr wrap="square">
            <a:spAutoFit/>
          </a:bodyPr>
          <a:lstStyle/>
          <a:p>
            <a:pPr algn="l" rtl="0" fontAlgn="base"/>
            <a:r>
              <a:rPr lang="en-US" sz="1000" b="0" i="0" dirty="0">
                <a:solidFill>
                  <a:srgbClr val="1E4E79"/>
                </a:solidFill>
                <a:effectLst/>
              </a:rPr>
              <a:t>EMAIL </a:t>
            </a:r>
          </a:p>
          <a:p>
            <a:pPr marL="228600" indent="-228600" algn="l" rtl="0" fontAlgn="base">
              <a:buFont typeface="+mj-lt"/>
              <a:buAutoNum type="arabicPeriod"/>
            </a:pPr>
            <a:r>
              <a:rPr lang="en-US" sz="1000" b="0" i="0" dirty="0">
                <a:solidFill>
                  <a:srgbClr val="000000"/>
                </a:solidFill>
                <a:effectLst/>
              </a:rPr>
              <a:t>Where can EMAIL specific information such as Subject, To, From and Received Time be viewed in AXIOM?</a:t>
            </a:r>
          </a:p>
          <a:p>
            <a:pPr lvl="1" fontAlgn="base"/>
            <a:r>
              <a:rPr lang="en-US" sz="1000" b="0" i="0" dirty="0">
                <a:solidFill>
                  <a:srgbClr val="FF0000"/>
                </a:solidFill>
                <a:effectLst/>
              </a:rPr>
              <a:t>EVIDENCE &amp; DETAILS PANE </a:t>
            </a:r>
          </a:p>
          <a:p>
            <a:pPr marL="228600" indent="-228600" algn="l" rtl="0" fontAlgn="base">
              <a:buFont typeface="+mj-lt"/>
              <a:buAutoNum type="arabicPeriod"/>
            </a:pPr>
            <a:r>
              <a:rPr lang="en-US" sz="1000" b="0" i="0" dirty="0">
                <a:solidFill>
                  <a:srgbClr val="000000"/>
                </a:solidFill>
                <a:effectLst/>
              </a:rPr>
              <a:t>What is the potential investigative value of EMAIL Headers? </a:t>
            </a:r>
          </a:p>
          <a:p>
            <a:pPr lvl="1" fontAlgn="base"/>
            <a:r>
              <a:rPr lang="en-US" sz="1000" b="0" i="0" dirty="0">
                <a:solidFill>
                  <a:srgbClr val="FF0000"/>
                </a:solidFill>
                <a:effectLst/>
              </a:rPr>
              <a:t>IP Addresses, email servers, email client </a:t>
            </a:r>
          </a:p>
          <a:p>
            <a:pPr marL="228600" indent="-228600" algn="l" rtl="0" fontAlgn="base">
              <a:buFont typeface="+mj-lt"/>
              <a:buAutoNum type="arabicPeriod"/>
            </a:pPr>
            <a:r>
              <a:rPr lang="en-US" sz="1000" b="0" i="0" dirty="0">
                <a:solidFill>
                  <a:srgbClr val="000000"/>
                </a:solidFill>
                <a:effectLst/>
              </a:rPr>
              <a:t>How can EMAILS with attachments be quickly identified? </a:t>
            </a:r>
          </a:p>
          <a:p>
            <a:pPr lvl="1" fontAlgn="base"/>
            <a:r>
              <a:rPr lang="en-US" sz="1000" b="0" i="0" dirty="0">
                <a:solidFill>
                  <a:srgbClr val="FF0000"/>
                </a:solidFill>
                <a:effectLst/>
              </a:rPr>
              <a:t>Attachments column or details card</a:t>
            </a:r>
          </a:p>
          <a:p>
            <a:pPr marL="228600" indent="-228600" algn="l" rtl="0" fontAlgn="base">
              <a:buFont typeface="+mj-lt"/>
              <a:buAutoNum type="arabicPeriod"/>
            </a:pPr>
            <a:r>
              <a:rPr lang="en-US" sz="1000" b="0" i="0" dirty="0">
                <a:solidFill>
                  <a:srgbClr val="000000"/>
                </a:solidFill>
                <a:effectLst/>
              </a:rPr>
              <a:t>How do you view EMAIL ATTACHMENTS in AXIOM Examine? </a:t>
            </a:r>
          </a:p>
          <a:p>
            <a:pPr lvl="1" fontAlgn="base"/>
            <a:r>
              <a:rPr lang="en-US" sz="1000" dirty="0">
                <a:solidFill>
                  <a:srgbClr val="FF0000"/>
                </a:solidFill>
              </a:rPr>
              <a:t>A</a:t>
            </a:r>
            <a:r>
              <a:rPr lang="en-US" sz="1000" b="0" i="0" dirty="0">
                <a:solidFill>
                  <a:srgbClr val="FF0000"/>
                </a:solidFill>
                <a:effectLst/>
              </a:rPr>
              <a:t>dditional attach card in details pane</a:t>
            </a:r>
          </a:p>
          <a:p>
            <a:pPr marL="228600" indent="-228600" algn="l" rtl="0" fontAlgn="base">
              <a:buFont typeface="+mj-lt"/>
              <a:buAutoNum type="arabicPeriod"/>
            </a:pPr>
            <a:r>
              <a:rPr lang="en-US" sz="1000" b="0" i="0" dirty="0">
                <a:solidFill>
                  <a:srgbClr val="000000"/>
                </a:solidFill>
                <a:effectLst/>
              </a:rPr>
              <a:t>A GMAIL item has been extracted from a POP protocol. What is the easiest way to view? </a:t>
            </a:r>
          </a:p>
          <a:p>
            <a:pPr lvl="1" fontAlgn="base"/>
            <a:r>
              <a:rPr lang="en-US" sz="1000" b="0" i="0" dirty="0">
                <a:solidFill>
                  <a:srgbClr val="FF0000"/>
                </a:solidFill>
                <a:effectLst/>
              </a:rPr>
              <a:t>Click LOCATION. Cursor will be flashing at offset</a:t>
            </a:r>
          </a:p>
          <a:p>
            <a:pPr marL="228600" indent="-228600" algn="l" rtl="0" fontAlgn="base">
              <a:buFont typeface="+mj-lt"/>
              <a:buAutoNum type="arabicPeriod"/>
            </a:pPr>
            <a:r>
              <a:rPr lang="en-US" sz="1000" b="0" i="0" dirty="0">
                <a:solidFill>
                  <a:srgbClr val="000000"/>
                </a:solidFill>
                <a:effectLst/>
              </a:rPr>
              <a:t>If a keyword Search is conducted from the FILTERS bar, what parts of an EMAIL are searched? </a:t>
            </a:r>
          </a:p>
          <a:p>
            <a:pPr lvl="1" fontAlgn="base"/>
            <a:r>
              <a:rPr lang="en-US" sz="1000" b="0" i="0" dirty="0">
                <a:solidFill>
                  <a:srgbClr val="FF0000"/>
                </a:solidFill>
                <a:effectLst/>
              </a:rPr>
              <a:t>Email content, metadata (To, From, CC and Headers) and source path. </a:t>
            </a:r>
          </a:p>
          <a:p>
            <a:pPr algn="l" rtl="0" fontAlgn="base"/>
            <a:endParaRPr lang="en-US" sz="1000" b="0" i="0" dirty="0">
              <a:solidFill>
                <a:srgbClr val="1E4E79"/>
              </a:solidFill>
              <a:effectLst/>
            </a:endParaRPr>
          </a:p>
          <a:p>
            <a:pPr algn="l" rtl="0" fontAlgn="base"/>
            <a:r>
              <a:rPr lang="en-US" sz="1000" b="0" i="0" dirty="0">
                <a:solidFill>
                  <a:srgbClr val="1E4E79"/>
                </a:solidFill>
                <a:effectLst/>
              </a:rPr>
              <a:t>MEDIA </a:t>
            </a:r>
          </a:p>
          <a:p>
            <a:pPr marL="228600" indent="-228600" algn="l" rtl="0" fontAlgn="base">
              <a:buFont typeface="+mj-lt"/>
              <a:buAutoNum type="arabicPeriod"/>
            </a:pPr>
            <a:r>
              <a:rPr lang="en-US" sz="1000" b="0" i="0" dirty="0">
                <a:solidFill>
                  <a:srgbClr val="000000"/>
                </a:solidFill>
                <a:effectLst/>
              </a:rPr>
              <a:t>What types of data are categorized within the MEDIA artifact category? </a:t>
            </a:r>
          </a:p>
          <a:p>
            <a:pPr lvl="1" fontAlgn="base"/>
            <a:r>
              <a:rPr lang="en-US" sz="1000" dirty="0">
                <a:solidFill>
                  <a:srgbClr val="FF0000"/>
                </a:solidFill>
              </a:rPr>
              <a:t>Audio, Pictures, Videos, Carved videos, Web video fragments</a:t>
            </a:r>
            <a:endParaRPr lang="en-US" sz="1000" b="0" i="0" dirty="0">
              <a:solidFill>
                <a:srgbClr val="FF0000"/>
              </a:solidFill>
              <a:effectLst/>
            </a:endParaRPr>
          </a:p>
          <a:p>
            <a:pPr marL="228600" indent="-228600" algn="l" rtl="0" fontAlgn="base">
              <a:buFont typeface="+mj-lt"/>
              <a:buAutoNum type="arabicPeriod"/>
            </a:pPr>
            <a:r>
              <a:rPr lang="en-US" sz="1000" b="0" i="0" dirty="0">
                <a:solidFill>
                  <a:srgbClr val="000000"/>
                </a:solidFill>
                <a:effectLst/>
              </a:rPr>
              <a:t>What two PREVIEWS are available to help examiners quickly review VIDEO artifacts? </a:t>
            </a:r>
          </a:p>
          <a:p>
            <a:pPr lvl="1" fontAlgn="base"/>
            <a:r>
              <a:rPr lang="en-US" sz="1000" dirty="0">
                <a:solidFill>
                  <a:srgbClr val="FF0000"/>
                </a:solidFill>
              </a:rPr>
              <a:t>Filmstrip preview, playable preview</a:t>
            </a:r>
          </a:p>
          <a:p>
            <a:pPr marL="228600" indent="-228600" algn="l" rtl="0" fontAlgn="base">
              <a:buFont typeface="+mj-lt"/>
              <a:buAutoNum type="arabicPeriod"/>
            </a:pPr>
            <a:r>
              <a:rPr lang="en-US" sz="1000" b="0" i="0" dirty="0">
                <a:solidFill>
                  <a:srgbClr val="000000"/>
                </a:solidFill>
                <a:effectLst/>
              </a:rPr>
              <a:t>At what percentage of a VIDEO file does AXIOM Process take still frames to create the filmstrip PREVIEW?</a:t>
            </a:r>
          </a:p>
          <a:p>
            <a:pPr lvl="1" fontAlgn="base"/>
            <a:r>
              <a:rPr lang="en-US" sz="1000" dirty="0">
                <a:solidFill>
                  <a:srgbClr val="FF0000"/>
                </a:solidFill>
              </a:rPr>
              <a:t>10%</a:t>
            </a:r>
            <a:r>
              <a:rPr lang="en-US" sz="1000" b="0" i="0" dirty="0">
                <a:solidFill>
                  <a:srgbClr val="FF0000"/>
                </a:solidFill>
                <a:effectLst/>
              </a:rPr>
              <a:t> </a:t>
            </a:r>
          </a:p>
          <a:p>
            <a:pPr algn="l" rtl="0" fontAlgn="base"/>
            <a:endParaRPr lang="en-US" sz="1000" dirty="0">
              <a:solidFill>
                <a:srgbClr val="000000"/>
              </a:solidFill>
            </a:endParaRPr>
          </a:p>
          <a:p>
            <a:pPr algn="l" rtl="0" fontAlgn="base"/>
            <a:r>
              <a:rPr lang="en-US" sz="1000" b="0" i="0" dirty="0">
                <a:solidFill>
                  <a:srgbClr val="1E4E79"/>
                </a:solidFill>
                <a:effectLst/>
              </a:rPr>
              <a:t>ENCRYPTION – ANTIFORENSICS TOOLS </a:t>
            </a:r>
          </a:p>
          <a:p>
            <a:pPr marL="228600" indent="-228600" algn="l" rtl="0" fontAlgn="base">
              <a:buFont typeface="+mj-lt"/>
              <a:buAutoNum type="arabicPeriod"/>
            </a:pPr>
            <a:r>
              <a:rPr lang="en-US" sz="1000" b="0" i="0" dirty="0">
                <a:solidFill>
                  <a:srgbClr val="000000"/>
                </a:solidFill>
                <a:effectLst/>
              </a:rPr>
              <a:t>How does AXIOM Process identify Encrypted Files? </a:t>
            </a:r>
          </a:p>
          <a:p>
            <a:pPr marL="228600" indent="-228600" algn="l" rtl="0" fontAlgn="base">
              <a:buFont typeface="+mj-lt"/>
              <a:buAutoNum type="arabicPeriod"/>
            </a:pPr>
            <a:r>
              <a:rPr lang="en-US" sz="1000" b="0" i="0" dirty="0">
                <a:solidFill>
                  <a:srgbClr val="000000"/>
                </a:solidFill>
                <a:effectLst/>
              </a:rPr>
              <a:t>Does an Encrypted Files artifact display what program was used to encrypt files? </a:t>
            </a:r>
          </a:p>
          <a:p>
            <a:pPr marL="228600" indent="-228600" algn="l" rtl="0" fontAlgn="base">
              <a:buFont typeface="+mj-lt"/>
              <a:buAutoNum type="arabicPeriod"/>
            </a:pPr>
            <a:r>
              <a:rPr lang="en-US" sz="1000" b="0" i="0" dirty="0">
                <a:solidFill>
                  <a:srgbClr val="000000"/>
                </a:solidFill>
                <a:effectLst/>
              </a:rPr>
              <a:t>What does AXIOM Process search for when identifying Encryption/Anti-forensics Tools? </a:t>
            </a:r>
            <a:endParaRPr lang="en-US" sz="1000" dirty="0"/>
          </a:p>
        </p:txBody>
      </p:sp>
    </p:spTree>
    <p:extLst>
      <p:ext uri="{BB962C8B-B14F-4D97-AF65-F5344CB8AC3E}">
        <p14:creationId xmlns:p14="http://schemas.microsoft.com/office/powerpoint/2010/main" val="37516982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1656D28-F4DE-4C08-B711-5B68AE108300}"/>
              </a:ext>
            </a:extLst>
          </p:cNvPr>
          <p:cNvSpPr txBox="1"/>
          <p:nvPr/>
        </p:nvSpPr>
        <p:spPr>
          <a:xfrm>
            <a:off x="6074664" y="66541"/>
            <a:ext cx="6117336" cy="5355312"/>
          </a:xfrm>
          <a:prstGeom prst="rect">
            <a:avLst/>
          </a:prstGeom>
          <a:noFill/>
        </p:spPr>
        <p:txBody>
          <a:bodyPr wrap="square">
            <a:spAutoFit/>
          </a:bodyPr>
          <a:lstStyle/>
          <a:p>
            <a:pPr algn="l" rtl="0" fontAlgn="base"/>
            <a:r>
              <a:rPr lang="en-US" sz="1000" b="0" i="0" dirty="0">
                <a:solidFill>
                  <a:srgbClr val="000000"/>
                </a:solidFill>
                <a:effectLst/>
              </a:rPr>
              <a:t> </a:t>
            </a:r>
          </a:p>
          <a:p>
            <a:pPr algn="l" rtl="0" fontAlgn="base"/>
            <a:r>
              <a:rPr lang="en-US" sz="1100" b="0" i="0" dirty="0">
                <a:solidFill>
                  <a:srgbClr val="1E4E79"/>
                </a:solidFill>
                <a:effectLst/>
              </a:rPr>
              <a:t>CLOUD </a:t>
            </a:r>
          </a:p>
          <a:p>
            <a:pPr marL="228600" indent="-228600" algn="l" rtl="0" fontAlgn="base">
              <a:buFont typeface="+mj-lt"/>
              <a:buAutoNum type="arabicPeriod"/>
            </a:pPr>
            <a:r>
              <a:rPr lang="en-US" sz="1000" b="0" i="0" dirty="0">
                <a:solidFill>
                  <a:srgbClr val="000000"/>
                </a:solidFill>
                <a:effectLst/>
              </a:rPr>
              <a:t>List some of the cloud platforms that AXIOM Cloud can collect data from. </a:t>
            </a:r>
          </a:p>
          <a:p>
            <a:pPr marL="228600" indent="-228600" algn="l" rtl="0" fontAlgn="base">
              <a:buFont typeface="+mj-lt"/>
              <a:buAutoNum type="arabicPeriod"/>
            </a:pPr>
            <a:r>
              <a:rPr lang="en-US" sz="1000" b="0" i="0" dirty="0">
                <a:solidFill>
                  <a:srgbClr val="000000"/>
                </a:solidFill>
                <a:effectLst/>
              </a:rPr>
              <a:t>What two authentication methods can AXIOM Cloud use to access data from a cloud account? </a:t>
            </a:r>
          </a:p>
          <a:p>
            <a:pPr marL="685800" lvl="1" indent="-228600" fontAlgn="base">
              <a:buFont typeface="Arial" panose="020B0604020202020204" pitchFamily="34" charset="0"/>
              <a:buChar char="•"/>
            </a:pPr>
            <a:r>
              <a:rPr lang="en-US" sz="1000" dirty="0">
                <a:solidFill>
                  <a:srgbClr val="FF0000"/>
                </a:solidFill>
              </a:rPr>
              <a:t>username/password</a:t>
            </a:r>
          </a:p>
          <a:p>
            <a:pPr marL="685800" lvl="1" indent="-228600" fontAlgn="base">
              <a:buFont typeface="Arial" panose="020B0604020202020204" pitchFamily="34" charset="0"/>
              <a:buChar char="•"/>
            </a:pPr>
            <a:r>
              <a:rPr lang="en-US" sz="1000" b="0" i="0" dirty="0">
                <a:solidFill>
                  <a:srgbClr val="FF0000"/>
                </a:solidFill>
                <a:effectLst/>
              </a:rPr>
              <a:t>recovered tokens</a:t>
            </a:r>
          </a:p>
          <a:p>
            <a:pPr marL="228600" indent="-228600" algn="l" rtl="0" fontAlgn="base">
              <a:buFont typeface="+mj-lt"/>
              <a:buAutoNum type="arabicPeriod"/>
            </a:pPr>
            <a:r>
              <a:rPr lang="en-US" sz="1000" b="0" i="0" dirty="0">
                <a:solidFill>
                  <a:srgbClr val="000000"/>
                </a:solidFill>
                <a:effectLst/>
              </a:rPr>
              <a:t>When collecting Facebook data, are the messages sent via Facebook Messenger available for review? </a:t>
            </a:r>
          </a:p>
          <a:p>
            <a:pPr marL="685800" lvl="1" indent="-228600" fontAlgn="base">
              <a:buFont typeface="Arial" panose="020B0604020202020204" pitchFamily="34" charset="0"/>
              <a:buChar char="•"/>
            </a:pPr>
            <a:r>
              <a:rPr lang="en-US" sz="1000" dirty="0">
                <a:solidFill>
                  <a:srgbClr val="FF0000"/>
                </a:solidFill>
              </a:rPr>
              <a:t>yes (mobile + web)</a:t>
            </a:r>
            <a:endParaRPr lang="en-US" sz="1000" b="0" i="0" dirty="0">
              <a:solidFill>
                <a:srgbClr val="FF0000"/>
              </a:solidFill>
              <a:effectLst/>
            </a:endParaRPr>
          </a:p>
          <a:p>
            <a:pPr marL="228600" indent="-228600" algn="l" rtl="0" fontAlgn="base">
              <a:buFont typeface="+mj-lt"/>
              <a:buAutoNum type="arabicPeriod"/>
            </a:pPr>
            <a:r>
              <a:rPr lang="en-US" sz="1000" b="0" i="0" dirty="0">
                <a:solidFill>
                  <a:srgbClr val="000000"/>
                </a:solidFill>
                <a:effectLst/>
              </a:rPr>
              <a:t>When obtaining Gmail Messages can attachments be viewed? </a:t>
            </a:r>
          </a:p>
          <a:p>
            <a:pPr marL="685800" lvl="1" indent="-228600" fontAlgn="base">
              <a:buFont typeface="Arial" panose="020B0604020202020204" pitchFamily="34" charset="0"/>
              <a:buChar char="•"/>
            </a:pPr>
            <a:r>
              <a:rPr lang="en-US" sz="1000" dirty="0">
                <a:solidFill>
                  <a:srgbClr val="FF0000"/>
                </a:solidFill>
              </a:rPr>
              <a:t>yes</a:t>
            </a:r>
            <a:endParaRPr lang="en-US" sz="1000" b="0" i="0" dirty="0">
              <a:solidFill>
                <a:srgbClr val="FF0000"/>
              </a:solidFill>
              <a:effectLst/>
            </a:endParaRPr>
          </a:p>
          <a:p>
            <a:pPr algn="l" rtl="0" fontAlgn="base"/>
            <a:endParaRPr lang="en-US" sz="1000" dirty="0">
              <a:solidFill>
                <a:srgbClr val="000000"/>
              </a:solidFill>
            </a:endParaRPr>
          </a:p>
          <a:p>
            <a:pPr algn="l" rtl="0" fontAlgn="base"/>
            <a:r>
              <a:rPr lang="en-US" sz="1100" b="0" i="0" dirty="0">
                <a:solidFill>
                  <a:srgbClr val="1E4E79"/>
                </a:solidFill>
                <a:effectLst/>
              </a:rPr>
              <a:t>REPORTING </a:t>
            </a:r>
          </a:p>
          <a:p>
            <a:pPr marL="228600" indent="-228600" algn="l" rtl="0" fontAlgn="base">
              <a:buFont typeface="+mj-lt"/>
              <a:buAutoNum type="arabicPeriod"/>
            </a:pPr>
            <a:r>
              <a:rPr lang="en-US" sz="1000" b="0" i="0" dirty="0">
                <a:solidFill>
                  <a:srgbClr val="000000"/>
                </a:solidFill>
                <a:effectLst/>
              </a:rPr>
              <a:t>True/False. Exporting in AXIOM can be performed from the Registry view? </a:t>
            </a:r>
          </a:p>
          <a:p>
            <a:pPr marL="685800" lvl="1" indent="-228600" fontAlgn="base">
              <a:buFont typeface="Arial" panose="020B0604020202020204" pitchFamily="34" charset="0"/>
              <a:buChar char="•"/>
            </a:pPr>
            <a:r>
              <a:rPr lang="en-US" sz="1000" b="0" i="0" dirty="0">
                <a:solidFill>
                  <a:srgbClr val="FF0000"/>
                </a:solidFill>
                <a:effectLst/>
              </a:rPr>
              <a:t>False, Artifacts &amp; File Systems</a:t>
            </a:r>
          </a:p>
          <a:p>
            <a:pPr marL="228600" indent="-228600" algn="l" rtl="0" fontAlgn="base">
              <a:buFont typeface="+mj-lt"/>
              <a:buAutoNum type="arabicPeriod"/>
            </a:pPr>
            <a:r>
              <a:rPr lang="en-US" sz="1000" b="0" i="0" dirty="0">
                <a:solidFill>
                  <a:srgbClr val="000000"/>
                </a:solidFill>
                <a:effectLst/>
              </a:rPr>
              <a:t>What option from the File menu allows a user to export artifact details from the case? </a:t>
            </a:r>
          </a:p>
          <a:p>
            <a:pPr marL="685800" lvl="1" indent="-228600" fontAlgn="base">
              <a:buFont typeface="Arial" panose="020B0604020202020204" pitchFamily="34" charset="0"/>
              <a:buChar char="•"/>
            </a:pPr>
            <a:r>
              <a:rPr lang="en-US" sz="1000" b="0" i="0" dirty="0">
                <a:solidFill>
                  <a:srgbClr val="FF0000"/>
                </a:solidFill>
                <a:effectLst/>
              </a:rPr>
              <a:t>Create report/export</a:t>
            </a:r>
          </a:p>
          <a:p>
            <a:pPr marL="228600" indent="-228600" algn="l" rtl="0" fontAlgn="base">
              <a:buFont typeface="+mj-lt"/>
              <a:buAutoNum type="arabicPeriod"/>
            </a:pPr>
            <a:r>
              <a:rPr lang="en-US" sz="1000" b="0" i="0" dirty="0">
                <a:solidFill>
                  <a:srgbClr val="000000"/>
                </a:solidFill>
                <a:effectLst/>
              </a:rPr>
              <a:t>What is the file format for a Project VIC 1.2/1.3 export? </a:t>
            </a:r>
          </a:p>
          <a:p>
            <a:pPr marL="685800" lvl="1" indent="-228600" fontAlgn="base">
              <a:buFont typeface="Arial" panose="020B0604020202020204" pitchFamily="34" charset="0"/>
              <a:buChar char="•"/>
            </a:pPr>
            <a:r>
              <a:rPr lang="en-US" sz="1000" b="0" i="0" dirty="0">
                <a:solidFill>
                  <a:srgbClr val="FF0000"/>
                </a:solidFill>
                <a:effectLst/>
              </a:rPr>
              <a:t>json</a:t>
            </a:r>
          </a:p>
          <a:p>
            <a:pPr marL="228600" indent="-228600" algn="l" rtl="0" fontAlgn="base">
              <a:buFont typeface="+mj-lt"/>
              <a:buAutoNum type="arabicPeriod"/>
            </a:pPr>
            <a:r>
              <a:rPr lang="en-US" sz="1000" b="0" i="0" dirty="0">
                <a:solidFill>
                  <a:srgbClr val="000000"/>
                </a:solidFill>
                <a:effectLst/>
              </a:rPr>
              <a:t>When exporting from the File system explorer in AXIOM Examine, the File menu or a right-click menu option is available. Using the right-click menu option, what is the available file type for the  export? </a:t>
            </a:r>
          </a:p>
          <a:p>
            <a:pPr marL="685800" lvl="1" indent="-228600" fontAlgn="base">
              <a:buFont typeface="Arial" panose="020B0604020202020204" pitchFamily="34" charset="0"/>
              <a:buChar char="•"/>
            </a:pPr>
            <a:r>
              <a:rPr lang="en-US" sz="1000" b="0" i="0" dirty="0">
                <a:solidFill>
                  <a:srgbClr val="FF0000"/>
                </a:solidFill>
                <a:effectLst/>
              </a:rPr>
              <a:t>csv</a:t>
            </a:r>
          </a:p>
          <a:p>
            <a:pPr marL="228600" indent="-228600" algn="l" rtl="0" fontAlgn="base">
              <a:buFont typeface="+mj-lt"/>
              <a:buAutoNum type="arabicPeriod"/>
            </a:pPr>
            <a:r>
              <a:rPr lang="en-US" sz="1000" b="0" i="0" dirty="0">
                <a:solidFill>
                  <a:srgbClr val="000000"/>
                </a:solidFill>
                <a:effectLst/>
              </a:rPr>
              <a:t>Using the File menu and the Create portable case option, the File types for the export operation include Project Vic, Portable case, XML, XML with external files, Identifiers, and what additional file types? </a:t>
            </a:r>
          </a:p>
          <a:p>
            <a:pPr marL="685800" lvl="1" indent="-228600" fontAlgn="base">
              <a:buFont typeface="Arial" panose="020B0604020202020204" pitchFamily="34" charset="0"/>
              <a:buChar char="•"/>
            </a:pPr>
            <a:r>
              <a:rPr lang="en-US" sz="1000" b="0" i="0" dirty="0">
                <a:solidFill>
                  <a:srgbClr val="FF0000"/>
                </a:solidFill>
                <a:effectLst/>
              </a:rPr>
              <a:t>html, csv, excel, pdf, </a:t>
            </a:r>
            <a:r>
              <a:rPr lang="en-US" sz="1000" b="0" i="0" dirty="0" err="1">
                <a:solidFill>
                  <a:srgbClr val="FF0000"/>
                </a:solidFill>
                <a:effectLst/>
              </a:rPr>
              <a:t>pst</a:t>
            </a:r>
            <a:r>
              <a:rPr lang="en-US" sz="1000" b="0" i="0" dirty="0">
                <a:solidFill>
                  <a:srgbClr val="FF0000"/>
                </a:solidFill>
                <a:effectLst/>
              </a:rPr>
              <a:t> (for email)</a:t>
            </a:r>
          </a:p>
          <a:p>
            <a:pPr marL="228600" indent="-228600" algn="l" rtl="0" fontAlgn="base">
              <a:buFont typeface="+mj-lt"/>
              <a:buAutoNum type="arabicPeriod"/>
            </a:pPr>
            <a:r>
              <a:rPr lang="en-US" sz="1000" b="0" i="0" dirty="0">
                <a:solidFill>
                  <a:srgbClr val="000000"/>
                </a:solidFill>
                <a:effectLst/>
              </a:rPr>
              <a:t>From the File system explorer, what are the options available for saving files from the case? </a:t>
            </a:r>
          </a:p>
          <a:p>
            <a:pPr marL="685800" lvl="1" indent="-228600" fontAlgn="base">
              <a:buFont typeface="Arial" panose="020B0604020202020204" pitchFamily="34" charset="0"/>
              <a:buChar char="•"/>
            </a:pPr>
            <a:r>
              <a:rPr lang="en-US" sz="1000" b="0" i="0" dirty="0">
                <a:solidFill>
                  <a:srgbClr val="FF0000"/>
                </a:solidFill>
                <a:effectLst/>
              </a:rPr>
              <a:t>Save File/Folder To… and Save File/Folder to ZIP</a:t>
            </a:r>
          </a:p>
          <a:p>
            <a:pPr marL="228600" indent="-228600" algn="l" rtl="0" fontAlgn="base">
              <a:buFont typeface="+mj-lt"/>
              <a:buAutoNum type="arabicPeriod"/>
            </a:pPr>
            <a:r>
              <a:rPr lang="en-US" sz="1000" b="0" i="0" dirty="0">
                <a:solidFill>
                  <a:srgbClr val="000000"/>
                </a:solidFill>
                <a:effectLst/>
              </a:rPr>
              <a:t>When a non-license user wants to open a portable case, what file can they use to launch the case in Examine? </a:t>
            </a:r>
          </a:p>
          <a:p>
            <a:pPr marL="685800" lvl="1" indent="-228600" fontAlgn="base">
              <a:buFont typeface="Arial" panose="020B0604020202020204" pitchFamily="34" charset="0"/>
              <a:buChar char="•"/>
            </a:pPr>
            <a:r>
              <a:rPr lang="en-US" sz="1000" b="0" i="0" dirty="0">
                <a:solidFill>
                  <a:srgbClr val="FF0000"/>
                </a:solidFill>
                <a:effectLst/>
              </a:rPr>
              <a:t>OpenCase.bat</a:t>
            </a:r>
          </a:p>
          <a:p>
            <a:pPr marL="228600" indent="-228600" algn="l" rtl="0" fontAlgn="base">
              <a:buFont typeface="+mj-lt"/>
              <a:buAutoNum type="arabicPeriod"/>
            </a:pPr>
            <a:r>
              <a:rPr lang="en-US" sz="1000" b="0" i="0" dirty="0">
                <a:solidFill>
                  <a:srgbClr val="000000"/>
                </a:solidFill>
                <a:effectLst/>
              </a:rPr>
              <a:t>What three case attributes are included by default when a portable case is merged back into its parent case? </a:t>
            </a:r>
          </a:p>
          <a:p>
            <a:pPr marL="685800" lvl="1" indent="-228600" fontAlgn="base">
              <a:buFont typeface="Arial" panose="020B0604020202020204" pitchFamily="34" charset="0"/>
              <a:buChar char="•"/>
            </a:pPr>
            <a:r>
              <a:rPr lang="en-US" sz="1000" dirty="0">
                <a:solidFill>
                  <a:srgbClr val="FF0000"/>
                </a:solidFill>
              </a:rPr>
              <a:t>Tags, Profiles, Comments</a:t>
            </a:r>
            <a:endParaRPr lang="en-US" sz="1000" b="0" i="0" dirty="0">
              <a:solidFill>
                <a:srgbClr val="FF0000"/>
              </a:solidFill>
              <a:effectLst/>
            </a:endParaRPr>
          </a:p>
          <a:p>
            <a:pPr marL="228600" indent="-228600" algn="l" rtl="0" fontAlgn="base">
              <a:buFont typeface="+mj-lt"/>
              <a:buAutoNum type="arabicPeriod"/>
            </a:pPr>
            <a:r>
              <a:rPr lang="en-US" sz="1000" b="0" i="0" dirty="0">
                <a:solidFill>
                  <a:srgbClr val="000000"/>
                </a:solidFill>
                <a:effectLst/>
              </a:rPr>
              <a:t>What is the name of the HTML file that will launch the case report? </a:t>
            </a:r>
          </a:p>
          <a:p>
            <a:pPr marL="685800" lvl="1" indent="-228600" fontAlgn="base">
              <a:buFont typeface="Arial" panose="020B0604020202020204" pitchFamily="34" charset="0"/>
              <a:buChar char="•"/>
            </a:pPr>
            <a:r>
              <a:rPr lang="en-US" sz="1000" b="0" i="0" dirty="0">
                <a:solidFill>
                  <a:srgbClr val="FF0000"/>
                </a:solidFill>
                <a:effectLst/>
              </a:rPr>
              <a:t>Report.html</a:t>
            </a:r>
          </a:p>
          <a:p>
            <a:pPr marL="228600" indent="-228600" algn="l" rtl="0" fontAlgn="base">
              <a:buFont typeface="+mj-lt"/>
              <a:buAutoNum type="arabicPeriod"/>
            </a:pPr>
            <a:r>
              <a:rPr lang="en-US" sz="1000" b="0" i="0" dirty="0">
                <a:solidFill>
                  <a:srgbClr val="000000"/>
                </a:solidFill>
                <a:effectLst/>
              </a:rPr>
              <a:t>In HTML version of the case report, what two features can assist the viewer in managing the listed artifacts? </a:t>
            </a:r>
          </a:p>
          <a:p>
            <a:pPr marL="685800" lvl="1" indent="-228600" fontAlgn="base">
              <a:buFont typeface="Arial" panose="020B0604020202020204" pitchFamily="34" charset="0"/>
              <a:buChar char="•"/>
            </a:pPr>
            <a:r>
              <a:rPr lang="en-US" sz="1000" b="0" i="0" dirty="0">
                <a:solidFill>
                  <a:srgbClr val="FF0000"/>
                </a:solidFill>
                <a:effectLst/>
              </a:rPr>
              <a:t>Sorting and Filtering features on the report columns</a:t>
            </a:r>
          </a:p>
        </p:txBody>
      </p:sp>
      <p:sp>
        <p:nvSpPr>
          <p:cNvPr id="7" name="TextBox 6">
            <a:extLst>
              <a:ext uri="{FF2B5EF4-FFF2-40B4-BE49-F238E27FC236}">
                <a16:creationId xmlns:a16="http://schemas.microsoft.com/office/drawing/2014/main" id="{1511F958-D0D2-418D-93F0-892C92232E10}"/>
              </a:ext>
            </a:extLst>
          </p:cNvPr>
          <p:cNvSpPr txBox="1"/>
          <p:nvPr/>
        </p:nvSpPr>
        <p:spPr>
          <a:xfrm>
            <a:off x="0" y="0"/>
            <a:ext cx="6097604" cy="6863417"/>
          </a:xfrm>
          <a:prstGeom prst="rect">
            <a:avLst/>
          </a:prstGeom>
          <a:noFill/>
        </p:spPr>
        <p:txBody>
          <a:bodyPr wrap="square">
            <a:spAutoFit/>
          </a:bodyPr>
          <a:lstStyle/>
          <a:p>
            <a:pPr algn="l" rtl="0" fontAlgn="base"/>
            <a:r>
              <a:rPr lang="en-US" sz="1000" b="0" i="0" dirty="0">
                <a:solidFill>
                  <a:srgbClr val="1E4E79"/>
                </a:solidFill>
                <a:effectLst/>
              </a:rPr>
              <a:t>WEB RELATED </a:t>
            </a:r>
          </a:p>
          <a:p>
            <a:pPr marL="228600" indent="-228600" algn="l" rtl="0" fontAlgn="base">
              <a:buFont typeface="+mj-lt"/>
              <a:buAutoNum type="arabicPeriod"/>
            </a:pPr>
            <a:r>
              <a:rPr lang="en-US" sz="1000" b="0" i="0" dirty="0">
                <a:solidFill>
                  <a:srgbClr val="000000"/>
                </a:solidFill>
                <a:effectLst/>
              </a:rPr>
              <a:t>Firefox stores much of its data in SQLite dbs. How can the content of SQLite database be viewed in Examine?</a:t>
            </a:r>
          </a:p>
          <a:p>
            <a:pPr marL="685800" lvl="1" indent="-228600" fontAlgn="base">
              <a:buFont typeface="Arial" panose="020B0604020202020204" pitchFamily="34" charset="0"/>
              <a:buChar char="•"/>
            </a:pPr>
            <a:r>
              <a:rPr lang="en-US" sz="1000" dirty="0">
                <a:solidFill>
                  <a:srgbClr val="FF0000"/>
                </a:solidFill>
              </a:rPr>
              <a:t>Click source link. Double click </a:t>
            </a:r>
            <a:r>
              <a:rPr lang="en-US" sz="1000" dirty="0" err="1">
                <a:solidFill>
                  <a:srgbClr val="FF0000"/>
                </a:solidFill>
              </a:rPr>
              <a:t>db</a:t>
            </a:r>
            <a:r>
              <a:rPr lang="en-US" sz="1000" dirty="0">
                <a:solidFill>
                  <a:srgbClr val="FF0000"/>
                </a:solidFill>
              </a:rPr>
              <a:t> file.</a:t>
            </a:r>
            <a:endParaRPr lang="en-US" sz="1000" b="0" i="0" dirty="0">
              <a:solidFill>
                <a:srgbClr val="FF0000"/>
              </a:solidFill>
              <a:effectLst/>
            </a:endParaRPr>
          </a:p>
          <a:p>
            <a:pPr marL="228600" indent="-228600" algn="l" rtl="0" fontAlgn="base">
              <a:buFont typeface="+mj-lt"/>
              <a:buAutoNum type="arabicPeriod"/>
            </a:pPr>
            <a:r>
              <a:rPr lang="en-US" sz="1000" b="0" i="0" dirty="0">
                <a:solidFill>
                  <a:srgbClr val="000000"/>
                </a:solidFill>
                <a:effectLst/>
              </a:rPr>
              <a:t>Why is browser history for Edge contained within the WEB RELATED → Internet Explorer 10-11 Main History?</a:t>
            </a:r>
          </a:p>
          <a:p>
            <a:pPr marL="685800" lvl="1" indent="-228600" fontAlgn="base">
              <a:buFont typeface="Arial" panose="020B0604020202020204" pitchFamily="34" charset="0"/>
              <a:buChar char="•"/>
            </a:pPr>
            <a:r>
              <a:rPr lang="en-US" sz="1000" dirty="0">
                <a:solidFill>
                  <a:srgbClr val="FF0000"/>
                </a:solidFill>
              </a:rPr>
              <a:t>Edge stores history WebCacheV01.dat. This </a:t>
            </a:r>
            <a:r>
              <a:rPr lang="en-US" sz="1000" dirty="0" err="1">
                <a:solidFill>
                  <a:srgbClr val="FF0000"/>
                </a:solidFill>
              </a:rPr>
              <a:t>db</a:t>
            </a:r>
            <a:r>
              <a:rPr lang="en-US" sz="1000" dirty="0">
                <a:solidFill>
                  <a:srgbClr val="FF0000"/>
                </a:solidFill>
              </a:rPr>
              <a:t> was originally used for IE 10/11</a:t>
            </a:r>
          </a:p>
          <a:p>
            <a:pPr marL="228600" indent="-228600" fontAlgn="base">
              <a:buFont typeface="+mj-lt"/>
              <a:buAutoNum type="arabicPeriod"/>
            </a:pPr>
            <a:r>
              <a:rPr lang="en-US" sz="1000" b="0" i="0" dirty="0">
                <a:solidFill>
                  <a:srgbClr val="000000"/>
                </a:solidFill>
                <a:effectLst/>
              </a:rPr>
              <a:t>Name three pieces of information displayed in AXIOM Examine for a file downloaded using Chrome. </a:t>
            </a:r>
          </a:p>
          <a:p>
            <a:pPr marL="685800" lvl="1" indent="-228600" fontAlgn="base">
              <a:buFont typeface="Arial" panose="020B0604020202020204" pitchFamily="34" charset="0"/>
              <a:buChar char="•"/>
            </a:pPr>
            <a:r>
              <a:rPr lang="en-US" sz="1000" dirty="0">
                <a:solidFill>
                  <a:srgbClr val="FF0000"/>
                </a:solidFill>
              </a:rPr>
              <a:t>Saved to</a:t>
            </a:r>
          </a:p>
          <a:p>
            <a:pPr marL="685800" lvl="1" indent="-228600" fontAlgn="base">
              <a:buFont typeface="Arial" panose="020B0604020202020204" pitchFamily="34" charset="0"/>
              <a:buChar char="•"/>
            </a:pPr>
            <a:r>
              <a:rPr lang="en-US" sz="1000" b="0" i="0" dirty="0">
                <a:solidFill>
                  <a:srgbClr val="FF0000"/>
                </a:solidFill>
                <a:effectLst/>
              </a:rPr>
              <a:t>bytes downloaded</a:t>
            </a:r>
          </a:p>
          <a:p>
            <a:pPr marL="685800" lvl="1" indent="-228600" fontAlgn="base">
              <a:buFont typeface="Arial" panose="020B0604020202020204" pitchFamily="34" charset="0"/>
              <a:buChar char="•"/>
            </a:pPr>
            <a:r>
              <a:rPr lang="en-US" sz="1000" dirty="0">
                <a:solidFill>
                  <a:srgbClr val="FF0000"/>
                </a:solidFill>
              </a:rPr>
              <a:t>Download source</a:t>
            </a:r>
          </a:p>
          <a:p>
            <a:pPr marL="685800" lvl="1" indent="-228600" fontAlgn="base">
              <a:buFont typeface="Arial" panose="020B0604020202020204" pitchFamily="34" charset="0"/>
              <a:buChar char="•"/>
            </a:pPr>
            <a:r>
              <a:rPr lang="en-US" sz="1000" b="0" i="0" dirty="0">
                <a:solidFill>
                  <a:srgbClr val="FF0000"/>
                </a:solidFill>
                <a:effectLst/>
              </a:rPr>
              <a:t>File name</a:t>
            </a:r>
          </a:p>
          <a:p>
            <a:pPr marL="685800" lvl="1" indent="-228600" fontAlgn="base">
              <a:buFont typeface="Arial" panose="020B0604020202020204" pitchFamily="34" charset="0"/>
              <a:buChar char="•"/>
            </a:pPr>
            <a:r>
              <a:rPr lang="en-US" sz="1000" dirty="0">
                <a:solidFill>
                  <a:srgbClr val="FF0000"/>
                </a:solidFill>
              </a:rPr>
              <a:t>Start/End time</a:t>
            </a:r>
          </a:p>
          <a:p>
            <a:pPr marL="685800" lvl="1" indent="-228600" fontAlgn="base">
              <a:buFont typeface="Arial" panose="020B0604020202020204" pitchFamily="34" charset="0"/>
              <a:buChar char="•"/>
            </a:pPr>
            <a:r>
              <a:rPr lang="en-US" sz="1000" b="0" i="0" dirty="0">
                <a:solidFill>
                  <a:srgbClr val="FF0000"/>
                </a:solidFill>
                <a:effectLst/>
              </a:rPr>
              <a:t>State</a:t>
            </a:r>
          </a:p>
          <a:p>
            <a:pPr marL="685800" lvl="1" indent="-228600" fontAlgn="base">
              <a:buFont typeface="Arial" panose="020B0604020202020204" pitchFamily="34" charset="0"/>
              <a:buChar char="•"/>
            </a:pPr>
            <a:r>
              <a:rPr lang="en-US" sz="1000" dirty="0">
                <a:solidFill>
                  <a:srgbClr val="FF0000"/>
                </a:solidFill>
              </a:rPr>
              <a:t>Opened by user</a:t>
            </a:r>
            <a:endParaRPr lang="en-US" sz="1000" b="0" i="0" dirty="0">
              <a:solidFill>
                <a:srgbClr val="FF0000"/>
              </a:solidFill>
              <a:effectLst/>
            </a:endParaRPr>
          </a:p>
          <a:p>
            <a:pPr marL="228600" indent="-228600" algn="l" rtl="0" fontAlgn="base">
              <a:buFont typeface="+mj-lt"/>
              <a:buAutoNum type="arabicPeriod"/>
            </a:pPr>
            <a:r>
              <a:rPr lang="en-US" sz="1000" b="0" i="0" dirty="0">
                <a:solidFill>
                  <a:srgbClr val="000000"/>
                </a:solidFill>
                <a:effectLst/>
              </a:rPr>
              <a:t>What is Session Recovery data? </a:t>
            </a:r>
          </a:p>
          <a:p>
            <a:pPr marL="685800" lvl="1" indent="-228600" fontAlgn="base">
              <a:buFont typeface="Arial" panose="020B0604020202020204" pitchFamily="34" charset="0"/>
              <a:buChar char="•"/>
            </a:pPr>
            <a:r>
              <a:rPr lang="en-US" sz="1000" b="0" i="0" dirty="0">
                <a:solidFill>
                  <a:srgbClr val="FF0000"/>
                </a:solidFill>
                <a:effectLst/>
              </a:rPr>
              <a:t>Info used by browser to reopen tabs.</a:t>
            </a:r>
          </a:p>
          <a:p>
            <a:pPr marL="228600" indent="-228600" algn="l" rtl="0" fontAlgn="base">
              <a:buFont typeface="+mj-lt"/>
              <a:buAutoNum type="arabicPeriod"/>
            </a:pPr>
            <a:r>
              <a:rPr lang="en-US" sz="1000" b="0" i="0" dirty="0">
                <a:solidFill>
                  <a:srgbClr val="000000"/>
                </a:solidFill>
                <a:effectLst/>
              </a:rPr>
              <a:t>Name the database file that stores/tracks most of the artifacts generated by Edge. </a:t>
            </a:r>
          </a:p>
          <a:p>
            <a:pPr marL="685800" lvl="1" indent="-228600" fontAlgn="base">
              <a:buFont typeface="Arial" panose="020B0604020202020204" pitchFamily="34" charset="0"/>
              <a:buChar char="•"/>
            </a:pPr>
            <a:r>
              <a:rPr lang="en-US" sz="1000" b="0" i="0" dirty="0">
                <a:solidFill>
                  <a:srgbClr val="FF0000"/>
                </a:solidFill>
                <a:effectLst/>
              </a:rPr>
              <a:t>Web</a:t>
            </a:r>
            <a:r>
              <a:rPr lang="en-US" sz="1000" dirty="0">
                <a:solidFill>
                  <a:srgbClr val="FF0000"/>
                </a:solidFill>
              </a:rPr>
              <a:t>CacheV01.dat</a:t>
            </a:r>
            <a:endParaRPr lang="en-US" sz="1000" b="0" i="0" dirty="0">
              <a:solidFill>
                <a:srgbClr val="FF0000"/>
              </a:solidFill>
              <a:effectLst/>
            </a:endParaRPr>
          </a:p>
          <a:p>
            <a:pPr marL="228600" indent="-228600" algn="l" rtl="0" fontAlgn="base">
              <a:buFont typeface="+mj-lt"/>
              <a:buAutoNum type="arabicPeriod"/>
            </a:pPr>
            <a:r>
              <a:rPr lang="en-US" sz="1000" b="0" i="0" dirty="0">
                <a:solidFill>
                  <a:srgbClr val="000000"/>
                </a:solidFill>
                <a:effectLst/>
              </a:rPr>
              <a:t>What is the difference between a normal cookie and a cookie from a website using Google Analytics?</a:t>
            </a:r>
          </a:p>
          <a:p>
            <a:pPr marL="628650" lvl="1" indent="-171450" fontAlgn="base">
              <a:buFont typeface="Arial" panose="020B0604020202020204" pitchFamily="34" charset="0"/>
              <a:buChar char="•"/>
            </a:pPr>
            <a:r>
              <a:rPr lang="en-US" sz="1000" b="0" i="0" dirty="0">
                <a:solidFill>
                  <a:srgbClr val="FF0000"/>
                </a:solidFill>
                <a:effectLst/>
              </a:rPr>
              <a:t>GA cookies detail: user behavior, how user arrived at website, last two visits, how many pages viewed</a:t>
            </a:r>
            <a:endParaRPr lang="en-US" sz="1000" b="0" i="0" dirty="0">
              <a:solidFill>
                <a:srgbClr val="1E4E79"/>
              </a:solidFill>
              <a:effectLst/>
            </a:endParaRPr>
          </a:p>
          <a:p>
            <a:pPr algn="l" rtl="0" fontAlgn="base"/>
            <a:r>
              <a:rPr lang="en-US" sz="1000" b="0" i="0" dirty="0">
                <a:solidFill>
                  <a:srgbClr val="1E4E79"/>
                </a:solidFill>
                <a:effectLst/>
              </a:rPr>
              <a:t>OPERATING SYSTEM</a:t>
            </a:r>
          </a:p>
          <a:p>
            <a:pPr marL="228600" indent="-228600" algn="l" rtl="0" fontAlgn="base">
              <a:buFont typeface="+mj-lt"/>
              <a:buAutoNum type="arabicPeriod"/>
            </a:pPr>
            <a:r>
              <a:rPr lang="en-US" sz="1000" b="0" i="0" dirty="0">
                <a:solidFill>
                  <a:srgbClr val="000000"/>
                </a:solidFill>
                <a:effectLst/>
              </a:rPr>
              <a:t>List the Windows registry files from which many of the Operating System artifacts are recovered?</a:t>
            </a:r>
          </a:p>
          <a:p>
            <a:pPr marL="685800" lvl="1" indent="-228600" fontAlgn="base">
              <a:buFont typeface="Arial" panose="020B0604020202020204" pitchFamily="34" charset="0"/>
              <a:buChar char="•"/>
            </a:pPr>
            <a:r>
              <a:rPr lang="en-US" sz="1000" b="0" i="0" dirty="0">
                <a:solidFill>
                  <a:srgbClr val="FF0000"/>
                </a:solidFill>
                <a:effectLst/>
              </a:rPr>
              <a:t>SAM, SECURITY, SOFTWARE, SYSTEM, NTUSER.dat, UsrClass.dat</a:t>
            </a:r>
          </a:p>
          <a:p>
            <a:pPr marL="228600" indent="-228600" algn="l" rtl="0" fontAlgn="base">
              <a:buFont typeface="+mj-lt"/>
              <a:buAutoNum type="arabicPeriod"/>
            </a:pPr>
            <a:r>
              <a:rPr lang="en-US" sz="1000" b="0" i="0" dirty="0">
                <a:solidFill>
                  <a:srgbClr val="000000"/>
                </a:solidFill>
                <a:effectLst/>
              </a:rPr>
              <a:t>The User Accounts artifacts are parsed from which two values in the SAM file?</a:t>
            </a:r>
          </a:p>
          <a:p>
            <a:pPr marL="685800" lvl="1" indent="-228600" fontAlgn="base">
              <a:buFont typeface="Arial" panose="020B0604020202020204" pitchFamily="34" charset="0"/>
              <a:buChar char="•"/>
            </a:pPr>
            <a:r>
              <a:rPr lang="en-US" sz="1000" b="0" i="0" dirty="0">
                <a:solidFill>
                  <a:srgbClr val="FF0000"/>
                </a:solidFill>
                <a:effectLst/>
              </a:rPr>
              <a:t>F, V values from subkey with users RID</a:t>
            </a:r>
          </a:p>
          <a:p>
            <a:pPr marL="228600" indent="-228600" algn="l" rtl="0" fontAlgn="base">
              <a:buFont typeface="+mj-lt"/>
              <a:buAutoNum type="arabicPeriod"/>
            </a:pPr>
            <a:r>
              <a:rPr lang="en-US" sz="1000" b="0" i="0" dirty="0">
                <a:solidFill>
                  <a:srgbClr val="000000"/>
                </a:solidFill>
                <a:effectLst/>
              </a:rPr>
              <a:t>What is the key name in the NTUSER.DAT file that allows AXIOM to link a USB device with a user account? </a:t>
            </a:r>
          </a:p>
          <a:p>
            <a:pPr marL="685800" lvl="1" indent="-228600" fontAlgn="base">
              <a:buFont typeface="Arial" panose="020B0604020202020204" pitchFamily="34" charset="0"/>
              <a:buChar char="•"/>
            </a:pPr>
            <a:r>
              <a:rPr lang="en-US" sz="1000" b="0" i="0" dirty="0">
                <a:solidFill>
                  <a:srgbClr val="FF0000"/>
                </a:solidFill>
                <a:effectLst/>
              </a:rPr>
              <a:t>MountPoints2 subkeys with same vol GUID in </a:t>
            </a:r>
            <a:r>
              <a:rPr lang="en-US" sz="1000" b="0" i="0" dirty="0" err="1">
                <a:solidFill>
                  <a:srgbClr val="FF0000"/>
                </a:solidFill>
                <a:effectLst/>
              </a:rPr>
              <a:t>MountedDevices</a:t>
            </a:r>
            <a:r>
              <a:rPr lang="en-US" sz="1000" b="0" i="0" dirty="0">
                <a:solidFill>
                  <a:srgbClr val="FF0000"/>
                </a:solidFill>
                <a:effectLst/>
              </a:rPr>
              <a:t>, USBSTOR &amp;other </a:t>
            </a:r>
            <a:r>
              <a:rPr lang="en-US" sz="1000" dirty="0">
                <a:solidFill>
                  <a:srgbClr val="FF0000"/>
                </a:solidFill>
              </a:rPr>
              <a:t>key</a:t>
            </a:r>
            <a:r>
              <a:rPr lang="en-US" sz="1000" b="0" i="0" dirty="0">
                <a:solidFill>
                  <a:srgbClr val="FF0000"/>
                </a:solidFill>
                <a:effectLst/>
              </a:rPr>
              <a:t>s of System file</a:t>
            </a:r>
          </a:p>
          <a:p>
            <a:pPr marL="228600" indent="-228600" algn="l" rtl="0" fontAlgn="base">
              <a:buFont typeface="+mj-lt"/>
              <a:buAutoNum type="arabicPeriod"/>
            </a:pPr>
            <a:r>
              <a:rPr lang="en-US" sz="1000" b="0" i="0" dirty="0">
                <a:solidFill>
                  <a:srgbClr val="000000"/>
                </a:solidFill>
                <a:effectLst/>
              </a:rPr>
              <a:t>The </a:t>
            </a:r>
            <a:r>
              <a:rPr lang="en-US" sz="1000" b="0" i="0" dirty="0" err="1">
                <a:solidFill>
                  <a:srgbClr val="000000"/>
                </a:solidFill>
                <a:effectLst/>
              </a:rPr>
              <a:t>UserAssist</a:t>
            </a:r>
            <a:r>
              <a:rPr lang="en-US" sz="1000" b="0" i="0" dirty="0">
                <a:solidFill>
                  <a:srgbClr val="000000"/>
                </a:solidFill>
                <a:effectLst/>
              </a:rPr>
              <a:t> key of the NTUSER.DAT file tracks applications launched by a user. In addition to the application name, what two pieces of information does the key also provide?</a:t>
            </a:r>
          </a:p>
          <a:p>
            <a:pPr marL="685800" lvl="1" indent="-228600" fontAlgn="base">
              <a:buFont typeface="Arial" panose="020B0604020202020204" pitchFamily="34" charset="0"/>
              <a:buChar char="•"/>
            </a:pPr>
            <a:r>
              <a:rPr lang="en-US" sz="1000" b="0" i="0" dirty="0">
                <a:solidFill>
                  <a:srgbClr val="FF0000"/>
                </a:solidFill>
                <a:effectLst/>
              </a:rPr>
              <a:t>Date/time last launched + number of launches</a:t>
            </a:r>
          </a:p>
          <a:p>
            <a:pPr marL="228600" indent="-228600" algn="l" rtl="0" fontAlgn="base">
              <a:buFont typeface="+mj-lt"/>
              <a:buAutoNum type="arabicPeriod"/>
            </a:pPr>
            <a:r>
              <a:rPr lang="en-US" sz="1000" b="0" i="0" dirty="0">
                <a:solidFill>
                  <a:srgbClr val="000000"/>
                </a:solidFill>
                <a:effectLst/>
              </a:rPr>
              <a:t>What is the name of the scheme Windows uses to scramble the data in the </a:t>
            </a:r>
            <a:r>
              <a:rPr lang="en-US" sz="1000" b="0" i="0" dirty="0" err="1">
                <a:solidFill>
                  <a:srgbClr val="000000"/>
                </a:solidFill>
                <a:effectLst/>
              </a:rPr>
              <a:t>UserAssist</a:t>
            </a:r>
            <a:r>
              <a:rPr lang="en-US" sz="1000" b="0" i="0" dirty="0">
                <a:solidFill>
                  <a:srgbClr val="000000"/>
                </a:solidFill>
                <a:effectLst/>
              </a:rPr>
              <a:t> key? </a:t>
            </a:r>
          </a:p>
          <a:p>
            <a:pPr marL="685800" lvl="1" indent="-228600" fontAlgn="base">
              <a:buFont typeface="Arial" panose="020B0604020202020204" pitchFamily="34" charset="0"/>
              <a:buChar char="•"/>
            </a:pPr>
            <a:r>
              <a:rPr lang="en-US" sz="1000" b="0" i="0" dirty="0">
                <a:solidFill>
                  <a:srgbClr val="FF0000"/>
                </a:solidFill>
                <a:effectLst/>
              </a:rPr>
              <a:t>ROT13</a:t>
            </a:r>
          </a:p>
          <a:p>
            <a:pPr marL="228600" indent="-228600" algn="l" rtl="0" fontAlgn="base">
              <a:buFont typeface="+mj-lt"/>
              <a:buAutoNum type="arabicPeriod"/>
            </a:pPr>
            <a:r>
              <a:rPr lang="en-US" sz="1000" b="0" i="0" dirty="0">
                <a:solidFill>
                  <a:srgbClr val="000000"/>
                </a:solidFill>
                <a:effectLst/>
              </a:rPr>
              <a:t>LNK Files are mainly r \Recent\ folder. What key in NTUSER.DAT file also </a:t>
            </a:r>
            <a:r>
              <a:rPr lang="en-US" sz="1000" dirty="0" err="1">
                <a:solidFill>
                  <a:srgbClr val="000000"/>
                </a:solidFill>
              </a:rPr>
              <a:t>assoc</a:t>
            </a:r>
            <a:r>
              <a:rPr lang="en-US" sz="1000" dirty="0">
                <a:solidFill>
                  <a:srgbClr val="000000"/>
                </a:solidFill>
              </a:rPr>
              <a:t> w/</a:t>
            </a:r>
            <a:r>
              <a:rPr lang="en-US" sz="1000" b="0" i="0" dirty="0">
                <a:solidFill>
                  <a:srgbClr val="000000"/>
                </a:solidFill>
                <a:effectLst/>
              </a:rPr>
              <a:t> recently-accessed docs? </a:t>
            </a:r>
          </a:p>
          <a:p>
            <a:pPr marL="685800" lvl="1" indent="-228600" fontAlgn="base">
              <a:buFont typeface="Arial" panose="020B0604020202020204" pitchFamily="34" charset="0"/>
              <a:buChar char="•"/>
            </a:pPr>
            <a:r>
              <a:rPr lang="en-US" sz="1000" b="0" i="0" dirty="0" err="1">
                <a:solidFill>
                  <a:srgbClr val="FF0000"/>
                </a:solidFill>
                <a:effectLst/>
              </a:rPr>
              <a:t>RecentDocs</a:t>
            </a:r>
            <a:r>
              <a:rPr lang="en-US" sz="1000" b="0" i="0" dirty="0">
                <a:solidFill>
                  <a:srgbClr val="FF0000"/>
                </a:solidFill>
                <a:effectLst/>
              </a:rPr>
              <a:t> and its subkeys. Each key has </a:t>
            </a:r>
            <a:r>
              <a:rPr lang="en-US" sz="1000" b="0" i="0" dirty="0" err="1">
                <a:solidFill>
                  <a:srgbClr val="FF0000"/>
                </a:solidFill>
                <a:effectLst/>
              </a:rPr>
              <a:t>MRUlist</a:t>
            </a:r>
            <a:r>
              <a:rPr lang="en-US" sz="1000" b="0" i="0" dirty="0">
                <a:solidFill>
                  <a:srgbClr val="FF0000"/>
                </a:solidFill>
                <a:effectLst/>
              </a:rPr>
              <a:t> with order resources accessed</a:t>
            </a:r>
          </a:p>
          <a:p>
            <a:pPr marL="228600" indent="-228600" algn="l" rtl="0" fontAlgn="base">
              <a:buFont typeface="+mj-lt"/>
              <a:buAutoNum type="arabicPeriod"/>
            </a:pPr>
            <a:r>
              <a:rPr lang="en-US" sz="1000" b="0" i="0" dirty="0">
                <a:solidFill>
                  <a:srgbClr val="000000"/>
                </a:solidFill>
                <a:effectLst/>
              </a:rPr>
              <a:t>If a user is suspected of watching a video from an external drive connected to the host system, what three OS artifacts can help identify the name of the file, path for the file, and application used to watch the video? </a:t>
            </a:r>
          </a:p>
          <a:p>
            <a:pPr marL="685800" lvl="1" indent="-228600" fontAlgn="base">
              <a:buFont typeface="Arial" panose="020B0604020202020204" pitchFamily="34" charset="0"/>
              <a:buChar char="•"/>
            </a:pPr>
            <a:r>
              <a:rPr lang="en-US" sz="1000" b="0" i="0" dirty="0">
                <a:solidFill>
                  <a:srgbClr val="FF0000"/>
                </a:solidFill>
                <a:effectLst/>
              </a:rPr>
              <a:t>LNK files, Jump Lists , USB Devices</a:t>
            </a:r>
          </a:p>
          <a:p>
            <a:pPr marL="228600" indent="-228600" algn="l" rtl="0" fontAlgn="base">
              <a:buFont typeface="+mj-lt"/>
              <a:buAutoNum type="arabicPeriod"/>
            </a:pPr>
            <a:r>
              <a:rPr lang="en-US" sz="1000" b="0" i="0" dirty="0">
                <a:solidFill>
                  <a:srgbClr val="000000"/>
                </a:solidFill>
                <a:effectLst/>
              </a:rPr>
              <a:t>The </a:t>
            </a:r>
            <a:r>
              <a:rPr lang="en-US" sz="1000" b="0" i="0" dirty="0" err="1">
                <a:solidFill>
                  <a:srgbClr val="000000"/>
                </a:solidFill>
                <a:effectLst/>
              </a:rPr>
              <a:t>ShellBags</a:t>
            </a:r>
            <a:r>
              <a:rPr lang="en-US" sz="1000" b="0" i="0" dirty="0">
                <a:solidFill>
                  <a:srgbClr val="000000"/>
                </a:solidFill>
                <a:effectLst/>
              </a:rPr>
              <a:t> artifact category is parsed from which Windows registry file? </a:t>
            </a:r>
          </a:p>
          <a:p>
            <a:pPr marL="685800" lvl="1" indent="-228600" fontAlgn="base">
              <a:buFont typeface="Arial" panose="020B0604020202020204" pitchFamily="34" charset="0"/>
              <a:buChar char="•"/>
            </a:pPr>
            <a:r>
              <a:rPr lang="en-US" sz="1000" b="0" i="0" dirty="0">
                <a:solidFill>
                  <a:srgbClr val="FF0000"/>
                </a:solidFill>
                <a:effectLst/>
              </a:rPr>
              <a:t>UsrClass.dat file. AXIOM parses </a:t>
            </a:r>
            <a:r>
              <a:rPr lang="en-US" sz="1000" b="0" i="0" dirty="0" err="1">
                <a:solidFill>
                  <a:srgbClr val="FF0000"/>
                </a:solidFill>
                <a:effectLst/>
              </a:rPr>
              <a:t>BagMRU</a:t>
            </a:r>
            <a:r>
              <a:rPr lang="en-US" sz="1000" b="0" i="0" dirty="0">
                <a:solidFill>
                  <a:srgbClr val="FF0000"/>
                </a:solidFill>
                <a:effectLst/>
              </a:rPr>
              <a:t> data within Shell key structure &gt; details</a:t>
            </a:r>
          </a:p>
          <a:p>
            <a:pPr marL="228600" indent="-228600" algn="l" rtl="0" fontAlgn="base">
              <a:buFont typeface="+mj-lt"/>
              <a:buAutoNum type="arabicPeriod"/>
            </a:pPr>
            <a:r>
              <a:rPr lang="en-US" sz="1000" b="0" i="0" dirty="0">
                <a:solidFill>
                  <a:srgbClr val="000000"/>
                </a:solidFill>
                <a:effectLst/>
              </a:rPr>
              <a:t>The Windows Prefetch service provides investigators with which three key pieces of information? </a:t>
            </a:r>
          </a:p>
          <a:p>
            <a:pPr marL="685800" lvl="1" indent="-228600" fontAlgn="base">
              <a:buFont typeface="Arial" panose="020B0604020202020204" pitchFamily="34" charset="0"/>
              <a:buChar char="•"/>
            </a:pPr>
            <a:r>
              <a:rPr lang="en-US" sz="1000" b="0" i="0" dirty="0">
                <a:solidFill>
                  <a:srgbClr val="FF0000"/>
                </a:solidFill>
                <a:effectLst/>
              </a:rPr>
              <a:t>Application name, date/time last launched, number of launches</a:t>
            </a:r>
          </a:p>
          <a:p>
            <a:pPr marL="228600" indent="-228600" algn="l" rtl="0" fontAlgn="base">
              <a:buFont typeface="+mj-lt"/>
              <a:buAutoNum type="arabicPeriod"/>
            </a:pPr>
            <a:r>
              <a:rPr lang="en-US" sz="1000" b="0" i="0" dirty="0">
                <a:solidFill>
                  <a:srgbClr val="000000"/>
                </a:solidFill>
                <a:effectLst/>
              </a:rPr>
              <a:t>What are the three core Windows Event Logs? </a:t>
            </a:r>
          </a:p>
          <a:p>
            <a:pPr marL="685800" lvl="1" indent="-228600" fontAlgn="base">
              <a:buFont typeface="Arial" panose="020B0604020202020204" pitchFamily="34" charset="0"/>
              <a:buChar char="•"/>
            </a:pPr>
            <a:r>
              <a:rPr lang="en-US" sz="1000" b="0" i="0" dirty="0">
                <a:solidFill>
                  <a:srgbClr val="FF0000"/>
                </a:solidFill>
                <a:effectLst/>
              </a:rPr>
              <a:t>Application, Security, System</a:t>
            </a:r>
          </a:p>
          <a:p>
            <a:pPr marL="228600" indent="-228600" algn="l" rtl="0" fontAlgn="base">
              <a:buFont typeface="+mj-lt"/>
              <a:buAutoNum type="arabicPeriod"/>
            </a:pPr>
            <a:r>
              <a:rPr lang="en-US" sz="1000" b="0" i="0" dirty="0">
                <a:solidFill>
                  <a:srgbClr val="000000"/>
                </a:solidFill>
                <a:effectLst/>
              </a:rPr>
              <a:t>What AXIOM feature allows investigators to quickly identify the most relevant Windows Event Log entries? </a:t>
            </a:r>
          </a:p>
          <a:p>
            <a:pPr marL="685800" lvl="1" indent="-228600" fontAlgn="base">
              <a:buFont typeface="Arial" panose="020B0604020202020204" pitchFamily="34" charset="0"/>
              <a:buChar char="•"/>
            </a:pPr>
            <a:r>
              <a:rPr lang="en-US" sz="1000" dirty="0">
                <a:solidFill>
                  <a:srgbClr val="FF0000"/>
                </a:solidFill>
              </a:rPr>
              <a:t>Filtering</a:t>
            </a:r>
            <a:endParaRPr lang="en-US" sz="1000" b="0" i="0" dirty="0">
              <a:solidFill>
                <a:srgbClr val="FF0000"/>
              </a:solidFill>
              <a:effectLst/>
            </a:endParaRPr>
          </a:p>
        </p:txBody>
      </p:sp>
    </p:spTree>
    <p:extLst>
      <p:ext uri="{BB962C8B-B14F-4D97-AF65-F5344CB8AC3E}">
        <p14:creationId xmlns:p14="http://schemas.microsoft.com/office/powerpoint/2010/main" val="36597021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4590</TotalTime>
  <Words>15552</Words>
  <Application>Microsoft Office PowerPoint</Application>
  <PresentationFormat>Widescreen</PresentationFormat>
  <Paragraphs>1439</Paragraphs>
  <Slides>18</Slides>
  <Notes>1</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Daniel Haggerty</dc:creator>
  <cp:lastModifiedBy>Daniel Haggerty</cp:lastModifiedBy>
  <cp:revision>268</cp:revision>
  <dcterms:created xsi:type="dcterms:W3CDTF">2020-09-14T18:42:38Z</dcterms:created>
  <dcterms:modified xsi:type="dcterms:W3CDTF">2020-11-04T14:19:27Z</dcterms:modified>
</cp:coreProperties>
</file>